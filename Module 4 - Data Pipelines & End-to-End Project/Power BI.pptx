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4" r:id="rId2"/>
  </p:sldMasterIdLst>
  <p:notesMasterIdLst>
    <p:notesMasterId r:id="rId66"/>
  </p:notesMasterIdLst>
  <p:handoutMasterIdLst>
    <p:handoutMasterId r:id="rId67"/>
  </p:handoutMasterIdLst>
  <p:sldIdLst>
    <p:sldId id="411" r:id="rId3"/>
    <p:sldId id="410" r:id="rId4"/>
    <p:sldId id="394" r:id="rId5"/>
    <p:sldId id="432" r:id="rId6"/>
    <p:sldId id="433" r:id="rId7"/>
    <p:sldId id="434" r:id="rId8"/>
    <p:sldId id="435" r:id="rId9"/>
    <p:sldId id="436" r:id="rId10"/>
    <p:sldId id="437" r:id="rId11"/>
    <p:sldId id="438" r:id="rId12"/>
    <p:sldId id="439" r:id="rId13"/>
    <p:sldId id="440" r:id="rId14"/>
    <p:sldId id="441" r:id="rId15"/>
    <p:sldId id="442" r:id="rId16"/>
    <p:sldId id="443" r:id="rId17"/>
    <p:sldId id="444" r:id="rId18"/>
    <p:sldId id="445" r:id="rId19"/>
    <p:sldId id="446" r:id="rId20"/>
    <p:sldId id="447" r:id="rId21"/>
    <p:sldId id="448" r:id="rId22"/>
    <p:sldId id="449" r:id="rId23"/>
    <p:sldId id="450" r:id="rId24"/>
    <p:sldId id="412" r:id="rId25"/>
    <p:sldId id="413" r:id="rId26"/>
    <p:sldId id="414" r:id="rId27"/>
    <p:sldId id="416" r:id="rId28"/>
    <p:sldId id="415" r:id="rId29"/>
    <p:sldId id="427" r:id="rId30"/>
    <p:sldId id="428" r:id="rId31"/>
    <p:sldId id="417" r:id="rId32"/>
    <p:sldId id="418" r:id="rId33"/>
    <p:sldId id="419" r:id="rId34"/>
    <p:sldId id="420" r:id="rId35"/>
    <p:sldId id="421" r:id="rId36"/>
    <p:sldId id="422" r:id="rId37"/>
    <p:sldId id="423" r:id="rId38"/>
    <p:sldId id="424" r:id="rId39"/>
    <p:sldId id="502" r:id="rId40"/>
    <p:sldId id="503" r:id="rId41"/>
    <p:sldId id="429" r:id="rId42"/>
    <p:sldId id="430" r:id="rId43"/>
    <p:sldId id="431" r:id="rId44"/>
    <p:sldId id="504" r:id="rId45"/>
    <p:sldId id="505" r:id="rId46"/>
    <p:sldId id="506" r:id="rId47"/>
    <p:sldId id="494" r:id="rId48"/>
    <p:sldId id="495" r:id="rId49"/>
    <p:sldId id="496" r:id="rId50"/>
    <p:sldId id="497" r:id="rId51"/>
    <p:sldId id="498" r:id="rId52"/>
    <p:sldId id="499" r:id="rId53"/>
    <p:sldId id="500" r:id="rId54"/>
    <p:sldId id="501" r:id="rId55"/>
    <p:sldId id="451" r:id="rId56"/>
    <p:sldId id="452" r:id="rId57"/>
    <p:sldId id="453" r:id="rId58"/>
    <p:sldId id="479" r:id="rId59"/>
    <p:sldId id="488" r:id="rId60"/>
    <p:sldId id="487" r:id="rId61"/>
    <p:sldId id="478" r:id="rId62"/>
    <p:sldId id="492" r:id="rId63"/>
    <p:sldId id="493" r:id="rId64"/>
    <p:sldId id="260" r:id="rId6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BE2F5"/>
    <a:srgbClr val="E7F7FE"/>
    <a:srgbClr val="0072C6"/>
    <a:srgbClr val="00A4EF"/>
    <a:srgbClr val="3333FF"/>
    <a:srgbClr val="FFDF00"/>
    <a:srgbClr val="75CDEA"/>
    <a:srgbClr val="002060"/>
    <a:srgbClr val="5A56A1"/>
    <a:srgbClr val="56565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736F72C-57AD-4C0C-B413-44A67FA7CD9B}" v="95" dt="2024-03-18T15:51:55.6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579" autoAdjust="0"/>
    <p:restoredTop sz="94639" autoAdjust="0"/>
  </p:normalViewPr>
  <p:slideViewPr>
    <p:cSldViewPr snapToGrid="0">
      <p:cViewPr varScale="1">
        <p:scale>
          <a:sx n="63" d="100"/>
          <a:sy n="63" d="100"/>
        </p:scale>
        <p:origin x="552" y="36"/>
      </p:cViewPr>
      <p:guideLst/>
    </p:cSldViewPr>
  </p:slideViewPr>
  <p:notesTextViewPr>
    <p:cViewPr>
      <p:scale>
        <a:sx n="3" d="2"/>
        <a:sy n="3" d="2"/>
      </p:scale>
      <p:origin x="0" y="0"/>
    </p:cViewPr>
  </p:notesTextViewPr>
  <p:sorterViewPr>
    <p:cViewPr>
      <p:scale>
        <a:sx n="100" d="100"/>
        <a:sy n="100" d="100"/>
      </p:scale>
      <p:origin x="0" y="0"/>
    </p:cViewPr>
  </p:sorterViewPr>
  <p:notesViewPr>
    <p:cSldViewPr snapToGrid="0">
      <p:cViewPr>
        <p:scale>
          <a:sx n="51" d="100"/>
          <a:sy n="51" d="100"/>
        </p:scale>
        <p:origin x="2692" y="-96"/>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presProps" Target="presProps.xml"/><Relationship Id="rId7" Type="http://schemas.openxmlformats.org/officeDocument/2006/relationships/slide" Target="slides/slide5.xml"/><Relationship Id="rId71"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notesMaster" Target="notesMasters/notesMaster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72" Type="http://schemas.microsoft.com/office/2015/10/relationships/revisionInfo" Target="revisionInfo.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handoutMaster" Target="handoutMasters/handoutMaster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748E1AF-6343-46AA-8AEF-4C12F4118850}" type="datetimeFigureOut">
              <a:rPr lang="en-US" smtClean="0"/>
              <a:t>6/30/2026</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52858E0-3D38-47B7-97D4-4FE08D90D359}" type="slidenum">
              <a:rPr lang="en-US" smtClean="0"/>
              <a:t>‹#›</a:t>
            </a:fld>
            <a:endParaRPr lang="en-US"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9D2517-63AA-420A-887D-BE60360A8F4D}" type="datetimeFigureOut">
              <a:rPr lang="en-US" noProof="0" smtClean="0"/>
              <a:t>6/30/2026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4ECAD9-32EE-4091-BDA5-6BD15ACC5E58}" type="slidenum">
              <a:rPr lang="en-US" noProof="0" smtClean="0"/>
              <a:t>‹#›</a:t>
            </a:fld>
            <a:endParaRPr lang="en-US" noProof="0"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4_Content with Captio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4ECC495-5FEF-4C9C-502D-7281AA9BC4CE}"/>
              </a:ext>
            </a:extLst>
          </p:cNvPr>
          <p:cNvSpPr/>
          <p:nvPr userDrawn="1"/>
        </p:nvSpPr>
        <p:spPr>
          <a:xfrm>
            <a:off x="-64008" y="0"/>
            <a:ext cx="4723782" cy="6858000"/>
          </a:xfrm>
          <a:prstGeom prst="rect">
            <a:avLst/>
          </a:prstGeom>
          <a:solidFill>
            <a:srgbClr val="25677D"/>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7" name="Title 1"/>
          <p:cNvSpPr txBox="1"/>
          <p:nvPr userDrawn="1"/>
        </p:nvSpPr>
        <p:spPr>
          <a:xfrm>
            <a:off x="-1707114" y="2422578"/>
            <a:ext cx="6145764" cy="1109758"/>
          </a:xfrm>
          <a:prstGeom prst="rect">
            <a:avLst/>
          </a:prstGeom>
        </p:spPr>
        <p:txBody>
          <a:bodyPr vert="horz" lIns="91440" tIns="45720" rIns="91440" bIns="45720" rtlCol="0" anchor="b">
            <a:normAutofit/>
          </a:bodyPr>
          <a:lstStyle>
            <a:lvl1pPr algn="l" defTabSz="685800" rtl="0" eaLnBrk="1" latinLnBrk="0" hangingPunct="1">
              <a:lnSpc>
                <a:spcPct val="90000"/>
              </a:lnSpc>
              <a:spcBef>
                <a:spcPct val="0"/>
              </a:spcBef>
              <a:buNone/>
              <a:defRPr sz="3600" b="1" kern="1200" spc="-38" baseline="0">
                <a:solidFill>
                  <a:schemeClr val="tx1">
                    <a:lumMod val="75000"/>
                    <a:lumOff val="25000"/>
                  </a:schemeClr>
                </a:solidFill>
                <a:latin typeface="+mn-lt"/>
                <a:ea typeface="+mj-ea"/>
                <a:cs typeface="+mj-cs"/>
              </a:defRPr>
            </a:lvl1pPr>
          </a:lstStyle>
          <a:p>
            <a:endParaRPr lang="en-US" sz="2400" dirty="0"/>
          </a:p>
        </p:txBody>
      </p:sp>
      <p:sp>
        <p:nvSpPr>
          <p:cNvPr id="18" name="Title 1"/>
          <p:cNvSpPr>
            <a:spLocks noGrp="1"/>
          </p:cNvSpPr>
          <p:nvPr>
            <p:ph type="title" hasCustomPrompt="1"/>
          </p:nvPr>
        </p:nvSpPr>
        <p:spPr>
          <a:xfrm>
            <a:off x="509750" y="2338493"/>
            <a:ext cx="3531146" cy="1450757"/>
          </a:xfrm>
          <a:prstGeom prst="rect">
            <a:avLst/>
          </a:prstGeom>
        </p:spPr>
        <p:txBody>
          <a:bodyPr>
            <a:normAutofit/>
          </a:bodyPr>
          <a:lstStyle>
            <a:lvl1pPr>
              <a:defRPr sz="4400" b="1" baseline="0">
                <a:solidFill>
                  <a:schemeClr val="bg1"/>
                </a:solidFill>
                <a:latin typeface="YESHUAH" panose="02000500000000000000" pitchFamily="2" charset="0"/>
              </a:defRPr>
            </a:lvl1pPr>
          </a:lstStyle>
          <a:p>
            <a:r>
              <a:rPr lang="en-US" dirty="0"/>
              <a:t>{ subject }</a:t>
            </a:r>
          </a:p>
        </p:txBody>
      </p:sp>
      <p:sp>
        <p:nvSpPr>
          <p:cNvPr id="19" name="Content Placeholder 8"/>
          <p:cNvSpPr>
            <a:spLocks noGrp="1"/>
          </p:cNvSpPr>
          <p:nvPr>
            <p:ph sz="quarter" idx="13" hasCustomPrompt="1"/>
          </p:nvPr>
        </p:nvSpPr>
        <p:spPr>
          <a:xfrm>
            <a:off x="7647842" y="6136265"/>
            <a:ext cx="4090199" cy="453130"/>
          </a:xfrm>
          <a:prstGeom prst="rect">
            <a:avLst/>
          </a:prstGeom>
        </p:spPr>
        <p:txBody>
          <a:bodyPr>
            <a:normAutofit/>
          </a:bodyPr>
          <a:lstStyle>
            <a:lvl1pPr marL="0" indent="0" algn="r">
              <a:buNone/>
              <a:defRPr sz="2400" baseline="0">
                <a:solidFill>
                  <a:srgbClr val="25677D"/>
                </a:solidFill>
                <a:latin typeface="YESHUAH" panose="02000500000000000000" pitchFamily="2" charset="0"/>
              </a:defRPr>
            </a:lvl1pPr>
          </a:lstStyle>
          <a:p>
            <a:pPr lvl="0"/>
            <a:r>
              <a:rPr lang="en-US" dirty="0"/>
              <a:t> { write presenter name }</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Content with Caption">
    <p:spTree>
      <p:nvGrpSpPr>
        <p:cNvPr id="1" name=""/>
        <p:cNvGrpSpPr/>
        <p:nvPr/>
      </p:nvGrpSpPr>
      <p:grpSpPr>
        <a:xfrm>
          <a:off x="0" y="0"/>
          <a:ext cx="0" cy="0"/>
          <a:chOff x="0" y="0"/>
          <a:chExt cx="0" cy="0"/>
        </a:xfrm>
      </p:grpSpPr>
      <p:sp>
        <p:nvSpPr>
          <p:cNvPr id="23" name="Rectangle 22"/>
          <p:cNvSpPr/>
          <p:nvPr userDrawn="1"/>
        </p:nvSpPr>
        <p:spPr>
          <a:xfrm>
            <a:off x="-64008" y="0"/>
            <a:ext cx="4723782" cy="6858000"/>
          </a:xfrm>
          <a:prstGeom prst="rect">
            <a:avLst/>
          </a:prstGeom>
          <a:solidFill>
            <a:srgbClr val="25677D"/>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nvGrpSpPr>
          <p:cNvPr id="19" name="Group 18" descr="Info"/>
          <p:cNvGrpSpPr/>
          <p:nvPr userDrawn="1"/>
        </p:nvGrpSpPr>
        <p:grpSpPr>
          <a:xfrm>
            <a:off x="4642801" y="3133724"/>
            <a:ext cx="567374" cy="550865"/>
            <a:chOff x="4914764" y="3319462"/>
            <a:chExt cx="619125" cy="619125"/>
          </a:xfrm>
          <a:solidFill>
            <a:schemeClr val="bg1"/>
          </a:solidFill>
        </p:grpSpPr>
        <p:sp>
          <p:nvSpPr>
            <p:cNvPr id="20" name="Freeform: Shape 19"/>
            <p:cNvSpPr/>
            <p:nvPr/>
          </p:nvSpPr>
          <p:spPr>
            <a:xfrm>
              <a:off x="4914764" y="3319462"/>
              <a:ext cx="619125" cy="619125"/>
            </a:xfrm>
            <a:custGeom>
              <a:avLst/>
              <a:gdLst>
                <a:gd name="connsiteX0" fmla="*/ 309563 w 619125"/>
                <a:gd name="connsiteY0" fmla="*/ 0 h 619125"/>
                <a:gd name="connsiteX1" fmla="*/ 0 w 619125"/>
                <a:gd name="connsiteY1" fmla="*/ 309563 h 619125"/>
                <a:gd name="connsiteX2" fmla="*/ 309563 w 619125"/>
                <a:gd name="connsiteY2" fmla="*/ 619125 h 619125"/>
                <a:gd name="connsiteX3" fmla="*/ 619125 w 619125"/>
                <a:gd name="connsiteY3" fmla="*/ 309563 h 619125"/>
                <a:gd name="connsiteX4" fmla="*/ 309563 w 619125"/>
                <a:gd name="connsiteY4" fmla="*/ 0 h 619125"/>
                <a:gd name="connsiteX5" fmla="*/ 309563 w 619125"/>
                <a:gd name="connsiteY5" fmla="*/ 581025 h 619125"/>
                <a:gd name="connsiteX6" fmla="*/ 38100 w 619125"/>
                <a:gd name="connsiteY6" fmla="*/ 309563 h 619125"/>
                <a:gd name="connsiteX7" fmla="*/ 309563 w 619125"/>
                <a:gd name="connsiteY7" fmla="*/ 38100 h 619125"/>
                <a:gd name="connsiteX8" fmla="*/ 581025 w 619125"/>
                <a:gd name="connsiteY8" fmla="*/ 309563 h 619125"/>
                <a:gd name="connsiteX9" fmla="*/ 309563 w 619125"/>
                <a:gd name="connsiteY9" fmla="*/ 581025 h 619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9125" h="619125">
                  <a:moveTo>
                    <a:pt x="309563" y="0"/>
                  </a:moveTo>
                  <a:cubicBezTo>
                    <a:pt x="138875" y="0"/>
                    <a:pt x="0" y="138865"/>
                    <a:pt x="0" y="309563"/>
                  </a:cubicBezTo>
                  <a:cubicBezTo>
                    <a:pt x="0" y="480260"/>
                    <a:pt x="138875" y="619125"/>
                    <a:pt x="309563" y="619125"/>
                  </a:cubicBezTo>
                  <a:cubicBezTo>
                    <a:pt x="480250" y="619125"/>
                    <a:pt x="619125" y="480260"/>
                    <a:pt x="619125" y="309563"/>
                  </a:cubicBezTo>
                  <a:cubicBezTo>
                    <a:pt x="619125" y="138865"/>
                    <a:pt x="480250" y="0"/>
                    <a:pt x="309563" y="0"/>
                  </a:cubicBezTo>
                  <a:close/>
                  <a:moveTo>
                    <a:pt x="309563" y="581025"/>
                  </a:moveTo>
                  <a:cubicBezTo>
                    <a:pt x="159877" y="581025"/>
                    <a:pt x="38100" y="459248"/>
                    <a:pt x="38100" y="309563"/>
                  </a:cubicBezTo>
                  <a:cubicBezTo>
                    <a:pt x="38100" y="159877"/>
                    <a:pt x="159877" y="38100"/>
                    <a:pt x="309563" y="38100"/>
                  </a:cubicBezTo>
                  <a:cubicBezTo>
                    <a:pt x="459248" y="38100"/>
                    <a:pt x="581025" y="159877"/>
                    <a:pt x="581025" y="309563"/>
                  </a:cubicBezTo>
                  <a:cubicBezTo>
                    <a:pt x="581025" y="459248"/>
                    <a:pt x="459248" y="581025"/>
                    <a:pt x="309563" y="581025"/>
                  </a:cubicBezTo>
                  <a:close/>
                </a:path>
              </a:pathLst>
            </a:custGeom>
            <a:grpFill/>
            <a:ln w="9525" cap="flat">
              <a:noFill/>
              <a:prstDash val="solid"/>
              <a:miter/>
            </a:ln>
          </p:spPr>
          <p:txBody>
            <a:bodyPr rtlCol="0" anchor="ctr"/>
            <a:lstStyle/>
            <a:p>
              <a:endParaRPr lang="en-US" sz="1350" dirty="0"/>
            </a:p>
          </p:txBody>
        </p:sp>
        <p:sp>
          <p:nvSpPr>
            <p:cNvPr id="21" name="Freeform: Shape 20"/>
            <p:cNvSpPr/>
            <p:nvPr/>
          </p:nvSpPr>
          <p:spPr>
            <a:xfrm>
              <a:off x="5195751" y="3473729"/>
              <a:ext cx="57150" cy="57150"/>
            </a:xfrm>
            <a:custGeom>
              <a:avLst/>
              <a:gdLst>
                <a:gd name="connsiteX0" fmla="*/ 63722 w 57150"/>
                <a:gd name="connsiteY0" fmla="*/ 31861 h 57150"/>
                <a:gd name="connsiteX1" fmla="*/ 31861 w 57150"/>
                <a:gd name="connsiteY1" fmla="*/ 63722 h 57150"/>
                <a:gd name="connsiteX2" fmla="*/ 0 w 57150"/>
                <a:gd name="connsiteY2" fmla="*/ 31861 h 57150"/>
                <a:gd name="connsiteX3" fmla="*/ 31861 w 57150"/>
                <a:gd name="connsiteY3" fmla="*/ 0 h 57150"/>
                <a:gd name="connsiteX4" fmla="*/ 63722 w 57150"/>
                <a:gd name="connsiteY4" fmla="*/ 3186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63722" y="31861"/>
                  </a:moveTo>
                  <a:cubicBezTo>
                    <a:pt x="63722" y="49458"/>
                    <a:pt x="49458" y="63722"/>
                    <a:pt x="31861" y="63722"/>
                  </a:cubicBezTo>
                  <a:cubicBezTo>
                    <a:pt x="14265" y="63722"/>
                    <a:pt x="0" y="49458"/>
                    <a:pt x="0" y="31861"/>
                  </a:cubicBezTo>
                  <a:cubicBezTo>
                    <a:pt x="0" y="14265"/>
                    <a:pt x="14265" y="0"/>
                    <a:pt x="31861" y="0"/>
                  </a:cubicBezTo>
                  <a:cubicBezTo>
                    <a:pt x="49458" y="0"/>
                    <a:pt x="63722" y="14265"/>
                    <a:pt x="63722" y="31861"/>
                  </a:cubicBezTo>
                  <a:close/>
                </a:path>
              </a:pathLst>
            </a:custGeom>
            <a:grpFill/>
            <a:ln w="9525" cap="flat">
              <a:noFill/>
              <a:prstDash val="solid"/>
              <a:miter/>
            </a:ln>
          </p:spPr>
          <p:txBody>
            <a:bodyPr rtlCol="0" anchor="ctr"/>
            <a:lstStyle/>
            <a:p>
              <a:endParaRPr lang="en-US" sz="1350" dirty="0"/>
            </a:p>
          </p:txBody>
        </p:sp>
        <p:sp>
          <p:nvSpPr>
            <p:cNvPr id="22" name="Freeform: Shape 21"/>
            <p:cNvSpPr/>
            <p:nvPr/>
          </p:nvSpPr>
          <p:spPr>
            <a:xfrm>
              <a:off x="5205276" y="3589420"/>
              <a:ext cx="38100" cy="200025"/>
            </a:xfrm>
            <a:custGeom>
              <a:avLst/>
              <a:gdLst>
                <a:gd name="connsiteX0" fmla="*/ 19050 w 38100"/>
                <a:gd name="connsiteY0" fmla="*/ 0 h 200025"/>
                <a:gd name="connsiteX1" fmla="*/ 0 w 38100"/>
                <a:gd name="connsiteY1" fmla="*/ 19050 h 200025"/>
                <a:gd name="connsiteX2" fmla="*/ 0 w 38100"/>
                <a:gd name="connsiteY2" fmla="*/ 180975 h 200025"/>
                <a:gd name="connsiteX3" fmla="*/ 19050 w 38100"/>
                <a:gd name="connsiteY3" fmla="*/ 200025 h 200025"/>
                <a:gd name="connsiteX4" fmla="*/ 38100 w 38100"/>
                <a:gd name="connsiteY4" fmla="*/ 180975 h 200025"/>
                <a:gd name="connsiteX5" fmla="*/ 38100 w 38100"/>
                <a:gd name="connsiteY5" fmla="*/ 19050 h 200025"/>
                <a:gd name="connsiteX6" fmla="*/ 19050 w 38100"/>
                <a:gd name="connsiteY6" fmla="*/ 0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100" h="200025">
                  <a:moveTo>
                    <a:pt x="19050" y="0"/>
                  </a:moveTo>
                  <a:cubicBezTo>
                    <a:pt x="8534" y="0"/>
                    <a:pt x="0" y="8534"/>
                    <a:pt x="0" y="19050"/>
                  </a:cubicBezTo>
                  <a:lnTo>
                    <a:pt x="0" y="180975"/>
                  </a:lnTo>
                  <a:cubicBezTo>
                    <a:pt x="0" y="191491"/>
                    <a:pt x="8534" y="200025"/>
                    <a:pt x="19050" y="200025"/>
                  </a:cubicBezTo>
                  <a:cubicBezTo>
                    <a:pt x="29566" y="200025"/>
                    <a:pt x="38100" y="191491"/>
                    <a:pt x="38100" y="180975"/>
                  </a:cubicBezTo>
                  <a:lnTo>
                    <a:pt x="38100" y="19050"/>
                  </a:lnTo>
                  <a:cubicBezTo>
                    <a:pt x="38100" y="8525"/>
                    <a:pt x="29566" y="0"/>
                    <a:pt x="19050" y="0"/>
                  </a:cubicBezTo>
                  <a:close/>
                </a:path>
              </a:pathLst>
            </a:custGeom>
            <a:grpFill/>
            <a:ln w="9525" cap="flat">
              <a:noFill/>
              <a:prstDash val="solid"/>
              <a:miter/>
            </a:ln>
          </p:spPr>
          <p:txBody>
            <a:bodyPr rtlCol="0" anchor="ctr"/>
            <a:lstStyle/>
            <a:p>
              <a:endParaRPr lang="en-US" sz="1350" dirty="0"/>
            </a:p>
          </p:txBody>
        </p:sp>
      </p:grpSp>
      <p:sp>
        <p:nvSpPr>
          <p:cNvPr id="16" name="Title 1"/>
          <p:cNvSpPr txBox="1"/>
          <p:nvPr userDrawn="1"/>
        </p:nvSpPr>
        <p:spPr>
          <a:xfrm>
            <a:off x="474130" y="2639243"/>
            <a:ext cx="3334512" cy="1080110"/>
          </a:xfrm>
          <a:prstGeom prst="rect">
            <a:avLst/>
          </a:prstGeom>
        </p:spPr>
        <p:txBody>
          <a:bodyPr vert="horz" lIns="91440" tIns="45720" rIns="91440" bIns="45720" rtlCol="0" anchor="b">
            <a:normAutofit fontScale="92500"/>
          </a:bodyPr>
          <a:lstStyle>
            <a:lvl1pPr algn="l" defTabSz="685800" rtl="0" eaLnBrk="1" latinLnBrk="0" hangingPunct="1">
              <a:lnSpc>
                <a:spcPct val="90000"/>
              </a:lnSpc>
              <a:spcBef>
                <a:spcPct val="0"/>
              </a:spcBef>
              <a:buNone/>
              <a:defRPr sz="3600" b="1" kern="1200" spc="-38" baseline="0">
                <a:solidFill>
                  <a:schemeClr val="tx1">
                    <a:lumMod val="75000"/>
                    <a:lumOff val="25000"/>
                  </a:schemeClr>
                </a:solidFill>
                <a:latin typeface="+mn-lt"/>
                <a:ea typeface="+mj-ea"/>
                <a:cs typeface="+mj-cs"/>
              </a:defRPr>
            </a:lvl1pPr>
          </a:lstStyle>
          <a:p>
            <a:r>
              <a:rPr lang="en-US" sz="6000" b="1" dirty="0">
                <a:solidFill>
                  <a:schemeClr val="bg1"/>
                </a:solidFill>
                <a:latin typeface="YESHUAH" panose="02000500000000000000" pitchFamily="2" charset="0"/>
                <a:ea typeface="ADLaM Display" panose="02010000000000000000" pitchFamily="2" charset="0"/>
                <a:cs typeface="ADLaM Display" panose="02010000000000000000" pitchFamily="2" charset="0"/>
              </a:rPr>
              <a:t>Objectives</a:t>
            </a:r>
            <a:endParaRPr lang="en-US" sz="3200" b="1" dirty="0">
              <a:solidFill>
                <a:schemeClr val="bg1"/>
              </a:solidFill>
              <a:latin typeface="YESHUAH" panose="02000500000000000000" pitchFamily="2" charset="0"/>
              <a:ea typeface="ADLaM Display" panose="02010000000000000000" pitchFamily="2" charset="0"/>
              <a:cs typeface="ADLaM Display" panose="02010000000000000000" pitchFamily="2" charset="0"/>
            </a:endParaRPr>
          </a:p>
        </p:txBody>
      </p:sp>
      <p:sp>
        <p:nvSpPr>
          <p:cNvPr id="11" name="Text Placeholder 10"/>
          <p:cNvSpPr>
            <a:spLocks noGrp="1"/>
          </p:cNvSpPr>
          <p:nvPr>
            <p:ph type="body" sz="quarter" idx="14" hasCustomPrompt="1"/>
          </p:nvPr>
        </p:nvSpPr>
        <p:spPr>
          <a:xfrm>
            <a:off x="5908431" y="1603717"/>
            <a:ext cx="5524060" cy="3151163"/>
          </a:xfrm>
          <a:prstGeom prst="rect">
            <a:avLst/>
          </a:prstGeom>
        </p:spPr>
        <p:txBody>
          <a:bodyPr>
            <a:normAutofit/>
          </a:bodyPr>
          <a:lstStyle>
            <a:lvl1pPr>
              <a:spcBef>
                <a:spcPts val="0"/>
              </a:spcBef>
              <a:spcAft>
                <a:spcPts val="600"/>
              </a:spcAft>
              <a:defRPr sz="3200">
                <a:solidFill>
                  <a:srgbClr val="002060"/>
                </a:solidFill>
              </a:defRPr>
            </a:lvl1pPr>
          </a:lstStyle>
          <a:p>
            <a:pPr lvl="0"/>
            <a:r>
              <a:rPr lang="en-US" dirty="0"/>
              <a:t> { write your objectives}</a:t>
            </a:r>
          </a:p>
          <a:p>
            <a:pPr lvl="0"/>
            <a:endParaRPr lang="en-US" dirty="0"/>
          </a:p>
        </p:txBody>
      </p:sp>
      <p:pic>
        <p:nvPicPr>
          <p:cNvPr id="3" name="Picture 2">
            <a:extLst>
              <a:ext uri="{FF2B5EF4-FFF2-40B4-BE49-F238E27FC236}">
                <a16:creationId xmlns:a16="http://schemas.microsoft.com/office/drawing/2014/main" id="{43EF92EB-1689-2416-7533-E53DBC8933F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581400" y="2348890"/>
            <a:ext cx="2160220" cy="216022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156921" y="618977"/>
            <a:ext cx="9393848" cy="712765"/>
          </a:xfrm>
          <a:prstGeom prst="rect">
            <a:avLst/>
          </a:prstGeom>
        </p:spPr>
        <p:txBody>
          <a:bodyPr/>
          <a:lstStyle>
            <a:lvl1pPr>
              <a:defRPr lang="en-US" sz="3600" b="1" kern="1200" spc="-38" baseline="0" dirty="0">
                <a:solidFill>
                  <a:srgbClr val="002060"/>
                </a:solidFill>
                <a:latin typeface="+mn-lt"/>
                <a:ea typeface="+mj-ea"/>
                <a:cs typeface="+mj-cs"/>
              </a:defRPr>
            </a:lvl1pPr>
          </a:lstStyle>
          <a:p>
            <a:r>
              <a:rPr lang="en-US" dirty="0"/>
              <a:t>{ Title }</a:t>
            </a:r>
          </a:p>
        </p:txBody>
      </p:sp>
      <p:sp>
        <p:nvSpPr>
          <p:cNvPr id="6" name="Text Placeholder 10"/>
          <p:cNvSpPr>
            <a:spLocks noGrp="1"/>
          </p:cNvSpPr>
          <p:nvPr>
            <p:ph type="body" sz="quarter" idx="14" hasCustomPrompt="1"/>
          </p:nvPr>
        </p:nvSpPr>
        <p:spPr>
          <a:xfrm>
            <a:off x="1156921" y="1603717"/>
            <a:ext cx="10275570" cy="4705350"/>
          </a:xfrm>
          <a:prstGeom prst="rect">
            <a:avLst/>
          </a:prstGeom>
        </p:spPr>
        <p:txBody>
          <a:bodyPr>
            <a:normAutofit/>
          </a:bodyPr>
          <a:lstStyle>
            <a:lvl1pPr>
              <a:spcBef>
                <a:spcPts val="0"/>
              </a:spcBef>
              <a:spcAft>
                <a:spcPts val="600"/>
              </a:spcAft>
              <a:defRPr sz="2400">
                <a:solidFill>
                  <a:srgbClr val="002060"/>
                </a:solidFill>
              </a:defRPr>
            </a:lvl1pPr>
          </a:lstStyle>
          <a:p>
            <a:pPr lvl="0"/>
            <a:r>
              <a:rPr lang="en-US" dirty="0"/>
              <a:t>{write your bullet point }</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11" name="Title 1"/>
          <p:cNvSpPr txBox="1"/>
          <p:nvPr userDrawn="1"/>
        </p:nvSpPr>
        <p:spPr>
          <a:xfrm>
            <a:off x="1325880" y="638175"/>
            <a:ext cx="9942195" cy="666750"/>
          </a:xfrm>
          <a:prstGeom prst="rect">
            <a:avLst/>
          </a:prstGeom>
        </p:spPr>
        <p:txBody>
          <a:bodyPr vert="horz" lIns="91440" tIns="45720" rIns="91440" bIns="45720" rtlCol="0" anchor="b">
            <a:noAutofit/>
          </a:bodyPr>
          <a:lstStyle>
            <a:lvl1pPr algn="l" defTabSz="685800" rtl="0" eaLnBrk="1" latinLnBrk="0" hangingPunct="1">
              <a:lnSpc>
                <a:spcPct val="90000"/>
              </a:lnSpc>
              <a:spcBef>
                <a:spcPct val="0"/>
              </a:spcBef>
              <a:buNone/>
              <a:defRPr sz="3600" b="1" kern="1200" spc="-38" baseline="0">
                <a:solidFill>
                  <a:schemeClr val="tx1">
                    <a:lumMod val="75000"/>
                    <a:lumOff val="25000"/>
                  </a:schemeClr>
                </a:solidFill>
                <a:latin typeface="+mn-lt"/>
                <a:ea typeface="+mj-ea"/>
                <a:cs typeface="+mj-cs"/>
              </a:defRPr>
            </a:lvl1pPr>
          </a:lstStyle>
          <a:p>
            <a:r>
              <a:rPr lang="en-US" sz="3200" b="1" dirty="0">
                <a:solidFill>
                  <a:srgbClr val="002060"/>
                </a:solidFill>
                <a:latin typeface="+mn-lt"/>
                <a:ea typeface="Cambria" panose="02040503050406030204" pitchFamily="18" charset="0"/>
              </a:rPr>
              <a:t>References</a:t>
            </a:r>
          </a:p>
        </p:txBody>
      </p:sp>
      <p:sp>
        <p:nvSpPr>
          <p:cNvPr id="15" name="Text Placeholder 10"/>
          <p:cNvSpPr>
            <a:spLocks noGrp="1"/>
          </p:cNvSpPr>
          <p:nvPr>
            <p:ph type="body" sz="quarter" idx="14" hasCustomPrompt="1"/>
          </p:nvPr>
        </p:nvSpPr>
        <p:spPr>
          <a:xfrm>
            <a:off x="1325880" y="1524000"/>
            <a:ext cx="9681949" cy="3958659"/>
          </a:xfrm>
          <a:prstGeom prst="rect">
            <a:avLst/>
          </a:prstGeom>
        </p:spPr>
        <p:txBody>
          <a:bodyPr>
            <a:normAutofit/>
          </a:bodyPr>
          <a:lstStyle>
            <a:lvl1pPr marL="91440">
              <a:spcBef>
                <a:spcPts val="0"/>
              </a:spcBef>
              <a:defRPr sz="2400">
                <a:solidFill>
                  <a:srgbClr val="002060"/>
                </a:solidFill>
              </a:defRPr>
            </a:lvl1pPr>
          </a:lstStyle>
          <a:p>
            <a:pPr lvl="0"/>
            <a:r>
              <a:rPr lang="en-US" dirty="0"/>
              <a:t>{ link to reference1, example: http://app.icraftsoft.net }</a:t>
            </a:r>
          </a:p>
          <a:p>
            <a:pPr lvl="0"/>
            <a:r>
              <a:rPr lang="en-US" dirty="0"/>
              <a:t>{ link to reference1, example: http://app.icraftsoft.net }</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384E36F-A443-7521-D49B-753C50A8A887}"/>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3425952" y="973836"/>
            <a:ext cx="5116068" cy="5116068"/>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4_Content with Captio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4ECC495-5FEF-4C9C-502D-7281AA9BC4CE}"/>
              </a:ext>
            </a:extLst>
          </p:cNvPr>
          <p:cNvSpPr/>
          <p:nvPr userDrawn="1"/>
        </p:nvSpPr>
        <p:spPr>
          <a:xfrm>
            <a:off x="-64008" y="0"/>
            <a:ext cx="4723782" cy="6858000"/>
          </a:xfrm>
          <a:prstGeom prst="rect">
            <a:avLst/>
          </a:prstGeom>
          <a:solidFill>
            <a:srgbClr val="25677D"/>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7" name="Title 1"/>
          <p:cNvSpPr txBox="1"/>
          <p:nvPr userDrawn="1"/>
        </p:nvSpPr>
        <p:spPr>
          <a:xfrm>
            <a:off x="-1707114" y="2422578"/>
            <a:ext cx="6145764" cy="1109758"/>
          </a:xfrm>
          <a:prstGeom prst="rect">
            <a:avLst/>
          </a:prstGeom>
        </p:spPr>
        <p:txBody>
          <a:bodyPr vert="horz" lIns="91440" tIns="45720" rIns="91440" bIns="45720" rtlCol="0" anchor="b">
            <a:normAutofit/>
          </a:bodyPr>
          <a:lstStyle>
            <a:lvl1pPr algn="l" defTabSz="685800" rtl="0" eaLnBrk="1" latinLnBrk="0" hangingPunct="1">
              <a:lnSpc>
                <a:spcPct val="90000"/>
              </a:lnSpc>
              <a:spcBef>
                <a:spcPct val="0"/>
              </a:spcBef>
              <a:buNone/>
              <a:defRPr sz="3600" b="1" kern="1200" spc="-38" baseline="0">
                <a:solidFill>
                  <a:schemeClr val="tx1">
                    <a:lumMod val="75000"/>
                    <a:lumOff val="25000"/>
                  </a:schemeClr>
                </a:solidFill>
                <a:latin typeface="+mn-lt"/>
                <a:ea typeface="+mj-ea"/>
                <a:cs typeface="+mj-cs"/>
              </a:defRPr>
            </a:lvl1pPr>
          </a:lstStyle>
          <a:p>
            <a:endParaRPr lang="en-US" sz="2400" dirty="0"/>
          </a:p>
        </p:txBody>
      </p:sp>
      <p:sp>
        <p:nvSpPr>
          <p:cNvPr id="18" name="Title 1"/>
          <p:cNvSpPr>
            <a:spLocks noGrp="1"/>
          </p:cNvSpPr>
          <p:nvPr>
            <p:ph type="title" hasCustomPrompt="1"/>
          </p:nvPr>
        </p:nvSpPr>
        <p:spPr>
          <a:xfrm>
            <a:off x="509750" y="2338493"/>
            <a:ext cx="3531146" cy="1450757"/>
          </a:xfrm>
          <a:prstGeom prst="rect">
            <a:avLst/>
          </a:prstGeom>
        </p:spPr>
        <p:txBody>
          <a:bodyPr>
            <a:normAutofit/>
          </a:bodyPr>
          <a:lstStyle>
            <a:lvl1pPr>
              <a:defRPr sz="4400" b="1" baseline="0">
                <a:solidFill>
                  <a:schemeClr val="bg1"/>
                </a:solidFill>
                <a:latin typeface="YESHUAH" panose="02000500000000000000" pitchFamily="2" charset="0"/>
              </a:defRPr>
            </a:lvl1pPr>
          </a:lstStyle>
          <a:p>
            <a:r>
              <a:rPr lang="en-US" dirty="0"/>
              <a:t>{ subject }</a:t>
            </a:r>
          </a:p>
        </p:txBody>
      </p:sp>
      <p:sp>
        <p:nvSpPr>
          <p:cNvPr id="19" name="Content Placeholder 8"/>
          <p:cNvSpPr>
            <a:spLocks noGrp="1"/>
          </p:cNvSpPr>
          <p:nvPr>
            <p:ph sz="quarter" idx="13" hasCustomPrompt="1"/>
          </p:nvPr>
        </p:nvSpPr>
        <p:spPr>
          <a:xfrm>
            <a:off x="7647842" y="6136265"/>
            <a:ext cx="4090199" cy="453130"/>
          </a:xfrm>
          <a:prstGeom prst="rect">
            <a:avLst/>
          </a:prstGeom>
        </p:spPr>
        <p:txBody>
          <a:bodyPr>
            <a:normAutofit/>
          </a:bodyPr>
          <a:lstStyle>
            <a:lvl1pPr marL="0" indent="0" algn="r">
              <a:buNone/>
              <a:defRPr sz="2400" baseline="0">
                <a:solidFill>
                  <a:srgbClr val="25677D"/>
                </a:solidFill>
                <a:latin typeface="YESHUAH" panose="02000500000000000000" pitchFamily="2" charset="0"/>
              </a:defRPr>
            </a:lvl1pPr>
          </a:lstStyle>
          <a:p>
            <a:pPr lvl="0"/>
            <a:r>
              <a:rPr lang="en-US" dirty="0"/>
              <a:t> { write presenter name }</a:t>
            </a:r>
          </a:p>
        </p:txBody>
      </p:sp>
    </p:spTree>
    <p:extLst>
      <p:ext uri="{BB962C8B-B14F-4D97-AF65-F5344CB8AC3E}">
        <p14:creationId xmlns:p14="http://schemas.microsoft.com/office/powerpoint/2010/main" val="9037172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5_Content with Caption">
    <p:spTree>
      <p:nvGrpSpPr>
        <p:cNvPr id="1" name=""/>
        <p:cNvGrpSpPr/>
        <p:nvPr/>
      </p:nvGrpSpPr>
      <p:grpSpPr>
        <a:xfrm>
          <a:off x="0" y="0"/>
          <a:ext cx="0" cy="0"/>
          <a:chOff x="0" y="0"/>
          <a:chExt cx="0" cy="0"/>
        </a:xfrm>
      </p:grpSpPr>
      <p:sp>
        <p:nvSpPr>
          <p:cNvPr id="23" name="Rectangle 22"/>
          <p:cNvSpPr/>
          <p:nvPr userDrawn="1"/>
        </p:nvSpPr>
        <p:spPr>
          <a:xfrm>
            <a:off x="-64008" y="0"/>
            <a:ext cx="4723782" cy="6858000"/>
          </a:xfrm>
          <a:prstGeom prst="rect">
            <a:avLst/>
          </a:prstGeom>
          <a:solidFill>
            <a:srgbClr val="25677D"/>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nvGrpSpPr>
          <p:cNvPr id="19" name="Group 18" descr="Info"/>
          <p:cNvGrpSpPr/>
          <p:nvPr userDrawn="1"/>
        </p:nvGrpSpPr>
        <p:grpSpPr>
          <a:xfrm>
            <a:off x="4642801" y="3133724"/>
            <a:ext cx="567374" cy="550865"/>
            <a:chOff x="4914764" y="3319462"/>
            <a:chExt cx="619125" cy="619125"/>
          </a:xfrm>
          <a:solidFill>
            <a:schemeClr val="bg1"/>
          </a:solidFill>
        </p:grpSpPr>
        <p:sp>
          <p:nvSpPr>
            <p:cNvPr id="20" name="Freeform: Shape 19"/>
            <p:cNvSpPr/>
            <p:nvPr/>
          </p:nvSpPr>
          <p:spPr>
            <a:xfrm>
              <a:off x="4914764" y="3319462"/>
              <a:ext cx="619125" cy="619125"/>
            </a:xfrm>
            <a:custGeom>
              <a:avLst/>
              <a:gdLst>
                <a:gd name="connsiteX0" fmla="*/ 309563 w 619125"/>
                <a:gd name="connsiteY0" fmla="*/ 0 h 619125"/>
                <a:gd name="connsiteX1" fmla="*/ 0 w 619125"/>
                <a:gd name="connsiteY1" fmla="*/ 309563 h 619125"/>
                <a:gd name="connsiteX2" fmla="*/ 309563 w 619125"/>
                <a:gd name="connsiteY2" fmla="*/ 619125 h 619125"/>
                <a:gd name="connsiteX3" fmla="*/ 619125 w 619125"/>
                <a:gd name="connsiteY3" fmla="*/ 309563 h 619125"/>
                <a:gd name="connsiteX4" fmla="*/ 309563 w 619125"/>
                <a:gd name="connsiteY4" fmla="*/ 0 h 619125"/>
                <a:gd name="connsiteX5" fmla="*/ 309563 w 619125"/>
                <a:gd name="connsiteY5" fmla="*/ 581025 h 619125"/>
                <a:gd name="connsiteX6" fmla="*/ 38100 w 619125"/>
                <a:gd name="connsiteY6" fmla="*/ 309563 h 619125"/>
                <a:gd name="connsiteX7" fmla="*/ 309563 w 619125"/>
                <a:gd name="connsiteY7" fmla="*/ 38100 h 619125"/>
                <a:gd name="connsiteX8" fmla="*/ 581025 w 619125"/>
                <a:gd name="connsiteY8" fmla="*/ 309563 h 619125"/>
                <a:gd name="connsiteX9" fmla="*/ 309563 w 619125"/>
                <a:gd name="connsiteY9" fmla="*/ 581025 h 619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9125" h="619125">
                  <a:moveTo>
                    <a:pt x="309563" y="0"/>
                  </a:moveTo>
                  <a:cubicBezTo>
                    <a:pt x="138875" y="0"/>
                    <a:pt x="0" y="138865"/>
                    <a:pt x="0" y="309563"/>
                  </a:cubicBezTo>
                  <a:cubicBezTo>
                    <a:pt x="0" y="480260"/>
                    <a:pt x="138875" y="619125"/>
                    <a:pt x="309563" y="619125"/>
                  </a:cubicBezTo>
                  <a:cubicBezTo>
                    <a:pt x="480250" y="619125"/>
                    <a:pt x="619125" y="480260"/>
                    <a:pt x="619125" y="309563"/>
                  </a:cubicBezTo>
                  <a:cubicBezTo>
                    <a:pt x="619125" y="138865"/>
                    <a:pt x="480250" y="0"/>
                    <a:pt x="309563" y="0"/>
                  </a:cubicBezTo>
                  <a:close/>
                  <a:moveTo>
                    <a:pt x="309563" y="581025"/>
                  </a:moveTo>
                  <a:cubicBezTo>
                    <a:pt x="159877" y="581025"/>
                    <a:pt x="38100" y="459248"/>
                    <a:pt x="38100" y="309563"/>
                  </a:cubicBezTo>
                  <a:cubicBezTo>
                    <a:pt x="38100" y="159877"/>
                    <a:pt x="159877" y="38100"/>
                    <a:pt x="309563" y="38100"/>
                  </a:cubicBezTo>
                  <a:cubicBezTo>
                    <a:pt x="459248" y="38100"/>
                    <a:pt x="581025" y="159877"/>
                    <a:pt x="581025" y="309563"/>
                  </a:cubicBezTo>
                  <a:cubicBezTo>
                    <a:pt x="581025" y="459248"/>
                    <a:pt x="459248" y="581025"/>
                    <a:pt x="309563" y="581025"/>
                  </a:cubicBezTo>
                  <a:close/>
                </a:path>
              </a:pathLst>
            </a:custGeom>
            <a:grpFill/>
            <a:ln w="9525" cap="flat">
              <a:noFill/>
              <a:prstDash val="solid"/>
              <a:miter/>
            </a:ln>
          </p:spPr>
          <p:txBody>
            <a:bodyPr rtlCol="0" anchor="ctr"/>
            <a:lstStyle/>
            <a:p>
              <a:endParaRPr lang="en-US" sz="1350" dirty="0"/>
            </a:p>
          </p:txBody>
        </p:sp>
        <p:sp>
          <p:nvSpPr>
            <p:cNvPr id="21" name="Freeform: Shape 20"/>
            <p:cNvSpPr/>
            <p:nvPr/>
          </p:nvSpPr>
          <p:spPr>
            <a:xfrm>
              <a:off x="5195751" y="3473729"/>
              <a:ext cx="57150" cy="57150"/>
            </a:xfrm>
            <a:custGeom>
              <a:avLst/>
              <a:gdLst>
                <a:gd name="connsiteX0" fmla="*/ 63722 w 57150"/>
                <a:gd name="connsiteY0" fmla="*/ 31861 h 57150"/>
                <a:gd name="connsiteX1" fmla="*/ 31861 w 57150"/>
                <a:gd name="connsiteY1" fmla="*/ 63722 h 57150"/>
                <a:gd name="connsiteX2" fmla="*/ 0 w 57150"/>
                <a:gd name="connsiteY2" fmla="*/ 31861 h 57150"/>
                <a:gd name="connsiteX3" fmla="*/ 31861 w 57150"/>
                <a:gd name="connsiteY3" fmla="*/ 0 h 57150"/>
                <a:gd name="connsiteX4" fmla="*/ 63722 w 57150"/>
                <a:gd name="connsiteY4" fmla="*/ 3186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63722" y="31861"/>
                  </a:moveTo>
                  <a:cubicBezTo>
                    <a:pt x="63722" y="49458"/>
                    <a:pt x="49458" y="63722"/>
                    <a:pt x="31861" y="63722"/>
                  </a:cubicBezTo>
                  <a:cubicBezTo>
                    <a:pt x="14265" y="63722"/>
                    <a:pt x="0" y="49458"/>
                    <a:pt x="0" y="31861"/>
                  </a:cubicBezTo>
                  <a:cubicBezTo>
                    <a:pt x="0" y="14265"/>
                    <a:pt x="14265" y="0"/>
                    <a:pt x="31861" y="0"/>
                  </a:cubicBezTo>
                  <a:cubicBezTo>
                    <a:pt x="49458" y="0"/>
                    <a:pt x="63722" y="14265"/>
                    <a:pt x="63722" y="31861"/>
                  </a:cubicBezTo>
                  <a:close/>
                </a:path>
              </a:pathLst>
            </a:custGeom>
            <a:grpFill/>
            <a:ln w="9525" cap="flat">
              <a:noFill/>
              <a:prstDash val="solid"/>
              <a:miter/>
            </a:ln>
          </p:spPr>
          <p:txBody>
            <a:bodyPr rtlCol="0" anchor="ctr"/>
            <a:lstStyle/>
            <a:p>
              <a:endParaRPr lang="en-US" sz="1350" dirty="0"/>
            </a:p>
          </p:txBody>
        </p:sp>
        <p:sp>
          <p:nvSpPr>
            <p:cNvPr id="22" name="Freeform: Shape 21"/>
            <p:cNvSpPr/>
            <p:nvPr/>
          </p:nvSpPr>
          <p:spPr>
            <a:xfrm>
              <a:off x="5205276" y="3589420"/>
              <a:ext cx="38100" cy="200025"/>
            </a:xfrm>
            <a:custGeom>
              <a:avLst/>
              <a:gdLst>
                <a:gd name="connsiteX0" fmla="*/ 19050 w 38100"/>
                <a:gd name="connsiteY0" fmla="*/ 0 h 200025"/>
                <a:gd name="connsiteX1" fmla="*/ 0 w 38100"/>
                <a:gd name="connsiteY1" fmla="*/ 19050 h 200025"/>
                <a:gd name="connsiteX2" fmla="*/ 0 w 38100"/>
                <a:gd name="connsiteY2" fmla="*/ 180975 h 200025"/>
                <a:gd name="connsiteX3" fmla="*/ 19050 w 38100"/>
                <a:gd name="connsiteY3" fmla="*/ 200025 h 200025"/>
                <a:gd name="connsiteX4" fmla="*/ 38100 w 38100"/>
                <a:gd name="connsiteY4" fmla="*/ 180975 h 200025"/>
                <a:gd name="connsiteX5" fmla="*/ 38100 w 38100"/>
                <a:gd name="connsiteY5" fmla="*/ 19050 h 200025"/>
                <a:gd name="connsiteX6" fmla="*/ 19050 w 38100"/>
                <a:gd name="connsiteY6" fmla="*/ 0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100" h="200025">
                  <a:moveTo>
                    <a:pt x="19050" y="0"/>
                  </a:moveTo>
                  <a:cubicBezTo>
                    <a:pt x="8534" y="0"/>
                    <a:pt x="0" y="8534"/>
                    <a:pt x="0" y="19050"/>
                  </a:cubicBezTo>
                  <a:lnTo>
                    <a:pt x="0" y="180975"/>
                  </a:lnTo>
                  <a:cubicBezTo>
                    <a:pt x="0" y="191491"/>
                    <a:pt x="8534" y="200025"/>
                    <a:pt x="19050" y="200025"/>
                  </a:cubicBezTo>
                  <a:cubicBezTo>
                    <a:pt x="29566" y="200025"/>
                    <a:pt x="38100" y="191491"/>
                    <a:pt x="38100" y="180975"/>
                  </a:cubicBezTo>
                  <a:lnTo>
                    <a:pt x="38100" y="19050"/>
                  </a:lnTo>
                  <a:cubicBezTo>
                    <a:pt x="38100" y="8525"/>
                    <a:pt x="29566" y="0"/>
                    <a:pt x="19050" y="0"/>
                  </a:cubicBezTo>
                  <a:close/>
                </a:path>
              </a:pathLst>
            </a:custGeom>
            <a:grpFill/>
            <a:ln w="9525" cap="flat">
              <a:noFill/>
              <a:prstDash val="solid"/>
              <a:miter/>
            </a:ln>
          </p:spPr>
          <p:txBody>
            <a:bodyPr rtlCol="0" anchor="ctr"/>
            <a:lstStyle/>
            <a:p>
              <a:endParaRPr lang="en-US" sz="1350" dirty="0"/>
            </a:p>
          </p:txBody>
        </p:sp>
      </p:grpSp>
      <p:sp>
        <p:nvSpPr>
          <p:cNvPr id="16" name="Title 1"/>
          <p:cNvSpPr txBox="1"/>
          <p:nvPr userDrawn="1"/>
        </p:nvSpPr>
        <p:spPr>
          <a:xfrm>
            <a:off x="474130" y="2639243"/>
            <a:ext cx="3334512" cy="1080110"/>
          </a:xfrm>
          <a:prstGeom prst="rect">
            <a:avLst/>
          </a:prstGeom>
        </p:spPr>
        <p:txBody>
          <a:bodyPr vert="horz" lIns="91440" tIns="45720" rIns="91440" bIns="45720" rtlCol="0" anchor="b">
            <a:normAutofit fontScale="92500"/>
          </a:bodyPr>
          <a:lstStyle>
            <a:lvl1pPr algn="l" defTabSz="685800" rtl="0" eaLnBrk="1" latinLnBrk="0" hangingPunct="1">
              <a:lnSpc>
                <a:spcPct val="90000"/>
              </a:lnSpc>
              <a:spcBef>
                <a:spcPct val="0"/>
              </a:spcBef>
              <a:buNone/>
              <a:defRPr sz="3600" b="1" kern="1200" spc="-38" baseline="0">
                <a:solidFill>
                  <a:schemeClr val="tx1">
                    <a:lumMod val="75000"/>
                    <a:lumOff val="25000"/>
                  </a:schemeClr>
                </a:solidFill>
                <a:latin typeface="+mn-lt"/>
                <a:ea typeface="+mj-ea"/>
                <a:cs typeface="+mj-cs"/>
              </a:defRPr>
            </a:lvl1pPr>
          </a:lstStyle>
          <a:p>
            <a:r>
              <a:rPr lang="en-US" sz="6000" b="1" dirty="0">
                <a:solidFill>
                  <a:schemeClr val="bg1"/>
                </a:solidFill>
                <a:latin typeface="YESHUAH" panose="02000500000000000000" pitchFamily="2" charset="0"/>
                <a:ea typeface="ADLaM Display" panose="02010000000000000000" pitchFamily="2" charset="0"/>
                <a:cs typeface="ADLaM Display" panose="02010000000000000000" pitchFamily="2" charset="0"/>
              </a:rPr>
              <a:t>Objectives</a:t>
            </a:r>
            <a:endParaRPr lang="en-US" sz="3200" b="1" dirty="0">
              <a:solidFill>
                <a:schemeClr val="bg1"/>
              </a:solidFill>
              <a:latin typeface="YESHUAH" panose="02000500000000000000" pitchFamily="2" charset="0"/>
              <a:ea typeface="ADLaM Display" panose="02010000000000000000" pitchFamily="2" charset="0"/>
              <a:cs typeface="ADLaM Display" panose="02010000000000000000" pitchFamily="2" charset="0"/>
            </a:endParaRPr>
          </a:p>
        </p:txBody>
      </p:sp>
      <p:sp>
        <p:nvSpPr>
          <p:cNvPr id="11" name="Text Placeholder 10"/>
          <p:cNvSpPr>
            <a:spLocks noGrp="1"/>
          </p:cNvSpPr>
          <p:nvPr>
            <p:ph type="body" sz="quarter" idx="14" hasCustomPrompt="1"/>
          </p:nvPr>
        </p:nvSpPr>
        <p:spPr>
          <a:xfrm>
            <a:off x="5908431" y="1603717"/>
            <a:ext cx="5524060" cy="3151163"/>
          </a:xfrm>
          <a:prstGeom prst="rect">
            <a:avLst/>
          </a:prstGeom>
        </p:spPr>
        <p:txBody>
          <a:bodyPr>
            <a:normAutofit/>
          </a:bodyPr>
          <a:lstStyle>
            <a:lvl1pPr>
              <a:spcBef>
                <a:spcPts val="0"/>
              </a:spcBef>
              <a:spcAft>
                <a:spcPts val="600"/>
              </a:spcAft>
              <a:defRPr sz="3200">
                <a:solidFill>
                  <a:srgbClr val="002060"/>
                </a:solidFill>
              </a:defRPr>
            </a:lvl1pPr>
          </a:lstStyle>
          <a:p>
            <a:pPr lvl="0"/>
            <a:r>
              <a:rPr lang="en-US" dirty="0"/>
              <a:t> { write your objectives}</a:t>
            </a:r>
          </a:p>
          <a:p>
            <a:pPr lvl="0"/>
            <a:endParaRPr lang="en-US" dirty="0"/>
          </a:p>
        </p:txBody>
      </p:sp>
      <p:pic>
        <p:nvPicPr>
          <p:cNvPr id="3" name="Picture 2">
            <a:extLst>
              <a:ext uri="{FF2B5EF4-FFF2-40B4-BE49-F238E27FC236}">
                <a16:creationId xmlns:a16="http://schemas.microsoft.com/office/drawing/2014/main" id="{43EF92EB-1689-2416-7533-E53DBC8933F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581400" y="2348890"/>
            <a:ext cx="2160220" cy="2160220"/>
          </a:xfrm>
          <a:prstGeom prst="rect">
            <a:avLst/>
          </a:prstGeom>
        </p:spPr>
      </p:pic>
    </p:spTree>
    <p:extLst>
      <p:ext uri="{BB962C8B-B14F-4D97-AF65-F5344CB8AC3E}">
        <p14:creationId xmlns:p14="http://schemas.microsoft.com/office/powerpoint/2010/main" val="19726882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156921" y="618977"/>
            <a:ext cx="9393848" cy="712765"/>
          </a:xfrm>
          <a:prstGeom prst="rect">
            <a:avLst/>
          </a:prstGeom>
        </p:spPr>
        <p:txBody>
          <a:bodyPr/>
          <a:lstStyle>
            <a:lvl1pPr>
              <a:defRPr lang="en-US" sz="3600" b="1" kern="1200" spc="-38" baseline="0" dirty="0">
                <a:solidFill>
                  <a:srgbClr val="002060"/>
                </a:solidFill>
                <a:latin typeface="+mn-lt"/>
                <a:ea typeface="+mj-ea"/>
                <a:cs typeface="+mj-cs"/>
              </a:defRPr>
            </a:lvl1pPr>
          </a:lstStyle>
          <a:p>
            <a:r>
              <a:rPr lang="en-US" dirty="0"/>
              <a:t>{ Title }</a:t>
            </a:r>
          </a:p>
        </p:txBody>
      </p:sp>
      <p:sp>
        <p:nvSpPr>
          <p:cNvPr id="6" name="Text Placeholder 10"/>
          <p:cNvSpPr>
            <a:spLocks noGrp="1"/>
          </p:cNvSpPr>
          <p:nvPr>
            <p:ph type="body" sz="quarter" idx="14" hasCustomPrompt="1"/>
          </p:nvPr>
        </p:nvSpPr>
        <p:spPr>
          <a:xfrm>
            <a:off x="1156921" y="1603717"/>
            <a:ext cx="10275570" cy="4705350"/>
          </a:xfrm>
          <a:prstGeom prst="rect">
            <a:avLst/>
          </a:prstGeom>
        </p:spPr>
        <p:txBody>
          <a:bodyPr>
            <a:normAutofit/>
          </a:bodyPr>
          <a:lstStyle>
            <a:lvl1pPr>
              <a:spcBef>
                <a:spcPts val="0"/>
              </a:spcBef>
              <a:spcAft>
                <a:spcPts val="600"/>
              </a:spcAft>
              <a:defRPr sz="2400">
                <a:solidFill>
                  <a:srgbClr val="002060"/>
                </a:solidFill>
              </a:defRPr>
            </a:lvl1pPr>
          </a:lstStyle>
          <a:p>
            <a:pPr lvl="0"/>
            <a:r>
              <a:rPr lang="en-US" dirty="0"/>
              <a:t>{write your bullet point }</a:t>
            </a:r>
          </a:p>
        </p:txBody>
      </p:sp>
    </p:spTree>
    <p:extLst>
      <p:ext uri="{BB962C8B-B14F-4D97-AF65-F5344CB8AC3E}">
        <p14:creationId xmlns:p14="http://schemas.microsoft.com/office/powerpoint/2010/main" val="2730572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11" name="Title 1"/>
          <p:cNvSpPr txBox="1"/>
          <p:nvPr userDrawn="1"/>
        </p:nvSpPr>
        <p:spPr>
          <a:xfrm>
            <a:off x="1325880" y="638175"/>
            <a:ext cx="9942195" cy="666750"/>
          </a:xfrm>
          <a:prstGeom prst="rect">
            <a:avLst/>
          </a:prstGeom>
        </p:spPr>
        <p:txBody>
          <a:bodyPr vert="horz" lIns="91440" tIns="45720" rIns="91440" bIns="45720" rtlCol="0" anchor="b">
            <a:noAutofit/>
          </a:bodyPr>
          <a:lstStyle>
            <a:lvl1pPr algn="l" defTabSz="685800" rtl="0" eaLnBrk="1" latinLnBrk="0" hangingPunct="1">
              <a:lnSpc>
                <a:spcPct val="90000"/>
              </a:lnSpc>
              <a:spcBef>
                <a:spcPct val="0"/>
              </a:spcBef>
              <a:buNone/>
              <a:defRPr sz="3600" b="1" kern="1200" spc="-38" baseline="0">
                <a:solidFill>
                  <a:schemeClr val="tx1">
                    <a:lumMod val="75000"/>
                    <a:lumOff val="25000"/>
                  </a:schemeClr>
                </a:solidFill>
                <a:latin typeface="+mn-lt"/>
                <a:ea typeface="+mj-ea"/>
                <a:cs typeface="+mj-cs"/>
              </a:defRPr>
            </a:lvl1pPr>
          </a:lstStyle>
          <a:p>
            <a:r>
              <a:rPr lang="en-US" sz="3200" b="1" dirty="0">
                <a:solidFill>
                  <a:srgbClr val="002060"/>
                </a:solidFill>
                <a:latin typeface="+mn-lt"/>
                <a:ea typeface="Cambria" panose="02040503050406030204" pitchFamily="18" charset="0"/>
              </a:rPr>
              <a:t>References</a:t>
            </a:r>
          </a:p>
        </p:txBody>
      </p:sp>
      <p:sp>
        <p:nvSpPr>
          <p:cNvPr id="15" name="Text Placeholder 10"/>
          <p:cNvSpPr>
            <a:spLocks noGrp="1"/>
          </p:cNvSpPr>
          <p:nvPr>
            <p:ph type="body" sz="quarter" idx="14" hasCustomPrompt="1"/>
          </p:nvPr>
        </p:nvSpPr>
        <p:spPr>
          <a:xfrm>
            <a:off x="1325880" y="1524000"/>
            <a:ext cx="9681949" cy="3958659"/>
          </a:xfrm>
          <a:prstGeom prst="rect">
            <a:avLst/>
          </a:prstGeom>
        </p:spPr>
        <p:txBody>
          <a:bodyPr>
            <a:normAutofit/>
          </a:bodyPr>
          <a:lstStyle>
            <a:lvl1pPr marL="91440">
              <a:spcBef>
                <a:spcPts val="0"/>
              </a:spcBef>
              <a:defRPr sz="2400">
                <a:solidFill>
                  <a:srgbClr val="002060"/>
                </a:solidFill>
              </a:defRPr>
            </a:lvl1pPr>
          </a:lstStyle>
          <a:p>
            <a:pPr lvl="0"/>
            <a:r>
              <a:rPr lang="en-US" dirty="0"/>
              <a:t>{ link to reference1, example: http://app.icraftsoft.net }</a:t>
            </a:r>
          </a:p>
          <a:p>
            <a:pPr lvl="0"/>
            <a:r>
              <a:rPr lang="en-US" dirty="0"/>
              <a:t>{ link to reference1, example: http://app.icraftsoft.net }</a:t>
            </a:r>
          </a:p>
        </p:txBody>
      </p:sp>
    </p:spTree>
    <p:extLst>
      <p:ext uri="{BB962C8B-B14F-4D97-AF65-F5344CB8AC3E}">
        <p14:creationId xmlns:p14="http://schemas.microsoft.com/office/powerpoint/2010/main" val="3202487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384E36F-A443-7521-D49B-753C50A8A88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25952" y="973836"/>
            <a:ext cx="4910328" cy="4910328"/>
          </a:xfrm>
          <a:prstGeom prst="rect">
            <a:avLst/>
          </a:prstGeom>
        </p:spPr>
      </p:pic>
    </p:spTree>
    <p:extLst>
      <p:ext uri="{BB962C8B-B14F-4D97-AF65-F5344CB8AC3E}">
        <p14:creationId xmlns:p14="http://schemas.microsoft.com/office/powerpoint/2010/main" val="306467436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7" Type="http://schemas.openxmlformats.org/officeDocument/2006/relationships/image" Target="../media/image4.png"/><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theme" Target="../theme/theme2.xml"/><Relationship Id="rId5" Type="http://schemas.openxmlformats.org/officeDocument/2006/relationships/slideLayout" Target="../slideLayouts/slideLayout10.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p:cNvSpPr/>
          <p:nvPr userDrawn="1"/>
        </p:nvSpPr>
        <p:spPr>
          <a:xfrm>
            <a:off x="-8621" y="625480"/>
            <a:ext cx="1036320" cy="685800"/>
          </a:xfrm>
          <a:prstGeom prst="rect">
            <a:avLst/>
          </a:prstGeom>
          <a:solidFill>
            <a:srgbClr val="2567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5" name="Slide Number Placeholder 4"/>
          <p:cNvSpPr>
            <a:spLocks noGrp="1"/>
          </p:cNvSpPr>
          <p:nvPr>
            <p:ph type="sldNum" sz="quarter" idx="4"/>
          </p:nvPr>
        </p:nvSpPr>
        <p:spPr>
          <a:xfrm>
            <a:off x="8610600" y="6181726"/>
            <a:ext cx="2743200" cy="539750"/>
          </a:xfrm>
          <a:prstGeom prst="rect">
            <a:avLst/>
          </a:prstGeom>
        </p:spPr>
        <p:txBody>
          <a:bodyPr vert="horz" lIns="91440" tIns="45720" rIns="91440" bIns="45720" rtlCol="0" anchor="ctr"/>
          <a:lstStyle>
            <a:lvl1pPr algn="r">
              <a:defRPr sz="1200">
                <a:solidFill>
                  <a:schemeClr val="tx1">
                    <a:tint val="75000"/>
                  </a:schemeClr>
                </a:solidFill>
              </a:defRPr>
            </a:lvl1pPr>
          </a:lstStyle>
          <a:p>
            <a:fld id="{2D836B06-9FB6-4AA1-A097-666DD28834F7}" type="slidenum">
              <a:rPr lang="en-US" smtClean="0"/>
              <a:t>‹#›</a:t>
            </a:fld>
            <a:endParaRPr lang="en-US" dirty="0"/>
          </a:p>
        </p:txBody>
      </p:sp>
      <p:pic>
        <p:nvPicPr>
          <p:cNvPr id="3" name="Picture 2"/>
          <p:cNvPicPr>
            <a:picLocks noChangeAspect="1"/>
          </p:cNvPicPr>
          <p:nvPr userDrawn="1"/>
        </p:nvPicPr>
        <p:blipFill>
          <a:blip r:embed="rId7" cstate="print">
            <a:extLst>
              <a:ext uri="{28A0092B-C50C-407E-A947-70E740481C1C}">
                <a14:useLocalDpi xmlns:a14="http://schemas.microsoft.com/office/drawing/2010/main" val="0"/>
              </a:ext>
            </a:extLst>
          </a:blip>
          <a:srcRect/>
          <a:stretch/>
        </p:blipFill>
        <p:spPr>
          <a:xfrm>
            <a:off x="11073852" y="205990"/>
            <a:ext cx="944645" cy="944645"/>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l" defTabSz="685800" rtl="0" eaLnBrk="1" latinLnBrk="0" hangingPunct="1">
        <a:lnSpc>
          <a:spcPct val="90000"/>
        </a:lnSpc>
        <a:spcBef>
          <a:spcPct val="0"/>
        </a:spcBef>
        <a:buNone/>
        <a:defRPr sz="3600" b="1" kern="1200" spc="-38" baseline="0">
          <a:solidFill>
            <a:schemeClr val="tx1">
              <a:lumMod val="75000"/>
              <a:lumOff val="25000"/>
            </a:schemeClr>
          </a:solidFill>
          <a:latin typeface="+mn-lt"/>
          <a:ea typeface="+mj-ea"/>
          <a:cs typeface="+mj-cs"/>
        </a:defRPr>
      </a:lvl1pPr>
    </p:titleStyle>
    <p:bodyStyle>
      <a:lvl1pPr marL="200025" indent="-200025" algn="l" defTabSz="685800" rtl="0" eaLnBrk="1" latinLnBrk="0" hangingPunct="1">
        <a:lnSpc>
          <a:spcPct val="100000"/>
        </a:lnSpc>
        <a:spcBef>
          <a:spcPts val="900"/>
        </a:spcBef>
        <a:spcAft>
          <a:spcPts val="150"/>
        </a:spcAft>
        <a:buClr>
          <a:schemeClr val="accent1"/>
        </a:buClr>
        <a:buSzPct val="100000"/>
        <a:buFont typeface="Wingdings" panose="05000000000000000000" pitchFamily="2" charset="2"/>
        <a:buChar char="§"/>
        <a:defRPr sz="1500" kern="1200">
          <a:solidFill>
            <a:schemeClr val="tx1">
              <a:lumMod val="75000"/>
              <a:lumOff val="25000"/>
            </a:schemeClr>
          </a:solidFill>
          <a:latin typeface="+mn-lt"/>
          <a:ea typeface="+mn-ea"/>
          <a:cs typeface="+mn-cs"/>
        </a:defRPr>
      </a:lvl1pPr>
      <a:lvl2pPr marL="288290" indent="-137160" algn="l" defTabSz="685800" rtl="0" eaLnBrk="1" latinLnBrk="0" hangingPunct="1">
        <a:lnSpc>
          <a:spcPct val="100000"/>
        </a:lnSpc>
        <a:spcBef>
          <a:spcPts val="150"/>
        </a:spcBef>
        <a:spcAft>
          <a:spcPts val="300"/>
        </a:spcAft>
        <a:buClr>
          <a:schemeClr val="accent1"/>
        </a:buClr>
        <a:buFont typeface="Wingdings" panose="05000000000000000000" pitchFamily="2" charset="2"/>
        <a:buChar char="§"/>
        <a:defRPr sz="1350" kern="1200">
          <a:solidFill>
            <a:schemeClr val="tx1">
              <a:lumMod val="75000"/>
              <a:lumOff val="25000"/>
            </a:schemeClr>
          </a:solidFill>
          <a:latin typeface="+mn-lt"/>
          <a:ea typeface="+mn-ea"/>
          <a:cs typeface="+mn-cs"/>
        </a:defRPr>
      </a:lvl2pPr>
      <a:lvl3pPr marL="425450" indent="-137160" algn="l" defTabSz="685800" rtl="0" eaLnBrk="1" latinLnBrk="0" hangingPunct="1">
        <a:lnSpc>
          <a:spcPct val="100000"/>
        </a:lnSpc>
        <a:spcBef>
          <a:spcPts val="150"/>
        </a:spcBef>
        <a:spcAft>
          <a:spcPts val="300"/>
        </a:spcAft>
        <a:buClr>
          <a:schemeClr val="accent1"/>
        </a:buClr>
        <a:buFont typeface="Wingdings" panose="05000000000000000000" pitchFamily="2" charset="2"/>
        <a:buChar char="§"/>
        <a:defRPr sz="1050" kern="1200">
          <a:solidFill>
            <a:schemeClr val="tx1">
              <a:lumMod val="75000"/>
              <a:lumOff val="25000"/>
            </a:schemeClr>
          </a:solidFill>
          <a:latin typeface="+mn-lt"/>
          <a:ea typeface="+mn-ea"/>
          <a:cs typeface="+mn-cs"/>
        </a:defRPr>
      </a:lvl3pPr>
      <a:lvl4pPr marL="562610" indent="-137160" algn="l" defTabSz="685800" rtl="0" eaLnBrk="1" latinLnBrk="0" hangingPunct="1">
        <a:lnSpc>
          <a:spcPct val="100000"/>
        </a:lnSpc>
        <a:spcBef>
          <a:spcPts val="150"/>
        </a:spcBef>
        <a:spcAft>
          <a:spcPts val="300"/>
        </a:spcAft>
        <a:buClr>
          <a:schemeClr val="accent1"/>
        </a:buClr>
        <a:buFont typeface="Wingdings" panose="05000000000000000000" pitchFamily="2" charset="2"/>
        <a:buChar char="§"/>
        <a:defRPr sz="1050" kern="1200">
          <a:solidFill>
            <a:schemeClr val="tx1">
              <a:lumMod val="75000"/>
              <a:lumOff val="25000"/>
            </a:schemeClr>
          </a:solidFill>
          <a:latin typeface="+mn-lt"/>
          <a:ea typeface="+mn-ea"/>
          <a:cs typeface="+mn-cs"/>
        </a:defRPr>
      </a:lvl4pPr>
      <a:lvl5pPr marL="699770" indent="-137160" algn="l" defTabSz="685800" rtl="0" eaLnBrk="1" latinLnBrk="0" hangingPunct="1">
        <a:lnSpc>
          <a:spcPct val="100000"/>
        </a:lnSpc>
        <a:spcBef>
          <a:spcPts val="150"/>
        </a:spcBef>
        <a:spcAft>
          <a:spcPts val="300"/>
        </a:spcAft>
        <a:buClr>
          <a:schemeClr val="accent1"/>
        </a:buClr>
        <a:buFont typeface="Wingdings" panose="05000000000000000000" pitchFamily="2" charset="2"/>
        <a:buChar char="§"/>
        <a:defRPr sz="1050" kern="1200">
          <a:solidFill>
            <a:schemeClr val="tx1">
              <a:lumMod val="75000"/>
              <a:lumOff val="25000"/>
            </a:schemeClr>
          </a:solidFill>
          <a:latin typeface="+mn-lt"/>
          <a:ea typeface="+mn-ea"/>
          <a:cs typeface="+mn-cs"/>
        </a:defRPr>
      </a:lvl5pPr>
      <a:lvl6pPr marL="824865" indent="-17145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6pPr>
      <a:lvl7pPr marL="974725" indent="-17145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7pPr>
      <a:lvl8pPr marL="1125220" indent="-17145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8pPr>
      <a:lvl9pPr marL="1275080" indent="-17145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p:cNvSpPr/>
          <p:nvPr userDrawn="1"/>
        </p:nvSpPr>
        <p:spPr>
          <a:xfrm>
            <a:off x="-8621" y="625480"/>
            <a:ext cx="1036320" cy="685800"/>
          </a:xfrm>
          <a:prstGeom prst="rect">
            <a:avLst/>
          </a:prstGeom>
          <a:solidFill>
            <a:srgbClr val="2567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5" name="Slide Number Placeholder 4"/>
          <p:cNvSpPr>
            <a:spLocks noGrp="1"/>
          </p:cNvSpPr>
          <p:nvPr>
            <p:ph type="sldNum" sz="quarter" idx="4"/>
          </p:nvPr>
        </p:nvSpPr>
        <p:spPr>
          <a:xfrm>
            <a:off x="8610600" y="6181726"/>
            <a:ext cx="2743200" cy="539750"/>
          </a:xfrm>
          <a:prstGeom prst="rect">
            <a:avLst/>
          </a:prstGeom>
        </p:spPr>
        <p:txBody>
          <a:bodyPr vert="horz" lIns="91440" tIns="45720" rIns="91440" bIns="45720" rtlCol="0" anchor="ctr"/>
          <a:lstStyle>
            <a:lvl1pPr algn="r">
              <a:defRPr sz="1200">
                <a:solidFill>
                  <a:schemeClr val="tx1">
                    <a:tint val="75000"/>
                  </a:schemeClr>
                </a:solidFill>
              </a:defRPr>
            </a:lvl1pPr>
          </a:lstStyle>
          <a:p>
            <a:fld id="{2D836B06-9FB6-4AA1-A097-666DD28834F7}" type="slidenum">
              <a:rPr lang="en-US" smtClean="0"/>
              <a:t>‹#›</a:t>
            </a:fld>
            <a:endParaRPr lang="en-US" dirty="0"/>
          </a:p>
        </p:txBody>
      </p:sp>
      <p:pic>
        <p:nvPicPr>
          <p:cNvPr id="3" name="Picture 2"/>
          <p:cNvPicPr>
            <a:picLocks noChangeAspect="1"/>
          </p:cNvPicPr>
          <p:nvPr userDrawn="1"/>
        </p:nvPicPr>
        <p:blipFill>
          <a:blip r:embed="rId7" cstate="print">
            <a:extLst>
              <a:ext uri="{28A0092B-C50C-407E-A947-70E740481C1C}">
                <a14:useLocalDpi xmlns:a14="http://schemas.microsoft.com/office/drawing/2010/main" val="0"/>
              </a:ext>
            </a:extLst>
          </a:blip>
          <a:srcRect/>
          <a:stretch/>
        </p:blipFill>
        <p:spPr>
          <a:xfrm>
            <a:off x="11073852" y="205990"/>
            <a:ext cx="944645" cy="944645"/>
          </a:xfrm>
          <a:prstGeom prst="rect">
            <a:avLst/>
          </a:prstGeom>
        </p:spPr>
      </p:pic>
    </p:spTree>
    <p:extLst>
      <p:ext uri="{BB962C8B-B14F-4D97-AF65-F5344CB8AC3E}">
        <p14:creationId xmlns:p14="http://schemas.microsoft.com/office/powerpoint/2010/main" val="2793801209"/>
      </p:ext>
    </p:extLst>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Lst>
  <p:hf sldNum="0" hdr="0" ftr="0" dt="0"/>
  <p:txStyles>
    <p:titleStyle>
      <a:lvl1pPr algn="l" defTabSz="685800" rtl="0" eaLnBrk="1" latinLnBrk="0" hangingPunct="1">
        <a:lnSpc>
          <a:spcPct val="90000"/>
        </a:lnSpc>
        <a:spcBef>
          <a:spcPct val="0"/>
        </a:spcBef>
        <a:buNone/>
        <a:defRPr sz="3600" b="1" kern="1200" spc="-38" baseline="0">
          <a:solidFill>
            <a:schemeClr val="tx1">
              <a:lumMod val="75000"/>
              <a:lumOff val="25000"/>
            </a:schemeClr>
          </a:solidFill>
          <a:latin typeface="+mn-lt"/>
          <a:ea typeface="+mj-ea"/>
          <a:cs typeface="+mj-cs"/>
        </a:defRPr>
      </a:lvl1pPr>
    </p:titleStyle>
    <p:bodyStyle>
      <a:lvl1pPr marL="200025" indent="-200025" algn="l" defTabSz="685800" rtl="0" eaLnBrk="1" latinLnBrk="0" hangingPunct="1">
        <a:lnSpc>
          <a:spcPct val="100000"/>
        </a:lnSpc>
        <a:spcBef>
          <a:spcPts val="900"/>
        </a:spcBef>
        <a:spcAft>
          <a:spcPts val="150"/>
        </a:spcAft>
        <a:buClr>
          <a:schemeClr val="accent1"/>
        </a:buClr>
        <a:buSzPct val="100000"/>
        <a:buFont typeface="Wingdings" panose="05000000000000000000" pitchFamily="2" charset="2"/>
        <a:buChar char="§"/>
        <a:defRPr sz="1500" kern="1200">
          <a:solidFill>
            <a:schemeClr val="tx1">
              <a:lumMod val="75000"/>
              <a:lumOff val="25000"/>
            </a:schemeClr>
          </a:solidFill>
          <a:latin typeface="+mn-lt"/>
          <a:ea typeface="+mn-ea"/>
          <a:cs typeface="+mn-cs"/>
        </a:defRPr>
      </a:lvl1pPr>
      <a:lvl2pPr marL="288290" indent="-137160" algn="l" defTabSz="685800" rtl="0" eaLnBrk="1" latinLnBrk="0" hangingPunct="1">
        <a:lnSpc>
          <a:spcPct val="100000"/>
        </a:lnSpc>
        <a:spcBef>
          <a:spcPts val="150"/>
        </a:spcBef>
        <a:spcAft>
          <a:spcPts val="300"/>
        </a:spcAft>
        <a:buClr>
          <a:schemeClr val="accent1"/>
        </a:buClr>
        <a:buFont typeface="Wingdings" panose="05000000000000000000" pitchFamily="2" charset="2"/>
        <a:buChar char="§"/>
        <a:defRPr sz="1350" kern="1200">
          <a:solidFill>
            <a:schemeClr val="tx1">
              <a:lumMod val="75000"/>
              <a:lumOff val="25000"/>
            </a:schemeClr>
          </a:solidFill>
          <a:latin typeface="+mn-lt"/>
          <a:ea typeface="+mn-ea"/>
          <a:cs typeface="+mn-cs"/>
        </a:defRPr>
      </a:lvl2pPr>
      <a:lvl3pPr marL="425450" indent="-137160" algn="l" defTabSz="685800" rtl="0" eaLnBrk="1" latinLnBrk="0" hangingPunct="1">
        <a:lnSpc>
          <a:spcPct val="100000"/>
        </a:lnSpc>
        <a:spcBef>
          <a:spcPts val="150"/>
        </a:spcBef>
        <a:spcAft>
          <a:spcPts val="300"/>
        </a:spcAft>
        <a:buClr>
          <a:schemeClr val="accent1"/>
        </a:buClr>
        <a:buFont typeface="Wingdings" panose="05000000000000000000" pitchFamily="2" charset="2"/>
        <a:buChar char="§"/>
        <a:defRPr sz="1050" kern="1200">
          <a:solidFill>
            <a:schemeClr val="tx1">
              <a:lumMod val="75000"/>
              <a:lumOff val="25000"/>
            </a:schemeClr>
          </a:solidFill>
          <a:latin typeface="+mn-lt"/>
          <a:ea typeface="+mn-ea"/>
          <a:cs typeface="+mn-cs"/>
        </a:defRPr>
      </a:lvl3pPr>
      <a:lvl4pPr marL="562610" indent="-137160" algn="l" defTabSz="685800" rtl="0" eaLnBrk="1" latinLnBrk="0" hangingPunct="1">
        <a:lnSpc>
          <a:spcPct val="100000"/>
        </a:lnSpc>
        <a:spcBef>
          <a:spcPts val="150"/>
        </a:spcBef>
        <a:spcAft>
          <a:spcPts val="300"/>
        </a:spcAft>
        <a:buClr>
          <a:schemeClr val="accent1"/>
        </a:buClr>
        <a:buFont typeface="Wingdings" panose="05000000000000000000" pitchFamily="2" charset="2"/>
        <a:buChar char="§"/>
        <a:defRPr sz="1050" kern="1200">
          <a:solidFill>
            <a:schemeClr val="tx1">
              <a:lumMod val="75000"/>
              <a:lumOff val="25000"/>
            </a:schemeClr>
          </a:solidFill>
          <a:latin typeface="+mn-lt"/>
          <a:ea typeface="+mn-ea"/>
          <a:cs typeface="+mn-cs"/>
        </a:defRPr>
      </a:lvl4pPr>
      <a:lvl5pPr marL="699770" indent="-137160" algn="l" defTabSz="685800" rtl="0" eaLnBrk="1" latinLnBrk="0" hangingPunct="1">
        <a:lnSpc>
          <a:spcPct val="100000"/>
        </a:lnSpc>
        <a:spcBef>
          <a:spcPts val="150"/>
        </a:spcBef>
        <a:spcAft>
          <a:spcPts val="300"/>
        </a:spcAft>
        <a:buClr>
          <a:schemeClr val="accent1"/>
        </a:buClr>
        <a:buFont typeface="Wingdings" panose="05000000000000000000" pitchFamily="2" charset="2"/>
        <a:buChar char="§"/>
        <a:defRPr sz="1050" kern="1200">
          <a:solidFill>
            <a:schemeClr val="tx1">
              <a:lumMod val="75000"/>
              <a:lumOff val="25000"/>
            </a:schemeClr>
          </a:solidFill>
          <a:latin typeface="+mn-lt"/>
          <a:ea typeface="+mn-ea"/>
          <a:cs typeface="+mn-cs"/>
        </a:defRPr>
      </a:lvl5pPr>
      <a:lvl6pPr marL="824865" indent="-17145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6pPr>
      <a:lvl7pPr marL="974725" indent="-17145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7pPr>
      <a:lvl8pPr marL="1125220" indent="-17145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8pPr>
      <a:lvl9pPr marL="1275080" indent="-17145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png"/><Relationship Id="rId2" Type="http://schemas.openxmlformats.org/officeDocument/2006/relationships/image" Target="../media/image9.png"/><Relationship Id="rId1" Type="http://schemas.openxmlformats.org/officeDocument/2006/relationships/slideLayout" Target="../slideLayouts/slideLayout3.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jpeg"/><Relationship Id="rId4" Type="http://schemas.openxmlformats.org/officeDocument/2006/relationships/image" Target="../media/image11.jpeg"/><Relationship Id="rId9" Type="http://schemas.openxmlformats.org/officeDocument/2006/relationships/image" Target="../media/image16.png"/></Relationships>
</file>

<file path=ppt/slides/_rels/slide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3.xml"/><Relationship Id="rId5" Type="http://schemas.openxmlformats.org/officeDocument/2006/relationships/image" Target="../media/image24.png"/><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0.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jpeg"/><Relationship Id="rId7" Type="http://schemas.openxmlformats.org/officeDocument/2006/relationships/image" Target="../media/image36.png"/><Relationship Id="rId2" Type="http://schemas.openxmlformats.org/officeDocument/2006/relationships/image" Target="../media/image31.png"/><Relationship Id="rId1" Type="http://schemas.openxmlformats.org/officeDocument/2006/relationships/slideLayout" Target="../slideLayouts/slideLayout3.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 Id="rId9" Type="http://schemas.openxmlformats.org/officeDocument/2006/relationships/image" Target="../media/image3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8" Type="http://schemas.openxmlformats.org/officeDocument/2006/relationships/image" Target="../media/image46.png"/><Relationship Id="rId13" Type="http://schemas.openxmlformats.org/officeDocument/2006/relationships/image" Target="../media/image49.png"/><Relationship Id="rId18" Type="http://schemas.openxmlformats.org/officeDocument/2006/relationships/image" Target="../media/image36.png"/><Relationship Id="rId3" Type="http://schemas.openxmlformats.org/officeDocument/2006/relationships/image" Target="../media/image41.png"/><Relationship Id="rId7" Type="http://schemas.openxmlformats.org/officeDocument/2006/relationships/image" Target="../media/image45.png"/><Relationship Id="rId12" Type="http://schemas.openxmlformats.org/officeDocument/2006/relationships/image" Target="../media/image48.png"/><Relationship Id="rId17" Type="http://schemas.openxmlformats.org/officeDocument/2006/relationships/image" Target="../media/image34.png"/><Relationship Id="rId2" Type="http://schemas.openxmlformats.org/officeDocument/2006/relationships/image" Target="../media/image33.png"/><Relationship Id="rId16" Type="http://schemas.openxmlformats.org/officeDocument/2006/relationships/image" Target="../media/image38.png"/><Relationship Id="rId1" Type="http://schemas.openxmlformats.org/officeDocument/2006/relationships/slideLayout" Target="../slideLayouts/slideLayout3.xml"/><Relationship Id="rId6" Type="http://schemas.openxmlformats.org/officeDocument/2006/relationships/image" Target="../media/image44.png"/><Relationship Id="rId11" Type="http://schemas.openxmlformats.org/officeDocument/2006/relationships/image" Target="../media/image47.png"/><Relationship Id="rId5" Type="http://schemas.openxmlformats.org/officeDocument/2006/relationships/image" Target="../media/image43.png"/><Relationship Id="rId15" Type="http://schemas.openxmlformats.org/officeDocument/2006/relationships/image" Target="../media/image35.png"/><Relationship Id="rId10" Type="http://schemas.openxmlformats.org/officeDocument/2006/relationships/image" Target="../media/image32.jpeg"/><Relationship Id="rId4" Type="http://schemas.openxmlformats.org/officeDocument/2006/relationships/image" Target="../media/image42.png"/><Relationship Id="rId9" Type="http://schemas.openxmlformats.org/officeDocument/2006/relationships/image" Target="../media/image31.png"/><Relationship Id="rId14" Type="http://schemas.openxmlformats.org/officeDocument/2006/relationships/image" Target="../media/image37.png"/></Relationships>
</file>

<file path=ppt/slides/_rels/slide1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3.xml"/><Relationship Id="rId5" Type="http://schemas.openxmlformats.org/officeDocument/2006/relationships/image" Target="../media/image53.png"/><Relationship Id="rId4" Type="http://schemas.openxmlformats.org/officeDocument/2006/relationships/image" Target="../media/image52.png"/></Relationships>
</file>

<file path=ppt/slides/_rels/slide15.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58.png"/><Relationship Id="rId7" Type="http://schemas.openxmlformats.org/officeDocument/2006/relationships/image" Target="../media/image62.png"/><Relationship Id="rId2" Type="http://schemas.openxmlformats.org/officeDocument/2006/relationships/image" Target="../media/image57.png"/><Relationship Id="rId1" Type="http://schemas.openxmlformats.org/officeDocument/2006/relationships/slideLayout" Target="../slideLayouts/slideLayout3.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2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3.xml"/><Relationship Id="rId4" Type="http://schemas.openxmlformats.org/officeDocument/2006/relationships/image" Target="../media/image65.png"/></Relationships>
</file>

<file path=ppt/slides/_rels/slide21.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8.xml"/><Relationship Id="rId5" Type="http://schemas.openxmlformats.org/officeDocument/2006/relationships/image" Target="../media/image72.png"/><Relationship Id="rId4" Type="http://schemas.openxmlformats.org/officeDocument/2006/relationships/image" Target="../media/image71.png"/></Relationships>
</file>

<file path=ppt/slides/_rels/slide25.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8.xml"/><Relationship Id="rId5" Type="http://schemas.openxmlformats.org/officeDocument/2006/relationships/image" Target="../media/image76.png"/><Relationship Id="rId4" Type="http://schemas.openxmlformats.org/officeDocument/2006/relationships/image" Target="../media/image7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7.png"/><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6.png"/><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102.png"/><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04.png"/><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image" Target="../media/image106.png"/><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111.png"/><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8.xml"/></Relationships>
</file>

<file path=ppt/slides/_rels/slide54.xml.rels><?xml version="1.0" encoding="UTF-8" standalone="yes"?>
<Relationships xmlns="http://schemas.openxmlformats.org/package/2006/relationships"><Relationship Id="rId8" Type="http://schemas.openxmlformats.org/officeDocument/2006/relationships/hyperlink" Target="https://learn.microsoft.com/en-us/power-bi/connect-data/desktop-data-sources" TargetMode="External"/><Relationship Id="rId3" Type="http://schemas.openxmlformats.org/officeDocument/2006/relationships/image" Target="../media/image115.png"/><Relationship Id="rId7" Type="http://schemas.openxmlformats.org/officeDocument/2006/relationships/image" Target="../media/image119.png"/><Relationship Id="rId2" Type="http://schemas.openxmlformats.org/officeDocument/2006/relationships/image" Target="../media/image114.png"/><Relationship Id="rId1" Type="http://schemas.openxmlformats.org/officeDocument/2006/relationships/slideLayout" Target="../slideLayouts/slideLayout8.xml"/><Relationship Id="rId6" Type="http://schemas.openxmlformats.org/officeDocument/2006/relationships/image" Target="../media/image118.png"/><Relationship Id="rId5" Type="http://schemas.openxmlformats.org/officeDocument/2006/relationships/image" Target="../media/image117.png"/><Relationship Id="rId4" Type="http://schemas.openxmlformats.org/officeDocument/2006/relationships/image" Target="../media/image116.png"/></Relationships>
</file>

<file path=ppt/slides/_rels/slide55.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image" Target="../media/image121.png"/><Relationship Id="rId1" Type="http://schemas.openxmlformats.org/officeDocument/2006/relationships/slideLayout" Target="../slideLayouts/slideLayout8.xml"/></Relationships>
</file>

<file path=ppt/slides/_rels/slide58.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image" Target="../media/image123.png"/><Relationship Id="rId1" Type="http://schemas.openxmlformats.org/officeDocument/2006/relationships/slideLayout" Target="../slideLayouts/slideLayout8.xml"/><Relationship Id="rId5" Type="http://schemas.openxmlformats.org/officeDocument/2006/relationships/image" Target="../media/image126.png"/><Relationship Id="rId4" Type="http://schemas.openxmlformats.org/officeDocument/2006/relationships/image" Target="../media/image125.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0.xml.rels><?xml version="1.0" encoding="UTF-8" standalone="yes"?>
<Relationships xmlns="http://schemas.openxmlformats.org/package/2006/relationships"><Relationship Id="rId2" Type="http://schemas.openxmlformats.org/officeDocument/2006/relationships/image" Target="../media/image127.png"/><Relationship Id="rId1" Type="http://schemas.openxmlformats.org/officeDocument/2006/relationships/slideLayout" Target="../slideLayouts/slideLayout8.xml"/></Relationships>
</file>

<file path=ppt/slides/_rels/slide61.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image" Target="../media/image128.png"/><Relationship Id="rId1" Type="http://schemas.openxmlformats.org/officeDocument/2006/relationships/slideLayout" Target="../slideLayouts/slideLayout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ECDAC-6AB4-4A7B-90D7-87428ABE7A96}"/>
              </a:ext>
            </a:extLst>
          </p:cNvPr>
          <p:cNvSpPr>
            <a:spLocks noGrp="1"/>
          </p:cNvSpPr>
          <p:nvPr>
            <p:ph type="title"/>
          </p:nvPr>
        </p:nvSpPr>
        <p:spPr>
          <a:xfrm>
            <a:off x="0" y="2793268"/>
            <a:ext cx="5378824" cy="1814591"/>
          </a:xfrm>
        </p:spPr>
        <p:txBody>
          <a:bodyPr>
            <a:noAutofit/>
          </a:bodyPr>
          <a:lstStyle/>
          <a:p>
            <a:r>
              <a:rPr lang="en-US" sz="8800" dirty="0">
                <a:latin typeface="ADLaM Display" panose="02010000000000000000" pitchFamily="2" charset="0"/>
                <a:ea typeface="ADLaM Display" panose="02010000000000000000" pitchFamily="2" charset="0"/>
                <a:cs typeface="ADLaM Display" panose="02010000000000000000" pitchFamily="2" charset="0"/>
              </a:rPr>
              <a:t>Power</a:t>
            </a:r>
            <a:br>
              <a:rPr lang="en-US" sz="8800" dirty="0">
                <a:latin typeface="ADLaM Display" panose="02010000000000000000" pitchFamily="2" charset="0"/>
                <a:ea typeface="ADLaM Display" panose="02010000000000000000" pitchFamily="2" charset="0"/>
                <a:cs typeface="ADLaM Display" panose="02010000000000000000" pitchFamily="2" charset="0"/>
              </a:rPr>
            </a:br>
            <a:r>
              <a:rPr lang="en-US" sz="8800"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BI</a:t>
            </a:r>
            <a:endParaRPr lang="en-US" sz="11500" dirty="0">
              <a:solidFill>
                <a:srgbClr val="FFC000"/>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3" name="Content Placeholder 2">
            <a:extLst>
              <a:ext uri="{FF2B5EF4-FFF2-40B4-BE49-F238E27FC236}">
                <a16:creationId xmlns:a16="http://schemas.microsoft.com/office/drawing/2014/main" id="{28E0905C-A1AA-3986-D28A-042DCEF7892F}"/>
              </a:ext>
            </a:extLst>
          </p:cNvPr>
          <p:cNvSpPr>
            <a:spLocks noGrp="1"/>
          </p:cNvSpPr>
          <p:nvPr>
            <p:ph sz="quarter" idx="13"/>
          </p:nvPr>
        </p:nvSpPr>
        <p:spPr/>
        <p:txBody>
          <a:bodyPr>
            <a:normAutofit lnSpcReduction="10000"/>
          </a:bodyPr>
          <a:lstStyle/>
          <a:p>
            <a:r>
              <a:rPr lang="en-US" dirty="0"/>
              <a:t>mintesnot</a:t>
            </a:r>
          </a:p>
        </p:txBody>
      </p:sp>
      <p:pic>
        <p:nvPicPr>
          <p:cNvPr id="6" name="Picture 5">
            <a:extLst>
              <a:ext uri="{FF2B5EF4-FFF2-40B4-BE49-F238E27FC236}">
                <a16:creationId xmlns:a16="http://schemas.microsoft.com/office/drawing/2014/main" id="{29CEBC9E-4311-34A9-0C78-FA3EC39303C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010912" y="1523757"/>
            <a:ext cx="6934200" cy="4079938"/>
          </a:xfrm>
          <a:prstGeom prst="rect">
            <a:avLst/>
          </a:prstGeom>
        </p:spPr>
      </p:pic>
      <p:pic>
        <p:nvPicPr>
          <p:cNvPr id="5" name="Picture 4">
            <a:extLst>
              <a:ext uri="{FF2B5EF4-FFF2-40B4-BE49-F238E27FC236}">
                <a16:creationId xmlns:a16="http://schemas.microsoft.com/office/drawing/2014/main" id="{8A45799B-95A8-C61C-3410-7D04BE68224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398462" y="3026948"/>
            <a:ext cx="2980362" cy="2973298"/>
          </a:xfrm>
          <a:prstGeom prst="rect">
            <a:avLst/>
          </a:prstGeom>
        </p:spPr>
      </p:pic>
    </p:spTree>
    <p:extLst>
      <p:ext uri="{BB962C8B-B14F-4D97-AF65-F5344CB8AC3E}">
        <p14:creationId xmlns:p14="http://schemas.microsoft.com/office/powerpoint/2010/main" val="19199133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DA5F557-19C5-3E57-5E7C-602DF20CAEE8}"/>
              </a:ext>
            </a:extLst>
          </p:cNvPr>
          <p:cNvSpPr>
            <a:spLocks noGrp="1"/>
          </p:cNvSpPr>
          <p:nvPr>
            <p:ph type="body" sz="quarter" idx="14"/>
          </p:nvPr>
        </p:nvSpPr>
        <p:spPr>
          <a:xfrm>
            <a:off x="5300007" y="349349"/>
            <a:ext cx="6810713" cy="6667828"/>
          </a:xfrm>
        </p:spPr>
        <p:txBody>
          <a:bodyPr>
            <a:normAutofit/>
          </a:bodyPr>
          <a:lstStyle/>
          <a:p>
            <a:pPr>
              <a:buBlip>
                <a:blip r:embed="rId2"/>
              </a:buBlip>
            </a:pPr>
            <a:r>
              <a:rPr lang="en-US" dirty="0">
                <a:latin typeface="ADLaM Display" panose="02010000000000000000" pitchFamily="2" charset="0"/>
                <a:ea typeface="ADLaM Display" panose="02010000000000000000" pitchFamily="2" charset="0"/>
                <a:cs typeface="ADLaM Display" panose="02010000000000000000" pitchFamily="2" charset="0"/>
              </a:rPr>
              <a:t> What is </a:t>
            </a:r>
            <a:r>
              <a:rPr lang="en-US" b="1"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Business Intelligence</a:t>
            </a:r>
            <a:r>
              <a:rPr lang="en-US" dirty="0">
                <a:latin typeface="ADLaM Display" panose="02010000000000000000" pitchFamily="2" charset="0"/>
                <a:ea typeface="ADLaM Display" panose="02010000000000000000" pitchFamily="2" charset="0"/>
                <a:cs typeface="ADLaM Display" panose="02010000000000000000" pitchFamily="2" charset="0"/>
              </a:rPr>
              <a:t>?</a:t>
            </a:r>
          </a:p>
          <a:p>
            <a:pPr>
              <a:buBlip>
                <a:blip r:embed="rId2"/>
              </a:buBlip>
            </a:pPr>
            <a:r>
              <a:rPr lang="en-US" dirty="0">
                <a:latin typeface="ADLaM Display" panose="02010000000000000000" pitchFamily="2" charset="0"/>
                <a:ea typeface="ADLaM Display" panose="02010000000000000000" pitchFamily="2" charset="0"/>
                <a:cs typeface="ADLaM Display" panose="02010000000000000000" pitchFamily="2" charset="0"/>
              </a:rPr>
              <a:t> Power BI</a:t>
            </a:r>
          </a:p>
          <a:p>
            <a:pPr>
              <a:buBlip>
                <a:blip r:embed="rId2"/>
              </a:buBlip>
            </a:pPr>
            <a:r>
              <a:rPr lang="en-US" dirty="0">
                <a:latin typeface="ADLaM Display" panose="02010000000000000000" pitchFamily="2" charset="0"/>
                <a:ea typeface="ADLaM Display" panose="02010000000000000000" pitchFamily="2" charset="0"/>
                <a:cs typeface="ADLaM Display" panose="02010000000000000000" pitchFamily="2" charset="0"/>
              </a:rPr>
              <a:t> Power BI Architecture</a:t>
            </a:r>
          </a:p>
          <a:p>
            <a:pPr>
              <a:buBlip>
                <a:blip r:embed="rId2"/>
              </a:buBlip>
            </a:pPr>
            <a:r>
              <a:rPr lang="en-US" dirty="0">
                <a:latin typeface="ADLaM Display" panose="02010000000000000000" pitchFamily="2" charset="0"/>
                <a:ea typeface="ADLaM Display" panose="02010000000000000000" pitchFamily="2" charset="0"/>
                <a:cs typeface="ADLaM Display" panose="02010000000000000000" pitchFamily="2" charset="0"/>
              </a:rPr>
              <a:t> Visualizations</a:t>
            </a:r>
          </a:p>
          <a:p>
            <a:pPr>
              <a:buBlip>
                <a:blip r:embed="rId2"/>
              </a:buBlip>
            </a:pPr>
            <a:r>
              <a:rPr lang="en-US" dirty="0">
                <a:latin typeface="ADLaM Display" panose="02010000000000000000" pitchFamily="2" charset="0"/>
                <a:ea typeface="ADLaM Display" panose="02010000000000000000" pitchFamily="2" charset="0"/>
                <a:cs typeface="ADLaM Display" panose="02010000000000000000" pitchFamily="2" charset="0"/>
              </a:rPr>
              <a:t> Common Charts</a:t>
            </a:r>
          </a:p>
          <a:p>
            <a:pPr>
              <a:buBlip>
                <a:blip r:embed="rId2"/>
              </a:buBlip>
            </a:pPr>
            <a:r>
              <a:rPr lang="en-US" dirty="0">
                <a:latin typeface="ADLaM Display" panose="02010000000000000000" pitchFamily="2" charset="0"/>
                <a:ea typeface="ADLaM Display" panose="02010000000000000000" pitchFamily="2" charset="0"/>
                <a:cs typeface="ADLaM Display" panose="02010000000000000000" pitchFamily="2" charset="0"/>
              </a:rPr>
              <a:t> Uncommon Charts</a:t>
            </a:r>
          </a:p>
          <a:p>
            <a:pPr>
              <a:buBlip>
                <a:blip r:embed="rId2"/>
              </a:buBlip>
            </a:pPr>
            <a:r>
              <a:rPr lang="en-US" dirty="0">
                <a:latin typeface="ADLaM Display" panose="02010000000000000000" pitchFamily="2" charset="0"/>
                <a:ea typeface="ADLaM Display" panose="02010000000000000000" pitchFamily="2" charset="0"/>
                <a:cs typeface="ADLaM Display" panose="02010000000000000000" pitchFamily="2" charset="0"/>
              </a:rPr>
              <a:t> Filters</a:t>
            </a:r>
          </a:p>
          <a:p>
            <a:pPr>
              <a:buBlip>
                <a:blip r:embed="rId2"/>
              </a:buBlip>
            </a:pPr>
            <a:r>
              <a:rPr lang="en-US" dirty="0">
                <a:latin typeface="ADLaM Display" panose="02010000000000000000" pitchFamily="2" charset="0"/>
                <a:ea typeface="ADLaM Display" panose="02010000000000000000" pitchFamily="2" charset="0"/>
                <a:cs typeface="ADLaM Display" panose="02010000000000000000" pitchFamily="2" charset="0"/>
              </a:rPr>
              <a:t> Slicers</a:t>
            </a:r>
          </a:p>
          <a:p>
            <a:pPr>
              <a:buBlip>
                <a:blip r:embed="rId2"/>
              </a:buBlip>
            </a:pPr>
            <a:r>
              <a:rPr lang="en-US" dirty="0">
                <a:latin typeface="ADLaM Display" panose="02010000000000000000" pitchFamily="2" charset="0"/>
                <a:ea typeface="ADLaM Display" panose="02010000000000000000" pitchFamily="2" charset="0"/>
                <a:cs typeface="ADLaM Display" panose="02010000000000000000" pitchFamily="2" charset="0"/>
              </a:rPr>
              <a:t> Getting Data in Power BI</a:t>
            </a:r>
          </a:p>
          <a:p>
            <a:pPr>
              <a:buBlip>
                <a:blip r:embed="rId2"/>
              </a:buBlip>
            </a:pPr>
            <a:r>
              <a:rPr lang="en-US" dirty="0">
                <a:latin typeface="ADLaM Display" panose="02010000000000000000" pitchFamily="2" charset="0"/>
                <a:ea typeface="ADLaM Display" panose="02010000000000000000" pitchFamily="2" charset="0"/>
                <a:cs typeface="ADLaM Display" panose="02010000000000000000" pitchFamily="2" charset="0"/>
              </a:rPr>
              <a:t> Publish</a:t>
            </a:r>
          </a:p>
          <a:p>
            <a:pPr>
              <a:buBlip>
                <a:blip r:embed="rId2"/>
              </a:buBlip>
            </a:pPr>
            <a:r>
              <a:rPr lang="en-US" dirty="0">
                <a:latin typeface="ADLaM Display" panose="02010000000000000000" pitchFamily="2" charset="0"/>
                <a:ea typeface="ADLaM Display" panose="02010000000000000000" pitchFamily="2" charset="0"/>
                <a:cs typeface="ADLaM Display" panose="02010000000000000000" pitchFamily="2" charset="0"/>
              </a:rPr>
              <a:t> Power BI Workspace</a:t>
            </a:r>
          </a:p>
        </p:txBody>
      </p:sp>
    </p:spTree>
    <p:extLst>
      <p:ext uri="{BB962C8B-B14F-4D97-AF65-F5344CB8AC3E}">
        <p14:creationId xmlns:p14="http://schemas.microsoft.com/office/powerpoint/2010/main" val="1664880165"/>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9F17C-4686-579A-ADCE-818576D43A3A}"/>
              </a:ext>
            </a:extLst>
          </p:cNvPr>
          <p:cNvSpPr>
            <a:spLocks noGrp="1"/>
          </p:cNvSpPr>
          <p:nvPr>
            <p:ph type="title"/>
          </p:nvPr>
        </p:nvSpPr>
        <p:spPr>
          <a:xfrm>
            <a:off x="1156920" y="715229"/>
            <a:ext cx="9393848" cy="712765"/>
          </a:xfrm>
        </p:spPr>
        <p:txBody>
          <a:bodyPr/>
          <a:lstStyle/>
          <a:p>
            <a:r>
              <a:rPr lang="en-US" dirty="0">
                <a:latin typeface="ADLaM Display" panose="02010000000000000000" pitchFamily="2" charset="0"/>
                <a:ea typeface="ADLaM Display" panose="02010000000000000000" pitchFamily="2" charset="0"/>
                <a:cs typeface="ADLaM Display" panose="02010000000000000000" pitchFamily="2" charset="0"/>
              </a:rPr>
              <a:t>What is </a:t>
            </a:r>
            <a:r>
              <a:rPr lang="en-US"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Business Intelligence</a:t>
            </a:r>
            <a:r>
              <a:rPr lang="en-US" dirty="0">
                <a:latin typeface="ADLaM Display" panose="02010000000000000000" pitchFamily="2" charset="0"/>
                <a:ea typeface="ADLaM Display" panose="02010000000000000000" pitchFamily="2" charset="0"/>
                <a:cs typeface="ADLaM Display" panose="02010000000000000000" pitchFamily="2" charset="0"/>
              </a:rPr>
              <a:t>?</a:t>
            </a:r>
          </a:p>
        </p:txBody>
      </p:sp>
      <p:sp>
        <p:nvSpPr>
          <p:cNvPr id="3" name="Text Placeholder 2">
            <a:extLst>
              <a:ext uri="{FF2B5EF4-FFF2-40B4-BE49-F238E27FC236}">
                <a16:creationId xmlns:a16="http://schemas.microsoft.com/office/drawing/2014/main" id="{25DD0B1B-B130-8E70-136A-D0F6E5E125D3}"/>
              </a:ext>
            </a:extLst>
          </p:cNvPr>
          <p:cNvSpPr>
            <a:spLocks noGrp="1"/>
          </p:cNvSpPr>
          <p:nvPr>
            <p:ph type="body" sz="quarter" idx="14"/>
          </p:nvPr>
        </p:nvSpPr>
        <p:spPr>
          <a:xfrm>
            <a:off x="1156920" y="1603717"/>
            <a:ext cx="10794447" cy="4957504"/>
          </a:xfrm>
        </p:spPr>
        <p:txBody>
          <a:bodyPr>
            <a:normAutofit/>
          </a:bodyPr>
          <a:lstStyle/>
          <a:p>
            <a:pPr algn="just"/>
            <a:r>
              <a:rPr lang="en-US" sz="3200" dirty="0"/>
              <a:t> </a:t>
            </a:r>
            <a:r>
              <a:rPr lang="en-US" sz="3200" b="1"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Definition</a:t>
            </a:r>
            <a:r>
              <a:rPr lang="en-US" sz="3200" dirty="0"/>
              <a:t>: Business Intelligence (BI) refers to technologies, practices, and tools used to analyze &amp; present business data.</a:t>
            </a:r>
          </a:p>
          <a:p>
            <a:pPr algn="just"/>
            <a:r>
              <a:rPr lang="en-US" sz="3200" dirty="0"/>
              <a:t> </a:t>
            </a:r>
            <a:r>
              <a:rPr lang="en-US" sz="3200" b="1"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Primary Goal</a:t>
            </a:r>
            <a:r>
              <a:rPr lang="en-US" sz="3200" dirty="0"/>
              <a:t>: To support better business decision-making by providing actionable insights derived from data analysis.</a:t>
            </a:r>
          </a:p>
          <a:p>
            <a:pPr algn="just"/>
            <a:r>
              <a:rPr lang="en-US" sz="3200" dirty="0"/>
              <a:t> </a:t>
            </a:r>
            <a:r>
              <a:rPr lang="en-US" sz="3200" b="1"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Core Benefits</a:t>
            </a:r>
            <a:r>
              <a:rPr lang="en-US" sz="3200" dirty="0"/>
              <a:t>:</a:t>
            </a:r>
          </a:p>
          <a:p>
            <a:pPr lvl="2" algn="just">
              <a:buFont typeface="Wingdings" panose="05000000000000000000" pitchFamily="2" charset="2"/>
              <a:buChar char="ü"/>
            </a:pPr>
            <a:r>
              <a:rPr lang="en-US" sz="3200" dirty="0"/>
              <a:t> Informed decision-making based on data-driven insights.</a:t>
            </a:r>
          </a:p>
          <a:p>
            <a:pPr lvl="2" algn="just">
              <a:buFont typeface="Wingdings" panose="05000000000000000000" pitchFamily="2" charset="2"/>
              <a:buChar char="ü"/>
            </a:pPr>
            <a:r>
              <a:rPr lang="en-US" sz="3200" dirty="0"/>
              <a:t> Improved efficiency by streaming data management.</a:t>
            </a:r>
          </a:p>
          <a:p>
            <a:pPr lvl="2" algn="just">
              <a:buFont typeface="Wingdings" panose="05000000000000000000" pitchFamily="2" charset="2"/>
              <a:buChar char="ü"/>
            </a:pPr>
            <a:r>
              <a:rPr lang="en-US" sz="3200" dirty="0"/>
              <a:t> Increased revenue through better sales forecasting.</a:t>
            </a:r>
          </a:p>
          <a:p>
            <a:pPr lvl="1" algn="just">
              <a:buFont typeface="Wingdings" panose="05000000000000000000" pitchFamily="2" charset="2"/>
              <a:buChar char="ü"/>
            </a:pPr>
            <a:endParaRPr lang="en-US" sz="1600" dirty="0"/>
          </a:p>
        </p:txBody>
      </p:sp>
    </p:spTree>
    <p:extLst>
      <p:ext uri="{BB962C8B-B14F-4D97-AF65-F5344CB8AC3E}">
        <p14:creationId xmlns:p14="http://schemas.microsoft.com/office/powerpoint/2010/main" val="1037428834"/>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F6058D-5A93-8DC1-1EEC-6A6CF37CED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75857D-654A-BE79-1203-E9D3FD66CA0F}"/>
              </a:ext>
            </a:extLst>
          </p:cNvPr>
          <p:cNvSpPr>
            <a:spLocks noGrp="1"/>
          </p:cNvSpPr>
          <p:nvPr>
            <p:ph type="title"/>
          </p:nvPr>
        </p:nvSpPr>
        <p:spPr>
          <a:xfrm>
            <a:off x="1156920" y="715229"/>
            <a:ext cx="9393848" cy="712765"/>
          </a:xfrm>
        </p:spPr>
        <p:txBody>
          <a:bodyPr/>
          <a:lstStyle/>
          <a:p>
            <a:r>
              <a:rPr lang="en-US" dirty="0">
                <a:latin typeface="ADLaM Display" panose="02010000000000000000" pitchFamily="2" charset="0"/>
                <a:ea typeface="ADLaM Display" panose="02010000000000000000" pitchFamily="2" charset="0"/>
                <a:cs typeface="ADLaM Display" panose="02010000000000000000" pitchFamily="2" charset="0"/>
              </a:rPr>
              <a:t>Key components of </a:t>
            </a:r>
            <a:r>
              <a:rPr lang="en-US"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BI</a:t>
            </a:r>
          </a:p>
        </p:txBody>
      </p:sp>
      <p:sp>
        <p:nvSpPr>
          <p:cNvPr id="3" name="Text Placeholder 2">
            <a:extLst>
              <a:ext uri="{FF2B5EF4-FFF2-40B4-BE49-F238E27FC236}">
                <a16:creationId xmlns:a16="http://schemas.microsoft.com/office/drawing/2014/main" id="{97EC3B3F-A71B-3777-34C8-3ED015A2F696}"/>
              </a:ext>
            </a:extLst>
          </p:cNvPr>
          <p:cNvSpPr>
            <a:spLocks noGrp="1"/>
          </p:cNvSpPr>
          <p:nvPr>
            <p:ph type="body" sz="quarter" idx="14"/>
          </p:nvPr>
        </p:nvSpPr>
        <p:spPr>
          <a:xfrm>
            <a:off x="698776" y="1427994"/>
            <a:ext cx="11316761" cy="5254283"/>
          </a:xfrm>
        </p:spPr>
        <p:txBody>
          <a:bodyPr>
            <a:normAutofit/>
          </a:bodyPr>
          <a:lstStyle/>
          <a:p>
            <a:pPr algn="just"/>
            <a:r>
              <a:rPr lang="en-US" sz="2800" dirty="0"/>
              <a:t> BI is built on </a:t>
            </a:r>
            <a:r>
              <a:rPr lang="en-US" sz="2800" b="1" dirty="0">
                <a:solidFill>
                  <a:srgbClr val="00B050"/>
                </a:solidFill>
                <a:latin typeface="ADLaM Display" panose="02010000000000000000" pitchFamily="2" charset="0"/>
                <a:ea typeface="ADLaM Display" panose="02010000000000000000" pitchFamily="2" charset="0"/>
                <a:cs typeface="ADLaM Display" panose="02010000000000000000" pitchFamily="2" charset="0"/>
              </a:rPr>
              <a:t>five</a:t>
            </a:r>
            <a:r>
              <a:rPr lang="en-US" sz="2800" dirty="0"/>
              <a:t> foundational pillars:</a:t>
            </a:r>
          </a:p>
          <a:p>
            <a:pPr marL="400050" indent="-400050" algn="just">
              <a:buFont typeface="+mj-lt"/>
              <a:buAutoNum type="romanUcPeriod"/>
            </a:pPr>
            <a:r>
              <a:rPr lang="en-US" sz="2800" b="1"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Data Collection</a:t>
            </a:r>
            <a:r>
              <a:rPr lang="en-US" sz="2800" dirty="0"/>
              <a:t>: Gathering data from various sources like databases &amp; spreadsheets.</a:t>
            </a:r>
          </a:p>
          <a:p>
            <a:pPr marL="400050" indent="-400050" algn="just">
              <a:buFont typeface="+mj-lt"/>
              <a:buAutoNum type="romanUcPeriod"/>
            </a:pPr>
            <a:r>
              <a:rPr lang="en-US" sz="2800" b="1"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Data Integration</a:t>
            </a:r>
            <a:r>
              <a:rPr lang="en-US" sz="2800" dirty="0"/>
              <a:t>: Combining different data sources into a single, cohesive dataset.</a:t>
            </a:r>
          </a:p>
          <a:p>
            <a:pPr marL="400050" indent="-400050" algn="just">
              <a:buFont typeface="+mj-lt"/>
              <a:buAutoNum type="romanUcPeriod"/>
            </a:pPr>
            <a:r>
              <a:rPr lang="en-US" sz="2800" dirty="0">
                <a:latin typeface="ADLaM Display" panose="02010000000000000000" pitchFamily="2" charset="0"/>
                <a:ea typeface="ADLaM Display" panose="02010000000000000000" pitchFamily="2" charset="0"/>
                <a:cs typeface="ADLaM Display" panose="02010000000000000000" pitchFamily="2" charset="0"/>
              </a:rPr>
              <a:t> </a:t>
            </a:r>
            <a:r>
              <a:rPr lang="en-US" sz="2800" b="1"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Data Analysis</a:t>
            </a:r>
            <a:r>
              <a:rPr lang="en-US" sz="2800" dirty="0"/>
              <a:t>: Using statistical methodologies to uncover trends &amp; patterns.</a:t>
            </a:r>
          </a:p>
          <a:p>
            <a:pPr marL="400050" indent="-400050" algn="just">
              <a:buFont typeface="+mj-lt"/>
              <a:buAutoNum type="romanUcPeriod"/>
            </a:pPr>
            <a:r>
              <a:rPr lang="en-US" sz="2800"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Reporting</a:t>
            </a:r>
            <a:r>
              <a:rPr lang="en-US" sz="2800" dirty="0"/>
              <a:t>: Creating dashboards &amp; reports to make insights understandable.</a:t>
            </a:r>
          </a:p>
          <a:p>
            <a:pPr marL="400050" indent="-400050" algn="just">
              <a:buFont typeface="+mj-lt"/>
              <a:buAutoNum type="romanUcPeriod"/>
            </a:pPr>
            <a:r>
              <a:rPr lang="en-US" sz="2800"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Data Visualization</a:t>
            </a:r>
            <a:r>
              <a:rPr lang="en-US" sz="2800" dirty="0"/>
              <a:t>: Utilizing graphical representations to communicate insights effectively.</a:t>
            </a:r>
          </a:p>
          <a:p>
            <a:pPr marL="400050" indent="-400050" algn="just">
              <a:buFont typeface="+mj-lt"/>
              <a:buAutoNum type="romanUcPeriod"/>
            </a:pPr>
            <a:endParaRPr lang="en-US" sz="1400" dirty="0"/>
          </a:p>
        </p:txBody>
      </p:sp>
    </p:spTree>
    <p:extLst>
      <p:ext uri="{BB962C8B-B14F-4D97-AF65-F5344CB8AC3E}">
        <p14:creationId xmlns:p14="http://schemas.microsoft.com/office/powerpoint/2010/main" val="37368644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30E003-FC59-F120-4436-262FAA610A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ADA220-72B2-39CF-0959-1671DA34BEFC}"/>
              </a:ext>
            </a:extLst>
          </p:cNvPr>
          <p:cNvSpPr>
            <a:spLocks noGrp="1"/>
          </p:cNvSpPr>
          <p:nvPr>
            <p:ph type="title"/>
          </p:nvPr>
        </p:nvSpPr>
        <p:spPr>
          <a:xfrm>
            <a:off x="1156920" y="715229"/>
            <a:ext cx="9393848" cy="712765"/>
          </a:xfrm>
        </p:spPr>
        <p:txBody>
          <a:bodyPr/>
          <a:lstStyle/>
          <a:p>
            <a:r>
              <a:rPr lang="en-US"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BI</a:t>
            </a:r>
            <a:r>
              <a:rPr lang="en-US" dirty="0">
                <a:latin typeface="ADLaM Display" panose="02010000000000000000" pitchFamily="2" charset="0"/>
                <a:ea typeface="ADLaM Display" panose="02010000000000000000" pitchFamily="2" charset="0"/>
                <a:cs typeface="ADLaM Display" panose="02010000000000000000" pitchFamily="2" charset="0"/>
              </a:rPr>
              <a:t> Tools</a:t>
            </a:r>
            <a:endParaRPr lang="en-US" dirty="0">
              <a:solidFill>
                <a:srgbClr val="FFC000"/>
              </a:solidFill>
              <a:latin typeface="ADLaM Display" panose="02010000000000000000" pitchFamily="2" charset="0"/>
              <a:ea typeface="ADLaM Display" panose="02010000000000000000" pitchFamily="2" charset="0"/>
              <a:cs typeface="ADLaM Display" panose="02010000000000000000" pitchFamily="2" charset="0"/>
            </a:endParaRPr>
          </a:p>
        </p:txBody>
      </p:sp>
      <p:pic>
        <p:nvPicPr>
          <p:cNvPr id="6" name="Picture 5" descr="Tableau Software Logo Download - AI - All Vector Logo">
            <a:extLst>
              <a:ext uri="{FF2B5EF4-FFF2-40B4-BE49-F238E27FC236}">
                <a16:creationId xmlns:a16="http://schemas.microsoft.com/office/drawing/2014/main" id="{19820C5F-50A3-212B-39E0-CDC4BB33BDD3}"/>
              </a:ext>
            </a:extLst>
          </p:cNvPr>
          <p:cNvPicPr>
            <a:picLocks noChangeAspect="1"/>
          </p:cNvPicPr>
          <p:nvPr/>
        </p:nvPicPr>
        <p:blipFill>
          <a:blip r:embed="rId2"/>
          <a:stretch>
            <a:fillRect/>
          </a:stretch>
        </p:blipFill>
        <p:spPr>
          <a:xfrm>
            <a:off x="0" y="1761705"/>
            <a:ext cx="3165348" cy="1720298"/>
          </a:xfrm>
          <a:prstGeom prst="rect">
            <a:avLst/>
          </a:prstGeom>
        </p:spPr>
      </p:pic>
      <p:pic>
        <p:nvPicPr>
          <p:cNvPr id="7" name="Picture 6" descr="Qlik View logo transparent PNG - StickPNG">
            <a:extLst>
              <a:ext uri="{FF2B5EF4-FFF2-40B4-BE49-F238E27FC236}">
                <a16:creationId xmlns:a16="http://schemas.microsoft.com/office/drawing/2014/main" id="{28D7C8AE-F57E-F4EF-D0E8-6F24DBF04F1D}"/>
              </a:ext>
            </a:extLst>
          </p:cNvPr>
          <p:cNvPicPr>
            <a:picLocks noChangeAspect="1"/>
          </p:cNvPicPr>
          <p:nvPr/>
        </p:nvPicPr>
        <p:blipFill>
          <a:blip r:embed="rId3"/>
          <a:stretch>
            <a:fillRect/>
          </a:stretch>
        </p:blipFill>
        <p:spPr>
          <a:xfrm>
            <a:off x="2743962" y="2810221"/>
            <a:ext cx="1663446" cy="1042582"/>
          </a:xfrm>
          <a:prstGeom prst="rect">
            <a:avLst/>
          </a:prstGeom>
        </p:spPr>
      </p:pic>
      <p:pic>
        <p:nvPicPr>
          <p:cNvPr id="8" name="Picture 7" descr="Looker - YouTube">
            <a:extLst>
              <a:ext uri="{FF2B5EF4-FFF2-40B4-BE49-F238E27FC236}">
                <a16:creationId xmlns:a16="http://schemas.microsoft.com/office/drawing/2014/main" id="{6D707537-BAA7-9861-D137-4E7B176550D8}"/>
              </a:ext>
            </a:extLst>
          </p:cNvPr>
          <p:cNvPicPr>
            <a:picLocks noChangeAspect="1"/>
          </p:cNvPicPr>
          <p:nvPr/>
        </p:nvPicPr>
        <p:blipFill>
          <a:blip r:embed="rId4"/>
          <a:stretch>
            <a:fillRect/>
          </a:stretch>
        </p:blipFill>
        <p:spPr>
          <a:xfrm>
            <a:off x="4044480" y="1164585"/>
            <a:ext cx="2157437" cy="2157437"/>
          </a:xfrm>
          <a:prstGeom prst="rect">
            <a:avLst/>
          </a:prstGeom>
        </p:spPr>
      </p:pic>
      <p:pic>
        <p:nvPicPr>
          <p:cNvPr id="9" name="Picture 8" descr="Zoho Analytics Review | PCMag">
            <a:extLst>
              <a:ext uri="{FF2B5EF4-FFF2-40B4-BE49-F238E27FC236}">
                <a16:creationId xmlns:a16="http://schemas.microsoft.com/office/drawing/2014/main" id="{B890D118-7E3D-880F-91A1-604AD0C7FEE2}"/>
              </a:ext>
            </a:extLst>
          </p:cNvPr>
          <p:cNvPicPr>
            <a:picLocks noChangeAspect="1"/>
          </p:cNvPicPr>
          <p:nvPr/>
        </p:nvPicPr>
        <p:blipFill>
          <a:blip r:embed="rId5"/>
          <a:stretch>
            <a:fillRect/>
          </a:stretch>
        </p:blipFill>
        <p:spPr>
          <a:xfrm>
            <a:off x="729615" y="3957127"/>
            <a:ext cx="2846070" cy="807705"/>
          </a:xfrm>
          <a:prstGeom prst="rect">
            <a:avLst/>
          </a:prstGeom>
        </p:spPr>
      </p:pic>
      <p:pic>
        <p:nvPicPr>
          <p:cNvPr id="10" name="Picture 9" descr="Klipfolio Logo | Klipfolio">
            <a:extLst>
              <a:ext uri="{FF2B5EF4-FFF2-40B4-BE49-F238E27FC236}">
                <a16:creationId xmlns:a16="http://schemas.microsoft.com/office/drawing/2014/main" id="{F3B26A59-5EC9-AF77-7B0D-B10FA71945F1}"/>
              </a:ext>
            </a:extLst>
          </p:cNvPr>
          <p:cNvPicPr>
            <a:picLocks noChangeAspect="1"/>
          </p:cNvPicPr>
          <p:nvPr/>
        </p:nvPicPr>
        <p:blipFill>
          <a:blip r:embed="rId6"/>
          <a:stretch>
            <a:fillRect/>
          </a:stretch>
        </p:blipFill>
        <p:spPr>
          <a:xfrm>
            <a:off x="3710089" y="4704249"/>
            <a:ext cx="2533610" cy="712765"/>
          </a:xfrm>
          <a:prstGeom prst="rect">
            <a:avLst/>
          </a:prstGeom>
        </p:spPr>
      </p:pic>
      <p:pic>
        <p:nvPicPr>
          <p:cNvPr id="12" name="Picture 11" descr="google-data-studio-logo – Woom Digital">
            <a:extLst>
              <a:ext uri="{FF2B5EF4-FFF2-40B4-BE49-F238E27FC236}">
                <a16:creationId xmlns:a16="http://schemas.microsoft.com/office/drawing/2014/main" id="{45E62DFD-130E-DF60-462E-6F9194523F9D}"/>
              </a:ext>
            </a:extLst>
          </p:cNvPr>
          <p:cNvPicPr>
            <a:picLocks noChangeAspect="1"/>
          </p:cNvPicPr>
          <p:nvPr/>
        </p:nvPicPr>
        <p:blipFill>
          <a:blip r:embed="rId7"/>
          <a:stretch>
            <a:fillRect/>
          </a:stretch>
        </p:blipFill>
        <p:spPr>
          <a:xfrm>
            <a:off x="4828031" y="3087066"/>
            <a:ext cx="3715893" cy="1170574"/>
          </a:xfrm>
          <a:prstGeom prst="rect">
            <a:avLst/>
          </a:prstGeom>
        </p:spPr>
      </p:pic>
      <p:pic>
        <p:nvPicPr>
          <p:cNvPr id="13" name="Picture 12" descr="IBM Cognos Analytics Integrations - Links International">
            <a:extLst>
              <a:ext uri="{FF2B5EF4-FFF2-40B4-BE49-F238E27FC236}">
                <a16:creationId xmlns:a16="http://schemas.microsoft.com/office/drawing/2014/main" id="{31BE42DE-AAD9-8594-EDE6-127CBE7386C1}"/>
              </a:ext>
            </a:extLst>
          </p:cNvPr>
          <p:cNvPicPr>
            <a:picLocks noChangeAspect="1"/>
          </p:cNvPicPr>
          <p:nvPr/>
        </p:nvPicPr>
        <p:blipFill>
          <a:blip r:embed="rId8"/>
          <a:stretch>
            <a:fillRect/>
          </a:stretch>
        </p:blipFill>
        <p:spPr>
          <a:xfrm>
            <a:off x="0" y="4882330"/>
            <a:ext cx="2846070" cy="1897380"/>
          </a:xfrm>
          <a:prstGeom prst="rect">
            <a:avLst/>
          </a:prstGeom>
        </p:spPr>
      </p:pic>
      <p:pic>
        <p:nvPicPr>
          <p:cNvPr id="14" name="Picture 13" descr="Sap BusinessObject - Stack Info">
            <a:extLst>
              <a:ext uri="{FF2B5EF4-FFF2-40B4-BE49-F238E27FC236}">
                <a16:creationId xmlns:a16="http://schemas.microsoft.com/office/drawing/2014/main" id="{13832EB8-359C-1497-AA90-3153182112FA}"/>
              </a:ext>
            </a:extLst>
          </p:cNvPr>
          <p:cNvPicPr>
            <a:picLocks noChangeAspect="1"/>
          </p:cNvPicPr>
          <p:nvPr/>
        </p:nvPicPr>
        <p:blipFill>
          <a:blip r:embed="rId9"/>
          <a:stretch>
            <a:fillRect/>
          </a:stretch>
        </p:blipFill>
        <p:spPr>
          <a:xfrm>
            <a:off x="5909310" y="456687"/>
            <a:ext cx="2731706" cy="2731706"/>
          </a:xfrm>
          <a:prstGeom prst="rect">
            <a:avLst/>
          </a:prstGeom>
        </p:spPr>
      </p:pic>
      <p:pic>
        <p:nvPicPr>
          <p:cNvPr id="15" name="Picture 14" descr="File:Sisense Logo New.jpg - Wikimedia Commons">
            <a:extLst>
              <a:ext uri="{FF2B5EF4-FFF2-40B4-BE49-F238E27FC236}">
                <a16:creationId xmlns:a16="http://schemas.microsoft.com/office/drawing/2014/main" id="{ADA418AF-BFC8-36DD-08BE-58B03A6F5904}"/>
              </a:ext>
            </a:extLst>
          </p:cNvPr>
          <p:cNvPicPr>
            <a:picLocks noChangeAspect="1"/>
          </p:cNvPicPr>
          <p:nvPr/>
        </p:nvPicPr>
        <p:blipFill>
          <a:blip r:embed="rId10"/>
          <a:stretch>
            <a:fillRect/>
          </a:stretch>
        </p:blipFill>
        <p:spPr>
          <a:xfrm>
            <a:off x="1673145" y="1534169"/>
            <a:ext cx="2431320" cy="754761"/>
          </a:xfrm>
          <a:prstGeom prst="rect">
            <a:avLst/>
          </a:prstGeom>
        </p:spPr>
      </p:pic>
      <p:pic>
        <p:nvPicPr>
          <p:cNvPr id="17" name="Picture 16" descr="Domo - Apps on Google Play">
            <a:extLst>
              <a:ext uri="{FF2B5EF4-FFF2-40B4-BE49-F238E27FC236}">
                <a16:creationId xmlns:a16="http://schemas.microsoft.com/office/drawing/2014/main" id="{328930AE-7326-4C30-2567-7A62F11B7E63}"/>
              </a:ext>
            </a:extLst>
          </p:cNvPr>
          <p:cNvPicPr>
            <a:picLocks noChangeAspect="1"/>
          </p:cNvPicPr>
          <p:nvPr/>
        </p:nvPicPr>
        <p:blipFill>
          <a:blip r:embed="rId11"/>
          <a:stretch>
            <a:fillRect/>
          </a:stretch>
        </p:blipFill>
        <p:spPr>
          <a:xfrm>
            <a:off x="6378103" y="4465833"/>
            <a:ext cx="1935480" cy="1935480"/>
          </a:xfrm>
          <a:prstGeom prst="rect">
            <a:avLst/>
          </a:prstGeom>
        </p:spPr>
      </p:pic>
      <p:pic>
        <p:nvPicPr>
          <p:cNvPr id="18" name="Picture 17" descr="Dundas BI, Managed Dashboards &amp; Reports Support - Logi Symphony">
            <a:extLst>
              <a:ext uri="{FF2B5EF4-FFF2-40B4-BE49-F238E27FC236}">
                <a16:creationId xmlns:a16="http://schemas.microsoft.com/office/drawing/2014/main" id="{7467E530-D975-929E-3CE0-16CAF83E3422}"/>
              </a:ext>
            </a:extLst>
          </p:cNvPr>
          <p:cNvPicPr>
            <a:picLocks noChangeAspect="1"/>
          </p:cNvPicPr>
          <p:nvPr/>
        </p:nvPicPr>
        <p:blipFill>
          <a:blip r:embed="rId12"/>
          <a:stretch>
            <a:fillRect/>
          </a:stretch>
        </p:blipFill>
        <p:spPr>
          <a:xfrm>
            <a:off x="2385343" y="5492895"/>
            <a:ext cx="3322197" cy="1099306"/>
          </a:xfrm>
          <a:prstGeom prst="rect">
            <a:avLst/>
          </a:prstGeom>
        </p:spPr>
      </p:pic>
      <p:pic>
        <p:nvPicPr>
          <p:cNvPr id="20" name="Picture 19" descr="Microsoft Power BI Logo and symbol, meaning, history, PNG, brand">
            <a:extLst>
              <a:ext uri="{FF2B5EF4-FFF2-40B4-BE49-F238E27FC236}">
                <a16:creationId xmlns:a16="http://schemas.microsoft.com/office/drawing/2014/main" id="{2B9C5490-7CF5-31F4-856B-864D72087630}"/>
              </a:ext>
            </a:extLst>
          </p:cNvPr>
          <p:cNvPicPr>
            <a:picLocks noChangeAspect="1"/>
          </p:cNvPicPr>
          <p:nvPr/>
        </p:nvPicPr>
        <p:blipFill>
          <a:blip r:embed="rId13"/>
          <a:stretch>
            <a:fillRect/>
          </a:stretch>
        </p:blipFill>
        <p:spPr>
          <a:xfrm>
            <a:off x="7448234" y="2420407"/>
            <a:ext cx="5921040" cy="3330585"/>
          </a:xfrm>
          <a:prstGeom prst="rect">
            <a:avLst/>
          </a:prstGeom>
        </p:spPr>
      </p:pic>
    </p:spTree>
    <p:extLst>
      <p:ext uri="{BB962C8B-B14F-4D97-AF65-F5344CB8AC3E}">
        <p14:creationId xmlns:p14="http://schemas.microsoft.com/office/powerpoint/2010/main" val="3515792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DD9EA2-B3D4-8751-33E6-F7D5477C96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9AA733-1E4D-5778-0DCA-F89C76A6C98E}"/>
              </a:ext>
            </a:extLst>
          </p:cNvPr>
          <p:cNvSpPr>
            <a:spLocks noGrp="1"/>
          </p:cNvSpPr>
          <p:nvPr>
            <p:ph type="title"/>
          </p:nvPr>
        </p:nvSpPr>
        <p:spPr>
          <a:xfrm>
            <a:off x="1156920" y="715229"/>
            <a:ext cx="9393848" cy="712765"/>
          </a:xfrm>
        </p:spPr>
        <p:txBody>
          <a:bodyPr/>
          <a:lstStyle/>
          <a:p>
            <a:r>
              <a:rPr lang="en-US"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What is </a:t>
            </a:r>
            <a:r>
              <a:rPr lang="en-US"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Power BI</a:t>
            </a:r>
            <a:r>
              <a:rPr lang="en-US"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a:t>
            </a:r>
          </a:p>
        </p:txBody>
      </p:sp>
      <p:pic>
        <p:nvPicPr>
          <p:cNvPr id="20" name="Picture 19" descr="Microsoft Power BI Logo and symbol, meaning, history, PNG, brand">
            <a:extLst>
              <a:ext uri="{FF2B5EF4-FFF2-40B4-BE49-F238E27FC236}">
                <a16:creationId xmlns:a16="http://schemas.microsoft.com/office/drawing/2014/main" id="{B8B102DE-AF67-E3CE-821D-B23516417956}"/>
              </a:ext>
            </a:extLst>
          </p:cNvPr>
          <p:cNvPicPr>
            <a:picLocks noChangeAspect="1"/>
          </p:cNvPicPr>
          <p:nvPr/>
        </p:nvPicPr>
        <p:blipFill>
          <a:blip r:embed="rId2"/>
          <a:stretch>
            <a:fillRect/>
          </a:stretch>
        </p:blipFill>
        <p:spPr>
          <a:xfrm>
            <a:off x="-576036" y="2572286"/>
            <a:ext cx="4432870" cy="2493490"/>
          </a:xfrm>
          <a:prstGeom prst="rect">
            <a:avLst/>
          </a:prstGeom>
        </p:spPr>
      </p:pic>
      <p:sp>
        <p:nvSpPr>
          <p:cNvPr id="3" name="Text Placeholder 2">
            <a:extLst>
              <a:ext uri="{FF2B5EF4-FFF2-40B4-BE49-F238E27FC236}">
                <a16:creationId xmlns:a16="http://schemas.microsoft.com/office/drawing/2014/main" id="{54113A13-5AEA-986E-3701-BF8EB443DC39}"/>
              </a:ext>
            </a:extLst>
          </p:cNvPr>
          <p:cNvSpPr>
            <a:spLocks noGrp="1"/>
          </p:cNvSpPr>
          <p:nvPr>
            <p:ph type="body" sz="quarter" idx="14"/>
          </p:nvPr>
        </p:nvSpPr>
        <p:spPr>
          <a:xfrm>
            <a:off x="3160293" y="1603716"/>
            <a:ext cx="8566485" cy="5021673"/>
          </a:xfrm>
        </p:spPr>
        <p:txBody>
          <a:bodyPr>
            <a:normAutofit/>
          </a:bodyPr>
          <a:lstStyle/>
          <a:p>
            <a:pPr algn="just"/>
            <a:r>
              <a:rPr lang="en-US" dirty="0"/>
              <a:t> Power BI is a powerful business intelligence tool developed by </a:t>
            </a:r>
            <a:r>
              <a:rPr lang="en-US" b="1" dirty="0">
                <a:solidFill>
                  <a:srgbClr val="0072C6"/>
                </a:solidFill>
                <a:latin typeface="ADLaM Display" panose="02010000000000000000" pitchFamily="2" charset="0"/>
                <a:ea typeface="ADLaM Display" panose="02010000000000000000" pitchFamily="2" charset="0"/>
                <a:cs typeface="ADLaM Display" panose="02010000000000000000" pitchFamily="2" charset="0"/>
              </a:rPr>
              <a:t>Microsoft</a:t>
            </a:r>
            <a:r>
              <a:rPr lang="en-US" dirty="0"/>
              <a:t>.</a:t>
            </a:r>
          </a:p>
          <a:p>
            <a:pPr algn="just"/>
            <a:r>
              <a:rPr lang="en-US" dirty="0"/>
              <a:t> It is used to analyze and visualize data, allowing users to gain insights from their data and make informed decisions.</a:t>
            </a:r>
          </a:p>
          <a:p>
            <a:pPr algn="just"/>
            <a:r>
              <a:rPr lang="en-US" dirty="0"/>
              <a:t> Power BI is a versatile tool that can help organizations transform their data into actionable insights, drive better decision-making, and achieve their business goals.</a:t>
            </a:r>
          </a:p>
          <a:p>
            <a:pPr algn="just"/>
            <a:r>
              <a:rPr lang="en-US" dirty="0"/>
              <a:t> Power BI’s user interface is intuitive for users familiar with Excel, and its deep integration with other Microsoft products makes it a versatile self-service tool that requires little upfront training.</a:t>
            </a:r>
          </a:p>
          <a:p>
            <a:pPr algn="just"/>
            <a:r>
              <a:rPr lang="en-US" dirty="0"/>
              <a:t> It provides nontechnical business users with tools for aggregating, analyzing, visualizing and sharing data.</a:t>
            </a:r>
          </a:p>
        </p:txBody>
      </p:sp>
    </p:spTree>
    <p:extLst>
      <p:ext uri="{BB962C8B-B14F-4D97-AF65-F5344CB8AC3E}">
        <p14:creationId xmlns:p14="http://schemas.microsoft.com/office/powerpoint/2010/main" val="1911357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593BA-52B3-B252-39F1-ADEE6CBCD03B}"/>
              </a:ext>
            </a:extLst>
          </p:cNvPr>
          <p:cNvSpPr>
            <a:spLocks noGrp="1"/>
          </p:cNvSpPr>
          <p:nvPr>
            <p:ph type="title"/>
          </p:nvPr>
        </p:nvSpPr>
        <p:spPr/>
        <p:txBody>
          <a:bodyPr/>
          <a:lstStyle/>
          <a:p>
            <a:r>
              <a:rPr lang="en-US" sz="4800"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a:t>
            </a:r>
            <a:endParaRPr lang="en-US" dirty="0">
              <a:solidFill>
                <a:srgbClr val="FFC000"/>
              </a:solidFill>
              <a:latin typeface="ADLaM Display" panose="02010000000000000000" pitchFamily="2" charset="0"/>
              <a:ea typeface="ADLaM Display" panose="02010000000000000000" pitchFamily="2" charset="0"/>
              <a:cs typeface="ADLaM Display" panose="02010000000000000000" pitchFamily="2" charset="0"/>
            </a:endParaRPr>
          </a:p>
        </p:txBody>
      </p:sp>
      <p:pic>
        <p:nvPicPr>
          <p:cNvPr id="12" name="Picture 11">
            <a:extLst>
              <a:ext uri="{FF2B5EF4-FFF2-40B4-BE49-F238E27FC236}">
                <a16:creationId xmlns:a16="http://schemas.microsoft.com/office/drawing/2014/main" id="{AA8013D0-3C4D-E2CC-FAD0-4AD239F83EE0}"/>
              </a:ext>
            </a:extLst>
          </p:cNvPr>
          <p:cNvPicPr>
            <a:picLocks noChangeAspect="1"/>
          </p:cNvPicPr>
          <p:nvPr/>
        </p:nvPicPr>
        <p:blipFill>
          <a:blip r:embed="rId2"/>
          <a:stretch>
            <a:fillRect/>
          </a:stretch>
        </p:blipFill>
        <p:spPr>
          <a:xfrm>
            <a:off x="451068" y="1680411"/>
            <a:ext cx="1636295" cy="1636295"/>
          </a:xfrm>
          <a:prstGeom prst="rect">
            <a:avLst/>
          </a:prstGeom>
        </p:spPr>
      </p:pic>
      <p:sp>
        <p:nvSpPr>
          <p:cNvPr id="13" name="TextBox 12">
            <a:extLst>
              <a:ext uri="{FF2B5EF4-FFF2-40B4-BE49-F238E27FC236}">
                <a16:creationId xmlns:a16="http://schemas.microsoft.com/office/drawing/2014/main" id="{C4EF5BA5-287B-1501-A02A-275A77500148}"/>
              </a:ext>
            </a:extLst>
          </p:cNvPr>
          <p:cNvSpPr txBox="1"/>
          <p:nvPr/>
        </p:nvSpPr>
        <p:spPr>
          <a:xfrm>
            <a:off x="2228856" y="1864666"/>
            <a:ext cx="3273653" cy="1323439"/>
          </a:xfrm>
          <a:prstGeom prst="rect">
            <a:avLst/>
          </a:prstGeom>
          <a:noFill/>
        </p:spPr>
        <p:txBody>
          <a:bodyPr wrap="none" rtlCol="0">
            <a:spAutoFit/>
          </a:bodyPr>
          <a:lstStyle/>
          <a:p>
            <a:r>
              <a:rPr lang="en-US" sz="2000" dirty="0">
                <a:latin typeface="ADLaM Display" panose="02010000000000000000" pitchFamily="2" charset="0"/>
                <a:ea typeface="ADLaM Display" panose="02010000000000000000" pitchFamily="2" charset="0"/>
                <a:cs typeface="ADLaM Display" panose="02010000000000000000" pitchFamily="2" charset="0"/>
              </a:rPr>
              <a:t>Transform data into </a:t>
            </a:r>
          </a:p>
          <a:p>
            <a:r>
              <a:rPr lang="en-US" sz="2000" dirty="0">
                <a:latin typeface="ADLaM Display" panose="02010000000000000000" pitchFamily="2" charset="0"/>
                <a:ea typeface="ADLaM Display" panose="02010000000000000000" pitchFamily="2" charset="0"/>
                <a:cs typeface="ADLaM Display" panose="02010000000000000000" pitchFamily="2" charset="0"/>
              </a:rPr>
              <a:t>stunning visuals &amp; share</a:t>
            </a:r>
          </a:p>
          <a:p>
            <a:r>
              <a:rPr lang="en-US" sz="2000" dirty="0">
                <a:latin typeface="ADLaM Display" panose="02010000000000000000" pitchFamily="2" charset="0"/>
                <a:ea typeface="ADLaM Display" panose="02010000000000000000" pitchFamily="2" charset="0"/>
                <a:cs typeface="ADLaM Display" panose="02010000000000000000" pitchFamily="2" charset="0"/>
              </a:rPr>
              <a:t>them with colleagues on </a:t>
            </a:r>
          </a:p>
          <a:p>
            <a:r>
              <a:rPr lang="en-US" sz="2000" dirty="0">
                <a:latin typeface="ADLaM Display" panose="02010000000000000000" pitchFamily="2" charset="0"/>
                <a:ea typeface="ADLaM Display" panose="02010000000000000000" pitchFamily="2" charset="0"/>
                <a:cs typeface="ADLaM Display" panose="02010000000000000000" pitchFamily="2" charset="0"/>
              </a:rPr>
              <a:t>any device.</a:t>
            </a:r>
          </a:p>
        </p:txBody>
      </p:sp>
      <p:pic>
        <p:nvPicPr>
          <p:cNvPr id="14" name="Picture 13">
            <a:extLst>
              <a:ext uri="{FF2B5EF4-FFF2-40B4-BE49-F238E27FC236}">
                <a16:creationId xmlns:a16="http://schemas.microsoft.com/office/drawing/2014/main" id="{DDF23A3F-BFC7-E288-D71D-944113679197}"/>
              </a:ext>
            </a:extLst>
          </p:cNvPr>
          <p:cNvPicPr>
            <a:picLocks noChangeAspect="1"/>
          </p:cNvPicPr>
          <p:nvPr/>
        </p:nvPicPr>
        <p:blipFill>
          <a:blip r:embed="rId3"/>
          <a:stretch>
            <a:fillRect/>
          </a:stretch>
        </p:blipFill>
        <p:spPr>
          <a:xfrm>
            <a:off x="555341" y="4507812"/>
            <a:ext cx="1427747" cy="1427747"/>
          </a:xfrm>
          <a:prstGeom prst="rect">
            <a:avLst/>
          </a:prstGeom>
        </p:spPr>
      </p:pic>
      <p:sp>
        <p:nvSpPr>
          <p:cNvPr id="15" name="TextBox 14">
            <a:extLst>
              <a:ext uri="{FF2B5EF4-FFF2-40B4-BE49-F238E27FC236}">
                <a16:creationId xmlns:a16="http://schemas.microsoft.com/office/drawing/2014/main" id="{A8F0779D-C2E4-8108-58C1-557B7317CF4C}"/>
              </a:ext>
            </a:extLst>
          </p:cNvPr>
          <p:cNvSpPr txBox="1"/>
          <p:nvPr/>
        </p:nvSpPr>
        <p:spPr>
          <a:xfrm>
            <a:off x="2087363" y="4713853"/>
            <a:ext cx="3345788" cy="1015663"/>
          </a:xfrm>
          <a:prstGeom prst="rect">
            <a:avLst/>
          </a:prstGeom>
          <a:noFill/>
        </p:spPr>
        <p:txBody>
          <a:bodyPr wrap="none" rtlCol="0">
            <a:spAutoFit/>
          </a:bodyPr>
          <a:lstStyle/>
          <a:p>
            <a:r>
              <a:rPr lang="en-US" sz="2000" dirty="0">
                <a:latin typeface="ADLaM Display" panose="02010000000000000000" pitchFamily="2" charset="0"/>
                <a:ea typeface="ADLaM Display" panose="02010000000000000000" pitchFamily="2" charset="0"/>
                <a:cs typeface="ADLaM Display" panose="02010000000000000000" pitchFamily="2" charset="0"/>
              </a:rPr>
              <a:t>Collaborate on &amp; share</a:t>
            </a:r>
          </a:p>
          <a:p>
            <a:r>
              <a:rPr lang="en-US" sz="2000" dirty="0">
                <a:latin typeface="ADLaM Display" panose="02010000000000000000" pitchFamily="2" charset="0"/>
                <a:ea typeface="ADLaM Display" panose="02010000000000000000" pitchFamily="2" charset="0"/>
                <a:cs typeface="ADLaM Display" panose="02010000000000000000" pitchFamily="2" charset="0"/>
              </a:rPr>
              <a:t>customized dashboards &amp;</a:t>
            </a:r>
          </a:p>
          <a:p>
            <a:r>
              <a:rPr lang="en-US" sz="2000" dirty="0">
                <a:latin typeface="ADLaM Display" panose="02010000000000000000" pitchFamily="2" charset="0"/>
                <a:ea typeface="ADLaM Display" panose="02010000000000000000" pitchFamily="2" charset="0"/>
                <a:cs typeface="ADLaM Display" panose="02010000000000000000" pitchFamily="2" charset="0"/>
              </a:rPr>
              <a:t>Interactive reports.</a:t>
            </a:r>
          </a:p>
        </p:txBody>
      </p:sp>
      <p:pic>
        <p:nvPicPr>
          <p:cNvPr id="16" name="Picture 15">
            <a:extLst>
              <a:ext uri="{FF2B5EF4-FFF2-40B4-BE49-F238E27FC236}">
                <a16:creationId xmlns:a16="http://schemas.microsoft.com/office/drawing/2014/main" id="{9E5FAF69-5A8A-9832-968D-10A42766439F}"/>
              </a:ext>
            </a:extLst>
          </p:cNvPr>
          <p:cNvPicPr>
            <a:picLocks noChangeAspect="1"/>
          </p:cNvPicPr>
          <p:nvPr/>
        </p:nvPicPr>
        <p:blipFill>
          <a:blip r:embed="rId4"/>
          <a:stretch>
            <a:fillRect/>
          </a:stretch>
        </p:blipFill>
        <p:spPr>
          <a:xfrm>
            <a:off x="6208295" y="1680410"/>
            <a:ext cx="1636295" cy="1636295"/>
          </a:xfrm>
          <a:prstGeom prst="rect">
            <a:avLst/>
          </a:prstGeom>
        </p:spPr>
      </p:pic>
      <p:sp>
        <p:nvSpPr>
          <p:cNvPr id="17" name="TextBox 16">
            <a:extLst>
              <a:ext uri="{FF2B5EF4-FFF2-40B4-BE49-F238E27FC236}">
                <a16:creationId xmlns:a16="http://schemas.microsoft.com/office/drawing/2014/main" id="{10886D46-FD71-3822-50E5-4F22E047D4E4}"/>
              </a:ext>
            </a:extLst>
          </p:cNvPr>
          <p:cNvSpPr txBox="1"/>
          <p:nvPr/>
        </p:nvSpPr>
        <p:spPr>
          <a:xfrm>
            <a:off x="8076204" y="1864666"/>
            <a:ext cx="3698448" cy="1015663"/>
          </a:xfrm>
          <a:prstGeom prst="rect">
            <a:avLst/>
          </a:prstGeom>
          <a:noFill/>
        </p:spPr>
        <p:txBody>
          <a:bodyPr wrap="none" rtlCol="0">
            <a:spAutoFit/>
          </a:bodyPr>
          <a:lstStyle/>
          <a:p>
            <a:r>
              <a:rPr lang="en-US" sz="2000" dirty="0">
                <a:latin typeface="ADLaM Display" panose="02010000000000000000" pitchFamily="2" charset="0"/>
                <a:ea typeface="ADLaM Display" panose="02010000000000000000" pitchFamily="2" charset="0"/>
                <a:cs typeface="ADLaM Display" panose="02010000000000000000" pitchFamily="2" charset="0"/>
              </a:rPr>
              <a:t>Visually explore and analyze</a:t>
            </a:r>
          </a:p>
          <a:p>
            <a:r>
              <a:rPr lang="en-US" sz="2000" dirty="0">
                <a:latin typeface="ADLaM Display" panose="02010000000000000000" pitchFamily="2" charset="0"/>
                <a:ea typeface="ADLaM Display" panose="02010000000000000000" pitchFamily="2" charset="0"/>
                <a:cs typeface="ADLaM Display" panose="02010000000000000000" pitchFamily="2" charset="0"/>
              </a:rPr>
              <a:t>data on-premises and in the </a:t>
            </a:r>
          </a:p>
          <a:p>
            <a:r>
              <a:rPr lang="en-US" sz="2000" dirty="0">
                <a:latin typeface="ADLaM Display" panose="02010000000000000000" pitchFamily="2" charset="0"/>
                <a:ea typeface="ADLaM Display" panose="02010000000000000000" pitchFamily="2" charset="0"/>
                <a:cs typeface="ADLaM Display" panose="02010000000000000000" pitchFamily="2" charset="0"/>
              </a:rPr>
              <a:t>cloud all in one view.</a:t>
            </a:r>
          </a:p>
        </p:txBody>
      </p:sp>
      <p:pic>
        <p:nvPicPr>
          <p:cNvPr id="18" name="Picture 17">
            <a:extLst>
              <a:ext uri="{FF2B5EF4-FFF2-40B4-BE49-F238E27FC236}">
                <a16:creationId xmlns:a16="http://schemas.microsoft.com/office/drawing/2014/main" id="{478E2BED-3945-3892-23A7-827A63C714DA}"/>
              </a:ext>
            </a:extLst>
          </p:cNvPr>
          <p:cNvPicPr>
            <a:picLocks noChangeAspect="1"/>
          </p:cNvPicPr>
          <p:nvPr/>
        </p:nvPicPr>
        <p:blipFill>
          <a:blip r:embed="rId5"/>
          <a:stretch>
            <a:fillRect/>
          </a:stretch>
        </p:blipFill>
        <p:spPr>
          <a:xfrm>
            <a:off x="6181334" y="4390056"/>
            <a:ext cx="1663256" cy="1663256"/>
          </a:xfrm>
          <a:prstGeom prst="rect">
            <a:avLst/>
          </a:prstGeom>
        </p:spPr>
      </p:pic>
      <p:sp>
        <p:nvSpPr>
          <p:cNvPr id="19" name="TextBox 18">
            <a:extLst>
              <a:ext uri="{FF2B5EF4-FFF2-40B4-BE49-F238E27FC236}">
                <a16:creationId xmlns:a16="http://schemas.microsoft.com/office/drawing/2014/main" id="{60A2B460-7003-4319-BCBD-8F82E26F6407}"/>
              </a:ext>
            </a:extLst>
          </p:cNvPr>
          <p:cNvSpPr txBox="1"/>
          <p:nvPr/>
        </p:nvSpPr>
        <p:spPr>
          <a:xfrm>
            <a:off x="8076204" y="4713852"/>
            <a:ext cx="3918060" cy="1015663"/>
          </a:xfrm>
          <a:prstGeom prst="rect">
            <a:avLst/>
          </a:prstGeom>
          <a:noFill/>
        </p:spPr>
        <p:txBody>
          <a:bodyPr wrap="none" rtlCol="0">
            <a:spAutoFit/>
          </a:bodyPr>
          <a:lstStyle/>
          <a:p>
            <a:r>
              <a:rPr lang="en-US" sz="2000" dirty="0">
                <a:latin typeface="ADLaM Display" panose="02010000000000000000" pitchFamily="2" charset="0"/>
                <a:ea typeface="ADLaM Display" panose="02010000000000000000" pitchFamily="2" charset="0"/>
                <a:cs typeface="ADLaM Display" panose="02010000000000000000" pitchFamily="2" charset="0"/>
              </a:rPr>
              <a:t>Scale across your organization</a:t>
            </a:r>
          </a:p>
          <a:p>
            <a:r>
              <a:rPr lang="en-US" sz="2000" dirty="0">
                <a:latin typeface="ADLaM Display" panose="02010000000000000000" pitchFamily="2" charset="0"/>
                <a:ea typeface="ADLaM Display" panose="02010000000000000000" pitchFamily="2" charset="0"/>
                <a:cs typeface="ADLaM Display" panose="02010000000000000000" pitchFamily="2" charset="0"/>
              </a:rPr>
              <a:t>with built-in governance and </a:t>
            </a:r>
          </a:p>
          <a:p>
            <a:r>
              <a:rPr lang="en-US" sz="2000" dirty="0">
                <a:latin typeface="ADLaM Display" panose="02010000000000000000" pitchFamily="2" charset="0"/>
                <a:ea typeface="ADLaM Display" panose="02010000000000000000" pitchFamily="2" charset="0"/>
                <a:cs typeface="ADLaM Display" panose="02010000000000000000" pitchFamily="2" charset="0"/>
              </a:rPr>
              <a:t>security.</a:t>
            </a:r>
          </a:p>
        </p:txBody>
      </p:sp>
    </p:spTree>
    <p:extLst>
      <p:ext uri="{BB962C8B-B14F-4D97-AF65-F5344CB8AC3E}">
        <p14:creationId xmlns:p14="http://schemas.microsoft.com/office/powerpoint/2010/main" val="14807531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7227D9-E33E-DF96-CA5D-80C8361CE4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986605-BC10-5645-ADBE-89882830A865}"/>
              </a:ext>
            </a:extLst>
          </p:cNvPr>
          <p:cNvSpPr>
            <a:spLocks noGrp="1"/>
          </p:cNvSpPr>
          <p:nvPr>
            <p:ph type="title"/>
          </p:nvPr>
        </p:nvSpPr>
        <p:spPr>
          <a:xfrm>
            <a:off x="1156920" y="715229"/>
            <a:ext cx="9393848" cy="712765"/>
          </a:xfrm>
        </p:spPr>
        <p:txBody>
          <a:bodyPr/>
          <a:lstStyle/>
          <a:p>
            <a:r>
              <a:rPr lang="en-US" dirty="0">
                <a:latin typeface="ADLaM Display" panose="02010000000000000000" pitchFamily="2" charset="0"/>
                <a:ea typeface="ADLaM Display" panose="02010000000000000000" pitchFamily="2" charset="0"/>
                <a:cs typeface="ADLaM Display" panose="02010000000000000000" pitchFamily="2" charset="0"/>
              </a:rPr>
              <a:t>Key Features of </a:t>
            </a:r>
            <a:r>
              <a:rPr lang="en-US"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Power</a:t>
            </a:r>
            <a:r>
              <a:rPr lang="en-US" dirty="0">
                <a:latin typeface="ADLaM Display" panose="02010000000000000000" pitchFamily="2" charset="0"/>
                <a:ea typeface="ADLaM Display" panose="02010000000000000000" pitchFamily="2" charset="0"/>
                <a:cs typeface="ADLaM Display" panose="02010000000000000000" pitchFamily="2" charset="0"/>
              </a:rPr>
              <a:t> </a:t>
            </a:r>
            <a:r>
              <a:rPr lang="en-US"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BI</a:t>
            </a:r>
          </a:p>
        </p:txBody>
      </p:sp>
      <p:sp>
        <p:nvSpPr>
          <p:cNvPr id="3" name="Text Placeholder 2">
            <a:extLst>
              <a:ext uri="{FF2B5EF4-FFF2-40B4-BE49-F238E27FC236}">
                <a16:creationId xmlns:a16="http://schemas.microsoft.com/office/drawing/2014/main" id="{3792D562-834B-A186-DB34-AC991BD67827}"/>
              </a:ext>
            </a:extLst>
          </p:cNvPr>
          <p:cNvSpPr>
            <a:spLocks noGrp="1"/>
          </p:cNvSpPr>
          <p:nvPr>
            <p:ph type="body" sz="quarter" idx="14"/>
          </p:nvPr>
        </p:nvSpPr>
        <p:spPr>
          <a:xfrm>
            <a:off x="265640" y="1861131"/>
            <a:ext cx="11316761" cy="5254283"/>
          </a:xfrm>
        </p:spPr>
        <p:txBody>
          <a:bodyPr>
            <a:normAutofit/>
          </a:bodyPr>
          <a:lstStyle/>
          <a:p>
            <a:pPr algn="just">
              <a:buFont typeface="Wingdings" panose="05000000000000000000" pitchFamily="2" charset="2"/>
              <a:buChar char="q"/>
            </a:pPr>
            <a:r>
              <a:rPr lang="en-US" sz="3200" dirty="0">
                <a:latin typeface="ADLaM Display" panose="02010000000000000000" pitchFamily="2" charset="0"/>
                <a:ea typeface="ADLaM Display" panose="02010000000000000000" pitchFamily="2" charset="0"/>
                <a:cs typeface="ADLaM Display" panose="02010000000000000000" pitchFamily="2" charset="0"/>
              </a:rPr>
              <a:t> Data Connectivity</a:t>
            </a:r>
          </a:p>
          <a:p>
            <a:pPr algn="just">
              <a:buFont typeface="Wingdings" panose="05000000000000000000" pitchFamily="2" charset="2"/>
              <a:buChar char="q"/>
            </a:pPr>
            <a:r>
              <a:rPr lang="en-US" sz="3200" dirty="0">
                <a:latin typeface="ADLaM Display" panose="02010000000000000000" pitchFamily="2" charset="0"/>
                <a:ea typeface="ADLaM Display" panose="02010000000000000000" pitchFamily="2" charset="0"/>
                <a:cs typeface="ADLaM Display" panose="02010000000000000000" pitchFamily="2" charset="0"/>
              </a:rPr>
              <a:t> Data Transformation</a:t>
            </a:r>
          </a:p>
          <a:p>
            <a:pPr algn="just">
              <a:buFont typeface="Wingdings" panose="05000000000000000000" pitchFamily="2" charset="2"/>
              <a:buChar char="q"/>
            </a:pPr>
            <a:r>
              <a:rPr lang="en-US" sz="3200" dirty="0">
                <a:latin typeface="ADLaM Display" panose="02010000000000000000" pitchFamily="2" charset="0"/>
                <a:ea typeface="ADLaM Display" panose="02010000000000000000" pitchFamily="2" charset="0"/>
                <a:cs typeface="ADLaM Display" panose="02010000000000000000" pitchFamily="2" charset="0"/>
              </a:rPr>
              <a:t> Data Modeling</a:t>
            </a:r>
          </a:p>
          <a:p>
            <a:pPr algn="just">
              <a:buFont typeface="Wingdings" panose="05000000000000000000" pitchFamily="2" charset="2"/>
              <a:buChar char="q"/>
            </a:pPr>
            <a:r>
              <a:rPr lang="en-US" sz="3200" dirty="0">
                <a:latin typeface="ADLaM Display" panose="02010000000000000000" pitchFamily="2" charset="0"/>
                <a:ea typeface="ADLaM Display" panose="02010000000000000000" pitchFamily="2" charset="0"/>
                <a:cs typeface="ADLaM Display" panose="02010000000000000000" pitchFamily="2" charset="0"/>
              </a:rPr>
              <a:t> Data Visualization</a:t>
            </a:r>
          </a:p>
          <a:p>
            <a:pPr algn="just">
              <a:buFont typeface="Wingdings" panose="05000000000000000000" pitchFamily="2" charset="2"/>
              <a:buChar char="q"/>
            </a:pPr>
            <a:r>
              <a:rPr lang="en-US" sz="3200" dirty="0">
                <a:latin typeface="ADLaM Display" panose="02010000000000000000" pitchFamily="2" charset="0"/>
                <a:ea typeface="ADLaM Display" panose="02010000000000000000" pitchFamily="2" charset="0"/>
                <a:cs typeface="ADLaM Display" panose="02010000000000000000" pitchFamily="2" charset="0"/>
              </a:rPr>
              <a:t> Dashboards</a:t>
            </a:r>
          </a:p>
          <a:p>
            <a:pPr algn="just">
              <a:buFont typeface="Wingdings" panose="05000000000000000000" pitchFamily="2" charset="2"/>
              <a:buChar char="q"/>
            </a:pPr>
            <a:r>
              <a:rPr lang="en-US" sz="3200" dirty="0">
                <a:latin typeface="ADLaM Display" panose="02010000000000000000" pitchFamily="2" charset="0"/>
                <a:ea typeface="ADLaM Display" panose="02010000000000000000" pitchFamily="2" charset="0"/>
                <a:cs typeface="ADLaM Display" panose="02010000000000000000" pitchFamily="2" charset="0"/>
              </a:rPr>
              <a:t> Collaboration &amp; Sharing</a:t>
            </a:r>
          </a:p>
        </p:txBody>
      </p:sp>
      <p:pic>
        <p:nvPicPr>
          <p:cNvPr id="5" name="Picture 4">
            <a:extLst>
              <a:ext uri="{FF2B5EF4-FFF2-40B4-BE49-F238E27FC236}">
                <a16:creationId xmlns:a16="http://schemas.microsoft.com/office/drawing/2014/main" id="{B24C4A70-FE4F-1B34-03FE-C9A9D25D33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88827" y="1427994"/>
            <a:ext cx="8502127" cy="4782446"/>
          </a:xfrm>
          <a:prstGeom prst="rect">
            <a:avLst/>
          </a:prstGeom>
        </p:spPr>
      </p:pic>
    </p:spTree>
    <p:extLst>
      <p:ext uri="{BB962C8B-B14F-4D97-AF65-F5344CB8AC3E}">
        <p14:creationId xmlns:p14="http://schemas.microsoft.com/office/powerpoint/2010/main" val="42852148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C07084-86AF-7942-4066-163CBCA949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54066E-C9C2-593D-B440-211851054099}"/>
              </a:ext>
            </a:extLst>
          </p:cNvPr>
          <p:cNvSpPr>
            <a:spLocks noGrp="1"/>
          </p:cNvSpPr>
          <p:nvPr>
            <p:ph type="title"/>
          </p:nvPr>
        </p:nvSpPr>
        <p:spPr>
          <a:xfrm>
            <a:off x="1156920" y="715229"/>
            <a:ext cx="9393848" cy="712765"/>
          </a:xfrm>
        </p:spPr>
        <p:txBody>
          <a:bodyPr/>
          <a:lstStyle/>
          <a:p>
            <a:r>
              <a:rPr lang="en-US"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How </a:t>
            </a:r>
            <a:r>
              <a:rPr lang="en-US"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Power BI</a:t>
            </a:r>
            <a:r>
              <a:rPr lang="en-US"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 fit together?</a:t>
            </a:r>
          </a:p>
        </p:txBody>
      </p:sp>
      <p:sp>
        <p:nvSpPr>
          <p:cNvPr id="6" name="Rectangle 5">
            <a:extLst>
              <a:ext uri="{FF2B5EF4-FFF2-40B4-BE49-F238E27FC236}">
                <a16:creationId xmlns:a16="http://schemas.microsoft.com/office/drawing/2014/main" id="{7EA50A32-EF0F-231A-46CA-F4BE1865CA50}"/>
              </a:ext>
            </a:extLst>
          </p:cNvPr>
          <p:cNvSpPr/>
          <p:nvPr/>
        </p:nvSpPr>
        <p:spPr>
          <a:xfrm>
            <a:off x="683117" y="1941095"/>
            <a:ext cx="2983832" cy="1616242"/>
          </a:xfrm>
          <a:prstGeom prst="rect">
            <a:avLst/>
          </a:prstGeom>
          <a:solidFill>
            <a:srgbClr val="3333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DLaM Display" panose="02010000000000000000" pitchFamily="2" charset="0"/>
                <a:ea typeface="ADLaM Display" panose="02010000000000000000" pitchFamily="2" charset="0"/>
                <a:cs typeface="ADLaM Display" panose="02010000000000000000" pitchFamily="2" charset="0"/>
              </a:rPr>
              <a:t>Data Discovery</a:t>
            </a:r>
          </a:p>
          <a:p>
            <a:pPr algn="ctr"/>
            <a:r>
              <a:rPr lang="en-US" dirty="0">
                <a:latin typeface="ADLaM Display" panose="02010000000000000000" pitchFamily="2" charset="0"/>
                <a:ea typeface="ADLaM Display" panose="02010000000000000000" pitchFamily="2" charset="0"/>
                <a:cs typeface="ADLaM Display" panose="02010000000000000000" pitchFamily="2" charset="0"/>
              </a:rPr>
              <a:t> Data Extraction</a:t>
            </a:r>
          </a:p>
          <a:p>
            <a:pPr algn="ctr"/>
            <a:r>
              <a:rPr lang="en-US" dirty="0">
                <a:latin typeface="ADLaM Display" panose="02010000000000000000" pitchFamily="2" charset="0"/>
                <a:ea typeface="ADLaM Display" panose="02010000000000000000" pitchFamily="2" charset="0"/>
                <a:cs typeface="ADLaM Display" panose="02010000000000000000" pitchFamily="2" charset="0"/>
              </a:rPr>
              <a:t>      Transforms</a:t>
            </a:r>
          </a:p>
        </p:txBody>
      </p:sp>
      <p:sp>
        <p:nvSpPr>
          <p:cNvPr id="7" name="Rectangle 6">
            <a:extLst>
              <a:ext uri="{FF2B5EF4-FFF2-40B4-BE49-F238E27FC236}">
                <a16:creationId xmlns:a16="http://schemas.microsoft.com/office/drawing/2014/main" id="{14E6086A-E4DD-B253-574D-BF61EE822596}"/>
              </a:ext>
            </a:extLst>
          </p:cNvPr>
          <p:cNvSpPr/>
          <p:nvPr/>
        </p:nvSpPr>
        <p:spPr>
          <a:xfrm>
            <a:off x="5038550" y="1941095"/>
            <a:ext cx="2983832" cy="1616242"/>
          </a:xfrm>
          <a:prstGeom prst="rect">
            <a:avLst/>
          </a:prstGeom>
          <a:solidFill>
            <a:srgbClr val="DF005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DLaM Display" panose="02010000000000000000" pitchFamily="2" charset="0"/>
                <a:ea typeface="ADLaM Display" panose="02010000000000000000" pitchFamily="2" charset="0"/>
                <a:cs typeface="ADLaM Display" panose="02010000000000000000" pitchFamily="2" charset="0"/>
              </a:rPr>
              <a:t>Data Modeling</a:t>
            </a:r>
          </a:p>
          <a:p>
            <a:pPr algn="ctr"/>
            <a:r>
              <a:rPr lang="en-US" dirty="0">
                <a:latin typeface="ADLaM Display" panose="02010000000000000000" pitchFamily="2" charset="0"/>
                <a:ea typeface="ADLaM Display" panose="02010000000000000000" pitchFamily="2" charset="0"/>
                <a:cs typeface="ADLaM Display" panose="02010000000000000000" pitchFamily="2" charset="0"/>
              </a:rPr>
              <a:t>Relationships</a:t>
            </a:r>
          </a:p>
          <a:p>
            <a:pPr algn="ctr"/>
            <a:r>
              <a:rPr lang="en-US" dirty="0">
                <a:latin typeface="ADLaM Display" panose="02010000000000000000" pitchFamily="2" charset="0"/>
                <a:ea typeface="ADLaM Display" panose="02010000000000000000" pitchFamily="2" charset="0"/>
                <a:cs typeface="ADLaM Display" panose="02010000000000000000" pitchFamily="2" charset="0"/>
              </a:rPr>
              <a:t>Calculations</a:t>
            </a:r>
          </a:p>
        </p:txBody>
      </p:sp>
      <p:sp>
        <p:nvSpPr>
          <p:cNvPr id="8" name="Rectangle 7">
            <a:extLst>
              <a:ext uri="{FF2B5EF4-FFF2-40B4-BE49-F238E27FC236}">
                <a16:creationId xmlns:a16="http://schemas.microsoft.com/office/drawing/2014/main" id="{8D30B9E7-7ED1-1085-BD2E-EE3F963E03FD}"/>
              </a:ext>
            </a:extLst>
          </p:cNvPr>
          <p:cNvSpPr/>
          <p:nvPr/>
        </p:nvSpPr>
        <p:spPr>
          <a:xfrm>
            <a:off x="8824486" y="1941095"/>
            <a:ext cx="2983832" cy="1616242"/>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DLaM Display" panose="02010000000000000000" pitchFamily="2" charset="0"/>
                <a:ea typeface="ADLaM Display" panose="02010000000000000000" pitchFamily="2" charset="0"/>
                <a:cs typeface="ADLaM Display" panose="02010000000000000000" pitchFamily="2" charset="0"/>
              </a:rPr>
              <a:t>Data Visualization</a:t>
            </a:r>
          </a:p>
          <a:p>
            <a:pPr algn="ctr"/>
            <a:r>
              <a:rPr lang="en-US" dirty="0">
                <a:latin typeface="ADLaM Display" panose="02010000000000000000" pitchFamily="2" charset="0"/>
                <a:ea typeface="ADLaM Display" panose="02010000000000000000" pitchFamily="2" charset="0"/>
                <a:cs typeface="ADLaM Display" panose="02010000000000000000" pitchFamily="2" charset="0"/>
              </a:rPr>
              <a:t>Visualizations</a:t>
            </a:r>
          </a:p>
          <a:p>
            <a:pPr algn="ctr"/>
            <a:r>
              <a:rPr lang="en-US" dirty="0">
                <a:latin typeface="ADLaM Display" panose="02010000000000000000" pitchFamily="2" charset="0"/>
                <a:ea typeface="ADLaM Display" panose="02010000000000000000" pitchFamily="2" charset="0"/>
                <a:cs typeface="ADLaM Display" panose="02010000000000000000" pitchFamily="2" charset="0"/>
              </a:rPr>
              <a:t>Filters</a:t>
            </a:r>
          </a:p>
        </p:txBody>
      </p:sp>
      <p:sp>
        <p:nvSpPr>
          <p:cNvPr id="9" name="Rectangle 8">
            <a:extLst>
              <a:ext uri="{FF2B5EF4-FFF2-40B4-BE49-F238E27FC236}">
                <a16:creationId xmlns:a16="http://schemas.microsoft.com/office/drawing/2014/main" id="{86836BAF-8333-B379-25A5-3BEFE052F49E}"/>
              </a:ext>
            </a:extLst>
          </p:cNvPr>
          <p:cNvSpPr/>
          <p:nvPr/>
        </p:nvSpPr>
        <p:spPr>
          <a:xfrm>
            <a:off x="683117" y="4275222"/>
            <a:ext cx="2983832" cy="1616242"/>
          </a:xfrm>
          <a:prstGeom prst="rect">
            <a:avLst/>
          </a:prstGeom>
          <a:solidFill>
            <a:srgbClr val="00589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DLaM Display" panose="02010000000000000000" pitchFamily="2" charset="0"/>
                <a:ea typeface="ADLaM Display" panose="02010000000000000000" pitchFamily="2" charset="0"/>
                <a:cs typeface="ADLaM Display" panose="02010000000000000000" pitchFamily="2" charset="0"/>
              </a:rPr>
              <a:t>Mobile Power BI</a:t>
            </a:r>
          </a:p>
          <a:p>
            <a:pPr algn="ctr"/>
            <a:r>
              <a:rPr lang="en-US" dirty="0">
                <a:latin typeface="ADLaM Display" panose="02010000000000000000" pitchFamily="2" charset="0"/>
                <a:ea typeface="ADLaM Display" panose="02010000000000000000" pitchFamily="2" charset="0"/>
                <a:cs typeface="ADLaM Display" panose="02010000000000000000" pitchFamily="2" charset="0"/>
              </a:rPr>
              <a:t>Anytime</a:t>
            </a:r>
          </a:p>
          <a:p>
            <a:pPr algn="ctr"/>
            <a:r>
              <a:rPr lang="en-US" dirty="0">
                <a:latin typeface="ADLaM Display" panose="02010000000000000000" pitchFamily="2" charset="0"/>
                <a:ea typeface="ADLaM Display" panose="02010000000000000000" pitchFamily="2" charset="0"/>
                <a:cs typeface="ADLaM Display" panose="02010000000000000000" pitchFamily="2" charset="0"/>
              </a:rPr>
              <a:t> Anywhere</a:t>
            </a:r>
          </a:p>
        </p:txBody>
      </p:sp>
      <p:sp>
        <p:nvSpPr>
          <p:cNvPr id="10" name="Rectangle 9">
            <a:extLst>
              <a:ext uri="{FF2B5EF4-FFF2-40B4-BE49-F238E27FC236}">
                <a16:creationId xmlns:a16="http://schemas.microsoft.com/office/drawing/2014/main" id="{AAE743C0-677C-1014-DE50-A48D8D791898}"/>
              </a:ext>
            </a:extLst>
          </p:cNvPr>
          <p:cNvSpPr/>
          <p:nvPr/>
        </p:nvSpPr>
        <p:spPr>
          <a:xfrm>
            <a:off x="5002456" y="4275222"/>
            <a:ext cx="2983832" cy="1616242"/>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DLaM Display" panose="02010000000000000000" pitchFamily="2" charset="0"/>
                <a:ea typeface="ADLaM Display" panose="02010000000000000000" pitchFamily="2" charset="0"/>
                <a:cs typeface="ADLaM Display" panose="02010000000000000000" pitchFamily="2" charset="0"/>
              </a:rPr>
              <a:t>Power BI Service</a:t>
            </a:r>
          </a:p>
          <a:p>
            <a:pPr algn="ctr"/>
            <a:r>
              <a:rPr lang="en-US" dirty="0">
                <a:latin typeface="ADLaM Display" panose="02010000000000000000" pitchFamily="2" charset="0"/>
                <a:ea typeface="ADLaM Display" panose="02010000000000000000" pitchFamily="2" charset="0"/>
                <a:cs typeface="ADLaM Display" panose="02010000000000000000" pitchFamily="2" charset="0"/>
              </a:rPr>
              <a:t>Share Results</a:t>
            </a:r>
          </a:p>
          <a:p>
            <a:pPr algn="ctr"/>
            <a:r>
              <a:rPr lang="en-US" dirty="0">
                <a:latin typeface="ADLaM Display" panose="02010000000000000000" pitchFamily="2" charset="0"/>
                <a:ea typeface="ADLaM Display" panose="02010000000000000000" pitchFamily="2" charset="0"/>
                <a:cs typeface="ADLaM Display" panose="02010000000000000000" pitchFamily="2" charset="0"/>
              </a:rPr>
              <a:t>Data Refresh</a:t>
            </a:r>
          </a:p>
        </p:txBody>
      </p:sp>
      <p:pic>
        <p:nvPicPr>
          <p:cNvPr id="11" name="Picture 10">
            <a:extLst>
              <a:ext uri="{FF2B5EF4-FFF2-40B4-BE49-F238E27FC236}">
                <a16:creationId xmlns:a16="http://schemas.microsoft.com/office/drawing/2014/main" id="{38C22D3B-692E-22C9-A778-A3127021B775}"/>
              </a:ext>
            </a:extLst>
          </p:cNvPr>
          <p:cNvPicPr>
            <a:picLocks noChangeAspect="1"/>
          </p:cNvPicPr>
          <p:nvPr/>
        </p:nvPicPr>
        <p:blipFill>
          <a:blip r:embed="rId2"/>
          <a:stretch>
            <a:fillRect/>
          </a:stretch>
        </p:blipFill>
        <p:spPr>
          <a:xfrm>
            <a:off x="394359" y="2749216"/>
            <a:ext cx="1058779" cy="1058779"/>
          </a:xfrm>
          <a:prstGeom prst="rect">
            <a:avLst/>
          </a:prstGeom>
        </p:spPr>
      </p:pic>
      <p:pic>
        <p:nvPicPr>
          <p:cNvPr id="12" name="Picture 11">
            <a:extLst>
              <a:ext uri="{FF2B5EF4-FFF2-40B4-BE49-F238E27FC236}">
                <a16:creationId xmlns:a16="http://schemas.microsoft.com/office/drawing/2014/main" id="{B4A39679-B4AF-F296-61A1-A9FB1C9E30D1}"/>
              </a:ext>
            </a:extLst>
          </p:cNvPr>
          <p:cNvPicPr>
            <a:picLocks noChangeAspect="1"/>
          </p:cNvPicPr>
          <p:nvPr/>
        </p:nvPicPr>
        <p:blipFill>
          <a:blip r:embed="rId3"/>
          <a:stretch>
            <a:fillRect/>
          </a:stretch>
        </p:blipFill>
        <p:spPr>
          <a:xfrm>
            <a:off x="4609298" y="2735828"/>
            <a:ext cx="1059027" cy="1059027"/>
          </a:xfrm>
          <a:prstGeom prst="rect">
            <a:avLst/>
          </a:prstGeom>
        </p:spPr>
      </p:pic>
      <p:pic>
        <p:nvPicPr>
          <p:cNvPr id="13" name="Picture 12">
            <a:extLst>
              <a:ext uri="{FF2B5EF4-FFF2-40B4-BE49-F238E27FC236}">
                <a16:creationId xmlns:a16="http://schemas.microsoft.com/office/drawing/2014/main" id="{C1113A6A-0BF8-21B0-AA00-5ECAA87591E9}"/>
              </a:ext>
            </a:extLst>
          </p:cNvPr>
          <p:cNvPicPr>
            <a:picLocks noChangeAspect="1"/>
          </p:cNvPicPr>
          <p:nvPr/>
        </p:nvPicPr>
        <p:blipFill>
          <a:blip r:embed="rId4"/>
          <a:stretch>
            <a:fillRect/>
          </a:stretch>
        </p:blipFill>
        <p:spPr>
          <a:xfrm>
            <a:off x="8435592" y="2849604"/>
            <a:ext cx="958391" cy="958391"/>
          </a:xfrm>
          <a:prstGeom prst="rect">
            <a:avLst/>
          </a:prstGeom>
        </p:spPr>
      </p:pic>
      <p:pic>
        <p:nvPicPr>
          <p:cNvPr id="14" name="Picture 13">
            <a:extLst>
              <a:ext uri="{FF2B5EF4-FFF2-40B4-BE49-F238E27FC236}">
                <a16:creationId xmlns:a16="http://schemas.microsoft.com/office/drawing/2014/main" id="{61AD3259-BF7A-FE82-C097-31DB823C6A0F}"/>
              </a:ext>
            </a:extLst>
          </p:cNvPr>
          <p:cNvPicPr>
            <a:picLocks noChangeAspect="1"/>
          </p:cNvPicPr>
          <p:nvPr/>
        </p:nvPicPr>
        <p:blipFill>
          <a:blip r:embed="rId5"/>
          <a:stretch>
            <a:fillRect/>
          </a:stretch>
        </p:blipFill>
        <p:spPr>
          <a:xfrm>
            <a:off x="0" y="4940969"/>
            <a:ext cx="1366233" cy="1366233"/>
          </a:xfrm>
          <a:prstGeom prst="rect">
            <a:avLst/>
          </a:prstGeom>
        </p:spPr>
      </p:pic>
      <p:pic>
        <p:nvPicPr>
          <p:cNvPr id="15" name="Picture 14">
            <a:extLst>
              <a:ext uri="{FF2B5EF4-FFF2-40B4-BE49-F238E27FC236}">
                <a16:creationId xmlns:a16="http://schemas.microsoft.com/office/drawing/2014/main" id="{2E7B0029-CE86-1428-C81F-C1D536C7005B}"/>
              </a:ext>
            </a:extLst>
          </p:cNvPr>
          <p:cNvPicPr>
            <a:picLocks noChangeAspect="1"/>
          </p:cNvPicPr>
          <p:nvPr/>
        </p:nvPicPr>
        <p:blipFill>
          <a:blip r:embed="rId6"/>
          <a:stretch>
            <a:fillRect/>
          </a:stretch>
        </p:blipFill>
        <p:spPr>
          <a:xfrm>
            <a:off x="4375950" y="5004458"/>
            <a:ext cx="1220188" cy="1239253"/>
          </a:xfrm>
          <a:prstGeom prst="rect">
            <a:avLst/>
          </a:prstGeom>
        </p:spPr>
      </p:pic>
    </p:spTree>
    <p:extLst>
      <p:ext uri="{BB962C8B-B14F-4D97-AF65-F5344CB8AC3E}">
        <p14:creationId xmlns:p14="http://schemas.microsoft.com/office/powerpoint/2010/main" val="33075943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F1087E-C8B6-6663-BCDB-B7876C999B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6BD11A-3F12-E00A-628D-91D7B90D449E}"/>
              </a:ext>
            </a:extLst>
          </p:cNvPr>
          <p:cNvSpPr>
            <a:spLocks noGrp="1"/>
          </p:cNvSpPr>
          <p:nvPr>
            <p:ph type="title"/>
          </p:nvPr>
        </p:nvSpPr>
        <p:spPr>
          <a:xfrm>
            <a:off x="1156920" y="715229"/>
            <a:ext cx="9393848" cy="712765"/>
          </a:xfrm>
        </p:spPr>
        <p:txBody>
          <a:bodyPr/>
          <a:lstStyle/>
          <a:p>
            <a:r>
              <a:rPr lang="en-US" dirty="0">
                <a:latin typeface="ADLaM Display" panose="02010000000000000000" pitchFamily="2" charset="0"/>
                <a:ea typeface="ADLaM Display" panose="02010000000000000000" pitchFamily="2" charset="0"/>
                <a:cs typeface="ADLaM Display" panose="02010000000000000000" pitchFamily="2" charset="0"/>
              </a:rPr>
              <a:t>Elements of Power BI </a:t>
            </a:r>
            <a:r>
              <a:rPr lang="en-US"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Services</a:t>
            </a:r>
          </a:p>
        </p:txBody>
      </p:sp>
      <p:sp>
        <p:nvSpPr>
          <p:cNvPr id="7" name="Text Placeholder 2">
            <a:extLst>
              <a:ext uri="{FF2B5EF4-FFF2-40B4-BE49-F238E27FC236}">
                <a16:creationId xmlns:a16="http://schemas.microsoft.com/office/drawing/2014/main" id="{1C41F248-2612-3818-CBA1-F40870D9DDE3}"/>
              </a:ext>
            </a:extLst>
          </p:cNvPr>
          <p:cNvSpPr>
            <a:spLocks noGrp="1"/>
          </p:cNvSpPr>
          <p:nvPr>
            <p:ph type="body" sz="quarter" idx="14"/>
          </p:nvPr>
        </p:nvSpPr>
        <p:spPr>
          <a:xfrm>
            <a:off x="3272591" y="1574212"/>
            <a:ext cx="8694820" cy="5171493"/>
          </a:xfrm>
        </p:spPr>
        <p:txBody>
          <a:bodyPr vert="horz" lIns="91440" tIns="45720" rIns="91440" bIns="45720" rtlCol="0">
            <a:normAutofit fontScale="92500"/>
          </a:bodyPr>
          <a:lstStyle/>
          <a:p>
            <a:pPr marL="314325" indent="-342900" algn="just" defTabSz="914400">
              <a:lnSpc>
                <a:spcPct val="90000"/>
              </a:lnSpc>
              <a:buFont typeface="Wingdings" panose="05000000000000000000" pitchFamily="2" charset="2"/>
              <a:buChar char="q"/>
            </a:pPr>
            <a:r>
              <a:rPr lang="en-US" sz="36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 </a:t>
            </a:r>
            <a:r>
              <a:rPr lang="en-US" sz="3600" b="1"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Power BI Desktop</a:t>
            </a:r>
            <a:r>
              <a:rPr lang="en-US" sz="36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a:t>
            </a:r>
          </a:p>
          <a:p>
            <a:pPr marL="0" indent="0" algn="just" defTabSz="914400">
              <a:lnSpc>
                <a:spcPct val="90000"/>
              </a:lnSpc>
              <a:buNone/>
            </a:pPr>
            <a:r>
              <a:rPr lang="en-US" sz="3600" dirty="0">
                <a:solidFill>
                  <a:schemeClr val="tx1"/>
                </a:solidFill>
              </a:rPr>
              <a:t>- It resides on the local system and used to build and publish reports.</a:t>
            </a:r>
          </a:p>
          <a:p>
            <a:pPr marL="314325" indent="-342900" algn="just" defTabSz="914400">
              <a:lnSpc>
                <a:spcPct val="90000"/>
              </a:lnSpc>
              <a:buFont typeface="Wingdings" panose="05000000000000000000" pitchFamily="2" charset="2"/>
              <a:buChar char="q"/>
            </a:pPr>
            <a:r>
              <a:rPr lang="en-US" sz="3600" dirty="0">
                <a:solidFill>
                  <a:schemeClr val="tx1"/>
                </a:solidFill>
              </a:rPr>
              <a:t> </a:t>
            </a:r>
            <a:r>
              <a:rPr lang="en-US" sz="3600" b="1"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Power BI Web Service</a:t>
            </a:r>
            <a:r>
              <a:rPr lang="en-US" sz="36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a:t>
            </a:r>
          </a:p>
          <a:p>
            <a:pPr marL="0" indent="0" algn="just" defTabSz="914400">
              <a:lnSpc>
                <a:spcPct val="90000"/>
              </a:lnSpc>
              <a:buNone/>
            </a:pPr>
            <a:r>
              <a:rPr lang="en-US" sz="3600" dirty="0">
                <a:solidFill>
                  <a:schemeClr val="tx1"/>
                </a:solidFill>
              </a:rPr>
              <a:t>- It resides on Web as a form of website &amp; used to build reports, make dashboards &amp; share reports &amp; dashboard with other users.</a:t>
            </a:r>
          </a:p>
          <a:p>
            <a:pPr marL="314325" indent="-342900" algn="just" defTabSz="914400">
              <a:lnSpc>
                <a:spcPct val="90000"/>
              </a:lnSpc>
              <a:buFont typeface="Wingdings" panose="05000000000000000000" pitchFamily="2" charset="2"/>
              <a:buChar char="q"/>
            </a:pPr>
            <a:r>
              <a:rPr lang="en-US" sz="3600" dirty="0">
                <a:solidFill>
                  <a:schemeClr val="tx1"/>
                </a:solidFill>
              </a:rPr>
              <a:t> </a:t>
            </a:r>
            <a:r>
              <a:rPr lang="en-US" sz="3600" b="1"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Power BI Mobile App</a:t>
            </a:r>
            <a:r>
              <a:rPr lang="en-US" sz="36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a:t>
            </a:r>
          </a:p>
          <a:p>
            <a:pPr marL="0" indent="0" algn="just" defTabSz="914400">
              <a:lnSpc>
                <a:spcPct val="90000"/>
              </a:lnSpc>
              <a:buNone/>
            </a:pPr>
            <a:r>
              <a:rPr lang="en-US" sz="3600" dirty="0">
                <a:solidFill>
                  <a:schemeClr val="tx1"/>
                </a:solidFill>
              </a:rPr>
              <a:t>- It is an app version of Power BI which is used to view and share the reports and Dashboards.</a:t>
            </a:r>
          </a:p>
        </p:txBody>
      </p:sp>
      <p:pic>
        <p:nvPicPr>
          <p:cNvPr id="9" name="Picture 8" descr="A computer monitor with a white screen&#10;&#10;Description automatically generated">
            <a:extLst>
              <a:ext uri="{FF2B5EF4-FFF2-40B4-BE49-F238E27FC236}">
                <a16:creationId xmlns:a16="http://schemas.microsoft.com/office/drawing/2014/main" id="{ED47EC19-9949-260C-6FEA-AC3A4FCB8B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4589" y="1189990"/>
            <a:ext cx="2239010" cy="2239010"/>
          </a:xfrm>
          <a:prstGeom prst="rect">
            <a:avLst/>
          </a:prstGeom>
        </p:spPr>
      </p:pic>
      <p:pic>
        <p:nvPicPr>
          <p:cNvPr id="10" name="Picture 18" descr="Key features of Power BI Desktop that leave nothing to the imagination">
            <a:extLst>
              <a:ext uri="{FF2B5EF4-FFF2-40B4-BE49-F238E27FC236}">
                <a16:creationId xmlns:a16="http://schemas.microsoft.com/office/drawing/2014/main" id="{F1821BC0-BD56-8886-C247-E318C624266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6839" y="1570643"/>
            <a:ext cx="1815709" cy="1012834"/>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descr="A tablet with a blank screen">
            <a:extLst>
              <a:ext uri="{FF2B5EF4-FFF2-40B4-BE49-F238E27FC236}">
                <a16:creationId xmlns:a16="http://schemas.microsoft.com/office/drawing/2014/main" id="{032F5264-1071-E9A5-4011-C2450ECFFA5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5339" y="2822578"/>
            <a:ext cx="1357618" cy="1927064"/>
          </a:xfrm>
          <a:prstGeom prst="rect">
            <a:avLst/>
          </a:prstGeom>
        </p:spPr>
      </p:pic>
      <p:pic>
        <p:nvPicPr>
          <p:cNvPr id="13" name="Picture 22">
            <a:extLst>
              <a:ext uri="{FF2B5EF4-FFF2-40B4-BE49-F238E27FC236}">
                <a16:creationId xmlns:a16="http://schemas.microsoft.com/office/drawing/2014/main" id="{791B410F-7D80-19F4-2579-CA4ECC092726}"/>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262548" y="3180680"/>
            <a:ext cx="783199" cy="1237018"/>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descr="A cell phone with a white screen&#10;&#10;Description automatically generated">
            <a:extLst>
              <a:ext uri="{FF2B5EF4-FFF2-40B4-BE49-F238E27FC236}">
                <a16:creationId xmlns:a16="http://schemas.microsoft.com/office/drawing/2014/main" id="{6CE00CD3-3046-0858-7DB9-0981DE61BEF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83425" y="5011073"/>
            <a:ext cx="1473201" cy="1473201"/>
          </a:xfrm>
          <a:prstGeom prst="rect">
            <a:avLst/>
          </a:prstGeom>
        </p:spPr>
      </p:pic>
      <p:pic>
        <p:nvPicPr>
          <p:cNvPr id="15" name="Picture 24">
            <a:extLst>
              <a:ext uri="{FF2B5EF4-FFF2-40B4-BE49-F238E27FC236}">
                <a16:creationId xmlns:a16="http://schemas.microsoft.com/office/drawing/2014/main" id="{7C004A88-C70B-5B65-193A-A10C225361CC}"/>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373685" y="5184600"/>
            <a:ext cx="492679" cy="1147146"/>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descr="A computer monitor with a white screen&#10;&#10;Description automatically generated">
            <a:extLst>
              <a:ext uri="{FF2B5EF4-FFF2-40B4-BE49-F238E27FC236}">
                <a16:creationId xmlns:a16="http://schemas.microsoft.com/office/drawing/2014/main" id="{6CC0CD4F-E254-7176-AB95-8273B8D0D1CD}"/>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37315" y="3271788"/>
            <a:ext cx="1303122" cy="1303122"/>
          </a:xfrm>
          <a:prstGeom prst="rect">
            <a:avLst/>
          </a:prstGeom>
        </p:spPr>
      </p:pic>
      <p:pic>
        <p:nvPicPr>
          <p:cNvPr id="17" name="Picture 20">
            <a:extLst>
              <a:ext uri="{FF2B5EF4-FFF2-40B4-BE49-F238E27FC236}">
                <a16:creationId xmlns:a16="http://schemas.microsoft.com/office/drawing/2014/main" id="{CAD4C4C5-5907-418D-D798-69E02DDB2BBF}"/>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771716" y="3492486"/>
            <a:ext cx="1045269" cy="6079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24650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09A554-F2A0-7510-9483-740A0E7407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253357-0DE3-02DC-D97E-AF23D01B144D}"/>
              </a:ext>
            </a:extLst>
          </p:cNvPr>
          <p:cNvSpPr>
            <a:spLocks noGrp="1"/>
          </p:cNvSpPr>
          <p:nvPr>
            <p:ph type="title"/>
          </p:nvPr>
        </p:nvSpPr>
        <p:spPr>
          <a:xfrm>
            <a:off x="1156920" y="715229"/>
            <a:ext cx="9393848" cy="712765"/>
          </a:xfrm>
        </p:spPr>
        <p:txBody>
          <a:bodyPr/>
          <a:lstStyle/>
          <a:p>
            <a:r>
              <a:rPr lang="en-US" dirty="0">
                <a:latin typeface="ADLaM Display" panose="02010000000000000000" pitchFamily="2" charset="0"/>
                <a:ea typeface="ADLaM Display" panose="02010000000000000000" pitchFamily="2" charset="0"/>
                <a:cs typeface="ADLaM Display" panose="02010000000000000000" pitchFamily="2" charset="0"/>
              </a:rPr>
              <a:t>Power BI Desktop </a:t>
            </a:r>
            <a:r>
              <a:rPr lang="en-US"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Vs</a:t>
            </a:r>
            <a:r>
              <a:rPr lang="en-US" dirty="0">
                <a:latin typeface="ADLaM Display" panose="02010000000000000000" pitchFamily="2" charset="0"/>
                <a:ea typeface="ADLaM Display" panose="02010000000000000000" pitchFamily="2" charset="0"/>
                <a:cs typeface="ADLaM Display" panose="02010000000000000000" pitchFamily="2" charset="0"/>
              </a:rPr>
              <a:t> Power BI Service</a:t>
            </a:r>
            <a:endParaRPr lang="en-US" dirty="0">
              <a:solidFill>
                <a:srgbClr val="FFC000"/>
              </a:solidFill>
              <a:latin typeface="ADLaM Display" panose="02010000000000000000" pitchFamily="2" charset="0"/>
              <a:ea typeface="ADLaM Display" panose="02010000000000000000" pitchFamily="2" charset="0"/>
              <a:cs typeface="ADLaM Display" panose="02010000000000000000" pitchFamily="2" charset="0"/>
            </a:endParaRPr>
          </a:p>
        </p:txBody>
      </p:sp>
      <p:graphicFrame>
        <p:nvGraphicFramePr>
          <p:cNvPr id="5" name="Table 4">
            <a:extLst>
              <a:ext uri="{FF2B5EF4-FFF2-40B4-BE49-F238E27FC236}">
                <a16:creationId xmlns:a16="http://schemas.microsoft.com/office/drawing/2014/main" id="{49698045-3665-0FBB-BD3A-08869321375E}"/>
              </a:ext>
            </a:extLst>
          </p:cNvPr>
          <p:cNvGraphicFramePr>
            <a:graphicFrameLocks noGrp="1"/>
          </p:cNvGraphicFramePr>
          <p:nvPr/>
        </p:nvGraphicFramePr>
        <p:xfrm>
          <a:off x="880427" y="1632598"/>
          <a:ext cx="10477383" cy="5024876"/>
        </p:xfrm>
        <a:graphic>
          <a:graphicData uri="http://schemas.openxmlformats.org/drawingml/2006/table">
            <a:tbl>
              <a:tblPr firstRow="1" bandRow="1">
                <a:tableStyleId>{5C22544A-7EE6-4342-B048-85BDC9FD1C3A}</a:tableStyleId>
              </a:tblPr>
              <a:tblGrid>
                <a:gridCol w="2487428">
                  <a:extLst>
                    <a:ext uri="{9D8B030D-6E8A-4147-A177-3AD203B41FA5}">
                      <a16:colId xmlns:a16="http://schemas.microsoft.com/office/drawing/2014/main" val="4038587747"/>
                    </a:ext>
                  </a:extLst>
                </a:gridCol>
                <a:gridCol w="3442706">
                  <a:extLst>
                    <a:ext uri="{9D8B030D-6E8A-4147-A177-3AD203B41FA5}">
                      <a16:colId xmlns:a16="http://schemas.microsoft.com/office/drawing/2014/main" val="2044224589"/>
                    </a:ext>
                  </a:extLst>
                </a:gridCol>
                <a:gridCol w="4547249">
                  <a:extLst>
                    <a:ext uri="{9D8B030D-6E8A-4147-A177-3AD203B41FA5}">
                      <a16:colId xmlns:a16="http://schemas.microsoft.com/office/drawing/2014/main" val="276319405"/>
                    </a:ext>
                  </a:extLst>
                </a:gridCol>
              </a:tblGrid>
              <a:tr h="589774">
                <a:tc>
                  <a:txBody>
                    <a:bodyPr/>
                    <a:lstStyle/>
                    <a:p>
                      <a:pPr algn="ctr"/>
                      <a:r>
                        <a:rPr lang="en-US" sz="2400" dirty="0">
                          <a:latin typeface="ADLaM Display" panose="02010000000000000000" pitchFamily="2" charset="0"/>
                          <a:ea typeface="ADLaM Display" panose="02010000000000000000" pitchFamily="2" charset="0"/>
                          <a:cs typeface="ADLaM Display" panose="02010000000000000000" pitchFamily="2" charset="0"/>
                        </a:rPr>
                        <a:t>Features</a:t>
                      </a:r>
                    </a:p>
                  </a:txBody>
                  <a:tcPr marL="125944" marR="125944" marT="62973" marB="62973">
                    <a:solidFill>
                      <a:srgbClr val="FFC000"/>
                    </a:solidFill>
                  </a:tcPr>
                </a:tc>
                <a:tc>
                  <a:txBody>
                    <a:bodyPr/>
                    <a:lstStyle/>
                    <a:p>
                      <a:pPr algn="ctr"/>
                      <a:r>
                        <a:rPr lang="en-US" sz="2400" dirty="0">
                          <a:latin typeface="ADLaM Display" panose="02010000000000000000" pitchFamily="2" charset="0"/>
                          <a:ea typeface="ADLaM Display" panose="02010000000000000000" pitchFamily="2" charset="0"/>
                          <a:cs typeface="ADLaM Display" panose="02010000000000000000" pitchFamily="2" charset="0"/>
                        </a:rPr>
                        <a:t>Power BI Desktop</a:t>
                      </a:r>
                    </a:p>
                  </a:txBody>
                  <a:tcPr marL="125944" marR="125944" marT="62973" marB="62973">
                    <a:solidFill>
                      <a:srgbClr val="FFC000"/>
                    </a:solidFill>
                  </a:tcPr>
                </a:tc>
                <a:tc>
                  <a:txBody>
                    <a:bodyPr/>
                    <a:lstStyle/>
                    <a:p>
                      <a:pPr algn="ctr"/>
                      <a:r>
                        <a:rPr lang="en-US" sz="2400" dirty="0">
                          <a:latin typeface="ADLaM Display" panose="02010000000000000000" pitchFamily="2" charset="0"/>
                          <a:ea typeface="ADLaM Display" panose="02010000000000000000" pitchFamily="2" charset="0"/>
                          <a:cs typeface="ADLaM Display" panose="02010000000000000000" pitchFamily="2" charset="0"/>
                        </a:rPr>
                        <a:t>Power BI Service</a:t>
                      </a:r>
                    </a:p>
                  </a:txBody>
                  <a:tcPr marL="125944" marR="125944" marT="62973" marB="62973">
                    <a:solidFill>
                      <a:srgbClr val="FFC000"/>
                    </a:solidFill>
                  </a:tcPr>
                </a:tc>
                <a:extLst>
                  <a:ext uri="{0D108BD9-81ED-4DB2-BD59-A6C34878D82A}">
                    <a16:rowId xmlns:a16="http://schemas.microsoft.com/office/drawing/2014/main" val="2834524935"/>
                  </a:ext>
                </a:extLst>
              </a:tr>
              <a:tr h="961332">
                <a:tc>
                  <a:txBody>
                    <a:bodyPr/>
                    <a:lstStyle/>
                    <a:p>
                      <a:r>
                        <a:rPr lang="en-US" sz="1800" dirty="0">
                          <a:latin typeface="ADLaM Display" panose="02010000000000000000" pitchFamily="2" charset="0"/>
                          <a:ea typeface="ADLaM Display" panose="02010000000000000000" pitchFamily="2" charset="0"/>
                          <a:cs typeface="ADLaM Display" panose="02010000000000000000" pitchFamily="2" charset="0"/>
                        </a:rPr>
                        <a:t>Installation</a:t>
                      </a:r>
                    </a:p>
                  </a:txBody>
                  <a:tcPr marL="125944" marR="125944" marT="62973" marB="62973">
                    <a:solidFill>
                      <a:schemeClr val="bg1"/>
                    </a:solidFill>
                  </a:tcPr>
                </a:tc>
                <a:tc>
                  <a:txBody>
                    <a:bodyPr/>
                    <a:lstStyle/>
                    <a:p>
                      <a:r>
                        <a:rPr lang="en-US" sz="2000" dirty="0">
                          <a:latin typeface="ADLaM Display" panose="02010000000000000000" pitchFamily="2" charset="0"/>
                          <a:ea typeface="ADLaM Display" panose="02010000000000000000" pitchFamily="2" charset="0"/>
                          <a:cs typeface="ADLaM Display" panose="02010000000000000000" pitchFamily="2" charset="0"/>
                        </a:rPr>
                        <a:t>Requires installation</a:t>
                      </a:r>
                    </a:p>
                  </a:txBody>
                  <a:tcPr marL="125944" marR="125944" marT="62973" marB="62973">
                    <a:solidFill>
                      <a:schemeClr val="bg1"/>
                    </a:solidFill>
                  </a:tcPr>
                </a:tc>
                <a:tc>
                  <a:txBody>
                    <a:bodyPr/>
                    <a:lstStyle/>
                    <a:p>
                      <a:r>
                        <a:rPr lang="en-US" sz="2000" dirty="0">
                          <a:latin typeface="ADLaM Display" panose="02010000000000000000" pitchFamily="2" charset="0"/>
                          <a:ea typeface="ADLaM Display" panose="02010000000000000000" pitchFamily="2" charset="0"/>
                          <a:cs typeface="ADLaM Display" panose="02010000000000000000" pitchFamily="2" charset="0"/>
                        </a:rPr>
                        <a:t>Cloud-based, accessed via web browser</a:t>
                      </a:r>
                    </a:p>
                  </a:txBody>
                  <a:tcPr marL="125944" marR="125944" marT="62973" marB="62973">
                    <a:solidFill>
                      <a:schemeClr val="bg1"/>
                    </a:solidFill>
                  </a:tcPr>
                </a:tc>
                <a:extLst>
                  <a:ext uri="{0D108BD9-81ED-4DB2-BD59-A6C34878D82A}">
                    <a16:rowId xmlns:a16="http://schemas.microsoft.com/office/drawing/2014/main" val="991324257"/>
                  </a:ext>
                </a:extLst>
              </a:tr>
              <a:tr h="961332">
                <a:tc>
                  <a:txBody>
                    <a:bodyPr/>
                    <a:lstStyle/>
                    <a:p>
                      <a:r>
                        <a:rPr lang="en-US" sz="1800">
                          <a:latin typeface="ADLaM Display" panose="02010000000000000000" pitchFamily="2" charset="0"/>
                          <a:ea typeface="ADLaM Display" panose="02010000000000000000" pitchFamily="2" charset="0"/>
                          <a:cs typeface="ADLaM Display" panose="02010000000000000000" pitchFamily="2" charset="0"/>
                        </a:rPr>
                        <a:t>Data preparation</a:t>
                      </a:r>
                    </a:p>
                  </a:txBody>
                  <a:tcPr marL="125944" marR="125944" marT="62973" marB="62973">
                    <a:solidFill>
                      <a:schemeClr val="bg1"/>
                    </a:solidFill>
                  </a:tcPr>
                </a:tc>
                <a:tc>
                  <a:txBody>
                    <a:bodyPr/>
                    <a:lstStyle/>
                    <a:p>
                      <a:r>
                        <a:rPr lang="en-US" sz="2000" dirty="0">
                          <a:latin typeface="ADLaM Display" panose="02010000000000000000" pitchFamily="2" charset="0"/>
                          <a:ea typeface="ADLaM Display" panose="02010000000000000000" pitchFamily="2" charset="0"/>
                          <a:cs typeface="ADLaM Display" panose="02010000000000000000" pitchFamily="2" charset="0"/>
                        </a:rPr>
                        <a:t>Advanced capabilities</a:t>
                      </a:r>
                    </a:p>
                  </a:txBody>
                  <a:tcPr marL="125944" marR="125944" marT="62973" marB="62973">
                    <a:solidFill>
                      <a:schemeClr val="bg1"/>
                    </a:solidFill>
                  </a:tcPr>
                </a:tc>
                <a:tc>
                  <a:txBody>
                    <a:bodyPr/>
                    <a:lstStyle/>
                    <a:p>
                      <a:r>
                        <a:rPr lang="en-US" sz="2000">
                          <a:latin typeface="ADLaM Display" panose="02010000000000000000" pitchFamily="2" charset="0"/>
                          <a:ea typeface="ADLaM Display" panose="02010000000000000000" pitchFamily="2" charset="0"/>
                          <a:cs typeface="ADLaM Display" panose="02010000000000000000" pitchFamily="2" charset="0"/>
                        </a:rPr>
                        <a:t>Focused on visualizing &amp; sharing data</a:t>
                      </a:r>
                    </a:p>
                  </a:txBody>
                  <a:tcPr marL="125944" marR="125944" marT="62973" marB="62973">
                    <a:solidFill>
                      <a:schemeClr val="bg1"/>
                    </a:solidFill>
                  </a:tcPr>
                </a:tc>
                <a:extLst>
                  <a:ext uri="{0D108BD9-81ED-4DB2-BD59-A6C34878D82A}">
                    <a16:rowId xmlns:a16="http://schemas.microsoft.com/office/drawing/2014/main" val="837302308"/>
                  </a:ext>
                </a:extLst>
              </a:tr>
              <a:tr h="961332">
                <a:tc>
                  <a:txBody>
                    <a:bodyPr/>
                    <a:lstStyle/>
                    <a:p>
                      <a:r>
                        <a:rPr lang="en-US" sz="1800">
                          <a:latin typeface="ADLaM Display" panose="02010000000000000000" pitchFamily="2" charset="0"/>
                          <a:ea typeface="ADLaM Display" panose="02010000000000000000" pitchFamily="2" charset="0"/>
                          <a:cs typeface="ADLaM Display" panose="02010000000000000000" pitchFamily="2" charset="0"/>
                        </a:rPr>
                        <a:t>Report creation</a:t>
                      </a:r>
                    </a:p>
                  </a:txBody>
                  <a:tcPr marL="125944" marR="125944" marT="62973" marB="62973">
                    <a:solidFill>
                      <a:schemeClr val="bg1"/>
                    </a:solidFill>
                  </a:tcPr>
                </a:tc>
                <a:tc>
                  <a:txBody>
                    <a:bodyPr/>
                    <a:lstStyle/>
                    <a:p>
                      <a:r>
                        <a:rPr lang="en-US" sz="2000" dirty="0">
                          <a:latin typeface="ADLaM Display" panose="02010000000000000000" pitchFamily="2" charset="0"/>
                          <a:ea typeface="ADLaM Display" panose="02010000000000000000" pitchFamily="2" charset="0"/>
                          <a:cs typeface="ADLaM Display" panose="02010000000000000000" pitchFamily="2" charset="0"/>
                        </a:rPr>
                        <a:t>Granular control</a:t>
                      </a:r>
                    </a:p>
                  </a:txBody>
                  <a:tcPr marL="125944" marR="125944" marT="62973" marB="62973">
                    <a:solidFill>
                      <a:schemeClr val="bg1"/>
                    </a:solidFill>
                  </a:tcPr>
                </a:tc>
                <a:tc>
                  <a:txBody>
                    <a:bodyPr/>
                    <a:lstStyle/>
                    <a:p>
                      <a:r>
                        <a:rPr lang="en-US" sz="2000" dirty="0">
                          <a:latin typeface="ADLaM Display" panose="02010000000000000000" pitchFamily="2" charset="0"/>
                          <a:ea typeface="ADLaM Display" panose="02010000000000000000" pitchFamily="2" charset="0"/>
                          <a:cs typeface="ADLaM Display" panose="02010000000000000000" pitchFamily="2" charset="0"/>
                        </a:rPr>
                        <a:t>Simpler authoring experience, still allows for customization</a:t>
                      </a:r>
                    </a:p>
                  </a:txBody>
                  <a:tcPr marL="125944" marR="125944" marT="62973" marB="62973">
                    <a:solidFill>
                      <a:schemeClr val="bg1"/>
                    </a:solidFill>
                  </a:tcPr>
                </a:tc>
                <a:extLst>
                  <a:ext uri="{0D108BD9-81ED-4DB2-BD59-A6C34878D82A}">
                    <a16:rowId xmlns:a16="http://schemas.microsoft.com/office/drawing/2014/main" val="914838942"/>
                  </a:ext>
                </a:extLst>
              </a:tr>
              <a:tr h="961332">
                <a:tc>
                  <a:txBody>
                    <a:bodyPr/>
                    <a:lstStyle/>
                    <a:p>
                      <a:r>
                        <a:rPr lang="en-US" sz="1800">
                          <a:latin typeface="ADLaM Display" panose="02010000000000000000" pitchFamily="2" charset="0"/>
                          <a:ea typeface="ADLaM Display" panose="02010000000000000000" pitchFamily="2" charset="0"/>
                          <a:cs typeface="ADLaM Display" panose="02010000000000000000" pitchFamily="2" charset="0"/>
                        </a:rPr>
                        <a:t>Collaboration</a:t>
                      </a:r>
                    </a:p>
                  </a:txBody>
                  <a:tcPr marL="125944" marR="125944" marT="62973" marB="62973">
                    <a:solidFill>
                      <a:schemeClr val="bg1"/>
                    </a:solidFill>
                  </a:tcPr>
                </a:tc>
                <a:tc>
                  <a:txBody>
                    <a:bodyPr/>
                    <a:lstStyle/>
                    <a:p>
                      <a:r>
                        <a:rPr lang="en-US" sz="2000">
                          <a:latin typeface="ADLaM Display" panose="02010000000000000000" pitchFamily="2" charset="0"/>
                          <a:ea typeface="ADLaM Display" panose="02010000000000000000" pitchFamily="2" charset="0"/>
                          <a:cs typeface="ADLaM Display" panose="02010000000000000000" pitchFamily="2" charset="0"/>
                        </a:rPr>
                        <a:t>Designed for individual</a:t>
                      </a:r>
                    </a:p>
                  </a:txBody>
                  <a:tcPr marL="125944" marR="125944" marT="62973" marB="62973">
                    <a:solidFill>
                      <a:schemeClr val="bg1"/>
                    </a:solidFill>
                  </a:tcPr>
                </a:tc>
                <a:tc>
                  <a:txBody>
                    <a:bodyPr/>
                    <a:lstStyle/>
                    <a:p>
                      <a:r>
                        <a:rPr lang="en-US" sz="2000" dirty="0">
                          <a:latin typeface="ADLaM Display" panose="02010000000000000000" pitchFamily="2" charset="0"/>
                          <a:ea typeface="ADLaM Display" panose="02010000000000000000" pitchFamily="2" charset="0"/>
                          <a:cs typeface="ADLaM Display" panose="02010000000000000000" pitchFamily="2" charset="0"/>
                        </a:rPr>
                        <a:t>Allows sharing and collaboration on reports and dashboards</a:t>
                      </a:r>
                    </a:p>
                  </a:txBody>
                  <a:tcPr marL="125944" marR="125944" marT="62973" marB="62973">
                    <a:solidFill>
                      <a:schemeClr val="bg1"/>
                    </a:solidFill>
                  </a:tcPr>
                </a:tc>
                <a:extLst>
                  <a:ext uri="{0D108BD9-81ED-4DB2-BD59-A6C34878D82A}">
                    <a16:rowId xmlns:a16="http://schemas.microsoft.com/office/drawing/2014/main" val="1915030914"/>
                  </a:ext>
                </a:extLst>
              </a:tr>
              <a:tr h="589774">
                <a:tc>
                  <a:txBody>
                    <a:bodyPr/>
                    <a:lstStyle/>
                    <a:p>
                      <a:r>
                        <a:rPr lang="en-US" sz="1800" dirty="0">
                          <a:latin typeface="ADLaM Display" panose="02010000000000000000" pitchFamily="2" charset="0"/>
                          <a:ea typeface="ADLaM Display" panose="02010000000000000000" pitchFamily="2" charset="0"/>
                          <a:cs typeface="ADLaM Display" panose="02010000000000000000" pitchFamily="2" charset="0"/>
                        </a:rPr>
                        <a:t>Data refresh</a:t>
                      </a:r>
                    </a:p>
                  </a:txBody>
                  <a:tcPr marL="125944" marR="125944" marT="62973" marB="62973">
                    <a:solidFill>
                      <a:schemeClr val="bg1"/>
                    </a:solidFill>
                  </a:tcPr>
                </a:tc>
                <a:tc>
                  <a:txBody>
                    <a:bodyPr/>
                    <a:lstStyle/>
                    <a:p>
                      <a:r>
                        <a:rPr lang="en-US" sz="2000">
                          <a:latin typeface="ADLaM Display" panose="02010000000000000000" pitchFamily="2" charset="0"/>
                          <a:ea typeface="ADLaM Display" panose="02010000000000000000" pitchFamily="2" charset="0"/>
                          <a:cs typeface="ADLaM Display" panose="02010000000000000000" pitchFamily="2" charset="0"/>
                        </a:rPr>
                        <a:t>Requires manual refresh</a:t>
                      </a:r>
                    </a:p>
                  </a:txBody>
                  <a:tcPr marL="125944" marR="125944" marT="62973" marB="62973">
                    <a:solidFill>
                      <a:schemeClr val="bg1"/>
                    </a:solidFill>
                  </a:tcPr>
                </a:tc>
                <a:tc>
                  <a:txBody>
                    <a:bodyPr/>
                    <a:lstStyle/>
                    <a:p>
                      <a:r>
                        <a:rPr lang="en-US" sz="2000" dirty="0">
                          <a:latin typeface="ADLaM Display" panose="02010000000000000000" pitchFamily="2" charset="0"/>
                          <a:ea typeface="ADLaM Display" panose="02010000000000000000" pitchFamily="2" charset="0"/>
                          <a:cs typeface="ADLaM Display" panose="02010000000000000000" pitchFamily="2" charset="0"/>
                        </a:rPr>
                        <a:t>Automatic data refresh</a:t>
                      </a:r>
                    </a:p>
                  </a:txBody>
                  <a:tcPr marL="125944" marR="125944" marT="62973" marB="62973">
                    <a:solidFill>
                      <a:schemeClr val="bg1"/>
                    </a:solidFill>
                  </a:tcPr>
                </a:tc>
                <a:extLst>
                  <a:ext uri="{0D108BD9-81ED-4DB2-BD59-A6C34878D82A}">
                    <a16:rowId xmlns:a16="http://schemas.microsoft.com/office/drawing/2014/main" val="3743023052"/>
                  </a:ext>
                </a:extLst>
              </a:tr>
            </a:tbl>
          </a:graphicData>
        </a:graphic>
      </p:graphicFrame>
    </p:spTree>
    <p:extLst>
      <p:ext uri="{BB962C8B-B14F-4D97-AF65-F5344CB8AC3E}">
        <p14:creationId xmlns:p14="http://schemas.microsoft.com/office/powerpoint/2010/main" val="23333039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7AA92E-09F2-C6C3-8074-8811F2539D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7D1E05-C9C7-ADA5-8F51-75D6E8C46AE5}"/>
              </a:ext>
            </a:extLst>
          </p:cNvPr>
          <p:cNvSpPr>
            <a:spLocks noGrp="1"/>
          </p:cNvSpPr>
          <p:nvPr>
            <p:ph type="title"/>
          </p:nvPr>
        </p:nvSpPr>
        <p:spPr>
          <a:xfrm>
            <a:off x="1156920" y="715229"/>
            <a:ext cx="9393848" cy="712765"/>
          </a:xfrm>
        </p:spPr>
        <p:txBody>
          <a:bodyPr/>
          <a:lstStyle/>
          <a:p>
            <a:r>
              <a:rPr lang="en-US"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a:t>
            </a:r>
          </a:p>
        </p:txBody>
      </p:sp>
      <p:graphicFrame>
        <p:nvGraphicFramePr>
          <p:cNvPr id="3" name="Table 2">
            <a:extLst>
              <a:ext uri="{FF2B5EF4-FFF2-40B4-BE49-F238E27FC236}">
                <a16:creationId xmlns:a16="http://schemas.microsoft.com/office/drawing/2014/main" id="{A63ADB8E-EC69-BFAB-6FCC-F09B17E30E98}"/>
              </a:ext>
            </a:extLst>
          </p:cNvPr>
          <p:cNvGraphicFramePr>
            <a:graphicFrameLocks noGrp="1"/>
          </p:cNvGraphicFramePr>
          <p:nvPr/>
        </p:nvGraphicFramePr>
        <p:xfrm>
          <a:off x="1042739" y="1523999"/>
          <a:ext cx="10812377" cy="5141116"/>
        </p:xfrm>
        <a:graphic>
          <a:graphicData uri="http://schemas.openxmlformats.org/drawingml/2006/table">
            <a:tbl>
              <a:tblPr firstRow="1" bandRow="1">
                <a:tableStyleId>{0660B408-B3CF-4A94-85FC-2B1E0A45F4A2}</a:tableStyleId>
              </a:tblPr>
              <a:tblGrid>
                <a:gridCol w="4911021">
                  <a:extLst>
                    <a:ext uri="{9D8B030D-6E8A-4147-A177-3AD203B41FA5}">
                      <a16:colId xmlns:a16="http://schemas.microsoft.com/office/drawing/2014/main" val="1378620509"/>
                    </a:ext>
                  </a:extLst>
                </a:gridCol>
                <a:gridCol w="2757103">
                  <a:extLst>
                    <a:ext uri="{9D8B030D-6E8A-4147-A177-3AD203B41FA5}">
                      <a16:colId xmlns:a16="http://schemas.microsoft.com/office/drawing/2014/main" val="2206008475"/>
                    </a:ext>
                  </a:extLst>
                </a:gridCol>
                <a:gridCol w="3144253">
                  <a:extLst>
                    <a:ext uri="{9D8B030D-6E8A-4147-A177-3AD203B41FA5}">
                      <a16:colId xmlns:a16="http://schemas.microsoft.com/office/drawing/2014/main" val="364371917"/>
                    </a:ext>
                  </a:extLst>
                </a:gridCol>
              </a:tblGrid>
              <a:tr h="508286">
                <a:tc>
                  <a:txBody>
                    <a:bodyPr/>
                    <a:lstStyle/>
                    <a:p>
                      <a:pPr algn="ctr"/>
                      <a:r>
                        <a:rPr lang="en-US" sz="2400" b="1" dirty="0">
                          <a:latin typeface="ADLaM Display" panose="02010000000000000000" pitchFamily="2" charset="0"/>
                          <a:ea typeface="ADLaM Display" panose="02010000000000000000" pitchFamily="2" charset="0"/>
                          <a:cs typeface="ADLaM Display" panose="02010000000000000000" pitchFamily="2" charset="0"/>
                        </a:rPr>
                        <a:t>Features</a:t>
                      </a:r>
                    </a:p>
                  </a:txBody>
                  <a:tcPr>
                    <a:solidFill>
                      <a:srgbClr val="FFC000"/>
                    </a:solidFill>
                  </a:tcPr>
                </a:tc>
                <a:tc>
                  <a:txBody>
                    <a:bodyPr/>
                    <a:lstStyle/>
                    <a:p>
                      <a:pPr algn="ctr"/>
                      <a:r>
                        <a:rPr lang="en-US" sz="2400" dirty="0">
                          <a:latin typeface="ADLaM Display" panose="02010000000000000000" pitchFamily="2" charset="0"/>
                          <a:ea typeface="ADLaM Display" panose="02010000000000000000" pitchFamily="2" charset="0"/>
                          <a:cs typeface="ADLaM Display" panose="02010000000000000000" pitchFamily="2" charset="0"/>
                        </a:rPr>
                        <a:t>Power BI Desktop</a:t>
                      </a:r>
                    </a:p>
                  </a:txBody>
                  <a:tcPr>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sz="2400" dirty="0">
                          <a:latin typeface="ADLaM Display" panose="02010000000000000000" pitchFamily="2" charset="0"/>
                          <a:ea typeface="ADLaM Display" panose="02010000000000000000" pitchFamily="2" charset="0"/>
                          <a:cs typeface="ADLaM Display" panose="02010000000000000000" pitchFamily="2" charset="0"/>
                        </a:rPr>
                        <a:t>Power BI Service</a:t>
                      </a:r>
                    </a:p>
                  </a:txBody>
                  <a:tcPr>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4022375664"/>
                  </a:ext>
                </a:extLst>
              </a:tr>
              <a:tr h="508286">
                <a:tc>
                  <a:txBody>
                    <a:bodyPr/>
                    <a:lstStyle/>
                    <a:p>
                      <a:r>
                        <a:rPr lang="en-US" sz="2000" b="1" dirty="0">
                          <a:latin typeface="ADLaM Display" panose="02010000000000000000" pitchFamily="2" charset="0"/>
                          <a:ea typeface="ADLaM Display" panose="02010000000000000000" pitchFamily="2" charset="0"/>
                          <a:cs typeface="ADLaM Display" panose="02010000000000000000" pitchFamily="2" charset="0"/>
                        </a:rPr>
                        <a:t>Connecting to multiple data sources</a:t>
                      </a:r>
                    </a:p>
                  </a:txBody>
                  <a:tcPr>
                    <a:lnR w="12700" cap="flat" cmpd="sng" algn="ctr">
                      <a:solidFill>
                        <a:schemeClr val="tx1"/>
                      </a:solidFill>
                      <a:prstDash val="solid"/>
                      <a:round/>
                      <a:headEnd type="none" w="med" len="med"/>
                      <a:tailEnd type="none" w="med" len="med"/>
                    </a:lnR>
                    <a:solidFill>
                      <a:schemeClr val="bg1"/>
                    </a:solidFill>
                  </a:tcPr>
                </a:tc>
                <a:tc>
                  <a:txBody>
                    <a:bodyPr/>
                    <a:lstStyle/>
                    <a:p>
                      <a:endParaRPr lang="en-US" sz="1200" dirty="0">
                        <a:latin typeface="ADLaM Display" panose="02010000000000000000" pitchFamily="2" charset="0"/>
                        <a:ea typeface="ADLaM Display" panose="02010000000000000000" pitchFamily="2" charset="0"/>
                        <a:cs typeface="ADLaM Display" panose="0201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dirty="0">
                        <a:latin typeface="ADLaM Display" panose="02010000000000000000" pitchFamily="2" charset="0"/>
                        <a:ea typeface="ADLaM Display" panose="02010000000000000000" pitchFamily="2" charset="0"/>
                        <a:cs typeface="ADLaM Display" panose="0201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06448273"/>
                  </a:ext>
                </a:extLst>
              </a:tr>
              <a:tr h="689320">
                <a:tc>
                  <a:txBody>
                    <a:bodyPr/>
                    <a:lstStyle/>
                    <a:p>
                      <a:r>
                        <a:rPr lang="en-US" sz="2000" b="1" dirty="0">
                          <a:latin typeface="ADLaM Display" panose="02010000000000000000" pitchFamily="2" charset="0"/>
                          <a:ea typeface="ADLaM Display" panose="02010000000000000000" pitchFamily="2" charset="0"/>
                          <a:cs typeface="ADLaM Display" panose="02010000000000000000" pitchFamily="2" charset="0"/>
                        </a:rPr>
                        <a:t>Data Transformation using Query Editor</a:t>
                      </a:r>
                    </a:p>
                  </a:txBody>
                  <a:tcPr>
                    <a:lnR w="12700" cap="flat" cmpd="sng" algn="ctr">
                      <a:solidFill>
                        <a:schemeClr val="tx1"/>
                      </a:solidFill>
                      <a:prstDash val="solid"/>
                      <a:round/>
                      <a:headEnd type="none" w="med" len="med"/>
                      <a:tailEnd type="none" w="med" len="med"/>
                    </a:lnR>
                    <a:solidFill>
                      <a:schemeClr val="bg1"/>
                    </a:solidFill>
                  </a:tcPr>
                </a:tc>
                <a:tc>
                  <a:txBody>
                    <a:bodyPr/>
                    <a:lstStyle/>
                    <a:p>
                      <a:endParaRPr lang="en-US" sz="1200" dirty="0">
                        <a:latin typeface="ADLaM Display" panose="02010000000000000000" pitchFamily="2" charset="0"/>
                        <a:ea typeface="ADLaM Display" panose="02010000000000000000" pitchFamily="2" charset="0"/>
                        <a:cs typeface="ADLaM Display" panose="0201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dirty="0">
                        <a:latin typeface="ADLaM Display" panose="02010000000000000000" pitchFamily="2" charset="0"/>
                        <a:ea typeface="ADLaM Display" panose="02010000000000000000" pitchFamily="2" charset="0"/>
                        <a:cs typeface="ADLaM Display" panose="0201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68088137"/>
                  </a:ext>
                </a:extLst>
              </a:tr>
              <a:tr h="508286">
                <a:tc>
                  <a:txBody>
                    <a:bodyPr/>
                    <a:lstStyle/>
                    <a:p>
                      <a:r>
                        <a:rPr lang="en-US" sz="2000" b="1" dirty="0">
                          <a:latin typeface="ADLaM Display" panose="02010000000000000000" pitchFamily="2" charset="0"/>
                          <a:ea typeface="ADLaM Display" panose="02010000000000000000" pitchFamily="2" charset="0"/>
                          <a:cs typeface="ADLaM Display" panose="02010000000000000000" pitchFamily="2" charset="0"/>
                        </a:rPr>
                        <a:t>Data Modeling</a:t>
                      </a:r>
                    </a:p>
                  </a:txBody>
                  <a:tcPr>
                    <a:lnR w="12700" cap="flat" cmpd="sng" algn="ctr">
                      <a:solidFill>
                        <a:schemeClr val="tx1"/>
                      </a:solidFill>
                      <a:prstDash val="solid"/>
                      <a:round/>
                      <a:headEnd type="none" w="med" len="med"/>
                      <a:tailEnd type="none" w="med" len="med"/>
                    </a:lnR>
                    <a:solidFill>
                      <a:schemeClr val="bg1"/>
                    </a:solidFill>
                  </a:tcPr>
                </a:tc>
                <a:tc>
                  <a:txBody>
                    <a:bodyPr/>
                    <a:lstStyle/>
                    <a:p>
                      <a:endParaRPr lang="en-US" sz="1200" dirty="0">
                        <a:latin typeface="ADLaM Display" panose="02010000000000000000" pitchFamily="2" charset="0"/>
                        <a:ea typeface="ADLaM Display" panose="02010000000000000000" pitchFamily="2" charset="0"/>
                        <a:cs typeface="ADLaM Display" panose="0201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dirty="0">
                        <a:latin typeface="ADLaM Display" panose="02010000000000000000" pitchFamily="2" charset="0"/>
                        <a:ea typeface="ADLaM Display" panose="02010000000000000000" pitchFamily="2" charset="0"/>
                        <a:cs typeface="ADLaM Display" panose="0201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58748852"/>
                  </a:ext>
                </a:extLst>
              </a:tr>
              <a:tr h="689320">
                <a:tc>
                  <a:txBody>
                    <a:bodyPr/>
                    <a:lstStyle/>
                    <a:p>
                      <a:r>
                        <a:rPr lang="en-US" sz="2000" b="1" dirty="0">
                          <a:latin typeface="ADLaM Display" panose="02010000000000000000" pitchFamily="2" charset="0"/>
                          <a:ea typeface="ADLaM Display" panose="02010000000000000000" pitchFamily="2" charset="0"/>
                          <a:cs typeface="ADLaM Display" panose="02010000000000000000" pitchFamily="2" charset="0"/>
                        </a:rPr>
                        <a:t>Creating Calculated Columns &amp; Measures</a:t>
                      </a:r>
                    </a:p>
                  </a:txBody>
                  <a:tcPr>
                    <a:lnR w="12700" cap="flat" cmpd="sng" algn="ctr">
                      <a:solidFill>
                        <a:schemeClr val="tx1"/>
                      </a:solidFill>
                      <a:prstDash val="solid"/>
                      <a:round/>
                      <a:headEnd type="none" w="med" len="med"/>
                      <a:tailEnd type="none" w="med" len="med"/>
                    </a:lnR>
                    <a:solidFill>
                      <a:schemeClr val="bg1"/>
                    </a:solidFill>
                  </a:tcPr>
                </a:tc>
                <a:tc>
                  <a:txBody>
                    <a:bodyPr/>
                    <a:lstStyle/>
                    <a:p>
                      <a:endParaRPr lang="en-US" sz="1200" dirty="0">
                        <a:latin typeface="ADLaM Display" panose="02010000000000000000" pitchFamily="2" charset="0"/>
                        <a:ea typeface="ADLaM Display" panose="02010000000000000000" pitchFamily="2" charset="0"/>
                        <a:cs typeface="ADLaM Display" panose="0201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dirty="0">
                        <a:latin typeface="ADLaM Display" panose="02010000000000000000" pitchFamily="2" charset="0"/>
                        <a:ea typeface="ADLaM Display" panose="02010000000000000000" pitchFamily="2" charset="0"/>
                        <a:cs typeface="ADLaM Display" panose="0201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55453811"/>
                  </a:ext>
                </a:extLst>
              </a:tr>
              <a:tr h="508286">
                <a:tc>
                  <a:txBody>
                    <a:bodyPr/>
                    <a:lstStyle/>
                    <a:p>
                      <a:r>
                        <a:rPr lang="en-US" sz="2000" b="1" dirty="0">
                          <a:latin typeface="ADLaM Display" panose="02010000000000000000" pitchFamily="2" charset="0"/>
                          <a:ea typeface="ADLaM Display" panose="02010000000000000000" pitchFamily="2" charset="0"/>
                          <a:cs typeface="ADLaM Display" panose="02010000000000000000" pitchFamily="2" charset="0"/>
                        </a:rPr>
                        <a:t>Creating Visuals &amp; Reports</a:t>
                      </a:r>
                    </a:p>
                  </a:txBody>
                  <a:tcPr>
                    <a:lnR w="12700" cap="flat" cmpd="sng" algn="ctr">
                      <a:solidFill>
                        <a:schemeClr val="tx1"/>
                      </a:solidFill>
                      <a:prstDash val="solid"/>
                      <a:round/>
                      <a:headEnd type="none" w="med" len="med"/>
                      <a:tailEnd type="none" w="med" len="med"/>
                    </a:lnR>
                    <a:solidFill>
                      <a:schemeClr val="bg1"/>
                    </a:solidFill>
                  </a:tcPr>
                </a:tc>
                <a:tc>
                  <a:txBody>
                    <a:bodyPr/>
                    <a:lstStyle/>
                    <a:p>
                      <a:endParaRPr lang="en-US" sz="1200" dirty="0">
                        <a:latin typeface="ADLaM Display" panose="02010000000000000000" pitchFamily="2" charset="0"/>
                        <a:ea typeface="ADLaM Display" panose="02010000000000000000" pitchFamily="2" charset="0"/>
                        <a:cs typeface="ADLaM Display" panose="0201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dirty="0">
                        <a:latin typeface="ADLaM Display" panose="02010000000000000000" pitchFamily="2" charset="0"/>
                        <a:ea typeface="ADLaM Display" panose="02010000000000000000" pitchFamily="2" charset="0"/>
                        <a:cs typeface="ADLaM Display" panose="0201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17275736"/>
                  </a:ext>
                </a:extLst>
              </a:tr>
              <a:tr h="508286">
                <a:tc>
                  <a:txBody>
                    <a:bodyPr/>
                    <a:lstStyle/>
                    <a:p>
                      <a:r>
                        <a:rPr lang="en-US" sz="2000" b="1" dirty="0">
                          <a:latin typeface="ADLaM Display" panose="02010000000000000000" pitchFamily="2" charset="0"/>
                          <a:ea typeface="ADLaM Display" panose="02010000000000000000" pitchFamily="2" charset="0"/>
                          <a:cs typeface="ADLaM Display" panose="02010000000000000000" pitchFamily="2" charset="0"/>
                        </a:rPr>
                        <a:t>Creating &amp; Sharing Dashboard</a:t>
                      </a:r>
                    </a:p>
                  </a:txBody>
                  <a:tcPr>
                    <a:lnR w="12700" cap="flat" cmpd="sng" algn="ctr">
                      <a:solidFill>
                        <a:schemeClr val="tx1"/>
                      </a:solidFill>
                      <a:prstDash val="solid"/>
                      <a:round/>
                      <a:headEnd type="none" w="med" len="med"/>
                      <a:tailEnd type="none" w="med" len="med"/>
                    </a:lnR>
                    <a:solidFill>
                      <a:schemeClr val="bg1"/>
                    </a:solidFill>
                  </a:tcPr>
                </a:tc>
                <a:tc>
                  <a:txBody>
                    <a:bodyPr/>
                    <a:lstStyle/>
                    <a:p>
                      <a:endParaRPr lang="en-US" sz="1200" dirty="0">
                        <a:latin typeface="ADLaM Display" panose="02010000000000000000" pitchFamily="2" charset="0"/>
                        <a:ea typeface="ADLaM Display" panose="02010000000000000000" pitchFamily="2" charset="0"/>
                        <a:cs typeface="ADLaM Display" panose="0201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dirty="0">
                        <a:latin typeface="ADLaM Display" panose="02010000000000000000" pitchFamily="2" charset="0"/>
                        <a:ea typeface="ADLaM Display" panose="02010000000000000000" pitchFamily="2" charset="0"/>
                        <a:cs typeface="ADLaM Display" panose="0201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22297979"/>
                  </a:ext>
                </a:extLst>
              </a:tr>
              <a:tr h="689320">
                <a:tc>
                  <a:txBody>
                    <a:bodyPr/>
                    <a:lstStyle/>
                    <a:p>
                      <a:r>
                        <a:rPr lang="en-US" sz="2000" b="1">
                          <a:latin typeface="ADLaM Display" panose="02010000000000000000" pitchFamily="2" charset="0"/>
                          <a:ea typeface="ADLaM Display" panose="02010000000000000000" pitchFamily="2" charset="0"/>
                          <a:cs typeface="ADLaM Display" panose="02010000000000000000" pitchFamily="2" charset="0"/>
                        </a:rPr>
                        <a:t>Creating &amp; </a:t>
                      </a:r>
                      <a:r>
                        <a:rPr lang="en-US" sz="2000" b="1" dirty="0">
                          <a:latin typeface="ADLaM Display" panose="02010000000000000000" pitchFamily="2" charset="0"/>
                          <a:ea typeface="ADLaM Display" panose="02010000000000000000" pitchFamily="2" charset="0"/>
                          <a:cs typeface="ADLaM Display" panose="02010000000000000000" pitchFamily="2" charset="0"/>
                        </a:rPr>
                        <a:t>managing Workspace Apps</a:t>
                      </a:r>
                    </a:p>
                  </a:txBody>
                  <a:tcPr>
                    <a:lnR w="12700" cap="flat" cmpd="sng" algn="ctr">
                      <a:solidFill>
                        <a:schemeClr val="tx1"/>
                      </a:solidFill>
                      <a:prstDash val="solid"/>
                      <a:round/>
                      <a:headEnd type="none" w="med" len="med"/>
                      <a:tailEnd type="none" w="med" len="med"/>
                    </a:lnR>
                    <a:solidFill>
                      <a:schemeClr val="bg1"/>
                    </a:solidFill>
                  </a:tcPr>
                </a:tc>
                <a:tc>
                  <a:txBody>
                    <a:bodyPr/>
                    <a:lstStyle/>
                    <a:p>
                      <a:endParaRPr lang="en-US" sz="1200" dirty="0">
                        <a:latin typeface="ADLaM Display" panose="02010000000000000000" pitchFamily="2" charset="0"/>
                        <a:ea typeface="ADLaM Display" panose="02010000000000000000" pitchFamily="2" charset="0"/>
                        <a:cs typeface="ADLaM Display" panose="0201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dirty="0">
                        <a:latin typeface="ADLaM Display" panose="02010000000000000000" pitchFamily="2" charset="0"/>
                        <a:ea typeface="ADLaM Display" panose="02010000000000000000" pitchFamily="2" charset="0"/>
                        <a:cs typeface="ADLaM Display" panose="0201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43777314"/>
                  </a:ext>
                </a:extLst>
              </a:tr>
              <a:tr h="508286">
                <a:tc>
                  <a:txBody>
                    <a:bodyPr/>
                    <a:lstStyle/>
                    <a:p>
                      <a:r>
                        <a:rPr lang="en-US" sz="2000" b="1" dirty="0">
                          <a:latin typeface="ADLaM Display" panose="02010000000000000000" pitchFamily="2" charset="0"/>
                          <a:ea typeface="ADLaM Display" panose="02010000000000000000" pitchFamily="2" charset="0"/>
                          <a:cs typeface="ADLaM Display" panose="02010000000000000000" pitchFamily="2" charset="0"/>
                        </a:rPr>
                        <a:t>Sharing Reports</a:t>
                      </a:r>
                    </a:p>
                  </a:txBody>
                  <a:tcPr>
                    <a:lnR w="12700" cap="flat" cmpd="sng" algn="ctr">
                      <a:solidFill>
                        <a:schemeClr val="tx1"/>
                      </a:solidFill>
                      <a:prstDash val="solid"/>
                      <a:round/>
                      <a:headEnd type="none" w="med" len="med"/>
                      <a:tailEnd type="none" w="med" len="med"/>
                    </a:lnR>
                    <a:solidFill>
                      <a:schemeClr val="bg1"/>
                    </a:solidFill>
                  </a:tcPr>
                </a:tc>
                <a:tc>
                  <a:txBody>
                    <a:bodyPr/>
                    <a:lstStyle/>
                    <a:p>
                      <a:endParaRPr lang="en-US" sz="1200" dirty="0">
                        <a:latin typeface="ADLaM Display" panose="02010000000000000000" pitchFamily="2" charset="0"/>
                        <a:ea typeface="ADLaM Display" panose="02010000000000000000" pitchFamily="2" charset="0"/>
                        <a:cs typeface="ADLaM Display" panose="0201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dirty="0">
                        <a:latin typeface="ADLaM Display" panose="02010000000000000000" pitchFamily="2" charset="0"/>
                        <a:ea typeface="ADLaM Display" panose="02010000000000000000" pitchFamily="2" charset="0"/>
                        <a:cs typeface="ADLaM Display" panose="0201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90247522"/>
                  </a:ext>
                </a:extLst>
              </a:tr>
            </a:tbl>
          </a:graphicData>
        </a:graphic>
      </p:graphicFrame>
      <p:grpSp>
        <p:nvGrpSpPr>
          <p:cNvPr id="4" name="Group 3">
            <a:extLst>
              <a:ext uri="{FF2B5EF4-FFF2-40B4-BE49-F238E27FC236}">
                <a16:creationId xmlns:a16="http://schemas.microsoft.com/office/drawing/2014/main" id="{46745D9E-6EE5-710A-0668-5B357782B2B0}"/>
              </a:ext>
            </a:extLst>
          </p:cNvPr>
          <p:cNvGrpSpPr/>
          <p:nvPr/>
        </p:nvGrpSpPr>
        <p:grpSpPr>
          <a:xfrm>
            <a:off x="7153854" y="2145633"/>
            <a:ext cx="3396915" cy="4411075"/>
            <a:chOff x="6910139" y="2145633"/>
            <a:chExt cx="3396915" cy="4411075"/>
          </a:xfrm>
        </p:grpSpPr>
        <p:pic>
          <p:nvPicPr>
            <p:cNvPr id="6" name="Picture 5">
              <a:extLst>
                <a:ext uri="{FF2B5EF4-FFF2-40B4-BE49-F238E27FC236}">
                  <a16:creationId xmlns:a16="http://schemas.microsoft.com/office/drawing/2014/main" id="{491F6AAB-2B5A-B465-8C59-8298B5F87A4C}"/>
                </a:ext>
              </a:extLst>
            </p:cNvPr>
            <p:cNvPicPr>
              <a:picLocks noChangeAspect="1"/>
            </p:cNvPicPr>
            <p:nvPr/>
          </p:nvPicPr>
          <p:blipFill>
            <a:blip r:embed="rId2"/>
            <a:stretch>
              <a:fillRect/>
            </a:stretch>
          </p:blipFill>
          <p:spPr>
            <a:xfrm>
              <a:off x="6910139" y="2145633"/>
              <a:ext cx="292768" cy="292768"/>
            </a:xfrm>
            <a:prstGeom prst="rect">
              <a:avLst/>
            </a:prstGeom>
          </p:spPr>
        </p:pic>
        <p:pic>
          <p:nvPicPr>
            <p:cNvPr id="7" name="Picture 6">
              <a:extLst>
                <a:ext uri="{FF2B5EF4-FFF2-40B4-BE49-F238E27FC236}">
                  <a16:creationId xmlns:a16="http://schemas.microsoft.com/office/drawing/2014/main" id="{5C6AE82D-F69A-05E8-2A82-75EFE035F468}"/>
                </a:ext>
              </a:extLst>
            </p:cNvPr>
            <p:cNvPicPr>
              <a:picLocks noChangeAspect="1"/>
            </p:cNvPicPr>
            <p:nvPr/>
          </p:nvPicPr>
          <p:blipFill>
            <a:blip r:embed="rId2"/>
            <a:stretch>
              <a:fillRect/>
            </a:stretch>
          </p:blipFill>
          <p:spPr>
            <a:xfrm>
              <a:off x="6910139" y="2767267"/>
              <a:ext cx="292768" cy="292768"/>
            </a:xfrm>
            <a:prstGeom prst="rect">
              <a:avLst/>
            </a:prstGeom>
          </p:spPr>
        </p:pic>
        <p:pic>
          <p:nvPicPr>
            <p:cNvPr id="8" name="Picture 7">
              <a:extLst>
                <a:ext uri="{FF2B5EF4-FFF2-40B4-BE49-F238E27FC236}">
                  <a16:creationId xmlns:a16="http://schemas.microsoft.com/office/drawing/2014/main" id="{BEE51A0F-F5CC-FBA6-7681-FD724C76130B}"/>
                </a:ext>
              </a:extLst>
            </p:cNvPr>
            <p:cNvPicPr>
              <a:picLocks noChangeAspect="1"/>
            </p:cNvPicPr>
            <p:nvPr/>
          </p:nvPicPr>
          <p:blipFill>
            <a:blip r:embed="rId2"/>
            <a:stretch>
              <a:fillRect/>
            </a:stretch>
          </p:blipFill>
          <p:spPr>
            <a:xfrm>
              <a:off x="6910139" y="3388901"/>
              <a:ext cx="292768" cy="292768"/>
            </a:xfrm>
            <a:prstGeom prst="rect">
              <a:avLst/>
            </a:prstGeom>
          </p:spPr>
        </p:pic>
        <p:pic>
          <p:nvPicPr>
            <p:cNvPr id="9" name="Picture 8">
              <a:extLst>
                <a:ext uri="{FF2B5EF4-FFF2-40B4-BE49-F238E27FC236}">
                  <a16:creationId xmlns:a16="http://schemas.microsoft.com/office/drawing/2014/main" id="{091759B2-0A61-84B9-E30B-440A29CCC44D}"/>
                </a:ext>
              </a:extLst>
            </p:cNvPr>
            <p:cNvPicPr>
              <a:picLocks noChangeAspect="1"/>
            </p:cNvPicPr>
            <p:nvPr/>
          </p:nvPicPr>
          <p:blipFill>
            <a:blip r:embed="rId2"/>
            <a:stretch>
              <a:fillRect/>
            </a:stretch>
          </p:blipFill>
          <p:spPr>
            <a:xfrm>
              <a:off x="6910139" y="3970436"/>
              <a:ext cx="292768" cy="292768"/>
            </a:xfrm>
            <a:prstGeom prst="rect">
              <a:avLst/>
            </a:prstGeom>
          </p:spPr>
        </p:pic>
        <p:pic>
          <p:nvPicPr>
            <p:cNvPr id="10" name="Picture 9">
              <a:extLst>
                <a:ext uri="{FF2B5EF4-FFF2-40B4-BE49-F238E27FC236}">
                  <a16:creationId xmlns:a16="http://schemas.microsoft.com/office/drawing/2014/main" id="{48CF6414-E9DA-52FD-6FE9-8BE2DF2F31C1}"/>
                </a:ext>
              </a:extLst>
            </p:cNvPr>
            <p:cNvPicPr>
              <a:picLocks noChangeAspect="1"/>
            </p:cNvPicPr>
            <p:nvPr/>
          </p:nvPicPr>
          <p:blipFill>
            <a:blip r:embed="rId2"/>
            <a:stretch>
              <a:fillRect/>
            </a:stretch>
          </p:blipFill>
          <p:spPr>
            <a:xfrm>
              <a:off x="6910139" y="4558127"/>
              <a:ext cx="292768" cy="292768"/>
            </a:xfrm>
            <a:prstGeom prst="rect">
              <a:avLst/>
            </a:prstGeom>
          </p:spPr>
        </p:pic>
        <p:pic>
          <p:nvPicPr>
            <p:cNvPr id="11" name="Picture 10">
              <a:extLst>
                <a:ext uri="{FF2B5EF4-FFF2-40B4-BE49-F238E27FC236}">
                  <a16:creationId xmlns:a16="http://schemas.microsoft.com/office/drawing/2014/main" id="{32E49504-25F9-6BF6-0975-059F4819D888}"/>
                </a:ext>
              </a:extLst>
            </p:cNvPr>
            <p:cNvPicPr>
              <a:picLocks noChangeAspect="1"/>
            </p:cNvPicPr>
            <p:nvPr/>
          </p:nvPicPr>
          <p:blipFill>
            <a:blip r:embed="rId2"/>
            <a:stretch>
              <a:fillRect/>
            </a:stretch>
          </p:blipFill>
          <p:spPr>
            <a:xfrm>
              <a:off x="10014286" y="2145633"/>
              <a:ext cx="292768" cy="292768"/>
            </a:xfrm>
            <a:prstGeom prst="rect">
              <a:avLst/>
            </a:prstGeom>
          </p:spPr>
        </p:pic>
        <p:pic>
          <p:nvPicPr>
            <p:cNvPr id="12" name="Picture 11">
              <a:extLst>
                <a:ext uri="{FF2B5EF4-FFF2-40B4-BE49-F238E27FC236}">
                  <a16:creationId xmlns:a16="http://schemas.microsoft.com/office/drawing/2014/main" id="{A75BB1B8-0AF4-F5F0-EEA9-A50C16604CA8}"/>
                </a:ext>
              </a:extLst>
            </p:cNvPr>
            <p:cNvPicPr>
              <a:picLocks noChangeAspect="1"/>
            </p:cNvPicPr>
            <p:nvPr/>
          </p:nvPicPr>
          <p:blipFill>
            <a:blip r:embed="rId2"/>
            <a:stretch>
              <a:fillRect/>
            </a:stretch>
          </p:blipFill>
          <p:spPr>
            <a:xfrm>
              <a:off x="10014286" y="6239023"/>
              <a:ext cx="292768" cy="292768"/>
            </a:xfrm>
            <a:prstGeom prst="rect">
              <a:avLst/>
            </a:prstGeom>
          </p:spPr>
        </p:pic>
        <p:pic>
          <p:nvPicPr>
            <p:cNvPr id="13" name="Picture 12">
              <a:extLst>
                <a:ext uri="{FF2B5EF4-FFF2-40B4-BE49-F238E27FC236}">
                  <a16:creationId xmlns:a16="http://schemas.microsoft.com/office/drawing/2014/main" id="{895E9B27-D1B0-2F5D-B1C2-C0CF39A0BF6F}"/>
                </a:ext>
              </a:extLst>
            </p:cNvPr>
            <p:cNvPicPr>
              <a:picLocks noChangeAspect="1"/>
            </p:cNvPicPr>
            <p:nvPr/>
          </p:nvPicPr>
          <p:blipFill>
            <a:blip r:embed="rId2"/>
            <a:stretch>
              <a:fillRect/>
            </a:stretch>
          </p:blipFill>
          <p:spPr>
            <a:xfrm>
              <a:off x="10014286" y="5679686"/>
              <a:ext cx="292768" cy="292768"/>
            </a:xfrm>
            <a:prstGeom prst="rect">
              <a:avLst/>
            </a:prstGeom>
          </p:spPr>
        </p:pic>
        <p:pic>
          <p:nvPicPr>
            <p:cNvPr id="14" name="Picture 13">
              <a:extLst>
                <a:ext uri="{FF2B5EF4-FFF2-40B4-BE49-F238E27FC236}">
                  <a16:creationId xmlns:a16="http://schemas.microsoft.com/office/drawing/2014/main" id="{5AFAF8F8-159D-67F8-54F6-1DAE3E9550C6}"/>
                </a:ext>
              </a:extLst>
            </p:cNvPr>
            <p:cNvPicPr>
              <a:picLocks noChangeAspect="1"/>
            </p:cNvPicPr>
            <p:nvPr/>
          </p:nvPicPr>
          <p:blipFill>
            <a:blip r:embed="rId2"/>
            <a:stretch>
              <a:fillRect/>
            </a:stretch>
          </p:blipFill>
          <p:spPr>
            <a:xfrm>
              <a:off x="10014286" y="5041233"/>
              <a:ext cx="292768" cy="292768"/>
            </a:xfrm>
            <a:prstGeom prst="rect">
              <a:avLst/>
            </a:prstGeom>
          </p:spPr>
        </p:pic>
        <p:pic>
          <p:nvPicPr>
            <p:cNvPr id="15" name="Picture 14">
              <a:extLst>
                <a:ext uri="{FF2B5EF4-FFF2-40B4-BE49-F238E27FC236}">
                  <a16:creationId xmlns:a16="http://schemas.microsoft.com/office/drawing/2014/main" id="{4B25DC0D-949C-3E22-AB24-7F557DC3FDF0}"/>
                </a:ext>
              </a:extLst>
            </p:cNvPr>
            <p:cNvPicPr>
              <a:picLocks noChangeAspect="1"/>
            </p:cNvPicPr>
            <p:nvPr/>
          </p:nvPicPr>
          <p:blipFill>
            <a:blip r:embed="rId2"/>
            <a:stretch>
              <a:fillRect/>
            </a:stretch>
          </p:blipFill>
          <p:spPr>
            <a:xfrm>
              <a:off x="10014286" y="4505965"/>
              <a:ext cx="292768" cy="292768"/>
            </a:xfrm>
            <a:prstGeom prst="rect">
              <a:avLst/>
            </a:prstGeom>
          </p:spPr>
        </p:pic>
        <p:pic>
          <p:nvPicPr>
            <p:cNvPr id="16" name="Picture 15">
              <a:extLst>
                <a:ext uri="{FF2B5EF4-FFF2-40B4-BE49-F238E27FC236}">
                  <a16:creationId xmlns:a16="http://schemas.microsoft.com/office/drawing/2014/main" id="{51CE55F5-CC7C-8DC0-4176-8AE0624A438C}"/>
                </a:ext>
              </a:extLst>
            </p:cNvPr>
            <p:cNvPicPr>
              <a:picLocks noChangeAspect="1"/>
            </p:cNvPicPr>
            <p:nvPr/>
          </p:nvPicPr>
          <p:blipFill>
            <a:blip r:embed="rId3"/>
            <a:stretch>
              <a:fillRect/>
            </a:stretch>
          </p:blipFill>
          <p:spPr>
            <a:xfrm>
              <a:off x="6910139" y="5041233"/>
              <a:ext cx="292768" cy="292768"/>
            </a:xfrm>
            <a:prstGeom prst="rect">
              <a:avLst/>
            </a:prstGeom>
          </p:spPr>
        </p:pic>
        <p:pic>
          <p:nvPicPr>
            <p:cNvPr id="17" name="Picture 16">
              <a:extLst>
                <a:ext uri="{FF2B5EF4-FFF2-40B4-BE49-F238E27FC236}">
                  <a16:creationId xmlns:a16="http://schemas.microsoft.com/office/drawing/2014/main" id="{7DD948C5-02A8-82B8-3A5C-2D9B0E0D83D6}"/>
                </a:ext>
              </a:extLst>
            </p:cNvPr>
            <p:cNvPicPr>
              <a:picLocks noChangeAspect="1"/>
            </p:cNvPicPr>
            <p:nvPr/>
          </p:nvPicPr>
          <p:blipFill>
            <a:blip r:embed="rId3"/>
            <a:stretch>
              <a:fillRect/>
            </a:stretch>
          </p:blipFill>
          <p:spPr>
            <a:xfrm>
              <a:off x="6910139" y="5679686"/>
              <a:ext cx="292768" cy="292768"/>
            </a:xfrm>
            <a:prstGeom prst="rect">
              <a:avLst/>
            </a:prstGeom>
          </p:spPr>
        </p:pic>
        <p:pic>
          <p:nvPicPr>
            <p:cNvPr id="18" name="Picture 17">
              <a:extLst>
                <a:ext uri="{FF2B5EF4-FFF2-40B4-BE49-F238E27FC236}">
                  <a16:creationId xmlns:a16="http://schemas.microsoft.com/office/drawing/2014/main" id="{A3DE125F-D636-614C-936A-4DA851A21689}"/>
                </a:ext>
              </a:extLst>
            </p:cNvPr>
            <p:cNvPicPr>
              <a:picLocks noChangeAspect="1"/>
            </p:cNvPicPr>
            <p:nvPr/>
          </p:nvPicPr>
          <p:blipFill>
            <a:blip r:embed="rId3"/>
            <a:stretch>
              <a:fillRect/>
            </a:stretch>
          </p:blipFill>
          <p:spPr>
            <a:xfrm>
              <a:off x="6910141" y="6263940"/>
              <a:ext cx="292768" cy="292768"/>
            </a:xfrm>
            <a:prstGeom prst="rect">
              <a:avLst/>
            </a:prstGeom>
          </p:spPr>
        </p:pic>
        <p:pic>
          <p:nvPicPr>
            <p:cNvPr id="19" name="Picture 18">
              <a:extLst>
                <a:ext uri="{FF2B5EF4-FFF2-40B4-BE49-F238E27FC236}">
                  <a16:creationId xmlns:a16="http://schemas.microsoft.com/office/drawing/2014/main" id="{29E373F6-2138-AB39-16F6-5B768F9C04AE}"/>
                </a:ext>
              </a:extLst>
            </p:cNvPr>
            <p:cNvPicPr>
              <a:picLocks noChangeAspect="1"/>
            </p:cNvPicPr>
            <p:nvPr/>
          </p:nvPicPr>
          <p:blipFill>
            <a:blip r:embed="rId3"/>
            <a:stretch>
              <a:fillRect/>
            </a:stretch>
          </p:blipFill>
          <p:spPr>
            <a:xfrm>
              <a:off x="10014286" y="2794049"/>
              <a:ext cx="292768" cy="292768"/>
            </a:xfrm>
            <a:prstGeom prst="rect">
              <a:avLst/>
            </a:prstGeom>
          </p:spPr>
        </p:pic>
        <p:pic>
          <p:nvPicPr>
            <p:cNvPr id="20" name="Picture 19">
              <a:extLst>
                <a:ext uri="{FF2B5EF4-FFF2-40B4-BE49-F238E27FC236}">
                  <a16:creationId xmlns:a16="http://schemas.microsoft.com/office/drawing/2014/main" id="{9CDE9807-2EBF-993B-3825-E4302A5E3354}"/>
                </a:ext>
              </a:extLst>
            </p:cNvPr>
            <p:cNvPicPr>
              <a:picLocks noChangeAspect="1"/>
            </p:cNvPicPr>
            <p:nvPr/>
          </p:nvPicPr>
          <p:blipFill>
            <a:blip r:embed="rId3"/>
            <a:stretch>
              <a:fillRect/>
            </a:stretch>
          </p:blipFill>
          <p:spPr>
            <a:xfrm>
              <a:off x="10014286" y="3363349"/>
              <a:ext cx="292768" cy="292768"/>
            </a:xfrm>
            <a:prstGeom prst="rect">
              <a:avLst/>
            </a:prstGeom>
          </p:spPr>
        </p:pic>
        <p:pic>
          <p:nvPicPr>
            <p:cNvPr id="21" name="Picture 20">
              <a:extLst>
                <a:ext uri="{FF2B5EF4-FFF2-40B4-BE49-F238E27FC236}">
                  <a16:creationId xmlns:a16="http://schemas.microsoft.com/office/drawing/2014/main" id="{34A39F39-0213-06CA-1B85-02618E28666D}"/>
                </a:ext>
              </a:extLst>
            </p:cNvPr>
            <p:cNvPicPr>
              <a:picLocks noChangeAspect="1"/>
            </p:cNvPicPr>
            <p:nvPr/>
          </p:nvPicPr>
          <p:blipFill>
            <a:blip r:embed="rId3"/>
            <a:stretch>
              <a:fillRect/>
            </a:stretch>
          </p:blipFill>
          <p:spPr>
            <a:xfrm>
              <a:off x="10014286" y="3980301"/>
              <a:ext cx="292768" cy="292768"/>
            </a:xfrm>
            <a:prstGeom prst="rect">
              <a:avLst/>
            </a:prstGeom>
          </p:spPr>
        </p:pic>
      </p:grpSp>
    </p:spTree>
    <p:extLst>
      <p:ext uri="{BB962C8B-B14F-4D97-AF65-F5344CB8AC3E}">
        <p14:creationId xmlns:p14="http://schemas.microsoft.com/office/powerpoint/2010/main" val="19142245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45424-247B-91CE-97CE-56EC7E5E41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736EE5-4426-A923-F340-439A1762EB37}"/>
              </a:ext>
            </a:extLst>
          </p:cNvPr>
          <p:cNvSpPr>
            <a:spLocks noGrp="1"/>
          </p:cNvSpPr>
          <p:nvPr>
            <p:ph type="title"/>
          </p:nvPr>
        </p:nvSpPr>
        <p:spPr>
          <a:xfrm>
            <a:off x="1156920" y="715229"/>
            <a:ext cx="9393848" cy="712765"/>
          </a:xfrm>
        </p:spPr>
        <p:txBody>
          <a:bodyPr/>
          <a:lstStyle/>
          <a:p>
            <a:r>
              <a:rPr lang="en-US" dirty="0">
                <a:latin typeface="ADLaM Display" panose="02010000000000000000" pitchFamily="2" charset="0"/>
                <a:ea typeface="ADLaM Display" panose="02010000000000000000" pitchFamily="2" charset="0"/>
                <a:cs typeface="ADLaM Display" panose="02010000000000000000" pitchFamily="2" charset="0"/>
              </a:rPr>
              <a:t>Power BI </a:t>
            </a:r>
            <a:r>
              <a:rPr lang="en-US"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Architecture</a:t>
            </a:r>
          </a:p>
        </p:txBody>
      </p:sp>
      <p:pic>
        <p:nvPicPr>
          <p:cNvPr id="6" name="Picture 5" descr="A tablet with a blank screen">
            <a:extLst>
              <a:ext uri="{FF2B5EF4-FFF2-40B4-BE49-F238E27FC236}">
                <a16:creationId xmlns:a16="http://schemas.microsoft.com/office/drawing/2014/main" id="{9637ACCE-2A04-2DC0-5A70-007BB9F3818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00561" y="793060"/>
            <a:ext cx="1357618" cy="1927064"/>
          </a:xfrm>
          <a:prstGeom prst="rect">
            <a:avLst/>
          </a:prstGeom>
        </p:spPr>
      </p:pic>
      <p:grpSp>
        <p:nvGrpSpPr>
          <p:cNvPr id="8" name="Group 7">
            <a:extLst>
              <a:ext uri="{FF2B5EF4-FFF2-40B4-BE49-F238E27FC236}">
                <a16:creationId xmlns:a16="http://schemas.microsoft.com/office/drawing/2014/main" id="{D331FBAD-9FD6-2965-4866-06E8ED714532}"/>
              </a:ext>
            </a:extLst>
          </p:cNvPr>
          <p:cNvGrpSpPr/>
          <p:nvPr/>
        </p:nvGrpSpPr>
        <p:grpSpPr>
          <a:xfrm>
            <a:off x="210601" y="1140108"/>
            <a:ext cx="11770798" cy="5717892"/>
            <a:chOff x="143510" y="769459"/>
            <a:chExt cx="11770798" cy="5717892"/>
          </a:xfrm>
        </p:grpSpPr>
        <p:pic>
          <p:nvPicPr>
            <p:cNvPr id="11" name="Picture 2" descr="Download Microsoft Excel Logo in SVG Vector or PNG File Format - Logo.wine">
              <a:extLst>
                <a:ext uri="{FF2B5EF4-FFF2-40B4-BE49-F238E27FC236}">
                  <a16:creationId xmlns:a16="http://schemas.microsoft.com/office/drawing/2014/main" id="{1793C86D-0727-F590-FAC3-2865A3C8ABB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1300" y="1689602"/>
              <a:ext cx="730250" cy="486833"/>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4" descr="Curso Introducción a Microsoft Sharepoint - Formadores IT">
              <a:extLst>
                <a:ext uri="{FF2B5EF4-FFF2-40B4-BE49-F238E27FC236}">
                  <a16:creationId xmlns:a16="http://schemas.microsoft.com/office/drawing/2014/main" id="{2A58F709-42AC-1FF7-D3A5-3CCAABC6C30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07390" y="1690209"/>
              <a:ext cx="1111250" cy="511175"/>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8" descr="Salesforce Logo and symbol, meaning, history, PNG, brand">
              <a:extLst>
                <a:ext uri="{FF2B5EF4-FFF2-40B4-BE49-F238E27FC236}">
                  <a16:creationId xmlns:a16="http://schemas.microsoft.com/office/drawing/2014/main" id="{08015EA3-966C-3F8F-2EBF-FDA28AC88F2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609409" y="1745058"/>
              <a:ext cx="572060" cy="375920"/>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0">
              <a:extLst>
                <a:ext uri="{FF2B5EF4-FFF2-40B4-BE49-F238E27FC236}">
                  <a16:creationId xmlns:a16="http://schemas.microsoft.com/office/drawing/2014/main" id="{3718036F-F759-3379-F63F-D7FC6D6169D1}"/>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41300" y="2176435"/>
              <a:ext cx="731201" cy="548794"/>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14" descr="Microsoft Azure - Wikipedia">
              <a:extLst>
                <a:ext uri="{FF2B5EF4-FFF2-40B4-BE49-F238E27FC236}">
                  <a16:creationId xmlns:a16="http://schemas.microsoft.com/office/drawing/2014/main" id="{99FA0984-8766-1689-F2BC-A5A339436DAF}"/>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71550" y="2201384"/>
              <a:ext cx="426720" cy="426720"/>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16">
              <a:extLst>
                <a:ext uri="{FF2B5EF4-FFF2-40B4-BE49-F238E27FC236}">
                  <a16:creationId xmlns:a16="http://schemas.microsoft.com/office/drawing/2014/main" id="{17E20533-7E32-E68D-AECA-DF376584FBF8}"/>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662430" y="2201384"/>
              <a:ext cx="426720" cy="426720"/>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Group 22">
              <a:extLst>
                <a:ext uri="{FF2B5EF4-FFF2-40B4-BE49-F238E27FC236}">
                  <a16:creationId xmlns:a16="http://schemas.microsoft.com/office/drawing/2014/main" id="{E436F3FC-50C3-97CC-1CA2-0B577FEF317B}"/>
                </a:ext>
              </a:extLst>
            </p:cNvPr>
            <p:cNvGrpSpPr/>
            <p:nvPr/>
          </p:nvGrpSpPr>
          <p:grpSpPr>
            <a:xfrm>
              <a:off x="143510" y="4048286"/>
              <a:ext cx="2239010" cy="2239010"/>
              <a:chOff x="143510" y="4048286"/>
              <a:chExt cx="2239010" cy="2239010"/>
            </a:xfrm>
          </p:grpSpPr>
          <p:pic>
            <p:nvPicPr>
              <p:cNvPr id="43" name="Picture 42" descr="A computer monitor with a white screen&#10;&#10;Description automatically generated">
                <a:extLst>
                  <a:ext uri="{FF2B5EF4-FFF2-40B4-BE49-F238E27FC236}">
                    <a16:creationId xmlns:a16="http://schemas.microsoft.com/office/drawing/2014/main" id="{B79039ED-2C3B-2309-3CBA-689F973F60B5}"/>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43510" y="4048286"/>
                <a:ext cx="2239010" cy="2239010"/>
              </a:xfrm>
              <a:prstGeom prst="rect">
                <a:avLst/>
              </a:prstGeom>
            </p:spPr>
          </p:pic>
          <p:pic>
            <p:nvPicPr>
              <p:cNvPr id="44" name="Picture 18" descr="Key features of Power BI Desktop that leave nothing to the imagination">
                <a:extLst>
                  <a:ext uri="{FF2B5EF4-FFF2-40B4-BE49-F238E27FC236}">
                    <a16:creationId xmlns:a16="http://schemas.microsoft.com/office/drawing/2014/main" id="{BCA2429A-FADB-F826-96C7-6CF812447940}"/>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365760" y="4428939"/>
                <a:ext cx="1815709" cy="1012834"/>
              </a:xfrm>
              <a:prstGeom prst="rect">
                <a:avLst/>
              </a:prstGeom>
              <a:noFill/>
              <a:extLst>
                <a:ext uri="{909E8E84-426E-40DD-AFC4-6F175D3DCCD1}">
                  <a14:hiddenFill xmlns:a14="http://schemas.microsoft.com/office/drawing/2010/main">
                    <a:solidFill>
                      <a:srgbClr val="FFFFFF"/>
                    </a:solidFill>
                  </a14:hiddenFill>
                </a:ext>
              </a:extLst>
            </p:spPr>
          </p:pic>
        </p:grpSp>
        <p:sp>
          <p:nvSpPr>
            <p:cNvPr id="24" name="TextBox 23">
              <a:extLst>
                <a:ext uri="{FF2B5EF4-FFF2-40B4-BE49-F238E27FC236}">
                  <a16:creationId xmlns:a16="http://schemas.microsoft.com/office/drawing/2014/main" id="{9BAC762D-A415-067B-FD1A-669979D91DB2}"/>
                </a:ext>
              </a:extLst>
            </p:cNvPr>
            <p:cNvSpPr txBox="1"/>
            <p:nvPr/>
          </p:nvSpPr>
          <p:spPr>
            <a:xfrm>
              <a:off x="263561" y="6087241"/>
              <a:ext cx="2020105" cy="400110"/>
            </a:xfrm>
            <a:prstGeom prst="rect">
              <a:avLst/>
            </a:prstGeom>
            <a:noFill/>
          </p:spPr>
          <p:txBody>
            <a:bodyPr wrap="none" rtlCol="0">
              <a:spAutoFit/>
            </a:bodyPr>
            <a:lstStyle/>
            <a:p>
              <a:r>
                <a:rPr lang="en-US" sz="2000" b="1" dirty="0">
                  <a:solidFill>
                    <a:srgbClr val="3333FF"/>
                  </a:solidFill>
                  <a:latin typeface="ADLaM Display" panose="02010000000000000000" pitchFamily="2" charset="0"/>
                  <a:ea typeface="ADLaM Display" panose="02010000000000000000" pitchFamily="2" charset="0"/>
                  <a:cs typeface="ADLaM Display" panose="02010000000000000000" pitchFamily="2" charset="0"/>
                </a:rPr>
                <a:t>Power </a:t>
              </a:r>
              <a:r>
                <a:rPr lang="en-US" sz="2000" dirty="0">
                  <a:solidFill>
                    <a:srgbClr val="3333FF"/>
                  </a:solidFill>
                  <a:latin typeface="ADLaM Display" panose="02010000000000000000" pitchFamily="2" charset="0"/>
                  <a:ea typeface="ADLaM Display" panose="02010000000000000000" pitchFamily="2" charset="0"/>
                  <a:cs typeface="ADLaM Display" panose="02010000000000000000" pitchFamily="2" charset="0"/>
                </a:rPr>
                <a:t>Desktop</a:t>
              </a:r>
            </a:p>
          </p:txBody>
        </p:sp>
        <p:sp>
          <p:nvSpPr>
            <p:cNvPr id="25" name="TextBox 24">
              <a:extLst>
                <a:ext uri="{FF2B5EF4-FFF2-40B4-BE49-F238E27FC236}">
                  <a16:creationId xmlns:a16="http://schemas.microsoft.com/office/drawing/2014/main" id="{8BBB865D-9394-CE29-B125-3062D924D18F}"/>
                </a:ext>
              </a:extLst>
            </p:cNvPr>
            <p:cNvSpPr txBox="1"/>
            <p:nvPr/>
          </p:nvSpPr>
          <p:spPr>
            <a:xfrm>
              <a:off x="365760" y="2811345"/>
              <a:ext cx="1762021" cy="400110"/>
            </a:xfrm>
            <a:prstGeom prst="rect">
              <a:avLst/>
            </a:prstGeom>
            <a:noFill/>
          </p:spPr>
          <p:txBody>
            <a:bodyPr wrap="none" rtlCol="0">
              <a:spAutoFit/>
            </a:bodyPr>
            <a:lstStyle/>
            <a:p>
              <a:r>
                <a:rPr lang="en-US" sz="2000" dirty="0">
                  <a:solidFill>
                    <a:srgbClr val="3333FF"/>
                  </a:solidFill>
                  <a:latin typeface="ADLaM Display" panose="02010000000000000000" pitchFamily="2" charset="0"/>
                  <a:ea typeface="ADLaM Display" panose="02010000000000000000" pitchFamily="2" charset="0"/>
                  <a:cs typeface="ADLaM Display" panose="02010000000000000000" pitchFamily="2" charset="0"/>
                </a:rPr>
                <a:t>Data</a:t>
              </a:r>
              <a:r>
                <a:rPr lang="en-US" sz="2000" b="1" dirty="0">
                  <a:solidFill>
                    <a:srgbClr val="3333FF"/>
                  </a:solidFill>
                  <a:latin typeface="ADLaM Display" panose="02010000000000000000" pitchFamily="2" charset="0"/>
                  <a:ea typeface="ADLaM Display" panose="02010000000000000000" pitchFamily="2" charset="0"/>
                  <a:cs typeface="ADLaM Display" panose="02010000000000000000" pitchFamily="2" charset="0"/>
                </a:rPr>
                <a:t> Sources</a:t>
              </a:r>
            </a:p>
          </p:txBody>
        </p:sp>
        <p:sp>
          <p:nvSpPr>
            <p:cNvPr id="26" name="Arrow: Pentagon 25">
              <a:extLst>
                <a:ext uri="{FF2B5EF4-FFF2-40B4-BE49-F238E27FC236}">
                  <a16:creationId xmlns:a16="http://schemas.microsoft.com/office/drawing/2014/main" id="{C5FAC810-E709-E144-A467-9232A6AE0AE1}"/>
                </a:ext>
              </a:extLst>
            </p:cNvPr>
            <p:cNvSpPr/>
            <p:nvPr/>
          </p:nvSpPr>
          <p:spPr>
            <a:xfrm>
              <a:off x="2570481" y="2176435"/>
              <a:ext cx="1356810" cy="331944"/>
            </a:xfrm>
            <a:prstGeom prst="homePlate">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CONNECT</a:t>
              </a:r>
            </a:p>
          </p:txBody>
        </p:sp>
        <p:sp>
          <p:nvSpPr>
            <p:cNvPr id="27" name="Arrow: Pentagon 26">
              <a:extLst>
                <a:ext uri="{FF2B5EF4-FFF2-40B4-BE49-F238E27FC236}">
                  <a16:creationId xmlns:a16="http://schemas.microsoft.com/office/drawing/2014/main" id="{011A6E5D-9785-2DC8-4580-6CFD1F6D6D89}"/>
                </a:ext>
              </a:extLst>
            </p:cNvPr>
            <p:cNvSpPr/>
            <p:nvPr/>
          </p:nvSpPr>
          <p:spPr>
            <a:xfrm>
              <a:off x="2570480" y="4835847"/>
              <a:ext cx="1473200" cy="331944"/>
            </a:xfrm>
            <a:prstGeom prst="homePlate">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PUBLISH</a:t>
              </a:r>
            </a:p>
          </p:txBody>
        </p:sp>
        <p:sp>
          <p:nvSpPr>
            <p:cNvPr id="28" name="Cloud 27">
              <a:extLst>
                <a:ext uri="{FF2B5EF4-FFF2-40B4-BE49-F238E27FC236}">
                  <a16:creationId xmlns:a16="http://schemas.microsoft.com/office/drawing/2014/main" id="{24429343-45A2-1754-2A8A-7B7706ED2D35}"/>
                </a:ext>
              </a:extLst>
            </p:cNvPr>
            <p:cNvSpPr/>
            <p:nvPr/>
          </p:nvSpPr>
          <p:spPr>
            <a:xfrm>
              <a:off x="4710489" y="1368978"/>
              <a:ext cx="2842791" cy="2174394"/>
            </a:xfrm>
            <a:prstGeom prst="cloud">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 name="Picture 28">
              <a:extLst>
                <a:ext uri="{FF2B5EF4-FFF2-40B4-BE49-F238E27FC236}">
                  <a16:creationId xmlns:a16="http://schemas.microsoft.com/office/drawing/2014/main" id="{4F6A1D46-E9F5-770C-202E-CE8383811BDA}"/>
                </a:ext>
              </a:extLst>
            </p:cNvPr>
            <p:cNvPicPr>
              <a:picLocks noChangeAspect="1"/>
            </p:cNvPicPr>
            <p:nvPr/>
          </p:nvPicPr>
          <p:blipFill>
            <a:blip r:embed="rId11"/>
            <a:stretch>
              <a:fillRect/>
            </a:stretch>
          </p:blipFill>
          <p:spPr>
            <a:xfrm>
              <a:off x="5484540" y="1830263"/>
              <a:ext cx="1418576" cy="1418576"/>
            </a:xfrm>
            <a:prstGeom prst="rect">
              <a:avLst/>
            </a:prstGeom>
          </p:spPr>
        </p:pic>
        <p:sp>
          <p:nvSpPr>
            <p:cNvPr id="30" name="TextBox 29">
              <a:extLst>
                <a:ext uri="{FF2B5EF4-FFF2-40B4-BE49-F238E27FC236}">
                  <a16:creationId xmlns:a16="http://schemas.microsoft.com/office/drawing/2014/main" id="{8C0068AA-0F46-33D2-F53C-2577AD1CAC4F}"/>
                </a:ext>
              </a:extLst>
            </p:cNvPr>
            <p:cNvSpPr txBox="1"/>
            <p:nvPr/>
          </p:nvSpPr>
          <p:spPr>
            <a:xfrm>
              <a:off x="5040307" y="1041143"/>
              <a:ext cx="2307042" cy="400110"/>
            </a:xfrm>
            <a:prstGeom prst="rect">
              <a:avLst/>
            </a:prstGeom>
            <a:noFill/>
          </p:spPr>
          <p:txBody>
            <a:bodyPr wrap="none" rtlCol="0">
              <a:spAutoFit/>
            </a:bodyPr>
            <a:lstStyle/>
            <a:p>
              <a:r>
                <a:rPr lang="en-US" sz="2000" dirty="0">
                  <a:solidFill>
                    <a:srgbClr val="3333FF"/>
                  </a:solidFill>
                  <a:latin typeface="ADLaM Display" panose="02010000000000000000" pitchFamily="2" charset="0"/>
                  <a:ea typeface="ADLaM Display" panose="02010000000000000000" pitchFamily="2" charset="0"/>
                  <a:cs typeface="ADLaM Display" panose="02010000000000000000" pitchFamily="2" charset="0"/>
                </a:rPr>
                <a:t>Power</a:t>
              </a:r>
              <a:r>
                <a:rPr lang="en-US" sz="2000" b="1" dirty="0">
                  <a:solidFill>
                    <a:srgbClr val="3333FF"/>
                  </a:solidFill>
                  <a:latin typeface="ADLaM Display" panose="02010000000000000000" pitchFamily="2" charset="0"/>
                  <a:ea typeface="ADLaM Display" panose="02010000000000000000" pitchFamily="2" charset="0"/>
                  <a:cs typeface="ADLaM Display" panose="02010000000000000000" pitchFamily="2" charset="0"/>
                </a:rPr>
                <a:t> BI Services</a:t>
              </a:r>
            </a:p>
          </p:txBody>
        </p:sp>
        <p:pic>
          <p:nvPicPr>
            <p:cNvPr id="31" name="Picture 30">
              <a:extLst>
                <a:ext uri="{FF2B5EF4-FFF2-40B4-BE49-F238E27FC236}">
                  <a16:creationId xmlns:a16="http://schemas.microsoft.com/office/drawing/2014/main" id="{7EFDD481-735A-CE3D-906B-4AFE7F323AC6}"/>
                </a:ext>
              </a:extLst>
            </p:cNvPr>
            <p:cNvPicPr>
              <a:picLocks noChangeAspect="1"/>
            </p:cNvPicPr>
            <p:nvPr/>
          </p:nvPicPr>
          <p:blipFill>
            <a:blip r:embed="rId12"/>
            <a:stretch>
              <a:fillRect/>
            </a:stretch>
          </p:blipFill>
          <p:spPr>
            <a:xfrm>
              <a:off x="5605689" y="4558810"/>
              <a:ext cx="1217962" cy="1217962"/>
            </a:xfrm>
            <a:prstGeom prst="rect">
              <a:avLst/>
            </a:prstGeom>
          </p:spPr>
        </p:pic>
        <p:sp>
          <p:nvSpPr>
            <p:cNvPr id="32" name="Arrow: Pentagon 31">
              <a:extLst>
                <a:ext uri="{FF2B5EF4-FFF2-40B4-BE49-F238E27FC236}">
                  <a16:creationId xmlns:a16="http://schemas.microsoft.com/office/drawing/2014/main" id="{4C2A3A57-2304-638E-3829-7CFD0BE33B40}"/>
                </a:ext>
              </a:extLst>
            </p:cNvPr>
            <p:cNvSpPr/>
            <p:nvPr/>
          </p:nvSpPr>
          <p:spPr>
            <a:xfrm>
              <a:off x="7959239" y="2201384"/>
              <a:ext cx="1473200" cy="331944"/>
            </a:xfrm>
            <a:prstGeom prst="homePlate">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ACCESS</a:t>
              </a:r>
            </a:p>
          </p:txBody>
        </p:sp>
        <p:sp>
          <p:nvSpPr>
            <p:cNvPr id="33" name="TextBox 32">
              <a:extLst>
                <a:ext uri="{FF2B5EF4-FFF2-40B4-BE49-F238E27FC236}">
                  <a16:creationId xmlns:a16="http://schemas.microsoft.com/office/drawing/2014/main" id="{4DF4FFE4-EE2D-416F-92F1-49A514EB2AD2}"/>
                </a:ext>
              </a:extLst>
            </p:cNvPr>
            <p:cNvSpPr txBox="1"/>
            <p:nvPr/>
          </p:nvSpPr>
          <p:spPr>
            <a:xfrm>
              <a:off x="5040307" y="4048286"/>
              <a:ext cx="2497800" cy="400110"/>
            </a:xfrm>
            <a:prstGeom prst="rect">
              <a:avLst/>
            </a:prstGeom>
            <a:noFill/>
          </p:spPr>
          <p:txBody>
            <a:bodyPr wrap="none" rtlCol="0">
              <a:spAutoFit/>
            </a:bodyPr>
            <a:lstStyle/>
            <a:p>
              <a:r>
                <a:rPr lang="en-US" sz="2000" b="1" dirty="0">
                  <a:solidFill>
                    <a:srgbClr val="3333FF"/>
                  </a:solidFill>
                  <a:latin typeface="ADLaM Display" panose="02010000000000000000" pitchFamily="2" charset="0"/>
                  <a:ea typeface="ADLaM Display" panose="02010000000000000000" pitchFamily="2" charset="0"/>
                  <a:cs typeface="ADLaM Display" panose="02010000000000000000" pitchFamily="2" charset="0"/>
                </a:rPr>
                <a:t>Power BI </a:t>
              </a:r>
              <a:r>
                <a:rPr lang="en-US" sz="2000" dirty="0">
                  <a:solidFill>
                    <a:srgbClr val="3333FF"/>
                  </a:solidFill>
                  <a:latin typeface="ADLaM Display" panose="02010000000000000000" pitchFamily="2" charset="0"/>
                  <a:ea typeface="ADLaM Display" panose="02010000000000000000" pitchFamily="2" charset="0"/>
                  <a:cs typeface="ADLaM Display" panose="02010000000000000000" pitchFamily="2" charset="0"/>
                </a:rPr>
                <a:t>Gateways</a:t>
              </a:r>
            </a:p>
          </p:txBody>
        </p:sp>
        <p:sp>
          <p:nvSpPr>
            <p:cNvPr id="34" name="Arrow: Curved Left 33">
              <a:extLst>
                <a:ext uri="{FF2B5EF4-FFF2-40B4-BE49-F238E27FC236}">
                  <a16:creationId xmlns:a16="http://schemas.microsoft.com/office/drawing/2014/main" id="{1788CEEB-7839-9581-66E8-0681464CF45C}"/>
                </a:ext>
              </a:extLst>
            </p:cNvPr>
            <p:cNvSpPr/>
            <p:nvPr/>
          </p:nvSpPr>
          <p:spPr>
            <a:xfrm>
              <a:off x="7525725" y="3287327"/>
              <a:ext cx="971432" cy="2174394"/>
            </a:xfrm>
            <a:prstGeom prst="curvedLeftArrow">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5" name="Arrow: Curved Left 34">
              <a:extLst>
                <a:ext uri="{FF2B5EF4-FFF2-40B4-BE49-F238E27FC236}">
                  <a16:creationId xmlns:a16="http://schemas.microsoft.com/office/drawing/2014/main" id="{F3D6FE7D-CFAC-04A4-5101-6F81FAEBBB11}"/>
                </a:ext>
              </a:extLst>
            </p:cNvPr>
            <p:cNvSpPr/>
            <p:nvPr/>
          </p:nvSpPr>
          <p:spPr>
            <a:xfrm flipH="1">
              <a:off x="3932954" y="3267379"/>
              <a:ext cx="971432" cy="2174394"/>
            </a:xfrm>
            <a:prstGeom prst="curvedLeftArrow">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6" name="Straight Connector 35">
              <a:extLst>
                <a:ext uri="{FF2B5EF4-FFF2-40B4-BE49-F238E27FC236}">
                  <a16:creationId xmlns:a16="http://schemas.microsoft.com/office/drawing/2014/main" id="{9A83D108-8B38-B579-F972-D8D86D400EF2}"/>
                </a:ext>
              </a:extLst>
            </p:cNvPr>
            <p:cNvCxnSpPr/>
            <p:nvPr/>
          </p:nvCxnSpPr>
          <p:spPr>
            <a:xfrm>
              <a:off x="4179601" y="3837904"/>
              <a:ext cx="4059809" cy="0"/>
            </a:xfrm>
            <a:prstGeom prst="line">
              <a:avLst/>
            </a:prstGeom>
            <a:ln w="38100">
              <a:solidFill>
                <a:schemeClr val="tx1"/>
              </a:solidFill>
              <a:prstDash val="lgDash"/>
            </a:ln>
          </p:spPr>
          <p:style>
            <a:lnRef idx="1">
              <a:schemeClr val="accent1"/>
            </a:lnRef>
            <a:fillRef idx="0">
              <a:schemeClr val="accent1"/>
            </a:fillRef>
            <a:effectRef idx="0">
              <a:schemeClr val="accent1"/>
            </a:effectRef>
            <a:fontRef idx="minor">
              <a:schemeClr val="tx1"/>
            </a:fontRef>
          </p:style>
        </p:cxnSp>
        <p:pic>
          <p:nvPicPr>
            <p:cNvPr id="37" name="Picture 36">
              <a:extLst>
                <a:ext uri="{FF2B5EF4-FFF2-40B4-BE49-F238E27FC236}">
                  <a16:creationId xmlns:a16="http://schemas.microsoft.com/office/drawing/2014/main" id="{CBE0587E-EDD7-8582-CA5D-105743574349}"/>
                </a:ext>
              </a:extLst>
            </p:cNvPr>
            <p:cNvPicPr>
              <a:picLocks noChangeAspect="1"/>
            </p:cNvPicPr>
            <p:nvPr/>
          </p:nvPicPr>
          <p:blipFill>
            <a:blip r:embed="rId13"/>
            <a:stretch>
              <a:fillRect/>
            </a:stretch>
          </p:blipFill>
          <p:spPr>
            <a:xfrm>
              <a:off x="6035793" y="3598780"/>
              <a:ext cx="386080" cy="386080"/>
            </a:xfrm>
            <a:prstGeom prst="rect">
              <a:avLst/>
            </a:prstGeom>
          </p:spPr>
        </p:pic>
        <p:pic>
          <p:nvPicPr>
            <p:cNvPr id="38" name="Picture 37" descr="A computer monitor with a white screen&#10;&#10;Description automatically generated">
              <a:extLst>
                <a:ext uri="{FF2B5EF4-FFF2-40B4-BE49-F238E27FC236}">
                  <a16:creationId xmlns:a16="http://schemas.microsoft.com/office/drawing/2014/main" id="{03895A19-263E-B839-D61C-2D1FCDD4E859}"/>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793568" y="2458631"/>
              <a:ext cx="1303122" cy="1303122"/>
            </a:xfrm>
            <a:prstGeom prst="rect">
              <a:avLst/>
            </a:prstGeom>
          </p:spPr>
        </p:pic>
        <p:pic>
          <p:nvPicPr>
            <p:cNvPr id="39" name="Picture 38" descr="A cell phone with a white screen&#10;&#10;Description automatically generated">
              <a:extLst>
                <a:ext uri="{FF2B5EF4-FFF2-40B4-BE49-F238E27FC236}">
                  <a16:creationId xmlns:a16="http://schemas.microsoft.com/office/drawing/2014/main" id="{F970B3BC-9AE7-C8A4-1282-D34945F1D654}"/>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10441107" y="1137958"/>
              <a:ext cx="1473201" cy="1473201"/>
            </a:xfrm>
            <a:prstGeom prst="rect">
              <a:avLst/>
            </a:prstGeom>
          </p:spPr>
        </p:pic>
        <p:pic>
          <p:nvPicPr>
            <p:cNvPr id="40" name="Picture 20">
              <a:extLst>
                <a:ext uri="{FF2B5EF4-FFF2-40B4-BE49-F238E27FC236}">
                  <a16:creationId xmlns:a16="http://schemas.microsoft.com/office/drawing/2014/main" id="{83F33F31-019E-901D-CE48-AA767A7225E7}"/>
                </a:ext>
              </a:extLst>
            </p:cNvPr>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9927969" y="2679329"/>
              <a:ext cx="1045269" cy="607998"/>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22">
              <a:extLst>
                <a:ext uri="{FF2B5EF4-FFF2-40B4-BE49-F238E27FC236}">
                  <a16:creationId xmlns:a16="http://schemas.microsoft.com/office/drawing/2014/main" id="{BC173518-7772-9AF2-0120-F16A33E12FC2}"/>
                </a:ext>
              </a:extLst>
            </p:cNvPr>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9520679" y="769459"/>
              <a:ext cx="783199" cy="1237018"/>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24">
              <a:extLst>
                <a:ext uri="{FF2B5EF4-FFF2-40B4-BE49-F238E27FC236}">
                  <a16:creationId xmlns:a16="http://schemas.microsoft.com/office/drawing/2014/main" id="{E0891011-9CF3-5A2D-5DCF-1C91C5BA81F7}"/>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10931367" y="1311485"/>
              <a:ext cx="492679" cy="1147146"/>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6128944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B25683-85AD-6D8E-66EC-23F88A9AAF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F160CF-5272-BDE2-8338-3635C479EC03}"/>
              </a:ext>
            </a:extLst>
          </p:cNvPr>
          <p:cNvSpPr>
            <a:spLocks noGrp="1"/>
          </p:cNvSpPr>
          <p:nvPr>
            <p:ph type="title"/>
          </p:nvPr>
        </p:nvSpPr>
        <p:spPr>
          <a:xfrm>
            <a:off x="1156920" y="715229"/>
            <a:ext cx="9393848" cy="712765"/>
          </a:xfrm>
        </p:spPr>
        <p:txBody>
          <a:bodyPr/>
          <a:lstStyle/>
          <a:p>
            <a:r>
              <a:rPr lang="en-US"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Setup</a:t>
            </a:r>
            <a:r>
              <a:rPr lang="en-US" dirty="0">
                <a:latin typeface="ADLaM Display" panose="02010000000000000000" pitchFamily="2" charset="0"/>
                <a:ea typeface="ADLaM Display" panose="02010000000000000000" pitchFamily="2" charset="0"/>
                <a:cs typeface="ADLaM Display" panose="02010000000000000000" pitchFamily="2" charset="0"/>
              </a:rPr>
              <a:t> Power BI Desktop </a:t>
            </a:r>
            <a:endParaRPr lang="en-US" dirty="0">
              <a:solidFill>
                <a:srgbClr val="FFC000"/>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3" name="Text Placeholder 2">
            <a:extLst>
              <a:ext uri="{FF2B5EF4-FFF2-40B4-BE49-F238E27FC236}">
                <a16:creationId xmlns:a16="http://schemas.microsoft.com/office/drawing/2014/main" id="{33490BD5-1D82-0617-92C0-547461A51DDD}"/>
              </a:ext>
            </a:extLst>
          </p:cNvPr>
          <p:cNvSpPr>
            <a:spLocks noGrp="1"/>
          </p:cNvSpPr>
          <p:nvPr>
            <p:ph type="body" sz="quarter" idx="14"/>
          </p:nvPr>
        </p:nvSpPr>
        <p:spPr>
          <a:xfrm>
            <a:off x="698776" y="1427994"/>
            <a:ext cx="11316761" cy="5254283"/>
          </a:xfrm>
        </p:spPr>
        <p:txBody>
          <a:bodyPr>
            <a:normAutofit/>
          </a:bodyPr>
          <a:lstStyle/>
          <a:p>
            <a:pPr algn="just">
              <a:buBlip>
                <a:blip r:embed="rId2"/>
              </a:buBlip>
            </a:pPr>
            <a:r>
              <a:rPr lang="en-US" b="1"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 Power BI Desktop</a:t>
            </a:r>
            <a:r>
              <a:rPr lang="en-US" b="1" dirty="0"/>
              <a:t>, the primary application for creating and modeling reports, is strictly </a:t>
            </a:r>
            <a:r>
              <a:rPr lang="en-US" b="1" u="sng" dirty="0">
                <a:solidFill>
                  <a:srgbClr val="0070C0"/>
                </a:solidFill>
                <a:latin typeface="ADLaM Display" panose="02010000000000000000" pitchFamily="2" charset="0"/>
                <a:ea typeface="ADLaM Display" panose="02010000000000000000" pitchFamily="2" charset="0"/>
                <a:cs typeface="ADLaM Display" panose="02010000000000000000" pitchFamily="2" charset="0"/>
              </a:rPr>
              <a:t>Windows-only</a:t>
            </a:r>
            <a:r>
              <a:rPr lang="en-US" b="1"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a:t>
            </a:r>
          </a:p>
          <a:p>
            <a:pPr marL="0" indent="0" algn="just">
              <a:buNone/>
            </a:pPr>
            <a:endParaRPr lang="en-US" sz="1400" b="1"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a:p>
            <a:pPr marL="342900" indent="-342900" algn="just">
              <a:buFont typeface="+mj-lt"/>
              <a:buAutoNum type="arabicPeriod"/>
            </a:pPr>
            <a:r>
              <a:rPr lang="en-US" sz="18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Start by  opening up your Microsoft Store.</a:t>
            </a:r>
          </a:p>
          <a:p>
            <a:pPr marL="342900" indent="-342900" algn="just">
              <a:buFont typeface="+mj-lt"/>
              <a:buAutoNum type="arabicPeriod"/>
            </a:pPr>
            <a:r>
              <a:rPr lang="en-US" sz="18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Search for Power BI.</a:t>
            </a:r>
          </a:p>
          <a:p>
            <a:pPr marL="342900" indent="-342900" algn="just">
              <a:buFont typeface="+mj-lt"/>
              <a:buAutoNum type="arabicPeriod"/>
            </a:pPr>
            <a:r>
              <a:rPr lang="en-US" sz="18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Click ‘Free’.</a:t>
            </a:r>
          </a:p>
        </p:txBody>
      </p:sp>
      <p:pic>
        <p:nvPicPr>
          <p:cNvPr id="4" name="Picture 3" descr="Windows Logo PNG Transparent Images">
            <a:extLst>
              <a:ext uri="{FF2B5EF4-FFF2-40B4-BE49-F238E27FC236}">
                <a16:creationId xmlns:a16="http://schemas.microsoft.com/office/drawing/2014/main" id="{C7A26BB2-3057-BF3B-966C-EC6251D91566}"/>
              </a:ext>
            </a:extLst>
          </p:cNvPr>
          <p:cNvPicPr>
            <a:picLocks noChangeAspect="1"/>
          </p:cNvPicPr>
          <p:nvPr/>
        </p:nvPicPr>
        <p:blipFill>
          <a:blip r:embed="rId3"/>
          <a:stretch>
            <a:fillRect/>
          </a:stretch>
        </p:blipFill>
        <p:spPr>
          <a:xfrm>
            <a:off x="249598" y="1427994"/>
            <a:ext cx="449178" cy="449178"/>
          </a:xfrm>
          <a:prstGeom prst="rect">
            <a:avLst/>
          </a:prstGeom>
        </p:spPr>
      </p:pic>
      <p:pic>
        <p:nvPicPr>
          <p:cNvPr id="5" name="Picture 4">
            <a:extLst>
              <a:ext uri="{FF2B5EF4-FFF2-40B4-BE49-F238E27FC236}">
                <a16:creationId xmlns:a16="http://schemas.microsoft.com/office/drawing/2014/main" id="{29B48C5E-1021-5E03-E167-09C10FD4F31C}"/>
              </a:ext>
            </a:extLst>
          </p:cNvPr>
          <p:cNvPicPr>
            <a:picLocks noChangeAspect="1"/>
          </p:cNvPicPr>
          <p:nvPr/>
        </p:nvPicPr>
        <p:blipFill>
          <a:blip r:embed="rId4"/>
          <a:stretch>
            <a:fillRect/>
          </a:stretch>
        </p:blipFill>
        <p:spPr>
          <a:xfrm>
            <a:off x="5944754" y="2140759"/>
            <a:ext cx="6070783" cy="2643799"/>
          </a:xfrm>
          <a:prstGeom prst="rect">
            <a:avLst/>
          </a:prstGeom>
          <a:noFill/>
          <a:ln>
            <a:noFill/>
          </a:ln>
        </p:spPr>
      </p:pic>
      <p:pic>
        <p:nvPicPr>
          <p:cNvPr id="7" name="Picture 6">
            <a:extLst>
              <a:ext uri="{FF2B5EF4-FFF2-40B4-BE49-F238E27FC236}">
                <a16:creationId xmlns:a16="http://schemas.microsoft.com/office/drawing/2014/main" id="{E8E1464D-34C6-D651-D2EA-E93C90BAA0A8}"/>
              </a:ext>
            </a:extLst>
          </p:cNvPr>
          <p:cNvPicPr>
            <a:picLocks noChangeAspect="1"/>
          </p:cNvPicPr>
          <p:nvPr/>
        </p:nvPicPr>
        <p:blipFill>
          <a:blip r:embed="rId5"/>
          <a:stretch>
            <a:fillRect/>
          </a:stretch>
        </p:blipFill>
        <p:spPr>
          <a:xfrm>
            <a:off x="203932" y="3689684"/>
            <a:ext cx="5667479" cy="2992593"/>
          </a:xfrm>
          <a:prstGeom prst="rect">
            <a:avLst/>
          </a:prstGeom>
          <a:noFill/>
          <a:ln>
            <a:noFill/>
          </a:ln>
        </p:spPr>
      </p:pic>
    </p:spTree>
    <p:extLst>
      <p:ext uri="{BB962C8B-B14F-4D97-AF65-F5344CB8AC3E}">
        <p14:creationId xmlns:p14="http://schemas.microsoft.com/office/powerpoint/2010/main" val="13341025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8F470A-7DD7-11AA-BE11-71195ED8F7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2A4DB8-00DE-0F73-F9D1-3CA4950B1151}"/>
              </a:ext>
            </a:extLst>
          </p:cNvPr>
          <p:cNvSpPr>
            <a:spLocks noGrp="1"/>
          </p:cNvSpPr>
          <p:nvPr>
            <p:ph type="title"/>
          </p:nvPr>
        </p:nvSpPr>
        <p:spPr>
          <a:xfrm>
            <a:off x="1156920" y="715229"/>
            <a:ext cx="9393848" cy="712765"/>
          </a:xfrm>
        </p:spPr>
        <p:txBody>
          <a:bodyPr/>
          <a:lstStyle/>
          <a:p>
            <a:r>
              <a:rPr lang="en-US" dirty="0">
                <a:latin typeface="ADLaM Display" panose="02010000000000000000" pitchFamily="2" charset="0"/>
                <a:ea typeface="ADLaM Display" panose="02010000000000000000" pitchFamily="2" charset="0"/>
                <a:cs typeface="ADLaM Display" panose="02010000000000000000" pitchFamily="2" charset="0"/>
              </a:rPr>
              <a:t>Walk-through Power BI </a:t>
            </a:r>
            <a:r>
              <a:rPr lang="en-US"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GUI</a:t>
            </a:r>
          </a:p>
        </p:txBody>
      </p:sp>
      <p:sp>
        <p:nvSpPr>
          <p:cNvPr id="3" name="Text Placeholder 2">
            <a:extLst>
              <a:ext uri="{FF2B5EF4-FFF2-40B4-BE49-F238E27FC236}">
                <a16:creationId xmlns:a16="http://schemas.microsoft.com/office/drawing/2014/main" id="{EC1219BF-594A-D903-3D46-2C0C196D11CC}"/>
              </a:ext>
            </a:extLst>
          </p:cNvPr>
          <p:cNvSpPr>
            <a:spLocks noGrp="1"/>
          </p:cNvSpPr>
          <p:nvPr>
            <p:ph type="body" sz="quarter" idx="14"/>
          </p:nvPr>
        </p:nvSpPr>
        <p:spPr>
          <a:xfrm>
            <a:off x="698776" y="1427994"/>
            <a:ext cx="11316761" cy="5254283"/>
          </a:xfrm>
        </p:spPr>
        <p:txBody>
          <a:bodyPr>
            <a:normAutofit/>
          </a:bodyPr>
          <a:lstStyle/>
          <a:p>
            <a:pPr algn="just">
              <a:buBlip>
                <a:blip r:embed="rId2"/>
              </a:buBlip>
            </a:pPr>
            <a:r>
              <a:rPr lang="en-US" dirty="0">
                <a:latin typeface="ADLaM Display" panose="02010000000000000000" pitchFamily="2" charset="0"/>
                <a:ea typeface="ADLaM Display" panose="02010000000000000000" pitchFamily="2" charset="0"/>
                <a:cs typeface="ADLaM Display" panose="02010000000000000000" pitchFamily="2" charset="0"/>
              </a:rPr>
              <a:t> </a:t>
            </a:r>
            <a:r>
              <a:rPr lang="en-US"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Ribbon</a:t>
            </a:r>
            <a:r>
              <a:rPr lang="en-US" dirty="0">
                <a:latin typeface="ADLaM Display" panose="02010000000000000000" pitchFamily="2" charset="0"/>
                <a:ea typeface="ADLaM Display" panose="02010000000000000000" pitchFamily="2" charset="0"/>
                <a:cs typeface="ADLaM Display" panose="02010000000000000000" pitchFamily="2" charset="0"/>
              </a:rPr>
              <a:t> – The top ribbon contains most of the controls and options needed for building the report.</a:t>
            </a:r>
          </a:p>
          <a:p>
            <a:pPr algn="just">
              <a:buBlip>
                <a:blip r:embed="rId2"/>
              </a:buBlip>
            </a:pPr>
            <a:r>
              <a:rPr lang="en-US" dirty="0">
                <a:latin typeface="ADLaM Display" panose="02010000000000000000" pitchFamily="2" charset="0"/>
                <a:ea typeface="ADLaM Display" panose="02010000000000000000" pitchFamily="2" charset="0"/>
                <a:cs typeface="ADLaM Display" panose="02010000000000000000" pitchFamily="2" charset="0"/>
              </a:rPr>
              <a:t> </a:t>
            </a:r>
            <a:r>
              <a:rPr lang="en-US" b="1"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Views</a:t>
            </a:r>
            <a:r>
              <a:rPr lang="en-US" dirty="0">
                <a:latin typeface="ADLaM Display" panose="02010000000000000000" pitchFamily="2" charset="0"/>
                <a:ea typeface="ADLaM Display" panose="02010000000000000000" pitchFamily="2" charset="0"/>
                <a:cs typeface="ADLaM Display" panose="02010000000000000000" pitchFamily="2" charset="0"/>
              </a:rPr>
              <a:t> – This is made up of the report view, the data view, and the model view.</a:t>
            </a:r>
          </a:p>
          <a:p>
            <a:pPr algn="just">
              <a:buBlip>
                <a:blip r:embed="rId2"/>
              </a:buBlip>
            </a:pPr>
            <a:r>
              <a:rPr lang="en-US" dirty="0">
                <a:latin typeface="ADLaM Display" panose="02010000000000000000" pitchFamily="2" charset="0"/>
                <a:ea typeface="ADLaM Display" panose="02010000000000000000" pitchFamily="2" charset="0"/>
                <a:cs typeface="ADLaM Display" panose="02010000000000000000" pitchFamily="2" charset="0"/>
              </a:rPr>
              <a:t> </a:t>
            </a:r>
            <a:r>
              <a:rPr lang="en-US" b="1"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Canvas</a:t>
            </a:r>
            <a:r>
              <a:rPr lang="en-US" dirty="0">
                <a:latin typeface="ADLaM Display" panose="02010000000000000000" pitchFamily="2" charset="0"/>
                <a:ea typeface="ADLaM Display" panose="02010000000000000000" pitchFamily="2" charset="0"/>
                <a:cs typeface="ADLaM Display" panose="02010000000000000000" pitchFamily="2" charset="0"/>
              </a:rPr>
              <a:t> – This is the main design area where visualizations &amp; other elements are added.</a:t>
            </a:r>
          </a:p>
          <a:p>
            <a:pPr algn="just">
              <a:buBlip>
                <a:blip r:embed="rId2"/>
              </a:buBlip>
            </a:pPr>
            <a:r>
              <a:rPr lang="en-US" dirty="0">
                <a:latin typeface="ADLaM Display" panose="02010000000000000000" pitchFamily="2" charset="0"/>
                <a:ea typeface="ADLaM Display" panose="02010000000000000000" pitchFamily="2" charset="0"/>
                <a:cs typeface="ADLaM Display" panose="02010000000000000000" pitchFamily="2" charset="0"/>
              </a:rPr>
              <a:t> </a:t>
            </a:r>
            <a:r>
              <a:rPr lang="en-US" b="1"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Page Selector </a:t>
            </a:r>
            <a:r>
              <a:rPr lang="en-US" dirty="0">
                <a:latin typeface="ADLaM Display" panose="02010000000000000000" pitchFamily="2" charset="0"/>
                <a:ea typeface="ADLaM Display" panose="02010000000000000000" pitchFamily="2" charset="0"/>
                <a:cs typeface="ADLaM Display" panose="02010000000000000000" pitchFamily="2" charset="0"/>
              </a:rPr>
              <a:t>– For navigation to other pages in the report.</a:t>
            </a:r>
          </a:p>
          <a:p>
            <a:pPr algn="just">
              <a:buBlip>
                <a:blip r:embed="rId2"/>
              </a:buBlip>
            </a:pPr>
            <a:r>
              <a:rPr lang="en-US" dirty="0">
                <a:latin typeface="ADLaM Display" panose="02010000000000000000" pitchFamily="2" charset="0"/>
                <a:ea typeface="ADLaM Display" panose="02010000000000000000" pitchFamily="2" charset="0"/>
                <a:cs typeface="ADLaM Display" panose="02010000000000000000" pitchFamily="2" charset="0"/>
              </a:rPr>
              <a:t> </a:t>
            </a:r>
            <a:r>
              <a:rPr lang="en-US" b="1"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Filters</a:t>
            </a:r>
            <a:r>
              <a:rPr lang="en-US" dirty="0">
                <a:latin typeface="ADLaM Display" panose="02010000000000000000" pitchFamily="2" charset="0"/>
                <a:ea typeface="ADLaM Display" panose="02010000000000000000" pitchFamily="2" charset="0"/>
                <a:cs typeface="ADLaM Display" panose="02010000000000000000" pitchFamily="2" charset="0"/>
              </a:rPr>
              <a:t> – Fields can be added here to filter the data.</a:t>
            </a:r>
          </a:p>
          <a:p>
            <a:pPr algn="just">
              <a:buBlip>
                <a:blip r:embed="rId2"/>
              </a:buBlip>
            </a:pPr>
            <a:r>
              <a:rPr lang="en-US" dirty="0">
                <a:latin typeface="ADLaM Display" panose="02010000000000000000" pitchFamily="2" charset="0"/>
                <a:ea typeface="ADLaM Display" panose="02010000000000000000" pitchFamily="2" charset="0"/>
                <a:cs typeface="ADLaM Display" panose="02010000000000000000" pitchFamily="2" charset="0"/>
              </a:rPr>
              <a:t> </a:t>
            </a:r>
            <a:r>
              <a:rPr lang="en-US" b="1"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Visualizations</a:t>
            </a:r>
            <a:r>
              <a:rPr lang="en-US" dirty="0">
                <a:latin typeface="ADLaM Display" panose="02010000000000000000" pitchFamily="2" charset="0"/>
                <a:ea typeface="ADLaM Display" panose="02010000000000000000" pitchFamily="2" charset="0"/>
                <a:cs typeface="ADLaM Display" panose="02010000000000000000" pitchFamily="2" charset="0"/>
              </a:rPr>
              <a:t> – This contains the list of available visualizations.</a:t>
            </a:r>
          </a:p>
          <a:p>
            <a:pPr algn="just">
              <a:buBlip>
                <a:blip r:embed="rId2"/>
              </a:buBlip>
            </a:pPr>
            <a:r>
              <a:rPr lang="en-US" dirty="0">
                <a:latin typeface="ADLaM Display" panose="02010000000000000000" pitchFamily="2" charset="0"/>
                <a:ea typeface="ADLaM Display" panose="02010000000000000000" pitchFamily="2" charset="0"/>
                <a:cs typeface="ADLaM Display" panose="02010000000000000000" pitchFamily="2" charset="0"/>
              </a:rPr>
              <a:t> </a:t>
            </a:r>
            <a:r>
              <a:rPr lang="en-US" b="1"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Fields</a:t>
            </a:r>
            <a:r>
              <a:rPr lang="en-US" dirty="0">
                <a:latin typeface="ADLaM Display" panose="02010000000000000000" pitchFamily="2" charset="0"/>
                <a:ea typeface="ADLaM Display" panose="02010000000000000000" pitchFamily="2" charset="0"/>
                <a:cs typeface="ADLaM Display" panose="02010000000000000000" pitchFamily="2" charset="0"/>
              </a:rPr>
              <a:t> – This section contains the tables &amp; fields that are available in the data model.</a:t>
            </a:r>
          </a:p>
        </p:txBody>
      </p:sp>
    </p:spTree>
    <p:extLst>
      <p:ext uri="{BB962C8B-B14F-4D97-AF65-F5344CB8AC3E}">
        <p14:creationId xmlns:p14="http://schemas.microsoft.com/office/powerpoint/2010/main" val="2007890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54727-9B79-A8BC-E832-6B10E2FC42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6F7BF3-D42E-2EB2-F27A-AFC781E40055}"/>
              </a:ext>
            </a:extLst>
          </p:cNvPr>
          <p:cNvSpPr>
            <a:spLocks noGrp="1"/>
          </p:cNvSpPr>
          <p:nvPr>
            <p:ph type="title"/>
          </p:nvPr>
        </p:nvSpPr>
        <p:spPr>
          <a:xfrm>
            <a:off x="1156920" y="715229"/>
            <a:ext cx="9393848" cy="712765"/>
          </a:xfrm>
        </p:spPr>
        <p:txBody>
          <a:bodyPr/>
          <a:lstStyle/>
          <a:p>
            <a:r>
              <a:rPr lang="en-US"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a:t>
            </a:r>
          </a:p>
        </p:txBody>
      </p:sp>
      <p:pic>
        <p:nvPicPr>
          <p:cNvPr id="11" name="Picture 10">
            <a:extLst>
              <a:ext uri="{FF2B5EF4-FFF2-40B4-BE49-F238E27FC236}">
                <a16:creationId xmlns:a16="http://schemas.microsoft.com/office/drawing/2014/main" id="{1B8F24AB-852E-DC57-B144-8A5E775BFFB1}"/>
              </a:ext>
            </a:extLst>
          </p:cNvPr>
          <p:cNvPicPr>
            <a:picLocks noChangeAspect="1"/>
          </p:cNvPicPr>
          <p:nvPr/>
        </p:nvPicPr>
        <p:blipFill>
          <a:blip r:embed="rId2"/>
          <a:stretch>
            <a:fillRect/>
          </a:stretch>
        </p:blipFill>
        <p:spPr>
          <a:xfrm>
            <a:off x="1156921" y="1237254"/>
            <a:ext cx="9751872" cy="5480980"/>
          </a:xfrm>
          <a:prstGeom prst="rect">
            <a:avLst/>
          </a:prstGeom>
        </p:spPr>
      </p:pic>
      <p:sp>
        <p:nvSpPr>
          <p:cNvPr id="12" name="Rectangle 11">
            <a:extLst>
              <a:ext uri="{FF2B5EF4-FFF2-40B4-BE49-F238E27FC236}">
                <a16:creationId xmlns:a16="http://schemas.microsoft.com/office/drawing/2014/main" id="{D1C905E3-8864-4452-C68F-A2590CC46873}"/>
              </a:ext>
            </a:extLst>
          </p:cNvPr>
          <p:cNvSpPr/>
          <p:nvPr/>
        </p:nvSpPr>
        <p:spPr>
          <a:xfrm>
            <a:off x="1156920" y="1527048"/>
            <a:ext cx="5938824" cy="941832"/>
          </a:xfrm>
          <a:prstGeom prst="rect">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FCF1554-1A5F-E920-F0AB-5517CFF5C0DF}"/>
              </a:ext>
            </a:extLst>
          </p:cNvPr>
          <p:cNvSpPr/>
          <p:nvPr/>
        </p:nvSpPr>
        <p:spPr>
          <a:xfrm>
            <a:off x="1156920" y="2542032"/>
            <a:ext cx="324408" cy="1371600"/>
          </a:xfrm>
          <a:prstGeom prst="rect">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9B412F8-372F-1019-3C93-C1F0F919FF4C}"/>
              </a:ext>
            </a:extLst>
          </p:cNvPr>
          <p:cNvSpPr/>
          <p:nvPr/>
        </p:nvSpPr>
        <p:spPr>
          <a:xfrm>
            <a:off x="6647688" y="2468880"/>
            <a:ext cx="1435608" cy="3749040"/>
          </a:xfrm>
          <a:prstGeom prst="rect">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7A48182-649C-93B5-6B6A-0282A6DBCEAB}"/>
              </a:ext>
            </a:extLst>
          </p:cNvPr>
          <p:cNvSpPr/>
          <p:nvPr/>
        </p:nvSpPr>
        <p:spPr>
          <a:xfrm>
            <a:off x="8156448" y="2468880"/>
            <a:ext cx="1316737" cy="3886200"/>
          </a:xfrm>
          <a:prstGeom prst="rect">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24EC599A-5EA2-8209-BFD0-CEB1ED411C4E}"/>
              </a:ext>
            </a:extLst>
          </p:cNvPr>
          <p:cNvSpPr/>
          <p:nvPr/>
        </p:nvSpPr>
        <p:spPr>
          <a:xfrm>
            <a:off x="9592056" y="2468880"/>
            <a:ext cx="1316737" cy="3941064"/>
          </a:xfrm>
          <a:prstGeom prst="rect">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9E9287E1-1C93-B398-A8CA-621751CB4D09}"/>
              </a:ext>
            </a:extLst>
          </p:cNvPr>
          <p:cNvSpPr/>
          <p:nvPr/>
        </p:nvSpPr>
        <p:spPr>
          <a:xfrm>
            <a:off x="2414016" y="6217920"/>
            <a:ext cx="960120" cy="374904"/>
          </a:xfrm>
          <a:prstGeom prst="rect">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B9B4E012-90CF-B895-9FDA-67AF949089CC}"/>
              </a:ext>
            </a:extLst>
          </p:cNvPr>
          <p:cNvSpPr/>
          <p:nvPr/>
        </p:nvSpPr>
        <p:spPr>
          <a:xfrm>
            <a:off x="1581912" y="2542032"/>
            <a:ext cx="4946905" cy="3401568"/>
          </a:xfrm>
          <a:prstGeom prst="rect">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Connector: Curved 21">
            <a:extLst>
              <a:ext uri="{FF2B5EF4-FFF2-40B4-BE49-F238E27FC236}">
                <a16:creationId xmlns:a16="http://schemas.microsoft.com/office/drawing/2014/main" id="{27DB00DF-2387-C7B5-E5C0-039127F3FAC8}"/>
              </a:ext>
            </a:extLst>
          </p:cNvPr>
          <p:cNvCxnSpPr>
            <a:cxnSpLocks/>
          </p:cNvCxnSpPr>
          <p:nvPr/>
        </p:nvCxnSpPr>
        <p:spPr>
          <a:xfrm flipV="1">
            <a:off x="1481328" y="3063240"/>
            <a:ext cx="713232" cy="365760"/>
          </a:xfrm>
          <a:prstGeom prst="curvedConnector3">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Title 1">
            <a:extLst>
              <a:ext uri="{FF2B5EF4-FFF2-40B4-BE49-F238E27FC236}">
                <a16:creationId xmlns:a16="http://schemas.microsoft.com/office/drawing/2014/main" id="{25BFBBDE-B480-5BDF-0D32-290B8B3282D6}"/>
              </a:ext>
            </a:extLst>
          </p:cNvPr>
          <p:cNvSpPr txBox="1">
            <a:spLocks/>
          </p:cNvSpPr>
          <p:nvPr/>
        </p:nvSpPr>
        <p:spPr>
          <a:xfrm>
            <a:off x="2148840" y="2926132"/>
            <a:ext cx="1435608" cy="292958"/>
          </a:xfrm>
          <a:prstGeom prst="rect">
            <a:avLst/>
          </a:prstGeom>
        </p:spPr>
        <p:txBody>
          <a:bodyPr/>
          <a:lstStyle>
            <a:lvl1pPr algn="l" defTabSz="685800" rtl="0" eaLnBrk="1" latinLnBrk="0" hangingPunct="1">
              <a:lnSpc>
                <a:spcPct val="90000"/>
              </a:lnSpc>
              <a:spcBef>
                <a:spcPct val="0"/>
              </a:spcBef>
              <a:buNone/>
              <a:defRPr lang="en-US" sz="3600" b="1" kern="1200" spc="-38" baseline="0" dirty="0">
                <a:solidFill>
                  <a:srgbClr val="002060"/>
                </a:solidFill>
                <a:latin typeface="+mn-lt"/>
                <a:ea typeface="+mj-ea"/>
                <a:cs typeface="+mj-cs"/>
              </a:defRPr>
            </a:lvl1pPr>
          </a:lstStyle>
          <a:p>
            <a:r>
              <a:rPr lang="en-US" sz="1400"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Views</a:t>
            </a:r>
          </a:p>
        </p:txBody>
      </p:sp>
      <p:cxnSp>
        <p:nvCxnSpPr>
          <p:cNvPr id="26" name="Connector: Curved 25">
            <a:extLst>
              <a:ext uri="{FF2B5EF4-FFF2-40B4-BE49-F238E27FC236}">
                <a16:creationId xmlns:a16="http://schemas.microsoft.com/office/drawing/2014/main" id="{FAF6EAAC-6807-DF0B-B95C-9A18729C73C1}"/>
              </a:ext>
            </a:extLst>
          </p:cNvPr>
          <p:cNvCxnSpPr>
            <a:cxnSpLocks/>
          </p:cNvCxnSpPr>
          <p:nvPr/>
        </p:nvCxnSpPr>
        <p:spPr>
          <a:xfrm flipV="1">
            <a:off x="1581912" y="4749381"/>
            <a:ext cx="713232" cy="365760"/>
          </a:xfrm>
          <a:prstGeom prst="curvedConnector3">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7" name="Title 1">
            <a:extLst>
              <a:ext uri="{FF2B5EF4-FFF2-40B4-BE49-F238E27FC236}">
                <a16:creationId xmlns:a16="http://schemas.microsoft.com/office/drawing/2014/main" id="{8EB9B054-D866-732D-233B-29DC2D4CFA90}"/>
              </a:ext>
            </a:extLst>
          </p:cNvPr>
          <p:cNvSpPr txBox="1">
            <a:spLocks/>
          </p:cNvSpPr>
          <p:nvPr/>
        </p:nvSpPr>
        <p:spPr>
          <a:xfrm>
            <a:off x="2249424" y="4612273"/>
            <a:ext cx="1435608" cy="292958"/>
          </a:xfrm>
          <a:prstGeom prst="rect">
            <a:avLst/>
          </a:prstGeom>
        </p:spPr>
        <p:txBody>
          <a:bodyPr/>
          <a:lstStyle>
            <a:lvl1pPr algn="l" defTabSz="685800" rtl="0" eaLnBrk="1" latinLnBrk="0" hangingPunct="1">
              <a:lnSpc>
                <a:spcPct val="90000"/>
              </a:lnSpc>
              <a:spcBef>
                <a:spcPct val="0"/>
              </a:spcBef>
              <a:buNone/>
              <a:defRPr lang="en-US" sz="3600" b="1" kern="1200" spc="-38" baseline="0" dirty="0">
                <a:solidFill>
                  <a:srgbClr val="002060"/>
                </a:solidFill>
                <a:latin typeface="+mn-lt"/>
                <a:ea typeface="+mj-ea"/>
                <a:cs typeface="+mj-cs"/>
              </a:defRPr>
            </a:lvl1pPr>
          </a:lstStyle>
          <a:p>
            <a:r>
              <a:rPr lang="en-US" sz="1400"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Canvas</a:t>
            </a:r>
          </a:p>
        </p:txBody>
      </p:sp>
      <p:cxnSp>
        <p:nvCxnSpPr>
          <p:cNvPr id="28" name="Connector: Curved 27">
            <a:extLst>
              <a:ext uri="{FF2B5EF4-FFF2-40B4-BE49-F238E27FC236}">
                <a16:creationId xmlns:a16="http://schemas.microsoft.com/office/drawing/2014/main" id="{F2A524B6-2C57-3D33-50B6-8FC59DBCB4F4}"/>
              </a:ext>
            </a:extLst>
          </p:cNvPr>
          <p:cNvCxnSpPr>
            <a:cxnSpLocks/>
          </p:cNvCxnSpPr>
          <p:nvPr/>
        </p:nvCxnSpPr>
        <p:spPr>
          <a:xfrm flipV="1">
            <a:off x="3383280" y="5681719"/>
            <a:ext cx="768096" cy="576020"/>
          </a:xfrm>
          <a:prstGeom prst="curvedConnector3">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9" name="Title 1">
            <a:extLst>
              <a:ext uri="{FF2B5EF4-FFF2-40B4-BE49-F238E27FC236}">
                <a16:creationId xmlns:a16="http://schemas.microsoft.com/office/drawing/2014/main" id="{B58C4DAF-A226-28CC-AA6C-CDDB3F74AD2B}"/>
              </a:ext>
            </a:extLst>
          </p:cNvPr>
          <p:cNvSpPr txBox="1">
            <a:spLocks/>
          </p:cNvSpPr>
          <p:nvPr/>
        </p:nvSpPr>
        <p:spPr>
          <a:xfrm>
            <a:off x="4126332" y="5535240"/>
            <a:ext cx="1435608" cy="292958"/>
          </a:xfrm>
          <a:prstGeom prst="rect">
            <a:avLst/>
          </a:prstGeom>
        </p:spPr>
        <p:txBody>
          <a:bodyPr/>
          <a:lstStyle>
            <a:lvl1pPr algn="l" defTabSz="685800" rtl="0" eaLnBrk="1" latinLnBrk="0" hangingPunct="1">
              <a:lnSpc>
                <a:spcPct val="90000"/>
              </a:lnSpc>
              <a:spcBef>
                <a:spcPct val="0"/>
              </a:spcBef>
              <a:buNone/>
              <a:defRPr lang="en-US" sz="3600" b="1" kern="1200" spc="-38" baseline="0" dirty="0">
                <a:solidFill>
                  <a:srgbClr val="002060"/>
                </a:solidFill>
                <a:latin typeface="+mn-lt"/>
                <a:ea typeface="+mj-ea"/>
                <a:cs typeface="+mj-cs"/>
              </a:defRPr>
            </a:lvl1pPr>
          </a:lstStyle>
          <a:p>
            <a:r>
              <a:rPr lang="en-US" sz="1400"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Page Selector</a:t>
            </a:r>
          </a:p>
        </p:txBody>
      </p:sp>
      <p:cxnSp>
        <p:nvCxnSpPr>
          <p:cNvPr id="31" name="Connector: Curved 30">
            <a:extLst>
              <a:ext uri="{FF2B5EF4-FFF2-40B4-BE49-F238E27FC236}">
                <a16:creationId xmlns:a16="http://schemas.microsoft.com/office/drawing/2014/main" id="{50157B7E-E6F1-80AD-CBF1-A4FE6B58936B}"/>
              </a:ext>
            </a:extLst>
          </p:cNvPr>
          <p:cNvCxnSpPr>
            <a:cxnSpLocks/>
          </p:cNvCxnSpPr>
          <p:nvPr/>
        </p:nvCxnSpPr>
        <p:spPr>
          <a:xfrm flipV="1">
            <a:off x="7095744" y="1950019"/>
            <a:ext cx="612648" cy="4768"/>
          </a:xfrm>
          <a:prstGeom prst="curvedConnector3">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6" name="Title 1">
            <a:extLst>
              <a:ext uri="{FF2B5EF4-FFF2-40B4-BE49-F238E27FC236}">
                <a16:creationId xmlns:a16="http://schemas.microsoft.com/office/drawing/2014/main" id="{2D74B6C1-86E4-23A2-B4AB-7E5E284C6ADA}"/>
              </a:ext>
            </a:extLst>
          </p:cNvPr>
          <p:cNvSpPr txBox="1">
            <a:spLocks/>
          </p:cNvSpPr>
          <p:nvPr/>
        </p:nvSpPr>
        <p:spPr>
          <a:xfrm>
            <a:off x="7626096" y="1812768"/>
            <a:ext cx="1435608" cy="292958"/>
          </a:xfrm>
          <a:prstGeom prst="rect">
            <a:avLst/>
          </a:prstGeom>
        </p:spPr>
        <p:txBody>
          <a:bodyPr/>
          <a:lstStyle>
            <a:lvl1pPr algn="l" defTabSz="685800" rtl="0" eaLnBrk="1" latinLnBrk="0" hangingPunct="1">
              <a:lnSpc>
                <a:spcPct val="90000"/>
              </a:lnSpc>
              <a:spcBef>
                <a:spcPct val="0"/>
              </a:spcBef>
              <a:buNone/>
              <a:defRPr lang="en-US" sz="3600" b="1" kern="1200" spc="-38" baseline="0" dirty="0">
                <a:solidFill>
                  <a:srgbClr val="002060"/>
                </a:solidFill>
                <a:latin typeface="+mn-lt"/>
                <a:ea typeface="+mj-ea"/>
                <a:cs typeface="+mj-cs"/>
              </a:defRPr>
            </a:lvl1pPr>
          </a:lstStyle>
          <a:p>
            <a:r>
              <a:rPr lang="en-US" sz="1400"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Ribbon</a:t>
            </a:r>
          </a:p>
        </p:txBody>
      </p:sp>
      <p:cxnSp>
        <p:nvCxnSpPr>
          <p:cNvPr id="38" name="Connector: Curved 37">
            <a:extLst>
              <a:ext uri="{FF2B5EF4-FFF2-40B4-BE49-F238E27FC236}">
                <a16:creationId xmlns:a16="http://schemas.microsoft.com/office/drawing/2014/main" id="{3437E795-9336-0102-AC7E-9F1AC51704E4}"/>
              </a:ext>
            </a:extLst>
          </p:cNvPr>
          <p:cNvCxnSpPr>
            <a:cxnSpLocks/>
          </p:cNvCxnSpPr>
          <p:nvPr/>
        </p:nvCxnSpPr>
        <p:spPr>
          <a:xfrm rot="10800000" flipV="1">
            <a:off x="5721859" y="3785104"/>
            <a:ext cx="907545" cy="654308"/>
          </a:xfrm>
          <a:prstGeom prst="curvedConnector3">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1" name="Title 1">
            <a:extLst>
              <a:ext uri="{FF2B5EF4-FFF2-40B4-BE49-F238E27FC236}">
                <a16:creationId xmlns:a16="http://schemas.microsoft.com/office/drawing/2014/main" id="{82F1BE6A-ECE0-3BB1-D4A8-BC19BDFC6C9C}"/>
              </a:ext>
            </a:extLst>
          </p:cNvPr>
          <p:cNvSpPr txBox="1">
            <a:spLocks/>
          </p:cNvSpPr>
          <p:nvPr/>
        </p:nvSpPr>
        <p:spPr>
          <a:xfrm>
            <a:off x="5095593" y="4343400"/>
            <a:ext cx="1435608" cy="292958"/>
          </a:xfrm>
          <a:prstGeom prst="rect">
            <a:avLst/>
          </a:prstGeom>
        </p:spPr>
        <p:txBody>
          <a:bodyPr/>
          <a:lstStyle>
            <a:lvl1pPr algn="l" defTabSz="685800" rtl="0" eaLnBrk="1" latinLnBrk="0" hangingPunct="1">
              <a:lnSpc>
                <a:spcPct val="90000"/>
              </a:lnSpc>
              <a:spcBef>
                <a:spcPct val="0"/>
              </a:spcBef>
              <a:buNone/>
              <a:defRPr lang="en-US" sz="3600" b="1" kern="1200" spc="-38" baseline="0" dirty="0">
                <a:solidFill>
                  <a:srgbClr val="002060"/>
                </a:solidFill>
                <a:latin typeface="+mn-lt"/>
                <a:ea typeface="+mj-ea"/>
                <a:cs typeface="+mj-cs"/>
              </a:defRPr>
            </a:lvl1pPr>
          </a:lstStyle>
          <a:p>
            <a:r>
              <a:rPr lang="en-US" sz="1400"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Filters</a:t>
            </a:r>
          </a:p>
        </p:txBody>
      </p:sp>
      <p:cxnSp>
        <p:nvCxnSpPr>
          <p:cNvPr id="44" name="Connector: Curved 43">
            <a:extLst>
              <a:ext uri="{FF2B5EF4-FFF2-40B4-BE49-F238E27FC236}">
                <a16:creationId xmlns:a16="http://schemas.microsoft.com/office/drawing/2014/main" id="{26F2F074-2AB6-19CD-A6E3-CC69D563C36F}"/>
              </a:ext>
            </a:extLst>
          </p:cNvPr>
          <p:cNvCxnSpPr>
            <a:cxnSpLocks/>
          </p:cNvCxnSpPr>
          <p:nvPr/>
        </p:nvCxnSpPr>
        <p:spPr>
          <a:xfrm rot="10800000" flipV="1">
            <a:off x="7785911" y="4966438"/>
            <a:ext cx="393504" cy="263930"/>
          </a:xfrm>
          <a:prstGeom prst="curvedConnector3">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6" name="Title 1">
            <a:extLst>
              <a:ext uri="{FF2B5EF4-FFF2-40B4-BE49-F238E27FC236}">
                <a16:creationId xmlns:a16="http://schemas.microsoft.com/office/drawing/2014/main" id="{6C71ABF2-66D0-B625-9C38-56A98C4E1403}"/>
              </a:ext>
            </a:extLst>
          </p:cNvPr>
          <p:cNvSpPr txBox="1">
            <a:spLocks/>
          </p:cNvSpPr>
          <p:nvPr/>
        </p:nvSpPr>
        <p:spPr>
          <a:xfrm>
            <a:off x="6684264" y="5183113"/>
            <a:ext cx="1435608" cy="292958"/>
          </a:xfrm>
          <a:prstGeom prst="rect">
            <a:avLst/>
          </a:prstGeom>
        </p:spPr>
        <p:txBody>
          <a:bodyPr/>
          <a:lstStyle>
            <a:lvl1pPr algn="l" defTabSz="685800" rtl="0" eaLnBrk="1" latinLnBrk="0" hangingPunct="1">
              <a:lnSpc>
                <a:spcPct val="90000"/>
              </a:lnSpc>
              <a:spcBef>
                <a:spcPct val="0"/>
              </a:spcBef>
              <a:buNone/>
              <a:defRPr lang="en-US" sz="3600" b="1" kern="1200" spc="-38" baseline="0" dirty="0">
                <a:solidFill>
                  <a:srgbClr val="002060"/>
                </a:solidFill>
                <a:latin typeface="+mn-lt"/>
                <a:ea typeface="+mj-ea"/>
                <a:cs typeface="+mj-cs"/>
              </a:defRPr>
            </a:lvl1pPr>
          </a:lstStyle>
          <a:p>
            <a:r>
              <a:rPr lang="en-US" sz="1400"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Visualizations</a:t>
            </a:r>
          </a:p>
        </p:txBody>
      </p:sp>
      <p:cxnSp>
        <p:nvCxnSpPr>
          <p:cNvPr id="47" name="Connector: Curved 46">
            <a:extLst>
              <a:ext uri="{FF2B5EF4-FFF2-40B4-BE49-F238E27FC236}">
                <a16:creationId xmlns:a16="http://schemas.microsoft.com/office/drawing/2014/main" id="{659C9090-7167-E8DE-4638-2F4DAF3261BC}"/>
              </a:ext>
            </a:extLst>
          </p:cNvPr>
          <p:cNvCxnSpPr>
            <a:cxnSpLocks/>
          </p:cNvCxnSpPr>
          <p:nvPr/>
        </p:nvCxnSpPr>
        <p:spPr>
          <a:xfrm rot="16200000" flipV="1">
            <a:off x="9731888" y="2133223"/>
            <a:ext cx="362494" cy="308819"/>
          </a:xfrm>
          <a:prstGeom prst="curvedConnector3">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8" name="Title 1">
            <a:extLst>
              <a:ext uri="{FF2B5EF4-FFF2-40B4-BE49-F238E27FC236}">
                <a16:creationId xmlns:a16="http://schemas.microsoft.com/office/drawing/2014/main" id="{18C48B97-DFDF-B930-A697-8D1FD9FE3610}"/>
              </a:ext>
            </a:extLst>
          </p:cNvPr>
          <p:cNvSpPr txBox="1">
            <a:spLocks/>
          </p:cNvSpPr>
          <p:nvPr/>
        </p:nvSpPr>
        <p:spPr>
          <a:xfrm>
            <a:off x="9195331" y="1914910"/>
            <a:ext cx="1435608" cy="292958"/>
          </a:xfrm>
          <a:prstGeom prst="rect">
            <a:avLst/>
          </a:prstGeom>
        </p:spPr>
        <p:txBody>
          <a:bodyPr/>
          <a:lstStyle>
            <a:lvl1pPr algn="l" defTabSz="685800" rtl="0" eaLnBrk="1" latinLnBrk="0" hangingPunct="1">
              <a:lnSpc>
                <a:spcPct val="90000"/>
              </a:lnSpc>
              <a:spcBef>
                <a:spcPct val="0"/>
              </a:spcBef>
              <a:buNone/>
              <a:defRPr lang="en-US" sz="3600" b="1" kern="1200" spc="-38" baseline="0" dirty="0">
                <a:solidFill>
                  <a:srgbClr val="002060"/>
                </a:solidFill>
                <a:latin typeface="+mn-lt"/>
                <a:ea typeface="+mj-ea"/>
                <a:cs typeface="+mj-cs"/>
              </a:defRPr>
            </a:lvl1pPr>
          </a:lstStyle>
          <a:p>
            <a:r>
              <a:rPr lang="en-US" sz="1400"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Fields</a:t>
            </a:r>
          </a:p>
        </p:txBody>
      </p:sp>
    </p:spTree>
    <p:extLst>
      <p:ext uri="{BB962C8B-B14F-4D97-AF65-F5344CB8AC3E}">
        <p14:creationId xmlns:p14="http://schemas.microsoft.com/office/powerpoint/2010/main" val="17020802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B05B33-0015-9B56-5AC0-4D67FEDF5F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6A836D-50D6-5339-CF1E-28039A976D04}"/>
              </a:ext>
            </a:extLst>
          </p:cNvPr>
          <p:cNvSpPr>
            <a:spLocks noGrp="1"/>
          </p:cNvSpPr>
          <p:nvPr>
            <p:ph type="title"/>
          </p:nvPr>
        </p:nvSpPr>
        <p:spPr>
          <a:xfrm>
            <a:off x="1156920" y="715229"/>
            <a:ext cx="9393848" cy="712765"/>
          </a:xfrm>
        </p:spPr>
        <p:txBody>
          <a:bodyPr/>
          <a:lstStyle/>
          <a:p>
            <a:r>
              <a:rPr lang="en-US"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Views</a:t>
            </a:r>
            <a:r>
              <a:rPr lang="en-US" dirty="0">
                <a:latin typeface="ADLaM Display" panose="02010000000000000000" pitchFamily="2" charset="0"/>
                <a:ea typeface="ADLaM Display" panose="02010000000000000000" pitchFamily="2" charset="0"/>
                <a:cs typeface="ADLaM Display" panose="02010000000000000000" pitchFamily="2" charset="0"/>
              </a:rPr>
              <a:t> in Power BI Desktop</a:t>
            </a:r>
            <a:endParaRPr lang="en-US" dirty="0">
              <a:solidFill>
                <a:srgbClr val="FFC000"/>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6" name="Text Placeholder 2">
            <a:extLst>
              <a:ext uri="{FF2B5EF4-FFF2-40B4-BE49-F238E27FC236}">
                <a16:creationId xmlns:a16="http://schemas.microsoft.com/office/drawing/2014/main" id="{32CBB9B5-27C9-DD1A-52B3-D2ACCD90CC8F}"/>
              </a:ext>
            </a:extLst>
          </p:cNvPr>
          <p:cNvSpPr>
            <a:spLocks noGrp="1"/>
          </p:cNvSpPr>
          <p:nvPr>
            <p:ph type="body" sz="quarter" idx="14"/>
          </p:nvPr>
        </p:nvSpPr>
        <p:spPr>
          <a:xfrm>
            <a:off x="673769" y="1574212"/>
            <a:ext cx="10924674" cy="5171493"/>
          </a:xfrm>
        </p:spPr>
        <p:txBody>
          <a:bodyPr vert="horz" lIns="91440" tIns="45720" rIns="91440" bIns="45720" rtlCol="0">
            <a:normAutofit/>
          </a:bodyPr>
          <a:lstStyle/>
          <a:p>
            <a:pPr marL="314325" indent="-342900" algn="just" defTabSz="914400">
              <a:lnSpc>
                <a:spcPct val="90000"/>
              </a:lnSpc>
              <a:buFont typeface="Wingdings" panose="05000000000000000000" pitchFamily="2" charset="2"/>
              <a:buChar char="q"/>
            </a:pPr>
            <a:r>
              <a:rPr lang="en-US" sz="28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 </a:t>
            </a:r>
            <a:r>
              <a:rPr lang="en-US" sz="2800" b="1"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Report View </a:t>
            </a:r>
            <a:r>
              <a:rPr lang="en-US" sz="28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 You can use queries that you create to build compelling visualizations, arranged as you want then to appear, and with multiple pages, that you can share with others.</a:t>
            </a:r>
          </a:p>
          <a:p>
            <a:pPr marL="314325" indent="-342900" algn="just" defTabSz="914400">
              <a:lnSpc>
                <a:spcPct val="90000"/>
              </a:lnSpc>
              <a:buFont typeface="Wingdings" panose="05000000000000000000" pitchFamily="2" charset="2"/>
              <a:buChar char="q"/>
            </a:pPr>
            <a:r>
              <a:rPr lang="en-US" sz="28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 </a:t>
            </a:r>
            <a:r>
              <a:rPr lang="en-US" sz="2800" b="1"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Data View </a:t>
            </a:r>
            <a:r>
              <a:rPr lang="en-US" sz="28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 See the data in your report in data model format, where you can add measures, create new columns, &amp; manage relationships.</a:t>
            </a:r>
          </a:p>
          <a:p>
            <a:pPr marL="314325" indent="-342900" algn="just" defTabSz="914400">
              <a:lnSpc>
                <a:spcPct val="90000"/>
              </a:lnSpc>
              <a:buFont typeface="Wingdings" panose="05000000000000000000" pitchFamily="2" charset="2"/>
              <a:buChar char="q"/>
            </a:pPr>
            <a:r>
              <a:rPr lang="en-US" sz="28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 </a:t>
            </a:r>
            <a:r>
              <a:rPr lang="en-US" sz="2800" b="1"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Model View </a:t>
            </a:r>
            <a:r>
              <a:rPr lang="en-US" sz="28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 Get a graphical representation of the relationships that are established in your data model &amp; manage or modify them as needed.</a:t>
            </a:r>
            <a:endParaRPr lang="en-US" sz="2800" dirty="0">
              <a:solidFill>
                <a:schemeClr val="tx1"/>
              </a:solidFill>
            </a:endParaRPr>
          </a:p>
        </p:txBody>
      </p:sp>
    </p:spTree>
    <p:extLst>
      <p:ext uri="{BB962C8B-B14F-4D97-AF65-F5344CB8AC3E}">
        <p14:creationId xmlns:p14="http://schemas.microsoft.com/office/powerpoint/2010/main" val="29287935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7A06B5-1248-D183-6C1B-8896931393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46540F-AF7C-6E52-767C-AC64949BD232}"/>
              </a:ext>
            </a:extLst>
          </p:cNvPr>
          <p:cNvSpPr>
            <a:spLocks noGrp="1"/>
          </p:cNvSpPr>
          <p:nvPr>
            <p:ph type="title"/>
          </p:nvPr>
        </p:nvSpPr>
        <p:spPr>
          <a:xfrm>
            <a:off x="1156920" y="715229"/>
            <a:ext cx="9393848" cy="712765"/>
          </a:xfrm>
        </p:spPr>
        <p:txBody>
          <a:bodyPr/>
          <a:lstStyle/>
          <a:p>
            <a:r>
              <a:rPr lang="en-US"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a:t>
            </a:r>
          </a:p>
        </p:txBody>
      </p:sp>
      <p:pic>
        <p:nvPicPr>
          <p:cNvPr id="4" name="Picture 3">
            <a:extLst>
              <a:ext uri="{FF2B5EF4-FFF2-40B4-BE49-F238E27FC236}">
                <a16:creationId xmlns:a16="http://schemas.microsoft.com/office/drawing/2014/main" id="{F14EDA6A-ED16-2094-1F54-12CCBF296CF6}"/>
              </a:ext>
            </a:extLst>
          </p:cNvPr>
          <p:cNvPicPr>
            <a:picLocks noChangeAspect="1"/>
          </p:cNvPicPr>
          <p:nvPr/>
        </p:nvPicPr>
        <p:blipFill>
          <a:blip r:embed="rId2"/>
          <a:stretch>
            <a:fillRect/>
          </a:stretch>
        </p:blipFill>
        <p:spPr>
          <a:xfrm>
            <a:off x="1156919" y="1427993"/>
            <a:ext cx="9735669" cy="5212999"/>
          </a:xfrm>
          <a:prstGeom prst="rect">
            <a:avLst/>
          </a:prstGeom>
        </p:spPr>
      </p:pic>
      <p:sp>
        <p:nvSpPr>
          <p:cNvPr id="5" name="Rectangle 4">
            <a:extLst>
              <a:ext uri="{FF2B5EF4-FFF2-40B4-BE49-F238E27FC236}">
                <a16:creationId xmlns:a16="http://schemas.microsoft.com/office/drawing/2014/main" id="{B3219602-6C67-D059-2DBE-86F6BC1C7EAD}"/>
              </a:ext>
            </a:extLst>
          </p:cNvPr>
          <p:cNvSpPr/>
          <p:nvPr/>
        </p:nvSpPr>
        <p:spPr>
          <a:xfrm>
            <a:off x="1156919" y="2395728"/>
            <a:ext cx="306121" cy="246888"/>
          </a:xfrm>
          <a:prstGeom prst="rect">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D2CC7035-6197-49AC-2A29-655C58D55B1C}"/>
              </a:ext>
            </a:extLst>
          </p:cNvPr>
          <p:cNvSpPr/>
          <p:nvPr/>
        </p:nvSpPr>
        <p:spPr>
          <a:xfrm>
            <a:off x="1156918" y="2700528"/>
            <a:ext cx="306121" cy="246888"/>
          </a:xfrm>
          <a:prstGeom prst="rect">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1B5F65B1-57EE-A516-9C9F-7FB04AF8F2A0}"/>
              </a:ext>
            </a:extLst>
          </p:cNvPr>
          <p:cNvSpPr/>
          <p:nvPr/>
        </p:nvSpPr>
        <p:spPr>
          <a:xfrm>
            <a:off x="1156918" y="3005328"/>
            <a:ext cx="306121" cy="246888"/>
          </a:xfrm>
          <a:prstGeom prst="rect">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Connector: Curved 7">
            <a:extLst>
              <a:ext uri="{FF2B5EF4-FFF2-40B4-BE49-F238E27FC236}">
                <a16:creationId xmlns:a16="http://schemas.microsoft.com/office/drawing/2014/main" id="{04E1AC1A-20A3-A6B4-5C0C-AC7CAC005E44}"/>
              </a:ext>
            </a:extLst>
          </p:cNvPr>
          <p:cNvCxnSpPr>
            <a:cxnSpLocks/>
          </p:cNvCxnSpPr>
          <p:nvPr/>
        </p:nvCxnSpPr>
        <p:spPr>
          <a:xfrm flipV="1">
            <a:off x="1463039" y="2488692"/>
            <a:ext cx="1261873" cy="108178"/>
          </a:xfrm>
          <a:prstGeom prst="curvedConnector3">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E929A4E9-D65E-4037-3C10-4729AFB72A94}"/>
              </a:ext>
            </a:extLst>
          </p:cNvPr>
          <p:cNvSpPr txBox="1">
            <a:spLocks/>
          </p:cNvSpPr>
          <p:nvPr/>
        </p:nvSpPr>
        <p:spPr>
          <a:xfrm>
            <a:off x="2642615" y="2349658"/>
            <a:ext cx="1435608" cy="292958"/>
          </a:xfrm>
          <a:prstGeom prst="rect">
            <a:avLst/>
          </a:prstGeom>
        </p:spPr>
        <p:txBody>
          <a:bodyPr/>
          <a:lstStyle>
            <a:lvl1pPr algn="l" defTabSz="685800" rtl="0" eaLnBrk="1" latinLnBrk="0" hangingPunct="1">
              <a:lnSpc>
                <a:spcPct val="90000"/>
              </a:lnSpc>
              <a:spcBef>
                <a:spcPct val="0"/>
              </a:spcBef>
              <a:buNone/>
              <a:defRPr lang="en-US" sz="3600" b="1" kern="1200" spc="-38" baseline="0" dirty="0">
                <a:solidFill>
                  <a:srgbClr val="002060"/>
                </a:solidFill>
                <a:latin typeface="+mn-lt"/>
                <a:ea typeface="+mj-ea"/>
                <a:cs typeface="+mj-cs"/>
              </a:defRPr>
            </a:lvl1pPr>
          </a:lstStyle>
          <a:p>
            <a:r>
              <a:rPr lang="en-US" sz="1400"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Report View</a:t>
            </a:r>
          </a:p>
        </p:txBody>
      </p:sp>
      <p:cxnSp>
        <p:nvCxnSpPr>
          <p:cNvPr id="14" name="Connector: Curved 13">
            <a:extLst>
              <a:ext uri="{FF2B5EF4-FFF2-40B4-BE49-F238E27FC236}">
                <a16:creationId xmlns:a16="http://schemas.microsoft.com/office/drawing/2014/main" id="{80FD2A1C-85A4-0823-DFD5-4B4AA526510C}"/>
              </a:ext>
            </a:extLst>
          </p:cNvPr>
          <p:cNvCxnSpPr>
            <a:cxnSpLocks/>
          </p:cNvCxnSpPr>
          <p:nvPr/>
        </p:nvCxnSpPr>
        <p:spPr>
          <a:xfrm>
            <a:off x="1463039" y="2808544"/>
            <a:ext cx="1261873" cy="12700"/>
          </a:xfrm>
          <a:prstGeom prst="curvedConnector3">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Title 1">
            <a:extLst>
              <a:ext uri="{FF2B5EF4-FFF2-40B4-BE49-F238E27FC236}">
                <a16:creationId xmlns:a16="http://schemas.microsoft.com/office/drawing/2014/main" id="{BE26BAFD-4C85-560E-AFB6-162959AB91F1}"/>
              </a:ext>
            </a:extLst>
          </p:cNvPr>
          <p:cNvSpPr txBox="1">
            <a:spLocks/>
          </p:cNvSpPr>
          <p:nvPr/>
        </p:nvSpPr>
        <p:spPr>
          <a:xfrm>
            <a:off x="2642615" y="2689834"/>
            <a:ext cx="1435608" cy="292958"/>
          </a:xfrm>
          <a:prstGeom prst="rect">
            <a:avLst/>
          </a:prstGeom>
        </p:spPr>
        <p:txBody>
          <a:bodyPr/>
          <a:lstStyle>
            <a:lvl1pPr algn="l" defTabSz="685800" rtl="0" eaLnBrk="1" latinLnBrk="0" hangingPunct="1">
              <a:lnSpc>
                <a:spcPct val="90000"/>
              </a:lnSpc>
              <a:spcBef>
                <a:spcPct val="0"/>
              </a:spcBef>
              <a:buNone/>
              <a:defRPr lang="en-US" sz="3600" b="1" kern="1200" spc="-38" baseline="0" dirty="0">
                <a:solidFill>
                  <a:srgbClr val="002060"/>
                </a:solidFill>
                <a:latin typeface="+mn-lt"/>
                <a:ea typeface="+mj-ea"/>
                <a:cs typeface="+mj-cs"/>
              </a:defRPr>
            </a:lvl1pPr>
          </a:lstStyle>
          <a:p>
            <a:r>
              <a:rPr lang="en-US" sz="1400"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Data View</a:t>
            </a:r>
          </a:p>
        </p:txBody>
      </p:sp>
      <p:cxnSp>
        <p:nvCxnSpPr>
          <p:cNvPr id="23" name="Connector: Curved 22">
            <a:extLst>
              <a:ext uri="{FF2B5EF4-FFF2-40B4-BE49-F238E27FC236}">
                <a16:creationId xmlns:a16="http://schemas.microsoft.com/office/drawing/2014/main" id="{0E0AF5CD-A90F-A0B2-C0B4-FA1D9AE97858}"/>
              </a:ext>
            </a:extLst>
          </p:cNvPr>
          <p:cNvCxnSpPr>
            <a:cxnSpLocks/>
          </p:cNvCxnSpPr>
          <p:nvPr/>
        </p:nvCxnSpPr>
        <p:spPr>
          <a:xfrm>
            <a:off x="1463039" y="3159090"/>
            <a:ext cx="1261873" cy="35376"/>
          </a:xfrm>
          <a:prstGeom prst="curvedConnector3">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Title 1">
            <a:extLst>
              <a:ext uri="{FF2B5EF4-FFF2-40B4-BE49-F238E27FC236}">
                <a16:creationId xmlns:a16="http://schemas.microsoft.com/office/drawing/2014/main" id="{8AB4CD5D-8D9A-AEB4-3240-271A566571DC}"/>
              </a:ext>
            </a:extLst>
          </p:cNvPr>
          <p:cNvSpPr txBox="1">
            <a:spLocks/>
          </p:cNvSpPr>
          <p:nvPr/>
        </p:nvSpPr>
        <p:spPr>
          <a:xfrm>
            <a:off x="2642615" y="3047987"/>
            <a:ext cx="1435608" cy="292958"/>
          </a:xfrm>
          <a:prstGeom prst="rect">
            <a:avLst/>
          </a:prstGeom>
        </p:spPr>
        <p:txBody>
          <a:bodyPr/>
          <a:lstStyle>
            <a:lvl1pPr algn="l" defTabSz="685800" rtl="0" eaLnBrk="1" latinLnBrk="0" hangingPunct="1">
              <a:lnSpc>
                <a:spcPct val="90000"/>
              </a:lnSpc>
              <a:spcBef>
                <a:spcPct val="0"/>
              </a:spcBef>
              <a:buNone/>
              <a:defRPr lang="en-US" sz="3600" b="1" kern="1200" spc="-38" baseline="0" dirty="0">
                <a:solidFill>
                  <a:srgbClr val="002060"/>
                </a:solidFill>
                <a:latin typeface="+mn-lt"/>
                <a:ea typeface="+mj-ea"/>
                <a:cs typeface="+mj-cs"/>
              </a:defRPr>
            </a:lvl1pPr>
          </a:lstStyle>
          <a:p>
            <a:r>
              <a:rPr lang="en-US" sz="1400"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Model View</a:t>
            </a:r>
          </a:p>
        </p:txBody>
      </p:sp>
    </p:spTree>
    <p:extLst>
      <p:ext uri="{BB962C8B-B14F-4D97-AF65-F5344CB8AC3E}">
        <p14:creationId xmlns:p14="http://schemas.microsoft.com/office/powerpoint/2010/main" val="17829893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FD16A3-115F-97ED-11C8-19F5BF0E13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C03B76-6D74-32D3-FED0-3B8D1A1852F1}"/>
              </a:ext>
            </a:extLst>
          </p:cNvPr>
          <p:cNvSpPr>
            <a:spLocks noGrp="1"/>
          </p:cNvSpPr>
          <p:nvPr>
            <p:ph type="title"/>
          </p:nvPr>
        </p:nvSpPr>
        <p:spPr>
          <a:xfrm>
            <a:off x="1156920" y="715229"/>
            <a:ext cx="9393848" cy="712765"/>
          </a:xfrm>
        </p:spPr>
        <p:txBody>
          <a:bodyPr/>
          <a:lstStyle/>
          <a:p>
            <a:r>
              <a:rPr lang="en-US" dirty="0">
                <a:latin typeface="ADLaM Display" panose="02010000000000000000" pitchFamily="2" charset="0"/>
                <a:ea typeface="ADLaM Display" panose="02010000000000000000" pitchFamily="2" charset="0"/>
                <a:cs typeface="ADLaM Display" panose="02010000000000000000" pitchFamily="2" charset="0"/>
              </a:rPr>
              <a:t>Power BI </a:t>
            </a:r>
            <a:r>
              <a:rPr lang="en-US"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Contents</a:t>
            </a:r>
          </a:p>
        </p:txBody>
      </p:sp>
      <p:grpSp>
        <p:nvGrpSpPr>
          <p:cNvPr id="7" name="Group 6">
            <a:extLst>
              <a:ext uri="{FF2B5EF4-FFF2-40B4-BE49-F238E27FC236}">
                <a16:creationId xmlns:a16="http://schemas.microsoft.com/office/drawing/2014/main" id="{51759038-1331-3761-2299-892DDF2539C2}"/>
              </a:ext>
            </a:extLst>
          </p:cNvPr>
          <p:cNvGrpSpPr/>
          <p:nvPr/>
        </p:nvGrpSpPr>
        <p:grpSpPr>
          <a:xfrm>
            <a:off x="521844" y="1299658"/>
            <a:ext cx="11148312" cy="5327922"/>
            <a:chOff x="353350" y="1331742"/>
            <a:chExt cx="11148312" cy="5327922"/>
          </a:xfrm>
        </p:grpSpPr>
        <p:sp>
          <p:nvSpPr>
            <p:cNvPr id="8" name="Rectangle: Rounded Corners 7">
              <a:extLst>
                <a:ext uri="{FF2B5EF4-FFF2-40B4-BE49-F238E27FC236}">
                  <a16:creationId xmlns:a16="http://schemas.microsoft.com/office/drawing/2014/main" id="{24E37378-6A17-2B29-4EE2-EE54669A0878}"/>
                </a:ext>
              </a:extLst>
            </p:cNvPr>
            <p:cNvSpPr/>
            <p:nvPr/>
          </p:nvSpPr>
          <p:spPr>
            <a:xfrm>
              <a:off x="353350" y="2642814"/>
              <a:ext cx="3585409" cy="1572372"/>
            </a:xfrm>
            <a:prstGeom prst="roundRect">
              <a:avLst/>
            </a:prstGeom>
            <a:noFill/>
            <a:ln w="762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Dashboards</a:t>
              </a:r>
              <a:r>
                <a:rPr lang="en-US" sz="2000" dirty="0">
                  <a:solidFill>
                    <a:schemeClr val="tx1"/>
                  </a:solidFill>
                </a:rPr>
                <a:t>: Provide high-level overview of key metrics and KPIs. Made up of tiles.</a:t>
              </a:r>
            </a:p>
          </p:txBody>
        </p:sp>
        <p:pic>
          <p:nvPicPr>
            <p:cNvPr id="9" name="Picture 8">
              <a:extLst>
                <a:ext uri="{FF2B5EF4-FFF2-40B4-BE49-F238E27FC236}">
                  <a16:creationId xmlns:a16="http://schemas.microsoft.com/office/drawing/2014/main" id="{6784952C-B43C-B356-FA0F-1F2873478C5A}"/>
                </a:ext>
              </a:extLst>
            </p:cNvPr>
            <p:cNvPicPr>
              <a:picLocks noChangeAspect="1"/>
            </p:cNvPicPr>
            <p:nvPr/>
          </p:nvPicPr>
          <p:blipFill>
            <a:blip r:embed="rId2"/>
            <a:stretch>
              <a:fillRect/>
            </a:stretch>
          </p:blipFill>
          <p:spPr>
            <a:xfrm>
              <a:off x="1271759" y="1331742"/>
              <a:ext cx="1748589" cy="1748589"/>
            </a:xfrm>
            <a:prstGeom prst="rect">
              <a:avLst/>
            </a:prstGeom>
          </p:spPr>
        </p:pic>
        <p:sp>
          <p:nvSpPr>
            <p:cNvPr id="10" name="Rectangle: Rounded Corners 9">
              <a:extLst>
                <a:ext uri="{FF2B5EF4-FFF2-40B4-BE49-F238E27FC236}">
                  <a16:creationId xmlns:a16="http://schemas.microsoft.com/office/drawing/2014/main" id="{E0D2F541-9332-E339-D29F-A2025DD3C8C1}"/>
                </a:ext>
              </a:extLst>
            </p:cNvPr>
            <p:cNvSpPr/>
            <p:nvPr/>
          </p:nvSpPr>
          <p:spPr>
            <a:xfrm>
              <a:off x="4586676" y="2642814"/>
              <a:ext cx="3221976" cy="1572372"/>
            </a:xfrm>
            <a:prstGeom prst="roundRect">
              <a:avLst/>
            </a:prstGeom>
            <a:noFill/>
            <a:ln w="762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Reports</a:t>
              </a:r>
              <a:r>
                <a:rPr lang="en-US" sz="2000" dirty="0">
                  <a:solidFill>
                    <a:schemeClr val="tx1"/>
                  </a:solidFill>
                </a:rPr>
                <a:t>: Interactive and dynamic presentations of data.</a:t>
              </a:r>
            </a:p>
          </p:txBody>
        </p:sp>
        <p:pic>
          <p:nvPicPr>
            <p:cNvPr id="11" name="Picture 10">
              <a:extLst>
                <a:ext uri="{FF2B5EF4-FFF2-40B4-BE49-F238E27FC236}">
                  <a16:creationId xmlns:a16="http://schemas.microsoft.com/office/drawing/2014/main" id="{A445ECEE-63AB-B271-04C1-7320F4B8B6F2}"/>
                </a:ext>
              </a:extLst>
            </p:cNvPr>
            <p:cNvPicPr>
              <a:picLocks noChangeAspect="1"/>
            </p:cNvPicPr>
            <p:nvPr/>
          </p:nvPicPr>
          <p:blipFill>
            <a:blip r:embed="rId3"/>
            <a:stretch>
              <a:fillRect/>
            </a:stretch>
          </p:blipFill>
          <p:spPr>
            <a:xfrm>
              <a:off x="5411478" y="1331742"/>
              <a:ext cx="1572372" cy="1572372"/>
            </a:xfrm>
            <a:prstGeom prst="rect">
              <a:avLst/>
            </a:prstGeom>
          </p:spPr>
        </p:pic>
        <p:sp>
          <p:nvSpPr>
            <p:cNvPr id="12" name="Rectangle: Rounded Corners 11">
              <a:extLst>
                <a:ext uri="{FF2B5EF4-FFF2-40B4-BE49-F238E27FC236}">
                  <a16:creationId xmlns:a16="http://schemas.microsoft.com/office/drawing/2014/main" id="{CF7E0416-86D9-EDF2-A776-0E1B46F03CA5}"/>
                </a:ext>
              </a:extLst>
            </p:cNvPr>
            <p:cNvSpPr/>
            <p:nvPr/>
          </p:nvSpPr>
          <p:spPr>
            <a:xfrm>
              <a:off x="8279686" y="2642814"/>
              <a:ext cx="3221976" cy="1572372"/>
            </a:xfrm>
            <a:prstGeom prst="roundRect">
              <a:avLst/>
            </a:prstGeom>
            <a:noFill/>
            <a:ln w="762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Data Sources</a:t>
              </a:r>
              <a:r>
                <a:rPr lang="en-US" sz="2000" dirty="0">
                  <a:solidFill>
                    <a:schemeClr val="tx1"/>
                  </a:solidFill>
                </a:rPr>
                <a:t>: Connect to various data sources for analysis</a:t>
              </a:r>
            </a:p>
          </p:txBody>
        </p:sp>
        <p:pic>
          <p:nvPicPr>
            <p:cNvPr id="13" name="Picture 12">
              <a:extLst>
                <a:ext uri="{FF2B5EF4-FFF2-40B4-BE49-F238E27FC236}">
                  <a16:creationId xmlns:a16="http://schemas.microsoft.com/office/drawing/2014/main" id="{DA704826-7C9D-8CC2-FE61-F98676399FE4}"/>
                </a:ext>
              </a:extLst>
            </p:cNvPr>
            <p:cNvPicPr>
              <a:picLocks noChangeAspect="1"/>
            </p:cNvPicPr>
            <p:nvPr/>
          </p:nvPicPr>
          <p:blipFill>
            <a:blip r:embed="rId4"/>
            <a:stretch>
              <a:fillRect/>
            </a:stretch>
          </p:blipFill>
          <p:spPr>
            <a:xfrm>
              <a:off x="9104488" y="1353149"/>
              <a:ext cx="1572372" cy="1572372"/>
            </a:xfrm>
            <a:prstGeom prst="rect">
              <a:avLst/>
            </a:prstGeom>
          </p:spPr>
        </p:pic>
        <p:sp>
          <p:nvSpPr>
            <p:cNvPr id="14" name="Rectangle: Rounded Corners 13">
              <a:extLst>
                <a:ext uri="{FF2B5EF4-FFF2-40B4-BE49-F238E27FC236}">
                  <a16:creationId xmlns:a16="http://schemas.microsoft.com/office/drawing/2014/main" id="{17F4D4B2-138C-4BB9-FFCB-4535B7B6E7A7}"/>
                </a:ext>
              </a:extLst>
            </p:cNvPr>
            <p:cNvSpPr/>
            <p:nvPr/>
          </p:nvSpPr>
          <p:spPr>
            <a:xfrm>
              <a:off x="366659" y="5087292"/>
              <a:ext cx="3585409" cy="1572372"/>
            </a:xfrm>
            <a:prstGeom prst="roundRect">
              <a:avLst/>
            </a:prstGeom>
            <a:noFill/>
            <a:ln w="762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Data Modeling</a:t>
              </a:r>
              <a:r>
                <a:rPr lang="en-US" sz="2000" dirty="0">
                  <a:solidFill>
                    <a:schemeClr val="tx1"/>
                  </a:solidFill>
                </a:rPr>
                <a:t>: Create relationships and structures for analysis.</a:t>
              </a:r>
            </a:p>
          </p:txBody>
        </p:sp>
        <p:pic>
          <p:nvPicPr>
            <p:cNvPr id="15" name="Picture 14">
              <a:extLst>
                <a:ext uri="{FF2B5EF4-FFF2-40B4-BE49-F238E27FC236}">
                  <a16:creationId xmlns:a16="http://schemas.microsoft.com/office/drawing/2014/main" id="{1B676E16-6024-2764-9EE3-89D6107991EA}"/>
                </a:ext>
              </a:extLst>
            </p:cNvPr>
            <p:cNvPicPr>
              <a:picLocks noChangeAspect="1"/>
            </p:cNvPicPr>
            <p:nvPr/>
          </p:nvPicPr>
          <p:blipFill>
            <a:blip r:embed="rId5"/>
            <a:stretch>
              <a:fillRect/>
            </a:stretch>
          </p:blipFill>
          <p:spPr>
            <a:xfrm>
              <a:off x="1271759" y="4334450"/>
              <a:ext cx="1181827" cy="1181827"/>
            </a:xfrm>
            <a:prstGeom prst="rect">
              <a:avLst/>
            </a:prstGeom>
          </p:spPr>
        </p:pic>
        <p:sp>
          <p:nvSpPr>
            <p:cNvPr id="16" name="Rectangle: Rounded Corners 15">
              <a:extLst>
                <a:ext uri="{FF2B5EF4-FFF2-40B4-BE49-F238E27FC236}">
                  <a16:creationId xmlns:a16="http://schemas.microsoft.com/office/drawing/2014/main" id="{B9A8F57B-47E3-971A-9430-B22F2883C2DA}"/>
                </a:ext>
              </a:extLst>
            </p:cNvPr>
            <p:cNvSpPr/>
            <p:nvPr/>
          </p:nvSpPr>
          <p:spPr>
            <a:xfrm>
              <a:off x="4586676" y="5087292"/>
              <a:ext cx="3221976" cy="1572372"/>
            </a:xfrm>
            <a:prstGeom prst="roundRect">
              <a:avLst/>
            </a:prstGeom>
            <a:noFill/>
            <a:ln w="762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Power Query</a:t>
              </a:r>
              <a:r>
                <a:rPr lang="en-US" sz="2000" dirty="0">
                  <a:solidFill>
                    <a:schemeClr val="tx1"/>
                  </a:solidFill>
                </a:rPr>
                <a:t>: Import, clean, and transform data.</a:t>
              </a:r>
            </a:p>
          </p:txBody>
        </p:sp>
        <p:pic>
          <p:nvPicPr>
            <p:cNvPr id="17" name="Picture 16">
              <a:extLst>
                <a:ext uri="{FF2B5EF4-FFF2-40B4-BE49-F238E27FC236}">
                  <a16:creationId xmlns:a16="http://schemas.microsoft.com/office/drawing/2014/main" id="{8E03DCFC-B0EE-7CD7-6CFB-B7F29F05C515}"/>
                </a:ext>
              </a:extLst>
            </p:cNvPr>
            <p:cNvPicPr>
              <a:picLocks noChangeAspect="1"/>
            </p:cNvPicPr>
            <p:nvPr/>
          </p:nvPicPr>
          <p:blipFill>
            <a:blip r:embed="rId6"/>
            <a:stretch>
              <a:fillRect/>
            </a:stretch>
          </p:blipFill>
          <p:spPr>
            <a:xfrm>
              <a:off x="5505086" y="4334451"/>
              <a:ext cx="1181827" cy="1181827"/>
            </a:xfrm>
            <a:prstGeom prst="rect">
              <a:avLst/>
            </a:prstGeom>
          </p:spPr>
        </p:pic>
        <p:sp>
          <p:nvSpPr>
            <p:cNvPr id="18" name="Rectangle: Rounded Corners 17">
              <a:extLst>
                <a:ext uri="{FF2B5EF4-FFF2-40B4-BE49-F238E27FC236}">
                  <a16:creationId xmlns:a16="http://schemas.microsoft.com/office/drawing/2014/main" id="{145310CD-A42A-FF68-FFFF-41C5460D56DF}"/>
                </a:ext>
              </a:extLst>
            </p:cNvPr>
            <p:cNvSpPr/>
            <p:nvPr/>
          </p:nvSpPr>
          <p:spPr>
            <a:xfrm>
              <a:off x="8239931" y="5074332"/>
              <a:ext cx="3221976" cy="1572372"/>
            </a:xfrm>
            <a:prstGeom prst="roundRect">
              <a:avLst/>
            </a:prstGeom>
            <a:noFill/>
            <a:ln w="762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Query Editor</a:t>
              </a:r>
              <a:r>
                <a:rPr lang="en-US" sz="2000" dirty="0">
                  <a:solidFill>
                    <a:schemeClr val="tx1"/>
                  </a:solidFill>
                </a:rPr>
                <a:t>: Transform and clean data before analysis.</a:t>
              </a:r>
            </a:p>
          </p:txBody>
        </p:sp>
        <p:pic>
          <p:nvPicPr>
            <p:cNvPr id="19" name="Picture 18">
              <a:extLst>
                <a:ext uri="{FF2B5EF4-FFF2-40B4-BE49-F238E27FC236}">
                  <a16:creationId xmlns:a16="http://schemas.microsoft.com/office/drawing/2014/main" id="{3BD5BDDE-E999-3919-4433-7C96F2C70AA4}"/>
                </a:ext>
              </a:extLst>
            </p:cNvPr>
            <p:cNvPicPr>
              <a:picLocks noChangeAspect="1"/>
            </p:cNvPicPr>
            <p:nvPr/>
          </p:nvPicPr>
          <p:blipFill>
            <a:blip r:embed="rId7"/>
            <a:stretch>
              <a:fillRect/>
            </a:stretch>
          </p:blipFill>
          <p:spPr>
            <a:xfrm>
              <a:off x="9208884" y="4162679"/>
              <a:ext cx="1363579" cy="1363579"/>
            </a:xfrm>
            <a:prstGeom prst="rect">
              <a:avLst/>
            </a:prstGeom>
          </p:spPr>
        </p:pic>
      </p:grpSp>
    </p:spTree>
    <p:extLst>
      <p:ext uri="{BB962C8B-B14F-4D97-AF65-F5344CB8AC3E}">
        <p14:creationId xmlns:p14="http://schemas.microsoft.com/office/powerpoint/2010/main" val="34354628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69DDCF-F554-7564-31CA-BBE7328CF3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12047B-9441-464A-F1E4-B65CB59F8D92}"/>
              </a:ext>
            </a:extLst>
          </p:cNvPr>
          <p:cNvSpPr>
            <a:spLocks noGrp="1"/>
          </p:cNvSpPr>
          <p:nvPr>
            <p:ph type="title"/>
          </p:nvPr>
        </p:nvSpPr>
        <p:spPr>
          <a:xfrm>
            <a:off x="1156920" y="715229"/>
            <a:ext cx="9393848" cy="712765"/>
          </a:xfrm>
        </p:spPr>
        <p:txBody>
          <a:bodyPr/>
          <a:lstStyle/>
          <a:p>
            <a:r>
              <a:rPr lang="en-US"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a:t>
            </a:r>
          </a:p>
        </p:txBody>
      </p:sp>
      <p:grpSp>
        <p:nvGrpSpPr>
          <p:cNvPr id="3" name="Group 2">
            <a:extLst>
              <a:ext uri="{FF2B5EF4-FFF2-40B4-BE49-F238E27FC236}">
                <a16:creationId xmlns:a16="http://schemas.microsoft.com/office/drawing/2014/main" id="{098D359A-E843-2217-55FC-92B897471416}"/>
              </a:ext>
            </a:extLst>
          </p:cNvPr>
          <p:cNvGrpSpPr/>
          <p:nvPr/>
        </p:nvGrpSpPr>
        <p:grpSpPr>
          <a:xfrm>
            <a:off x="521844" y="3509087"/>
            <a:ext cx="11148312" cy="1572372"/>
            <a:chOff x="353350" y="2642814"/>
            <a:chExt cx="11148312" cy="1572372"/>
          </a:xfrm>
        </p:grpSpPr>
        <p:sp>
          <p:nvSpPr>
            <p:cNvPr id="4" name="Rectangle: Rounded Corners 3">
              <a:extLst>
                <a:ext uri="{FF2B5EF4-FFF2-40B4-BE49-F238E27FC236}">
                  <a16:creationId xmlns:a16="http://schemas.microsoft.com/office/drawing/2014/main" id="{055083DA-695D-FAD5-653D-B1F56FBE0873}"/>
                </a:ext>
              </a:extLst>
            </p:cNvPr>
            <p:cNvSpPr/>
            <p:nvPr/>
          </p:nvSpPr>
          <p:spPr>
            <a:xfrm>
              <a:off x="353350" y="2642814"/>
              <a:ext cx="3585409" cy="1572372"/>
            </a:xfrm>
            <a:prstGeom prst="roundRect">
              <a:avLst/>
            </a:prstGeom>
            <a:noFill/>
            <a:ln w="762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Visualizations</a:t>
              </a:r>
              <a:r>
                <a:rPr lang="en-US" sz="2000" dirty="0">
                  <a:solidFill>
                    <a:schemeClr val="tx1"/>
                  </a:solidFill>
                </a:rPr>
                <a:t>: Represent data with charts, graphs, and more.</a:t>
              </a:r>
            </a:p>
          </p:txBody>
        </p:sp>
        <p:sp>
          <p:nvSpPr>
            <p:cNvPr id="5" name="Rectangle: Rounded Corners 4">
              <a:extLst>
                <a:ext uri="{FF2B5EF4-FFF2-40B4-BE49-F238E27FC236}">
                  <a16:creationId xmlns:a16="http://schemas.microsoft.com/office/drawing/2014/main" id="{2473D9E2-EF9D-2548-792B-D6E791F1F506}"/>
                </a:ext>
              </a:extLst>
            </p:cNvPr>
            <p:cNvSpPr/>
            <p:nvPr/>
          </p:nvSpPr>
          <p:spPr>
            <a:xfrm>
              <a:off x="4586676" y="2642814"/>
              <a:ext cx="3221976" cy="1572372"/>
            </a:xfrm>
            <a:prstGeom prst="roundRect">
              <a:avLst/>
            </a:prstGeom>
            <a:noFill/>
            <a:ln w="762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Power Pivot</a:t>
              </a:r>
              <a:r>
                <a:rPr lang="en-US" sz="2000" dirty="0">
                  <a:solidFill>
                    <a:schemeClr val="tx1"/>
                  </a:solidFill>
                </a:rPr>
                <a:t>: Build complex data models with DAX.</a:t>
              </a:r>
            </a:p>
          </p:txBody>
        </p:sp>
        <p:sp>
          <p:nvSpPr>
            <p:cNvPr id="6" name="Rectangle: Rounded Corners 5">
              <a:extLst>
                <a:ext uri="{FF2B5EF4-FFF2-40B4-BE49-F238E27FC236}">
                  <a16:creationId xmlns:a16="http://schemas.microsoft.com/office/drawing/2014/main" id="{4BE6A055-3F61-A1B9-D1EE-7E744D9A7258}"/>
                </a:ext>
              </a:extLst>
            </p:cNvPr>
            <p:cNvSpPr/>
            <p:nvPr/>
          </p:nvSpPr>
          <p:spPr>
            <a:xfrm>
              <a:off x="8279686" y="2642814"/>
              <a:ext cx="3221976" cy="1572372"/>
            </a:xfrm>
            <a:prstGeom prst="roundRect">
              <a:avLst/>
            </a:prstGeom>
            <a:noFill/>
            <a:ln w="762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Apps</a:t>
              </a:r>
              <a:r>
                <a:rPr lang="en-US" sz="2000" dirty="0">
                  <a:solidFill>
                    <a:schemeClr val="tx1"/>
                  </a:solidFill>
                </a:rPr>
                <a:t>: Combines related dashboards and reports, all in one place.</a:t>
              </a:r>
            </a:p>
          </p:txBody>
        </p:sp>
      </p:grpSp>
      <p:pic>
        <p:nvPicPr>
          <p:cNvPr id="20" name="Picture 19">
            <a:extLst>
              <a:ext uri="{FF2B5EF4-FFF2-40B4-BE49-F238E27FC236}">
                <a16:creationId xmlns:a16="http://schemas.microsoft.com/office/drawing/2014/main" id="{9FFDE8B2-555C-A7EF-86AC-DFBD7196CE0B}"/>
              </a:ext>
            </a:extLst>
          </p:cNvPr>
          <p:cNvPicPr>
            <a:picLocks noChangeAspect="1"/>
          </p:cNvPicPr>
          <p:nvPr/>
        </p:nvPicPr>
        <p:blipFill>
          <a:blip r:embed="rId2"/>
          <a:stretch>
            <a:fillRect/>
          </a:stretch>
        </p:blipFill>
        <p:spPr>
          <a:xfrm>
            <a:off x="1528362" y="2219422"/>
            <a:ext cx="1572372" cy="1572372"/>
          </a:xfrm>
          <a:prstGeom prst="rect">
            <a:avLst/>
          </a:prstGeom>
        </p:spPr>
      </p:pic>
      <p:pic>
        <p:nvPicPr>
          <p:cNvPr id="21" name="Picture 20">
            <a:extLst>
              <a:ext uri="{FF2B5EF4-FFF2-40B4-BE49-F238E27FC236}">
                <a16:creationId xmlns:a16="http://schemas.microsoft.com/office/drawing/2014/main" id="{57B4FABA-1CD9-85B1-8186-75C3F8D82B06}"/>
              </a:ext>
            </a:extLst>
          </p:cNvPr>
          <p:cNvPicPr>
            <a:picLocks noChangeAspect="1"/>
          </p:cNvPicPr>
          <p:nvPr/>
        </p:nvPicPr>
        <p:blipFill>
          <a:blip r:embed="rId3"/>
          <a:stretch>
            <a:fillRect/>
          </a:stretch>
        </p:blipFill>
        <p:spPr>
          <a:xfrm>
            <a:off x="5579971" y="2240262"/>
            <a:ext cx="1572373" cy="1572373"/>
          </a:xfrm>
          <a:prstGeom prst="rect">
            <a:avLst/>
          </a:prstGeom>
        </p:spPr>
      </p:pic>
      <p:pic>
        <p:nvPicPr>
          <p:cNvPr id="22" name="Picture 21">
            <a:extLst>
              <a:ext uri="{FF2B5EF4-FFF2-40B4-BE49-F238E27FC236}">
                <a16:creationId xmlns:a16="http://schemas.microsoft.com/office/drawing/2014/main" id="{AA7E48A2-83DC-E049-5935-0D6D8C9E3983}"/>
              </a:ext>
            </a:extLst>
          </p:cNvPr>
          <p:cNvPicPr>
            <a:picLocks noChangeAspect="1"/>
          </p:cNvPicPr>
          <p:nvPr/>
        </p:nvPicPr>
        <p:blipFill>
          <a:blip r:embed="rId4"/>
          <a:stretch>
            <a:fillRect/>
          </a:stretch>
        </p:blipFill>
        <p:spPr>
          <a:xfrm>
            <a:off x="9359120" y="2240263"/>
            <a:ext cx="1400096" cy="1572373"/>
          </a:xfrm>
          <a:prstGeom prst="rect">
            <a:avLst/>
          </a:prstGeom>
        </p:spPr>
      </p:pic>
    </p:spTree>
    <p:extLst>
      <p:ext uri="{BB962C8B-B14F-4D97-AF65-F5344CB8AC3E}">
        <p14:creationId xmlns:p14="http://schemas.microsoft.com/office/powerpoint/2010/main" val="17904119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6CDB4-FD63-3B64-0083-2F983F53A571}"/>
              </a:ext>
            </a:extLst>
          </p:cNvPr>
          <p:cNvSpPr>
            <a:spLocks noGrp="1"/>
          </p:cNvSpPr>
          <p:nvPr>
            <p:ph type="title"/>
          </p:nvPr>
        </p:nvSpPr>
        <p:spPr/>
        <p:txBody>
          <a:bodyPr/>
          <a:lstStyle/>
          <a:p>
            <a:r>
              <a:rPr lang="en-US" dirty="0">
                <a:latin typeface="ADLaM Display" panose="02010000000000000000" pitchFamily="2" charset="0"/>
                <a:ea typeface="ADLaM Display" panose="02010000000000000000" pitchFamily="2" charset="0"/>
                <a:cs typeface="ADLaM Display" panose="02010000000000000000" pitchFamily="2" charset="0"/>
              </a:rPr>
              <a:t>Dashboard, report, and dataset</a:t>
            </a:r>
          </a:p>
        </p:txBody>
      </p:sp>
      <p:sp>
        <p:nvSpPr>
          <p:cNvPr id="3" name="Text Placeholder 2">
            <a:extLst>
              <a:ext uri="{FF2B5EF4-FFF2-40B4-BE49-F238E27FC236}">
                <a16:creationId xmlns:a16="http://schemas.microsoft.com/office/drawing/2014/main" id="{D9A2C901-AA8D-93FA-3359-2118D54A83FC}"/>
              </a:ext>
            </a:extLst>
          </p:cNvPr>
          <p:cNvSpPr>
            <a:spLocks noGrp="1"/>
          </p:cNvSpPr>
          <p:nvPr>
            <p:ph type="body" sz="quarter" idx="14"/>
          </p:nvPr>
        </p:nvSpPr>
        <p:spPr>
          <a:xfrm>
            <a:off x="6530432" y="1533673"/>
            <a:ext cx="5453020" cy="5091716"/>
          </a:xfrm>
        </p:spPr>
        <p:txBody>
          <a:bodyPr>
            <a:normAutofit lnSpcReduction="10000"/>
          </a:bodyPr>
          <a:lstStyle/>
          <a:p>
            <a:pPr algn="just"/>
            <a:r>
              <a:rPr lang="en-US" sz="3200" dirty="0"/>
              <a:t> A </a:t>
            </a:r>
            <a:r>
              <a:rPr lang="en-US" sz="3200" b="1"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dataset</a:t>
            </a:r>
            <a:r>
              <a:rPr lang="en-US" sz="3200" dirty="0"/>
              <a:t> is the foundation. It contains the data model, relationships, and KPI logic.</a:t>
            </a:r>
          </a:p>
          <a:p>
            <a:pPr algn="just"/>
            <a:r>
              <a:rPr lang="en-US" sz="3200" dirty="0"/>
              <a:t> A </a:t>
            </a:r>
            <a:r>
              <a:rPr lang="en-US" sz="3200" b="1"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report</a:t>
            </a:r>
            <a:r>
              <a:rPr lang="en-US" sz="3200" dirty="0"/>
              <a:t> sits on top of a dataset and is used to explore, analyze, and visualize the data.</a:t>
            </a:r>
          </a:p>
          <a:p>
            <a:pPr algn="just"/>
            <a:r>
              <a:rPr lang="en-US" sz="3200" dirty="0"/>
              <a:t> A </a:t>
            </a:r>
            <a:r>
              <a:rPr lang="en-US" sz="3200" b="1"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dashboard</a:t>
            </a:r>
            <a:r>
              <a:rPr lang="en-US" sz="3200" dirty="0"/>
              <a:t> sits on top of one or more reports and surfaces a curated selection of visuals.</a:t>
            </a:r>
          </a:p>
        </p:txBody>
      </p:sp>
      <p:pic>
        <p:nvPicPr>
          <p:cNvPr id="4" name="Picture 3" descr="Power BI hierarchy diagram showing dataset, report, and dashboard layers">
            <a:extLst>
              <a:ext uri="{FF2B5EF4-FFF2-40B4-BE49-F238E27FC236}">
                <a16:creationId xmlns:a16="http://schemas.microsoft.com/office/drawing/2014/main" id="{A0A11894-8626-D84B-2737-6B30AF431A5F}"/>
              </a:ext>
            </a:extLst>
          </p:cNvPr>
          <p:cNvPicPr>
            <a:picLocks noChangeAspect="1"/>
          </p:cNvPicPr>
          <p:nvPr/>
        </p:nvPicPr>
        <p:blipFill>
          <a:blip r:embed="rId2"/>
          <a:stretch>
            <a:fillRect/>
          </a:stretch>
        </p:blipFill>
        <p:spPr>
          <a:xfrm>
            <a:off x="0" y="1931717"/>
            <a:ext cx="6530431" cy="4307306"/>
          </a:xfrm>
          <a:prstGeom prst="rect">
            <a:avLst/>
          </a:prstGeom>
        </p:spPr>
      </p:pic>
    </p:spTree>
    <p:extLst>
      <p:ext uri="{BB962C8B-B14F-4D97-AF65-F5344CB8AC3E}">
        <p14:creationId xmlns:p14="http://schemas.microsoft.com/office/powerpoint/2010/main" val="1007950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9F17C-4686-579A-ADCE-818576D43A3A}"/>
              </a:ext>
            </a:extLst>
          </p:cNvPr>
          <p:cNvSpPr>
            <a:spLocks noGrp="1"/>
          </p:cNvSpPr>
          <p:nvPr>
            <p:ph type="title"/>
          </p:nvPr>
        </p:nvSpPr>
        <p:spPr>
          <a:xfrm>
            <a:off x="1156920" y="715229"/>
            <a:ext cx="9393848" cy="712765"/>
          </a:xfrm>
        </p:spPr>
        <p:txBody>
          <a:bodyPr/>
          <a:lstStyle/>
          <a:p>
            <a:r>
              <a:rPr lang="en-US" dirty="0">
                <a:latin typeface="ADLaM Display" panose="02010000000000000000" pitchFamily="2" charset="0"/>
                <a:ea typeface="ADLaM Display" panose="02010000000000000000" pitchFamily="2" charset="0"/>
                <a:cs typeface="ADLaM Display" panose="02010000000000000000" pitchFamily="2" charset="0"/>
              </a:rPr>
              <a:t>What is </a:t>
            </a:r>
            <a:r>
              <a:rPr lang="en-US"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Visualization</a:t>
            </a:r>
            <a:r>
              <a:rPr lang="en-US" dirty="0">
                <a:latin typeface="ADLaM Display" panose="02010000000000000000" pitchFamily="2" charset="0"/>
                <a:ea typeface="ADLaM Display" panose="02010000000000000000" pitchFamily="2" charset="0"/>
                <a:cs typeface="ADLaM Display" panose="02010000000000000000" pitchFamily="2" charset="0"/>
              </a:rPr>
              <a:t> in Power BI?</a:t>
            </a:r>
          </a:p>
        </p:txBody>
      </p:sp>
      <p:sp>
        <p:nvSpPr>
          <p:cNvPr id="3" name="Text Placeholder 2">
            <a:extLst>
              <a:ext uri="{FF2B5EF4-FFF2-40B4-BE49-F238E27FC236}">
                <a16:creationId xmlns:a16="http://schemas.microsoft.com/office/drawing/2014/main" id="{25DD0B1B-B130-8E70-136A-D0F6E5E125D3}"/>
              </a:ext>
            </a:extLst>
          </p:cNvPr>
          <p:cNvSpPr>
            <a:spLocks noGrp="1"/>
          </p:cNvSpPr>
          <p:nvPr>
            <p:ph type="body" sz="quarter" idx="14"/>
          </p:nvPr>
        </p:nvSpPr>
        <p:spPr>
          <a:xfrm>
            <a:off x="3866147" y="1603717"/>
            <a:ext cx="8133348" cy="5005630"/>
          </a:xfrm>
        </p:spPr>
        <p:txBody>
          <a:bodyPr>
            <a:normAutofit/>
          </a:bodyPr>
          <a:lstStyle/>
          <a:p>
            <a:pPr lvl="1" algn="just"/>
            <a:r>
              <a:rPr lang="en-US" sz="3200" dirty="0">
                <a:latin typeface="ADLaM Display" panose="02010000000000000000" pitchFamily="2" charset="0"/>
                <a:ea typeface="ADLaM Display" panose="02010000000000000000" pitchFamily="2" charset="0"/>
                <a:cs typeface="ADLaM Display" panose="02010000000000000000" pitchFamily="2" charset="0"/>
              </a:rPr>
              <a:t> </a:t>
            </a:r>
            <a:r>
              <a:rPr lang="en-US" sz="3200" b="1"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Visualization</a:t>
            </a:r>
            <a:r>
              <a:rPr lang="en-US" sz="3200" dirty="0">
                <a:latin typeface="ADLaM Display" panose="02010000000000000000" pitchFamily="2" charset="0"/>
                <a:ea typeface="ADLaM Display" panose="02010000000000000000" pitchFamily="2" charset="0"/>
                <a:cs typeface="ADLaM Display" panose="02010000000000000000" pitchFamily="2" charset="0"/>
              </a:rPr>
              <a:t> in Power BI refers to the graphical representation of data through various types of charts, graphs, and other visual elements.</a:t>
            </a:r>
          </a:p>
          <a:p>
            <a:pPr lvl="1" algn="just"/>
            <a:r>
              <a:rPr lang="en-US" sz="3200" dirty="0">
                <a:latin typeface="ADLaM Display" panose="02010000000000000000" pitchFamily="2" charset="0"/>
                <a:ea typeface="ADLaM Display" panose="02010000000000000000" pitchFamily="2" charset="0"/>
                <a:cs typeface="ADLaM Display" panose="02010000000000000000" pitchFamily="2" charset="0"/>
              </a:rPr>
              <a:t> The primary goal of visualization is to provide a clear and intuitive way to understand complex data.</a:t>
            </a:r>
          </a:p>
          <a:p>
            <a:pPr lvl="1" algn="just"/>
            <a:r>
              <a:rPr lang="en-US" sz="3200" dirty="0">
                <a:latin typeface="ADLaM Display" panose="02010000000000000000" pitchFamily="2" charset="0"/>
                <a:ea typeface="ADLaM Display" panose="02010000000000000000" pitchFamily="2" charset="0"/>
                <a:cs typeface="ADLaM Display" panose="02010000000000000000" pitchFamily="2" charset="0"/>
              </a:rPr>
              <a:t> Enables users to identify trends, patterns, and insights quickly.</a:t>
            </a:r>
          </a:p>
        </p:txBody>
      </p:sp>
      <p:pic>
        <p:nvPicPr>
          <p:cNvPr id="7" name="Picture 6">
            <a:extLst>
              <a:ext uri="{FF2B5EF4-FFF2-40B4-BE49-F238E27FC236}">
                <a16:creationId xmlns:a16="http://schemas.microsoft.com/office/drawing/2014/main" id="{39E7C1F2-B75C-BC8F-3F61-D599E8CF7C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500" y="2179487"/>
            <a:ext cx="4795430" cy="2953985"/>
          </a:xfrm>
          <a:prstGeom prst="rect">
            <a:avLst/>
          </a:prstGeom>
        </p:spPr>
      </p:pic>
    </p:spTree>
    <p:extLst>
      <p:ext uri="{BB962C8B-B14F-4D97-AF65-F5344CB8AC3E}">
        <p14:creationId xmlns:p14="http://schemas.microsoft.com/office/powerpoint/2010/main" val="3035962004"/>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CC9B5B-D053-9D5D-3E82-CA613531A7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925430-3C79-FF83-9765-15C3EE79FBEE}"/>
              </a:ext>
            </a:extLst>
          </p:cNvPr>
          <p:cNvSpPr>
            <a:spLocks noGrp="1"/>
          </p:cNvSpPr>
          <p:nvPr>
            <p:ph type="title"/>
          </p:nvPr>
        </p:nvSpPr>
        <p:spPr>
          <a:xfrm>
            <a:off x="1156920" y="715229"/>
            <a:ext cx="9393848" cy="712765"/>
          </a:xfrm>
        </p:spPr>
        <p:txBody>
          <a:bodyPr/>
          <a:lstStyle/>
          <a:p>
            <a:r>
              <a:rPr lang="en-US" dirty="0">
                <a:latin typeface="ADLaM Display" panose="02010000000000000000" pitchFamily="2" charset="0"/>
                <a:ea typeface="ADLaM Display" panose="02010000000000000000" pitchFamily="2" charset="0"/>
                <a:cs typeface="ADLaM Display" panose="02010000000000000000" pitchFamily="2" charset="0"/>
              </a:rPr>
              <a:t>Benefits of </a:t>
            </a:r>
            <a:r>
              <a:rPr lang="en-US"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Visualization</a:t>
            </a:r>
            <a:r>
              <a:rPr lang="en-US" dirty="0">
                <a:latin typeface="ADLaM Display" panose="02010000000000000000" pitchFamily="2" charset="0"/>
                <a:ea typeface="ADLaM Display" panose="02010000000000000000" pitchFamily="2" charset="0"/>
                <a:cs typeface="ADLaM Display" panose="02010000000000000000" pitchFamily="2" charset="0"/>
              </a:rPr>
              <a:t> in Power BI</a:t>
            </a:r>
          </a:p>
        </p:txBody>
      </p:sp>
      <p:sp>
        <p:nvSpPr>
          <p:cNvPr id="3" name="Text Placeholder 2">
            <a:extLst>
              <a:ext uri="{FF2B5EF4-FFF2-40B4-BE49-F238E27FC236}">
                <a16:creationId xmlns:a16="http://schemas.microsoft.com/office/drawing/2014/main" id="{C40AC099-FF51-6029-BE24-6582CBE95397}"/>
              </a:ext>
            </a:extLst>
          </p:cNvPr>
          <p:cNvSpPr>
            <a:spLocks noGrp="1"/>
          </p:cNvSpPr>
          <p:nvPr>
            <p:ph type="body" sz="quarter" idx="14"/>
          </p:nvPr>
        </p:nvSpPr>
        <p:spPr>
          <a:xfrm>
            <a:off x="6647688" y="1427994"/>
            <a:ext cx="5742432" cy="5430006"/>
          </a:xfrm>
        </p:spPr>
        <p:txBody>
          <a:bodyPr>
            <a:normAutofit lnSpcReduction="10000"/>
          </a:bodyPr>
          <a:lstStyle/>
          <a:p>
            <a:pPr lvl="1"/>
            <a:r>
              <a:rPr lang="en-US" sz="28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 </a:t>
            </a:r>
            <a:r>
              <a:rPr lang="en-US" sz="2800" b="1"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Enhanced Understanding</a:t>
            </a:r>
            <a:r>
              <a:rPr lang="en-US" sz="28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 Visuals make complex data more accessible &amp; understandable.</a:t>
            </a:r>
          </a:p>
          <a:p>
            <a:pPr lvl="1"/>
            <a:r>
              <a:rPr lang="en-US" sz="28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 </a:t>
            </a:r>
            <a:r>
              <a:rPr lang="en-US" sz="2800" b="1"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Quick Insights</a:t>
            </a:r>
            <a:r>
              <a:rPr lang="en-US" sz="28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 Users can quickly grasp key metrics and performance indicators at a glance.</a:t>
            </a:r>
          </a:p>
          <a:p>
            <a:pPr lvl="1"/>
            <a:r>
              <a:rPr lang="en-US" sz="28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 </a:t>
            </a:r>
            <a:r>
              <a:rPr lang="en-US" sz="2800" b="1"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Real-Time Monitoring (Dashboard): </a:t>
            </a:r>
            <a:r>
              <a:rPr lang="en-US" sz="28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Act like a dashboard in a car, providing real-time updates on key metrics.</a:t>
            </a:r>
          </a:p>
        </p:txBody>
      </p:sp>
      <p:pic>
        <p:nvPicPr>
          <p:cNvPr id="5" name="Picture 4">
            <a:extLst>
              <a:ext uri="{FF2B5EF4-FFF2-40B4-BE49-F238E27FC236}">
                <a16:creationId xmlns:a16="http://schemas.microsoft.com/office/drawing/2014/main" id="{2F8263A3-70CD-ABA4-9A1D-45CFF35D4C2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309121"/>
            <a:ext cx="6766560" cy="4511041"/>
          </a:xfrm>
          <a:prstGeom prst="rect">
            <a:avLst/>
          </a:prstGeom>
        </p:spPr>
      </p:pic>
    </p:spTree>
    <p:extLst>
      <p:ext uri="{BB962C8B-B14F-4D97-AF65-F5344CB8AC3E}">
        <p14:creationId xmlns:p14="http://schemas.microsoft.com/office/powerpoint/2010/main" val="3810151303"/>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9180E-E6E2-47FA-6CB8-C666CA963F97}"/>
              </a:ext>
            </a:extLst>
          </p:cNvPr>
          <p:cNvSpPr>
            <a:spLocks noGrp="1"/>
          </p:cNvSpPr>
          <p:nvPr>
            <p:ph type="title"/>
          </p:nvPr>
        </p:nvSpPr>
        <p:spPr/>
        <p:txBody>
          <a:bodyPr/>
          <a:lstStyle/>
          <a:p>
            <a:r>
              <a:rPr lang="en-US" dirty="0">
                <a:latin typeface="ADLaM Display" panose="02010000000000000000" pitchFamily="2" charset="0"/>
                <a:ea typeface="ADLaM Display" panose="02010000000000000000" pitchFamily="2" charset="0"/>
                <a:cs typeface="ADLaM Display" panose="02010000000000000000" pitchFamily="2" charset="0"/>
              </a:rPr>
              <a:t>Bar Charts</a:t>
            </a:r>
            <a:endParaRPr lang="en-US" dirty="0"/>
          </a:p>
        </p:txBody>
      </p:sp>
      <p:sp>
        <p:nvSpPr>
          <p:cNvPr id="3" name="Text Placeholder 2">
            <a:extLst>
              <a:ext uri="{FF2B5EF4-FFF2-40B4-BE49-F238E27FC236}">
                <a16:creationId xmlns:a16="http://schemas.microsoft.com/office/drawing/2014/main" id="{FA9857E1-C6FD-2B2E-A864-A5905FEB4984}"/>
              </a:ext>
            </a:extLst>
          </p:cNvPr>
          <p:cNvSpPr>
            <a:spLocks noGrp="1"/>
          </p:cNvSpPr>
          <p:nvPr>
            <p:ph type="body" sz="quarter" idx="14"/>
          </p:nvPr>
        </p:nvSpPr>
        <p:spPr>
          <a:xfrm>
            <a:off x="5390147" y="1533672"/>
            <a:ext cx="6619859" cy="5123801"/>
          </a:xfrm>
        </p:spPr>
        <p:txBody>
          <a:bodyPr>
            <a:normAutofit fontScale="92500" lnSpcReduction="10000"/>
          </a:bodyPr>
          <a:lstStyle/>
          <a:p>
            <a:r>
              <a:rPr lang="en-US" sz="2800" dirty="0"/>
              <a:t> A </a:t>
            </a:r>
            <a:r>
              <a:rPr lang="en-US" sz="2800" b="1"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Bar chart </a:t>
            </a:r>
            <a:r>
              <a:rPr lang="en-US" sz="2800" dirty="0"/>
              <a:t>displays data using horizontal bars.</a:t>
            </a:r>
          </a:p>
          <a:p>
            <a:r>
              <a:rPr lang="en-US" sz="2800" dirty="0"/>
              <a:t> Length of the bar represents the value.</a:t>
            </a:r>
          </a:p>
          <a:p>
            <a:r>
              <a:rPr lang="en-US" sz="2800" dirty="0"/>
              <a:t> Categories are listed on the vertical axis.</a:t>
            </a:r>
          </a:p>
          <a:p>
            <a:r>
              <a:rPr lang="en-US" sz="2800" dirty="0"/>
              <a:t> Three types: Clustered, Stacked &amp; 100% Stacked.</a:t>
            </a:r>
          </a:p>
          <a:p>
            <a:r>
              <a:rPr lang="en-US" sz="2800" dirty="0"/>
              <a:t> </a:t>
            </a:r>
            <a:r>
              <a:rPr lang="en-US" sz="2800" b="1" dirty="0"/>
              <a:t>Use Cases:</a:t>
            </a:r>
          </a:p>
          <a:p>
            <a:pPr>
              <a:buBlip>
                <a:blip r:embed="rId2"/>
              </a:buBlip>
            </a:pPr>
            <a:r>
              <a:rPr lang="en-US" sz="2800" dirty="0"/>
              <a:t> Compare many categories easily.</a:t>
            </a:r>
          </a:p>
          <a:p>
            <a:pPr>
              <a:buBlip>
                <a:blip r:embed="rId2"/>
              </a:buBlip>
            </a:pPr>
            <a:r>
              <a:rPr lang="en-US" sz="2800" dirty="0"/>
              <a:t> Display long category names clearly.</a:t>
            </a:r>
          </a:p>
          <a:p>
            <a:pPr>
              <a:buBlip>
                <a:blip r:embed="rId2"/>
              </a:buBlip>
            </a:pPr>
            <a:r>
              <a:rPr lang="en-US" sz="2800" dirty="0"/>
              <a:t> Rank data (highest to lowest).</a:t>
            </a:r>
          </a:p>
          <a:p>
            <a:pPr>
              <a:buBlip>
                <a:blip r:embed="rId2"/>
              </a:buBlip>
            </a:pPr>
            <a:r>
              <a:rPr lang="en-US" sz="2800" dirty="0"/>
              <a:t> Best for large data sets &amp; Categorical comparisons.</a:t>
            </a:r>
          </a:p>
        </p:txBody>
      </p:sp>
      <p:pic>
        <p:nvPicPr>
          <p:cNvPr id="4" name="Picture 3">
            <a:extLst>
              <a:ext uri="{FF2B5EF4-FFF2-40B4-BE49-F238E27FC236}">
                <a16:creationId xmlns:a16="http://schemas.microsoft.com/office/drawing/2014/main" id="{9CD72906-14CB-D7A8-2686-9632AE62CBD6}"/>
              </a:ext>
            </a:extLst>
          </p:cNvPr>
          <p:cNvPicPr>
            <a:picLocks noChangeAspect="1"/>
          </p:cNvPicPr>
          <p:nvPr/>
        </p:nvPicPr>
        <p:blipFill>
          <a:blip r:embed="rId3"/>
          <a:stretch>
            <a:fillRect/>
          </a:stretch>
        </p:blipFill>
        <p:spPr>
          <a:xfrm>
            <a:off x="2117559" y="1307291"/>
            <a:ext cx="3128210" cy="1720465"/>
          </a:xfrm>
          <a:prstGeom prst="rect">
            <a:avLst/>
          </a:prstGeom>
          <a:noFill/>
          <a:ln>
            <a:noFill/>
          </a:ln>
        </p:spPr>
      </p:pic>
      <p:pic>
        <p:nvPicPr>
          <p:cNvPr id="5" name="Picture 4">
            <a:extLst>
              <a:ext uri="{FF2B5EF4-FFF2-40B4-BE49-F238E27FC236}">
                <a16:creationId xmlns:a16="http://schemas.microsoft.com/office/drawing/2014/main" id="{7499533F-0D6A-60D8-2062-CFEAEA9DA093}"/>
              </a:ext>
            </a:extLst>
          </p:cNvPr>
          <p:cNvPicPr>
            <a:picLocks noChangeAspect="1"/>
          </p:cNvPicPr>
          <p:nvPr/>
        </p:nvPicPr>
        <p:blipFill>
          <a:blip r:embed="rId4"/>
          <a:stretch>
            <a:fillRect/>
          </a:stretch>
        </p:blipFill>
        <p:spPr>
          <a:xfrm>
            <a:off x="365396" y="3091597"/>
            <a:ext cx="2855710" cy="1561517"/>
          </a:xfrm>
          <a:prstGeom prst="rect">
            <a:avLst/>
          </a:prstGeom>
          <a:noFill/>
          <a:ln>
            <a:noFill/>
          </a:ln>
        </p:spPr>
      </p:pic>
      <p:pic>
        <p:nvPicPr>
          <p:cNvPr id="6" name="Picture 5">
            <a:extLst>
              <a:ext uri="{FF2B5EF4-FFF2-40B4-BE49-F238E27FC236}">
                <a16:creationId xmlns:a16="http://schemas.microsoft.com/office/drawing/2014/main" id="{F9BFDADD-F758-531A-E38F-A9B06D9550E1}"/>
              </a:ext>
            </a:extLst>
          </p:cNvPr>
          <p:cNvPicPr>
            <a:picLocks noChangeAspect="1"/>
          </p:cNvPicPr>
          <p:nvPr/>
        </p:nvPicPr>
        <p:blipFill>
          <a:blip r:embed="rId5"/>
          <a:stretch>
            <a:fillRect/>
          </a:stretch>
        </p:blipFill>
        <p:spPr>
          <a:xfrm>
            <a:off x="2390058" y="4733589"/>
            <a:ext cx="2855710" cy="1652647"/>
          </a:xfrm>
          <a:prstGeom prst="rect">
            <a:avLst/>
          </a:prstGeom>
          <a:noFill/>
          <a:ln>
            <a:noFill/>
          </a:ln>
        </p:spPr>
      </p:pic>
      <p:sp>
        <p:nvSpPr>
          <p:cNvPr id="7" name="Title 1">
            <a:extLst>
              <a:ext uri="{FF2B5EF4-FFF2-40B4-BE49-F238E27FC236}">
                <a16:creationId xmlns:a16="http://schemas.microsoft.com/office/drawing/2014/main" id="{3CFF6D2C-15F4-2444-4E4C-5AEBC4222F39}"/>
              </a:ext>
            </a:extLst>
          </p:cNvPr>
          <p:cNvSpPr txBox="1">
            <a:spLocks/>
          </p:cNvSpPr>
          <p:nvPr/>
        </p:nvSpPr>
        <p:spPr>
          <a:xfrm>
            <a:off x="871589" y="1901730"/>
            <a:ext cx="1518469" cy="406487"/>
          </a:xfrm>
          <a:prstGeom prst="rect">
            <a:avLst/>
          </a:prstGeom>
        </p:spPr>
        <p:txBody>
          <a:bodyPr/>
          <a:lstStyle>
            <a:lvl1pPr algn="l" defTabSz="685800" rtl="0" eaLnBrk="1" latinLnBrk="0" hangingPunct="1">
              <a:lnSpc>
                <a:spcPct val="90000"/>
              </a:lnSpc>
              <a:spcBef>
                <a:spcPct val="0"/>
              </a:spcBef>
              <a:buNone/>
              <a:defRPr lang="en-US" sz="3600" b="1" kern="1200" spc="-38" baseline="0" dirty="0">
                <a:solidFill>
                  <a:srgbClr val="002060"/>
                </a:solidFill>
                <a:latin typeface="+mn-lt"/>
                <a:ea typeface="+mj-ea"/>
                <a:cs typeface="+mj-cs"/>
              </a:defRPr>
            </a:lvl1pPr>
          </a:lstStyle>
          <a:p>
            <a:pPr marL="0" marR="0" lvl="0" indent="0" algn="l" defTabSz="685800" rtl="0" eaLnBrk="1" fontAlgn="auto" latinLnBrk="0" hangingPunct="1">
              <a:lnSpc>
                <a:spcPct val="90000"/>
              </a:lnSpc>
              <a:spcBef>
                <a:spcPct val="0"/>
              </a:spcBef>
              <a:spcAft>
                <a:spcPts val="0"/>
              </a:spcAft>
              <a:buClrTx/>
              <a:buSzTx/>
              <a:buFontTx/>
              <a:buNone/>
              <a:tabLst/>
              <a:defRPr/>
            </a:pPr>
            <a:r>
              <a:rPr kumimoji="0" lang="en-US" sz="1600" b="1" i="0" u="none" strike="noStrike" kern="1200" cap="none" spc="-38" normalizeH="0" baseline="0" noProof="0" dirty="0">
                <a:ln>
                  <a:noFill/>
                </a:ln>
                <a:solidFill>
                  <a:srgbClr val="FFC000"/>
                </a:solidFill>
                <a:effectLst/>
                <a:uLnTx/>
                <a:uFillTx/>
                <a:latin typeface="ADLaM Display" panose="02010000000000000000" pitchFamily="2" charset="0"/>
                <a:ea typeface="ADLaM Display" panose="02010000000000000000" pitchFamily="2" charset="0"/>
                <a:cs typeface="ADLaM Display" panose="02010000000000000000" pitchFamily="2" charset="0"/>
              </a:rPr>
              <a:t>Stacked </a:t>
            </a:r>
            <a:endParaRPr kumimoji="0" lang="en-US" sz="1600" b="1" i="0" u="none" strike="noStrike" kern="1200" cap="none" spc="-38" normalizeH="0" baseline="0" noProof="0" dirty="0">
              <a:ln>
                <a:noFill/>
              </a:ln>
              <a:solidFill>
                <a:srgbClr val="FFC000"/>
              </a:solidFill>
              <a:effectLst/>
              <a:uLnTx/>
              <a:uFillTx/>
              <a:latin typeface="Calibri"/>
              <a:ea typeface="+mj-ea"/>
              <a:cs typeface="+mj-cs"/>
            </a:endParaRPr>
          </a:p>
        </p:txBody>
      </p:sp>
      <p:sp>
        <p:nvSpPr>
          <p:cNvPr id="10" name="Title 1">
            <a:extLst>
              <a:ext uri="{FF2B5EF4-FFF2-40B4-BE49-F238E27FC236}">
                <a16:creationId xmlns:a16="http://schemas.microsoft.com/office/drawing/2014/main" id="{7A279E75-6A13-A1CA-D308-A31EFE33F69E}"/>
              </a:ext>
            </a:extLst>
          </p:cNvPr>
          <p:cNvSpPr txBox="1">
            <a:spLocks/>
          </p:cNvSpPr>
          <p:nvPr/>
        </p:nvSpPr>
        <p:spPr>
          <a:xfrm>
            <a:off x="3394778" y="3716070"/>
            <a:ext cx="1518469" cy="406487"/>
          </a:xfrm>
          <a:prstGeom prst="rect">
            <a:avLst/>
          </a:prstGeom>
        </p:spPr>
        <p:txBody>
          <a:bodyPr/>
          <a:lstStyle>
            <a:lvl1pPr algn="l" defTabSz="685800" rtl="0" eaLnBrk="1" latinLnBrk="0" hangingPunct="1">
              <a:lnSpc>
                <a:spcPct val="90000"/>
              </a:lnSpc>
              <a:spcBef>
                <a:spcPct val="0"/>
              </a:spcBef>
              <a:buNone/>
              <a:defRPr lang="en-US" sz="3600" b="1" kern="1200" spc="-38" baseline="0" dirty="0">
                <a:solidFill>
                  <a:srgbClr val="002060"/>
                </a:solidFill>
                <a:latin typeface="+mn-lt"/>
                <a:ea typeface="+mj-ea"/>
                <a:cs typeface="+mj-cs"/>
              </a:defRPr>
            </a:lvl1pPr>
          </a:lstStyle>
          <a:p>
            <a:pPr marL="0" marR="0" lvl="0" indent="0" algn="l" defTabSz="685800" rtl="0" eaLnBrk="1" fontAlgn="auto" latinLnBrk="0" hangingPunct="1">
              <a:lnSpc>
                <a:spcPct val="90000"/>
              </a:lnSpc>
              <a:spcBef>
                <a:spcPct val="0"/>
              </a:spcBef>
              <a:spcAft>
                <a:spcPts val="0"/>
              </a:spcAft>
              <a:buClrTx/>
              <a:buSzTx/>
              <a:buFontTx/>
              <a:buNone/>
              <a:tabLst/>
              <a:defRPr/>
            </a:pPr>
            <a:r>
              <a:rPr kumimoji="0" lang="en-US" sz="1600" b="1" i="0" u="none" strike="noStrike" kern="1200" cap="none" spc="-38" normalizeH="0" baseline="0" noProof="0" dirty="0">
                <a:ln>
                  <a:noFill/>
                </a:ln>
                <a:solidFill>
                  <a:srgbClr val="FFC000"/>
                </a:solidFill>
                <a:effectLst/>
                <a:uLnTx/>
                <a:uFillTx/>
                <a:latin typeface="ADLaM Display" panose="02010000000000000000" pitchFamily="2" charset="0"/>
                <a:ea typeface="ADLaM Display" panose="02010000000000000000" pitchFamily="2" charset="0"/>
                <a:cs typeface="ADLaM Display" panose="02010000000000000000" pitchFamily="2" charset="0"/>
              </a:rPr>
              <a:t>Clustered</a:t>
            </a:r>
            <a:endParaRPr kumimoji="0" lang="en-US" sz="1600" b="1" i="0" u="none" strike="noStrike" kern="1200" cap="none" spc="-38" normalizeH="0" baseline="0" noProof="0" dirty="0">
              <a:ln>
                <a:noFill/>
              </a:ln>
              <a:solidFill>
                <a:srgbClr val="FFC000"/>
              </a:solidFill>
              <a:effectLst/>
              <a:uLnTx/>
              <a:uFillTx/>
              <a:latin typeface="Calibri"/>
              <a:ea typeface="+mj-ea"/>
              <a:cs typeface="+mj-cs"/>
            </a:endParaRPr>
          </a:p>
        </p:txBody>
      </p:sp>
      <p:sp>
        <p:nvSpPr>
          <p:cNvPr id="11" name="Title 1">
            <a:extLst>
              <a:ext uri="{FF2B5EF4-FFF2-40B4-BE49-F238E27FC236}">
                <a16:creationId xmlns:a16="http://schemas.microsoft.com/office/drawing/2014/main" id="{F1E7F23A-CC24-299C-64E8-7A219C1E46F4}"/>
              </a:ext>
            </a:extLst>
          </p:cNvPr>
          <p:cNvSpPr txBox="1">
            <a:spLocks/>
          </p:cNvSpPr>
          <p:nvPr/>
        </p:nvSpPr>
        <p:spPr>
          <a:xfrm>
            <a:off x="727210" y="5550709"/>
            <a:ext cx="1518469" cy="406487"/>
          </a:xfrm>
          <a:prstGeom prst="rect">
            <a:avLst/>
          </a:prstGeom>
        </p:spPr>
        <p:txBody>
          <a:bodyPr/>
          <a:lstStyle>
            <a:lvl1pPr algn="l" defTabSz="685800" rtl="0" eaLnBrk="1" latinLnBrk="0" hangingPunct="1">
              <a:lnSpc>
                <a:spcPct val="90000"/>
              </a:lnSpc>
              <a:spcBef>
                <a:spcPct val="0"/>
              </a:spcBef>
              <a:buNone/>
              <a:defRPr lang="en-US" sz="3600" b="1" kern="1200" spc="-38" baseline="0" dirty="0">
                <a:solidFill>
                  <a:srgbClr val="002060"/>
                </a:solidFill>
                <a:latin typeface="+mn-lt"/>
                <a:ea typeface="+mj-ea"/>
                <a:cs typeface="+mj-cs"/>
              </a:defRPr>
            </a:lvl1pPr>
          </a:lstStyle>
          <a:p>
            <a:pPr marL="0" marR="0" lvl="0" indent="0" algn="l" defTabSz="685800" rtl="0" eaLnBrk="1" fontAlgn="auto" latinLnBrk="0" hangingPunct="1">
              <a:lnSpc>
                <a:spcPct val="90000"/>
              </a:lnSpc>
              <a:spcBef>
                <a:spcPct val="0"/>
              </a:spcBef>
              <a:spcAft>
                <a:spcPts val="0"/>
              </a:spcAft>
              <a:buClrTx/>
              <a:buSzTx/>
              <a:buFontTx/>
              <a:buNone/>
              <a:tabLst/>
              <a:defRPr/>
            </a:pPr>
            <a:r>
              <a:rPr kumimoji="0" lang="en-US" sz="1600" b="1" i="0" u="none" strike="noStrike" kern="1200" cap="none" spc="-38" normalizeH="0" baseline="0" noProof="0" dirty="0">
                <a:ln>
                  <a:noFill/>
                </a:ln>
                <a:solidFill>
                  <a:srgbClr val="FFC000"/>
                </a:solidFill>
                <a:effectLst/>
                <a:uLnTx/>
                <a:uFillTx/>
                <a:latin typeface="ADLaM Display" panose="02010000000000000000" pitchFamily="2" charset="0"/>
                <a:ea typeface="ADLaM Display" panose="02010000000000000000" pitchFamily="2" charset="0"/>
                <a:cs typeface="ADLaM Display" panose="02010000000000000000" pitchFamily="2" charset="0"/>
              </a:rPr>
              <a:t>100% Stacked</a:t>
            </a:r>
            <a:endParaRPr kumimoji="0" lang="en-US" sz="1600" b="1" i="0" u="none" strike="noStrike" kern="1200" cap="none" spc="-38" normalizeH="0" baseline="0" noProof="0" dirty="0">
              <a:ln>
                <a:noFill/>
              </a:ln>
              <a:solidFill>
                <a:srgbClr val="FFC000"/>
              </a:solidFill>
              <a:effectLst/>
              <a:uLnTx/>
              <a:uFillTx/>
              <a:latin typeface="Calibri"/>
              <a:ea typeface="+mj-ea"/>
              <a:cs typeface="+mj-cs"/>
            </a:endParaRPr>
          </a:p>
        </p:txBody>
      </p:sp>
    </p:spTree>
    <p:extLst>
      <p:ext uri="{BB962C8B-B14F-4D97-AF65-F5344CB8AC3E}">
        <p14:creationId xmlns:p14="http://schemas.microsoft.com/office/powerpoint/2010/main" val="19188071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7C2869-F323-832E-4074-4EBB9E194E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F2E3CF-E4B7-B344-63DB-C83734FC1E98}"/>
              </a:ext>
            </a:extLst>
          </p:cNvPr>
          <p:cNvSpPr>
            <a:spLocks noGrp="1"/>
          </p:cNvSpPr>
          <p:nvPr>
            <p:ph type="title"/>
          </p:nvPr>
        </p:nvSpPr>
        <p:spPr/>
        <p:txBody>
          <a:bodyPr/>
          <a:lstStyle/>
          <a:p>
            <a:r>
              <a:rPr lang="en-US" dirty="0">
                <a:latin typeface="ADLaM Display" panose="02010000000000000000" pitchFamily="2" charset="0"/>
                <a:ea typeface="ADLaM Display" panose="02010000000000000000" pitchFamily="2" charset="0"/>
                <a:cs typeface="ADLaM Display" panose="02010000000000000000" pitchFamily="2" charset="0"/>
              </a:rPr>
              <a:t>Column Charts</a:t>
            </a:r>
            <a:endParaRPr lang="en-US" dirty="0"/>
          </a:p>
        </p:txBody>
      </p:sp>
      <p:sp>
        <p:nvSpPr>
          <p:cNvPr id="3" name="Text Placeholder 2">
            <a:extLst>
              <a:ext uri="{FF2B5EF4-FFF2-40B4-BE49-F238E27FC236}">
                <a16:creationId xmlns:a16="http://schemas.microsoft.com/office/drawing/2014/main" id="{8293670D-5667-4A33-1271-A02A3803DFCC}"/>
              </a:ext>
            </a:extLst>
          </p:cNvPr>
          <p:cNvSpPr>
            <a:spLocks noGrp="1"/>
          </p:cNvSpPr>
          <p:nvPr>
            <p:ph type="body" sz="quarter" idx="14"/>
          </p:nvPr>
        </p:nvSpPr>
        <p:spPr>
          <a:xfrm>
            <a:off x="5419440" y="1098582"/>
            <a:ext cx="6619859" cy="5547546"/>
          </a:xfrm>
        </p:spPr>
        <p:txBody>
          <a:bodyPr>
            <a:normAutofit fontScale="92500"/>
          </a:bodyPr>
          <a:lstStyle/>
          <a:p>
            <a:r>
              <a:rPr lang="en-US" sz="2800" dirty="0"/>
              <a:t> A </a:t>
            </a:r>
            <a:r>
              <a:rPr lang="en-US" sz="2800" b="1"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Column chart </a:t>
            </a:r>
            <a:r>
              <a:rPr lang="en-US" sz="2800" dirty="0"/>
              <a:t>displays data using vertical bars.</a:t>
            </a:r>
          </a:p>
          <a:p>
            <a:r>
              <a:rPr lang="en-US" sz="2800" dirty="0"/>
              <a:t> Each column represents a category.</a:t>
            </a:r>
          </a:p>
          <a:p>
            <a:r>
              <a:rPr lang="en-US" sz="2800" dirty="0"/>
              <a:t> The height of the column shows the value.</a:t>
            </a:r>
          </a:p>
          <a:p>
            <a:r>
              <a:rPr lang="en-US" sz="2800" dirty="0"/>
              <a:t> Three types: Clustered, Stacked &amp; 100% Stacked.</a:t>
            </a:r>
          </a:p>
          <a:p>
            <a:r>
              <a:rPr lang="en-US" sz="2800" dirty="0"/>
              <a:t> </a:t>
            </a:r>
            <a:r>
              <a:rPr lang="en-US" sz="2800" b="1" dirty="0"/>
              <a:t>Use Cases:</a:t>
            </a:r>
          </a:p>
          <a:p>
            <a:pPr>
              <a:buBlip>
                <a:blip r:embed="rId2"/>
              </a:buBlip>
            </a:pPr>
            <a:r>
              <a:rPr lang="en-US" sz="2800" dirty="0"/>
              <a:t> Compare values across categories.</a:t>
            </a:r>
          </a:p>
          <a:p>
            <a:pPr>
              <a:buBlip>
                <a:blip r:embed="rId2"/>
              </a:buBlip>
            </a:pPr>
            <a:r>
              <a:rPr lang="en-US" sz="2800" dirty="0"/>
              <a:t> Show changes over time (e.g., monthly sales).</a:t>
            </a:r>
          </a:p>
          <a:p>
            <a:pPr>
              <a:buBlip>
                <a:blip r:embed="rId2"/>
              </a:buBlip>
            </a:pPr>
            <a:r>
              <a:rPr lang="en-US" sz="2800" dirty="0"/>
              <a:t> Highlight trends clearly.</a:t>
            </a:r>
          </a:p>
          <a:p>
            <a:pPr>
              <a:buBlip>
                <a:blip r:embed="rId2"/>
              </a:buBlip>
            </a:pPr>
            <a:r>
              <a:rPr lang="en-US" sz="2800" dirty="0"/>
              <a:t> Best for time-based data, small to medium number of categories.</a:t>
            </a:r>
          </a:p>
        </p:txBody>
      </p:sp>
      <p:pic>
        <p:nvPicPr>
          <p:cNvPr id="4" name="Picture 3">
            <a:extLst>
              <a:ext uri="{FF2B5EF4-FFF2-40B4-BE49-F238E27FC236}">
                <a16:creationId xmlns:a16="http://schemas.microsoft.com/office/drawing/2014/main" id="{D87D2F5D-E1D8-A3A1-44B0-A1465263EE7A}"/>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2117559" y="1331742"/>
            <a:ext cx="3128210" cy="1397415"/>
          </a:xfrm>
          <a:prstGeom prst="rect">
            <a:avLst/>
          </a:prstGeom>
          <a:noFill/>
          <a:ln>
            <a:noFill/>
          </a:ln>
        </p:spPr>
      </p:pic>
      <p:pic>
        <p:nvPicPr>
          <p:cNvPr id="5" name="Picture 4">
            <a:extLst>
              <a:ext uri="{FF2B5EF4-FFF2-40B4-BE49-F238E27FC236}">
                <a16:creationId xmlns:a16="http://schemas.microsoft.com/office/drawing/2014/main" id="{B3A67146-5D1B-4AB8-EBEB-9E072A9D9217}"/>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365395" y="3059827"/>
            <a:ext cx="3128209" cy="1476053"/>
          </a:xfrm>
          <a:prstGeom prst="rect">
            <a:avLst/>
          </a:prstGeom>
          <a:noFill/>
          <a:ln>
            <a:noFill/>
          </a:ln>
        </p:spPr>
      </p:pic>
      <p:pic>
        <p:nvPicPr>
          <p:cNvPr id="6" name="Picture 5">
            <a:extLst>
              <a:ext uri="{FF2B5EF4-FFF2-40B4-BE49-F238E27FC236}">
                <a16:creationId xmlns:a16="http://schemas.microsoft.com/office/drawing/2014/main" id="{FE41E5BD-73D3-FC7B-A546-A01D9A882F6F}"/>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1754974" y="4842224"/>
            <a:ext cx="3664466" cy="1624949"/>
          </a:xfrm>
          <a:prstGeom prst="rect">
            <a:avLst/>
          </a:prstGeom>
          <a:noFill/>
          <a:ln>
            <a:noFill/>
          </a:ln>
        </p:spPr>
      </p:pic>
      <p:sp>
        <p:nvSpPr>
          <p:cNvPr id="7" name="Title 1">
            <a:extLst>
              <a:ext uri="{FF2B5EF4-FFF2-40B4-BE49-F238E27FC236}">
                <a16:creationId xmlns:a16="http://schemas.microsoft.com/office/drawing/2014/main" id="{F5620EDE-D856-26F0-EDD4-9E5C83AC2517}"/>
              </a:ext>
            </a:extLst>
          </p:cNvPr>
          <p:cNvSpPr txBox="1">
            <a:spLocks/>
          </p:cNvSpPr>
          <p:nvPr/>
        </p:nvSpPr>
        <p:spPr>
          <a:xfrm>
            <a:off x="871589" y="1901730"/>
            <a:ext cx="1518469" cy="406487"/>
          </a:xfrm>
          <a:prstGeom prst="rect">
            <a:avLst/>
          </a:prstGeom>
        </p:spPr>
        <p:txBody>
          <a:bodyPr/>
          <a:lstStyle>
            <a:lvl1pPr algn="l" defTabSz="685800" rtl="0" eaLnBrk="1" latinLnBrk="0" hangingPunct="1">
              <a:lnSpc>
                <a:spcPct val="90000"/>
              </a:lnSpc>
              <a:spcBef>
                <a:spcPct val="0"/>
              </a:spcBef>
              <a:buNone/>
              <a:defRPr lang="en-US" sz="3600" b="1" kern="1200" spc="-38" baseline="0" dirty="0">
                <a:solidFill>
                  <a:srgbClr val="002060"/>
                </a:solidFill>
                <a:latin typeface="+mn-lt"/>
                <a:ea typeface="+mj-ea"/>
                <a:cs typeface="+mj-cs"/>
              </a:defRPr>
            </a:lvl1pPr>
          </a:lstStyle>
          <a:p>
            <a:pPr marL="0" marR="0" lvl="0" indent="0" algn="l" defTabSz="685800" rtl="0" eaLnBrk="1" fontAlgn="auto" latinLnBrk="0" hangingPunct="1">
              <a:lnSpc>
                <a:spcPct val="90000"/>
              </a:lnSpc>
              <a:spcBef>
                <a:spcPct val="0"/>
              </a:spcBef>
              <a:spcAft>
                <a:spcPts val="0"/>
              </a:spcAft>
              <a:buClrTx/>
              <a:buSzTx/>
              <a:buFontTx/>
              <a:buNone/>
              <a:tabLst/>
              <a:defRPr/>
            </a:pPr>
            <a:r>
              <a:rPr kumimoji="0" lang="en-US" sz="1600" b="1" i="0" u="none" strike="noStrike" kern="1200" cap="none" spc="-38" normalizeH="0" baseline="0" noProof="0" dirty="0">
                <a:ln>
                  <a:noFill/>
                </a:ln>
                <a:solidFill>
                  <a:srgbClr val="FFC000"/>
                </a:solidFill>
                <a:effectLst/>
                <a:uLnTx/>
                <a:uFillTx/>
                <a:latin typeface="ADLaM Display" panose="02010000000000000000" pitchFamily="2" charset="0"/>
                <a:ea typeface="ADLaM Display" panose="02010000000000000000" pitchFamily="2" charset="0"/>
                <a:cs typeface="ADLaM Display" panose="02010000000000000000" pitchFamily="2" charset="0"/>
              </a:rPr>
              <a:t>Stacked </a:t>
            </a:r>
            <a:endParaRPr kumimoji="0" lang="en-US" sz="1600" b="1" i="0" u="none" strike="noStrike" kern="1200" cap="none" spc="-38" normalizeH="0" baseline="0" noProof="0" dirty="0">
              <a:ln>
                <a:noFill/>
              </a:ln>
              <a:solidFill>
                <a:srgbClr val="FFC000"/>
              </a:solidFill>
              <a:effectLst/>
              <a:uLnTx/>
              <a:uFillTx/>
              <a:latin typeface="Calibri"/>
              <a:ea typeface="+mj-ea"/>
              <a:cs typeface="+mj-cs"/>
            </a:endParaRPr>
          </a:p>
        </p:txBody>
      </p:sp>
      <p:sp>
        <p:nvSpPr>
          <p:cNvPr id="10" name="Title 1">
            <a:extLst>
              <a:ext uri="{FF2B5EF4-FFF2-40B4-BE49-F238E27FC236}">
                <a16:creationId xmlns:a16="http://schemas.microsoft.com/office/drawing/2014/main" id="{B7662AAA-7C61-A997-662C-93D069AAFF30}"/>
              </a:ext>
            </a:extLst>
          </p:cNvPr>
          <p:cNvSpPr txBox="1">
            <a:spLocks/>
          </p:cNvSpPr>
          <p:nvPr/>
        </p:nvSpPr>
        <p:spPr>
          <a:xfrm>
            <a:off x="3727299" y="3582447"/>
            <a:ext cx="1518469" cy="406487"/>
          </a:xfrm>
          <a:prstGeom prst="rect">
            <a:avLst/>
          </a:prstGeom>
        </p:spPr>
        <p:txBody>
          <a:bodyPr/>
          <a:lstStyle>
            <a:lvl1pPr algn="l" defTabSz="685800" rtl="0" eaLnBrk="1" latinLnBrk="0" hangingPunct="1">
              <a:lnSpc>
                <a:spcPct val="90000"/>
              </a:lnSpc>
              <a:spcBef>
                <a:spcPct val="0"/>
              </a:spcBef>
              <a:buNone/>
              <a:defRPr lang="en-US" sz="3600" b="1" kern="1200" spc="-38" baseline="0" dirty="0">
                <a:solidFill>
                  <a:srgbClr val="002060"/>
                </a:solidFill>
                <a:latin typeface="+mn-lt"/>
                <a:ea typeface="+mj-ea"/>
                <a:cs typeface="+mj-cs"/>
              </a:defRPr>
            </a:lvl1pPr>
          </a:lstStyle>
          <a:p>
            <a:pPr marL="0" marR="0" lvl="0" indent="0" algn="l" defTabSz="685800" rtl="0" eaLnBrk="1" fontAlgn="auto" latinLnBrk="0" hangingPunct="1">
              <a:lnSpc>
                <a:spcPct val="90000"/>
              </a:lnSpc>
              <a:spcBef>
                <a:spcPct val="0"/>
              </a:spcBef>
              <a:spcAft>
                <a:spcPts val="0"/>
              </a:spcAft>
              <a:buClrTx/>
              <a:buSzTx/>
              <a:buFontTx/>
              <a:buNone/>
              <a:tabLst/>
              <a:defRPr/>
            </a:pPr>
            <a:r>
              <a:rPr kumimoji="0" lang="en-US" sz="1600" b="1" i="0" u="none" strike="noStrike" kern="1200" cap="none" spc="-38" normalizeH="0" baseline="0" noProof="0" dirty="0">
                <a:ln>
                  <a:noFill/>
                </a:ln>
                <a:solidFill>
                  <a:srgbClr val="FFC000"/>
                </a:solidFill>
                <a:effectLst/>
                <a:uLnTx/>
                <a:uFillTx/>
                <a:latin typeface="ADLaM Display" panose="02010000000000000000" pitchFamily="2" charset="0"/>
                <a:ea typeface="ADLaM Display" panose="02010000000000000000" pitchFamily="2" charset="0"/>
                <a:cs typeface="ADLaM Display" panose="02010000000000000000" pitchFamily="2" charset="0"/>
              </a:rPr>
              <a:t>Clustered</a:t>
            </a:r>
            <a:endParaRPr kumimoji="0" lang="en-US" sz="1600" b="1" i="0" u="none" strike="noStrike" kern="1200" cap="none" spc="-38" normalizeH="0" baseline="0" noProof="0" dirty="0">
              <a:ln>
                <a:noFill/>
              </a:ln>
              <a:solidFill>
                <a:srgbClr val="FFC000"/>
              </a:solidFill>
              <a:effectLst/>
              <a:uLnTx/>
              <a:uFillTx/>
              <a:latin typeface="Calibri"/>
              <a:ea typeface="+mj-ea"/>
              <a:cs typeface="+mj-cs"/>
            </a:endParaRPr>
          </a:p>
        </p:txBody>
      </p:sp>
      <p:sp>
        <p:nvSpPr>
          <p:cNvPr id="11" name="Title 1">
            <a:extLst>
              <a:ext uri="{FF2B5EF4-FFF2-40B4-BE49-F238E27FC236}">
                <a16:creationId xmlns:a16="http://schemas.microsoft.com/office/drawing/2014/main" id="{F75EDEB6-9035-C3F3-E51A-AC514B67397F}"/>
              </a:ext>
            </a:extLst>
          </p:cNvPr>
          <p:cNvSpPr txBox="1">
            <a:spLocks/>
          </p:cNvSpPr>
          <p:nvPr/>
        </p:nvSpPr>
        <p:spPr>
          <a:xfrm>
            <a:off x="300625" y="5583196"/>
            <a:ext cx="1518469" cy="406487"/>
          </a:xfrm>
          <a:prstGeom prst="rect">
            <a:avLst/>
          </a:prstGeom>
        </p:spPr>
        <p:txBody>
          <a:bodyPr/>
          <a:lstStyle>
            <a:lvl1pPr algn="l" defTabSz="685800" rtl="0" eaLnBrk="1" latinLnBrk="0" hangingPunct="1">
              <a:lnSpc>
                <a:spcPct val="90000"/>
              </a:lnSpc>
              <a:spcBef>
                <a:spcPct val="0"/>
              </a:spcBef>
              <a:buNone/>
              <a:defRPr lang="en-US" sz="3600" b="1" kern="1200" spc="-38" baseline="0" dirty="0">
                <a:solidFill>
                  <a:srgbClr val="002060"/>
                </a:solidFill>
                <a:latin typeface="+mn-lt"/>
                <a:ea typeface="+mj-ea"/>
                <a:cs typeface="+mj-cs"/>
              </a:defRPr>
            </a:lvl1pPr>
          </a:lstStyle>
          <a:p>
            <a:pPr marL="0" marR="0" lvl="0" indent="0" algn="l" defTabSz="685800" rtl="0" eaLnBrk="1" fontAlgn="auto" latinLnBrk="0" hangingPunct="1">
              <a:lnSpc>
                <a:spcPct val="90000"/>
              </a:lnSpc>
              <a:spcBef>
                <a:spcPct val="0"/>
              </a:spcBef>
              <a:spcAft>
                <a:spcPts val="0"/>
              </a:spcAft>
              <a:buClrTx/>
              <a:buSzTx/>
              <a:buFontTx/>
              <a:buNone/>
              <a:tabLst/>
              <a:defRPr/>
            </a:pPr>
            <a:r>
              <a:rPr kumimoji="0" lang="en-US" sz="1600" b="1" i="0" u="none" strike="noStrike" kern="1200" cap="none" spc="-38" normalizeH="0" baseline="0" noProof="0" dirty="0">
                <a:ln>
                  <a:noFill/>
                </a:ln>
                <a:solidFill>
                  <a:srgbClr val="FFC000"/>
                </a:solidFill>
                <a:effectLst/>
                <a:uLnTx/>
                <a:uFillTx/>
                <a:latin typeface="ADLaM Display" panose="02010000000000000000" pitchFamily="2" charset="0"/>
                <a:ea typeface="ADLaM Display" panose="02010000000000000000" pitchFamily="2" charset="0"/>
                <a:cs typeface="ADLaM Display" panose="02010000000000000000" pitchFamily="2" charset="0"/>
              </a:rPr>
              <a:t>100% Stacked</a:t>
            </a:r>
            <a:endParaRPr kumimoji="0" lang="en-US" sz="1600" b="1" i="0" u="none" strike="noStrike" kern="1200" cap="none" spc="-38" normalizeH="0" baseline="0" noProof="0" dirty="0">
              <a:ln>
                <a:noFill/>
              </a:ln>
              <a:solidFill>
                <a:srgbClr val="FFC000"/>
              </a:solidFill>
              <a:effectLst/>
              <a:uLnTx/>
              <a:uFillTx/>
              <a:latin typeface="Calibri"/>
              <a:ea typeface="+mj-ea"/>
              <a:cs typeface="+mj-cs"/>
            </a:endParaRPr>
          </a:p>
        </p:txBody>
      </p:sp>
    </p:spTree>
    <p:extLst>
      <p:ext uri="{BB962C8B-B14F-4D97-AF65-F5344CB8AC3E}">
        <p14:creationId xmlns:p14="http://schemas.microsoft.com/office/powerpoint/2010/main" val="19576498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CFEFA-F379-119E-F6B0-1B1C937062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71C32C-F413-5100-411D-E99C6D75C2AE}"/>
              </a:ext>
            </a:extLst>
          </p:cNvPr>
          <p:cNvSpPr>
            <a:spLocks noGrp="1"/>
          </p:cNvSpPr>
          <p:nvPr>
            <p:ph type="title"/>
          </p:nvPr>
        </p:nvSpPr>
        <p:spPr/>
        <p:txBody>
          <a:bodyPr/>
          <a:lstStyle/>
          <a:p>
            <a:r>
              <a:rPr lang="en-US" dirty="0">
                <a:latin typeface="ADLaM Display" panose="02010000000000000000" pitchFamily="2" charset="0"/>
                <a:ea typeface="ADLaM Display" panose="02010000000000000000" pitchFamily="2" charset="0"/>
                <a:cs typeface="ADLaM Display" panose="02010000000000000000" pitchFamily="2" charset="0"/>
              </a:rPr>
              <a:t>Column Chart </a:t>
            </a:r>
            <a:r>
              <a:rPr lang="en-US"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Vs</a:t>
            </a:r>
            <a:r>
              <a:rPr lang="en-US" dirty="0">
                <a:latin typeface="ADLaM Display" panose="02010000000000000000" pitchFamily="2" charset="0"/>
                <a:ea typeface="ADLaM Display" panose="02010000000000000000" pitchFamily="2" charset="0"/>
                <a:cs typeface="ADLaM Display" panose="02010000000000000000" pitchFamily="2" charset="0"/>
              </a:rPr>
              <a:t> Bar Chart</a:t>
            </a:r>
            <a:endParaRPr lang="en-US" dirty="0"/>
          </a:p>
        </p:txBody>
      </p:sp>
      <p:graphicFrame>
        <p:nvGraphicFramePr>
          <p:cNvPr id="12" name="Table 11">
            <a:extLst>
              <a:ext uri="{FF2B5EF4-FFF2-40B4-BE49-F238E27FC236}">
                <a16:creationId xmlns:a16="http://schemas.microsoft.com/office/drawing/2014/main" id="{9CC76269-3F7C-5D42-E7E6-95B650D7183C}"/>
              </a:ext>
            </a:extLst>
          </p:cNvPr>
          <p:cNvGraphicFramePr>
            <a:graphicFrameLocks noGrp="1"/>
          </p:cNvGraphicFramePr>
          <p:nvPr/>
        </p:nvGraphicFramePr>
        <p:xfrm>
          <a:off x="1156921" y="1698233"/>
          <a:ext cx="10393395" cy="4782775"/>
        </p:xfrm>
        <a:graphic>
          <a:graphicData uri="http://schemas.openxmlformats.org/drawingml/2006/table">
            <a:tbl>
              <a:tblPr firstRow="1" bandRow="1">
                <a:tableStyleId>{5C22544A-7EE6-4342-B048-85BDC9FD1C3A}</a:tableStyleId>
              </a:tblPr>
              <a:tblGrid>
                <a:gridCol w="3464465">
                  <a:extLst>
                    <a:ext uri="{9D8B030D-6E8A-4147-A177-3AD203B41FA5}">
                      <a16:colId xmlns:a16="http://schemas.microsoft.com/office/drawing/2014/main" val="2384811825"/>
                    </a:ext>
                  </a:extLst>
                </a:gridCol>
                <a:gridCol w="3464465">
                  <a:extLst>
                    <a:ext uri="{9D8B030D-6E8A-4147-A177-3AD203B41FA5}">
                      <a16:colId xmlns:a16="http://schemas.microsoft.com/office/drawing/2014/main" val="116356935"/>
                    </a:ext>
                  </a:extLst>
                </a:gridCol>
                <a:gridCol w="3464465">
                  <a:extLst>
                    <a:ext uri="{9D8B030D-6E8A-4147-A177-3AD203B41FA5}">
                      <a16:colId xmlns:a16="http://schemas.microsoft.com/office/drawing/2014/main" val="308172036"/>
                    </a:ext>
                  </a:extLst>
                </a:gridCol>
              </a:tblGrid>
              <a:tr h="956555">
                <a:tc>
                  <a:txBody>
                    <a:bodyPr/>
                    <a:lstStyle/>
                    <a:p>
                      <a:pPr algn="ctr"/>
                      <a:r>
                        <a:rPr lang="en-US" sz="2800" dirty="0">
                          <a:latin typeface="ADLaM Display" panose="02010000000000000000" pitchFamily="2" charset="0"/>
                          <a:ea typeface="ADLaM Display" panose="02010000000000000000" pitchFamily="2" charset="0"/>
                          <a:cs typeface="ADLaM Display" panose="02010000000000000000" pitchFamily="2" charset="0"/>
                        </a:rPr>
                        <a:t>Feature</a:t>
                      </a:r>
                    </a:p>
                  </a:txBody>
                  <a:tcPr>
                    <a:solidFill>
                      <a:srgbClr val="FFC000"/>
                    </a:solidFill>
                  </a:tcPr>
                </a:tc>
                <a:tc>
                  <a:txBody>
                    <a:bodyPr/>
                    <a:lstStyle/>
                    <a:p>
                      <a:pPr algn="ctr"/>
                      <a:r>
                        <a:rPr lang="en-US" sz="2800" dirty="0">
                          <a:latin typeface="ADLaM Display" panose="02010000000000000000" pitchFamily="2" charset="0"/>
                          <a:ea typeface="ADLaM Display" panose="02010000000000000000" pitchFamily="2" charset="0"/>
                          <a:cs typeface="ADLaM Display" panose="02010000000000000000" pitchFamily="2" charset="0"/>
                        </a:rPr>
                        <a:t>Column Chart</a:t>
                      </a:r>
                    </a:p>
                  </a:txBody>
                  <a:tcPr>
                    <a:solidFill>
                      <a:srgbClr val="FFC000"/>
                    </a:solidFill>
                  </a:tcPr>
                </a:tc>
                <a:tc>
                  <a:txBody>
                    <a:bodyPr/>
                    <a:lstStyle/>
                    <a:p>
                      <a:pPr algn="ctr"/>
                      <a:r>
                        <a:rPr lang="en-US" sz="2800" dirty="0">
                          <a:latin typeface="ADLaM Display" panose="02010000000000000000" pitchFamily="2" charset="0"/>
                          <a:ea typeface="ADLaM Display" panose="02010000000000000000" pitchFamily="2" charset="0"/>
                          <a:cs typeface="ADLaM Display" panose="02010000000000000000" pitchFamily="2" charset="0"/>
                        </a:rPr>
                        <a:t>Bar Chart</a:t>
                      </a:r>
                    </a:p>
                  </a:txBody>
                  <a:tcPr>
                    <a:solidFill>
                      <a:srgbClr val="FFC000"/>
                    </a:solidFill>
                  </a:tcPr>
                </a:tc>
                <a:extLst>
                  <a:ext uri="{0D108BD9-81ED-4DB2-BD59-A6C34878D82A}">
                    <a16:rowId xmlns:a16="http://schemas.microsoft.com/office/drawing/2014/main" val="362808023"/>
                  </a:ext>
                </a:extLst>
              </a:tr>
              <a:tr h="956555">
                <a:tc>
                  <a:txBody>
                    <a:bodyPr/>
                    <a:lstStyle/>
                    <a:p>
                      <a:r>
                        <a:rPr lang="en-US" sz="2400" dirty="0">
                          <a:latin typeface="ADLaM Display" panose="02010000000000000000" pitchFamily="2" charset="0"/>
                          <a:ea typeface="ADLaM Display" panose="02010000000000000000" pitchFamily="2" charset="0"/>
                          <a:cs typeface="ADLaM Display" panose="02010000000000000000" pitchFamily="2" charset="0"/>
                        </a:rPr>
                        <a:t>Orientation</a:t>
                      </a:r>
                    </a:p>
                  </a:txBody>
                  <a:tcPr>
                    <a:solidFill>
                      <a:schemeClr val="bg1"/>
                    </a:solidFill>
                  </a:tcPr>
                </a:tc>
                <a:tc>
                  <a:txBody>
                    <a:bodyPr/>
                    <a:lstStyle/>
                    <a:p>
                      <a:r>
                        <a:rPr lang="en-US" sz="2400" dirty="0">
                          <a:latin typeface="ADLaM Display" panose="02010000000000000000" pitchFamily="2" charset="0"/>
                          <a:ea typeface="ADLaM Display" panose="02010000000000000000" pitchFamily="2" charset="0"/>
                          <a:cs typeface="ADLaM Display" panose="02010000000000000000" pitchFamily="2" charset="0"/>
                        </a:rPr>
                        <a:t>Vertical</a:t>
                      </a:r>
                    </a:p>
                  </a:txBody>
                  <a:tcPr>
                    <a:solidFill>
                      <a:schemeClr val="bg1"/>
                    </a:solidFill>
                  </a:tcPr>
                </a:tc>
                <a:tc>
                  <a:txBody>
                    <a:bodyPr/>
                    <a:lstStyle/>
                    <a:p>
                      <a:r>
                        <a:rPr lang="en-US" sz="2400" dirty="0">
                          <a:latin typeface="ADLaM Display" panose="02010000000000000000" pitchFamily="2" charset="0"/>
                          <a:ea typeface="ADLaM Display" panose="02010000000000000000" pitchFamily="2" charset="0"/>
                          <a:cs typeface="ADLaM Display" panose="02010000000000000000" pitchFamily="2" charset="0"/>
                        </a:rPr>
                        <a:t>Horizontal</a:t>
                      </a:r>
                    </a:p>
                  </a:txBody>
                  <a:tcPr>
                    <a:solidFill>
                      <a:schemeClr val="bg1"/>
                    </a:solidFill>
                  </a:tcPr>
                </a:tc>
                <a:extLst>
                  <a:ext uri="{0D108BD9-81ED-4DB2-BD59-A6C34878D82A}">
                    <a16:rowId xmlns:a16="http://schemas.microsoft.com/office/drawing/2014/main" val="1971840143"/>
                  </a:ext>
                </a:extLst>
              </a:tr>
              <a:tr h="956555">
                <a:tc>
                  <a:txBody>
                    <a:bodyPr/>
                    <a:lstStyle/>
                    <a:p>
                      <a:r>
                        <a:rPr lang="en-US" sz="2400" dirty="0">
                          <a:latin typeface="ADLaM Display" panose="02010000000000000000" pitchFamily="2" charset="0"/>
                          <a:ea typeface="ADLaM Display" panose="02010000000000000000" pitchFamily="2" charset="0"/>
                          <a:cs typeface="ADLaM Display" panose="02010000000000000000" pitchFamily="2" charset="0"/>
                        </a:rPr>
                        <a:t>Best Use</a:t>
                      </a:r>
                    </a:p>
                  </a:txBody>
                  <a:tcPr>
                    <a:solidFill>
                      <a:schemeClr val="bg1"/>
                    </a:solidFill>
                  </a:tcPr>
                </a:tc>
                <a:tc>
                  <a:txBody>
                    <a:bodyPr/>
                    <a:lstStyle/>
                    <a:p>
                      <a:r>
                        <a:rPr lang="en-US" sz="2400" dirty="0">
                          <a:latin typeface="ADLaM Display" panose="02010000000000000000" pitchFamily="2" charset="0"/>
                          <a:ea typeface="ADLaM Display" panose="02010000000000000000" pitchFamily="2" charset="0"/>
                          <a:cs typeface="ADLaM Display" panose="02010000000000000000" pitchFamily="2" charset="0"/>
                        </a:rPr>
                        <a:t>Time trends</a:t>
                      </a:r>
                    </a:p>
                  </a:txBody>
                  <a:tcPr>
                    <a:solidFill>
                      <a:schemeClr val="bg1"/>
                    </a:solidFill>
                  </a:tcPr>
                </a:tc>
                <a:tc>
                  <a:txBody>
                    <a:bodyPr/>
                    <a:lstStyle/>
                    <a:p>
                      <a:r>
                        <a:rPr lang="en-US" sz="2400" dirty="0">
                          <a:latin typeface="ADLaM Display" panose="02010000000000000000" pitchFamily="2" charset="0"/>
                          <a:ea typeface="ADLaM Display" panose="02010000000000000000" pitchFamily="2" charset="0"/>
                          <a:cs typeface="ADLaM Display" panose="02010000000000000000" pitchFamily="2" charset="0"/>
                        </a:rPr>
                        <a:t>Category comparison</a:t>
                      </a:r>
                    </a:p>
                  </a:txBody>
                  <a:tcPr>
                    <a:solidFill>
                      <a:schemeClr val="bg1"/>
                    </a:solidFill>
                  </a:tcPr>
                </a:tc>
                <a:extLst>
                  <a:ext uri="{0D108BD9-81ED-4DB2-BD59-A6C34878D82A}">
                    <a16:rowId xmlns:a16="http://schemas.microsoft.com/office/drawing/2014/main" val="2565846869"/>
                  </a:ext>
                </a:extLst>
              </a:tr>
              <a:tr h="956555">
                <a:tc>
                  <a:txBody>
                    <a:bodyPr/>
                    <a:lstStyle/>
                    <a:p>
                      <a:r>
                        <a:rPr lang="en-US" sz="2400" dirty="0">
                          <a:latin typeface="ADLaM Display" panose="02010000000000000000" pitchFamily="2" charset="0"/>
                          <a:ea typeface="ADLaM Display" panose="02010000000000000000" pitchFamily="2" charset="0"/>
                          <a:cs typeface="ADLaM Display" panose="02010000000000000000" pitchFamily="2" charset="0"/>
                        </a:rPr>
                        <a:t>Space Usage</a:t>
                      </a:r>
                    </a:p>
                  </a:txBody>
                  <a:tcPr>
                    <a:solidFill>
                      <a:schemeClr val="bg1"/>
                    </a:solidFill>
                  </a:tcPr>
                </a:tc>
                <a:tc>
                  <a:txBody>
                    <a:bodyPr/>
                    <a:lstStyle/>
                    <a:p>
                      <a:r>
                        <a:rPr lang="en-US" sz="2400" dirty="0">
                          <a:latin typeface="ADLaM Display" panose="02010000000000000000" pitchFamily="2" charset="0"/>
                          <a:ea typeface="ADLaM Display" panose="02010000000000000000" pitchFamily="2" charset="0"/>
                          <a:cs typeface="ADLaM Display" panose="02010000000000000000" pitchFamily="2" charset="0"/>
                        </a:rPr>
                        <a:t>Needs more width</a:t>
                      </a:r>
                    </a:p>
                  </a:txBody>
                  <a:tcPr>
                    <a:solidFill>
                      <a:schemeClr val="bg1"/>
                    </a:solidFill>
                  </a:tcPr>
                </a:tc>
                <a:tc>
                  <a:txBody>
                    <a:bodyPr/>
                    <a:lstStyle/>
                    <a:p>
                      <a:r>
                        <a:rPr lang="en-US" sz="2400" dirty="0">
                          <a:latin typeface="ADLaM Display" panose="02010000000000000000" pitchFamily="2" charset="0"/>
                          <a:ea typeface="ADLaM Display" panose="02010000000000000000" pitchFamily="2" charset="0"/>
                          <a:cs typeface="ADLaM Display" panose="02010000000000000000" pitchFamily="2" charset="0"/>
                        </a:rPr>
                        <a:t>Needs more height</a:t>
                      </a:r>
                    </a:p>
                  </a:txBody>
                  <a:tcPr>
                    <a:solidFill>
                      <a:schemeClr val="bg1"/>
                    </a:solidFill>
                  </a:tcPr>
                </a:tc>
                <a:extLst>
                  <a:ext uri="{0D108BD9-81ED-4DB2-BD59-A6C34878D82A}">
                    <a16:rowId xmlns:a16="http://schemas.microsoft.com/office/drawing/2014/main" val="3738497545"/>
                  </a:ext>
                </a:extLst>
              </a:tr>
              <a:tr h="956555">
                <a:tc>
                  <a:txBody>
                    <a:bodyPr/>
                    <a:lstStyle/>
                    <a:p>
                      <a:r>
                        <a:rPr lang="en-US" sz="2400" dirty="0">
                          <a:latin typeface="ADLaM Display" panose="02010000000000000000" pitchFamily="2" charset="0"/>
                          <a:ea typeface="ADLaM Display" panose="02010000000000000000" pitchFamily="2" charset="0"/>
                          <a:cs typeface="ADLaM Display" panose="02010000000000000000" pitchFamily="2" charset="0"/>
                        </a:rPr>
                        <a:t>Labels</a:t>
                      </a:r>
                    </a:p>
                  </a:txBody>
                  <a:tcPr>
                    <a:solidFill>
                      <a:schemeClr val="bg1"/>
                    </a:solidFill>
                  </a:tcPr>
                </a:tc>
                <a:tc>
                  <a:txBody>
                    <a:bodyPr/>
                    <a:lstStyle/>
                    <a:p>
                      <a:r>
                        <a:rPr lang="en-US" sz="2400" dirty="0">
                          <a:latin typeface="ADLaM Display" panose="02010000000000000000" pitchFamily="2" charset="0"/>
                          <a:ea typeface="ADLaM Display" panose="02010000000000000000" pitchFamily="2" charset="0"/>
                          <a:cs typeface="ADLaM Display" panose="02010000000000000000" pitchFamily="2" charset="0"/>
                        </a:rPr>
                        <a:t>Short labels</a:t>
                      </a:r>
                    </a:p>
                  </a:txBody>
                  <a:tcPr>
                    <a:solidFill>
                      <a:schemeClr val="bg1"/>
                    </a:solidFill>
                  </a:tcPr>
                </a:tc>
                <a:tc>
                  <a:txBody>
                    <a:bodyPr/>
                    <a:lstStyle/>
                    <a:p>
                      <a:r>
                        <a:rPr lang="en-US" sz="2400" dirty="0">
                          <a:latin typeface="ADLaM Display" panose="02010000000000000000" pitchFamily="2" charset="0"/>
                          <a:ea typeface="ADLaM Display" panose="02010000000000000000" pitchFamily="2" charset="0"/>
                          <a:cs typeface="ADLaM Display" panose="02010000000000000000" pitchFamily="2" charset="0"/>
                        </a:rPr>
                        <a:t>Long labels</a:t>
                      </a:r>
                    </a:p>
                  </a:txBody>
                  <a:tcPr>
                    <a:solidFill>
                      <a:schemeClr val="bg1"/>
                    </a:solidFill>
                  </a:tcPr>
                </a:tc>
                <a:extLst>
                  <a:ext uri="{0D108BD9-81ED-4DB2-BD59-A6C34878D82A}">
                    <a16:rowId xmlns:a16="http://schemas.microsoft.com/office/drawing/2014/main" val="2953588070"/>
                  </a:ext>
                </a:extLst>
              </a:tr>
            </a:tbl>
          </a:graphicData>
        </a:graphic>
      </p:graphicFrame>
    </p:spTree>
    <p:extLst>
      <p:ext uri="{BB962C8B-B14F-4D97-AF65-F5344CB8AC3E}">
        <p14:creationId xmlns:p14="http://schemas.microsoft.com/office/powerpoint/2010/main" val="38554645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0EAB0-9FEF-D70A-CBA5-8AF1969027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A78D80-A080-93BB-BD7F-82A8C8395DAC}"/>
              </a:ext>
            </a:extLst>
          </p:cNvPr>
          <p:cNvSpPr>
            <a:spLocks noGrp="1"/>
          </p:cNvSpPr>
          <p:nvPr>
            <p:ph type="title"/>
          </p:nvPr>
        </p:nvSpPr>
        <p:spPr/>
        <p:txBody>
          <a:bodyPr/>
          <a:lstStyle/>
          <a:p>
            <a:r>
              <a:rPr lang="en-US" dirty="0">
                <a:latin typeface="ADLaM Display" panose="02010000000000000000" pitchFamily="2" charset="0"/>
                <a:ea typeface="ADLaM Display" panose="02010000000000000000" pitchFamily="2" charset="0"/>
                <a:cs typeface="ADLaM Display" panose="02010000000000000000" pitchFamily="2" charset="0"/>
              </a:rPr>
              <a:t>Line Charts</a:t>
            </a:r>
            <a:endParaRPr lang="en-US" dirty="0"/>
          </a:p>
        </p:txBody>
      </p:sp>
      <p:sp>
        <p:nvSpPr>
          <p:cNvPr id="3" name="Text Placeholder 2">
            <a:extLst>
              <a:ext uri="{FF2B5EF4-FFF2-40B4-BE49-F238E27FC236}">
                <a16:creationId xmlns:a16="http://schemas.microsoft.com/office/drawing/2014/main" id="{71BCCBF5-D97A-C77B-1518-082E9713F291}"/>
              </a:ext>
            </a:extLst>
          </p:cNvPr>
          <p:cNvSpPr>
            <a:spLocks noGrp="1"/>
          </p:cNvSpPr>
          <p:nvPr>
            <p:ph type="body" sz="quarter" idx="14"/>
          </p:nvPr>
        </p:nvSpPr>
        <p:spPr>
          <a:xfrm>
            <a:off x="5245768" y="984899"/>
            <a:ext cx="6946232" cy="6008070"/>
          </a:xfrm>
        </p:spPr>
        <p:txBody>
          <a:bodyPr>
            <a:normAutofit lnSpcReduction="10000"/>
          </a:bodyPr>
          <a:lstStyle/>
          <a:p>
            <a:r>
              <a:rPr lang="en-US" sz="2800" dirty="0"/>
              <a:t> </a:t>
            </a:r>
            <a:r>
              <a:rPr lang="en-US" sz="2800" b="1"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Line Charts </a:t>
            </a:r>
            <a:r>
              <a:rPr lang="en-US" sz="2800" dirty="0"/>
              <a:t>are used to display data trends over time.</a:t>
            </a:r>
          </a:p>
          <a:p>
            <a:r>
              <a:rPr lang="en-US" sz="2800" dirty="0"/>
              <a:t> Data points are connected by a continuous line.</a:t>
            </a:r>
          </a:p>
          <a:p>
            <a:r>
              <a:rPr lang="en-US" sz="2800" dirty="0"/>
              <a:t> Shows information as a series of data points.</a:t>
            </a:r>
          </a:p>
          <a:p>
            <a:r>
              <a:rPr lang="en-US" sz="2800" dirty="0"/>
              <a:t> Typically used for time-series data.</a:t>
            </a:r>
          </a:p>
          <a:p>
            <a:r>
              <a:rPr lang="en-US" sz="2800" dirty="0"/>
              <a:t> </a:t>
            </a:r>
            <a:r>
              <a:rPr lang="en-US" sz="2800" b="1" dirty="0"/>
              <a:t>Use Cases:</a:t>
            </a:r>
          </a:p>
          <a:p>
            <a:pPr>
              <a:buBlip>
                <a:blip r:embed="rId2"/>
              </a:buBlip>
            </a:pPr>
            <a:r>
              <a:rPr lang="en-US" sz="2800" dirty="0"/>
              <a:t> Shows trends over time.</a:t>
            </a:r>
          </a:p>
          <a:p>
            <a:pPr>
              <a:buBlip>
                <a:blip r:embed="rId2"/>
              </a:buBlip>
            </a:pPr>
            <a:r>
              <a:rPr lang="en-US" sz="2800" dirty="0"/>
              <a:t> Track performance (sales, revenue, growth).</a:t>
            </a:r>
          </a:p>
          <a:p>
            <a:pPr>
              <a:buBlip>
                <a:blip r:embed="rId2"/>
              </a:buBlip>
            </a:pPr>
            <a:r>
              <a:rPr lang="en-US" sz="2800" dirty="0"/>
              <a:t> Compare multiple variables.</a:t>
            </a:r>
          </a:p>
          <a:p>
            <a:pPr>
              <a:buBlip>
                <a:blip r:embed="rId2"/>
              </a:buBlip>
            </a:pPr>
            <a:r>
              <a:rPr lang="en-US" sz="2800" dirty="0"/>
              <a:t> Identify patterns &amp; seasonality.</a:t>
            </a:r>
          </a:p>
          <a:p>
            <a:pPr>
              <a:buBlip>
                <a:blip r:embed="rId2"/>
              </a:buBlip>
            </a:pPr>
            <a:r>
              <a:rPr lang="en-US" sz="2800" dirty="0"/>
              <a:t> Best for continuous data, time-based analysis.</a:t>
            </a:r>
          </a:p>
          <a:p>
            <a:endParaRPr lang="en-US" sz="2800" dirty="0"/>
          </a:p>
        </p:txBody>
      </p:sp>
      <p:pic>
        <p:nvPicPr>
          <p:cNvPr id="12" name="Picture 11">
            <a:extLst>
              <a:ext uri="{FF2B5EF4-FFF2-40B4-BE49-F238E27FC236}">
                <a16:creationId xmlns:a16="http://schemas.microsoft.com/office/drawing/2014/main" id="{9E6C4714-A313-B297-5F8B-95B35D22372C}"/>
              </a:ext>
            </a:extLst>
          </p:cNvPr>
          <p:cNvPicPr>
            <a:picLocks noChangeAspect="1"/>
          </p:cNvPicPr>
          <p:nvPr/>
        </p:nvPicPr>
        <p:blipFill>
          <a:blip r:embed="rId3"/>
          <a:stretch>
            <a:fillRect/>
          </a:stretch>
        </p:blipFill>
        <p:spPr>
          <a:xfrm>
            <a:off x="189883" y="2325970"/>
            <a:ext cx="5055885" cy="2807503"/>
          </a:xfrm>
          <a:prstGeom prst="rect">
            <a:avLst/>
          </a:prstGeom>
          <a:noFill/>
          <a:ln>
            <a:noFill/>
          </a:ln>
        </p:spPr>
      </p:pic>
    </p:spTree>
    <p:extLst>
      <p:ext uri="{BB962C8B-B14F-4D97-AF65-F5344CB8AC3E}">
        <p14:creationId xmlns:p14="http://schemas.microsoft.com/office/powerpoint/2010/main" val="7560011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5499A7-A63B-1630-905F-B1DC13AB45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D68C81-FC7B-29B0-AA4B-54F644391816}"/>
              </a:ext>
            </a:extLst>
          </p:cNvPr>
          <p:cNvSpPr>
            <a:spLocks noGrp="1"/>
          </p:cNvSpPr>
          <p:nvPr>
            <p:ph type="title"/>
          </p:nvPr>
        </p:nvSpPr>
        <p:spPr/>
        <p:txBody>
          <a:bodyPr/>
          <a:lstStyle/>
          <a:p>
            <a:r>
              <a:rPr lang="en-US" dirty="0">
                <a:latin typeface="ADLaM Display" panose="02010000000000000000" pitchFamily="2" charset="0"/>
                <a:ea typeface="ADLaM Display" panose="02010000000000000000" pitchFamily="2" charset="0"/>
                <a:cs typeface="ADLaM Display" panose="02010000000000000000" pitchFamily="2" charset="0"/>
              </a:rPr>
              <a:t>Line &amp; Stacked Column Charts</a:t>
            </a:r>
            <a:endParaRPr lang="en-US" dirty="0"/>
          </a:p>
        </p:txBody>
      </p:sp>
      <p:sp>
        <p:nvSpPr>
          <p:cNvPr id="3" name="Text Placeholder 2">
            <a:extLst>
              <a:ext uri="{FF2B5EF4-FFF2-40B4-BE49-F238E27FC236}">
                <a16:creationId xmlns:a16="http://schemas.microsoft.com/office/drawing/2014/main" id="{527BEB99-6A3F-6EB2-30F6-E5D8502F406F}"/>
              </a:ext>
            </a:extLst>
          </p:cNvPr>
          <p:cNvSpPr>
            <a:spLocks noGrp="1"/>
          </p:cNvSpPr>
          <p:nvPr>
            <p:ph type="body" sz="quarter" idx="14"/>
          </p:nvPr>
        </p:nvSpPr>
        <p:spPr>
          <a:xfrm>
            <a:off x="5245768" y="1491915"/>
            <a:ext cx="6946232" cy="5501053"/>
          </a:xfrm>
        </p:spPr>
        <p:txBody>
          <a:bodyPr>
            <a:normAutofit fontScale="92500" lnSpcReduction="10000"/>
          </a:bodyPr>
          <a:lstStyle/>
          <a:p>
            <a:r>
              <a:rPr lang="en-US" sz="2800" dirty="0"/>
              <a:t> </a:t>
            </a:r>
            <a:r>
              <a:rPr lang="en-US" sz="2800" b="1"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Line  &amp; Stacked Column Chart</a:t>
            </a:r>
            <a:r>
              <a:rPr lang="en-US" sz="2800" dirty="0"/>
              <a:t> combines line chart &amp; a stacked column chart.</a:t>
            </a:r>
          </a:p>
          <a:p>
            <a:r>
              <a:rPr lang="en-US" sz="2800" dirty="0"/>
              <a:t> Allows to analyze trends over time while also observing the composition of different categories.</a:t>
            </a:r>
          </a:p>
          <a:p>
            <a:r>
              <a:rPr lang="en-US" sz="2800" dirty="0"/>
              <a:t>  </a:t>
            </a:r>
            <a:r>
              <a:rPr lang="en-US" sz="2800" b="1" dirty="0"/>
              <a:t>Use Cases:</a:t>
            </a:r>
          </a:p>
          <a:p>
            <a:pPr>
              <a:buBlip>
                <a:blip r:embed="rId2"/>
              </a:buBlip>
            </a:pPr>
            <a:r>
              <a:rPr lang="en-US" sz="2800" dirty="0"/>
              <a:t> Combines multiple insights in one chart</a:t>
            </a:r>
          </a:p>
          <a:p>
            <a:pPr>
              <a:buBlip>
                <a:blip r:embed="rId2"/>
              </a:buBlip>
            </a:pPr>
            <a:r>
              <a:rPr lang="en-US" sz="2800" dirty="0"/>
              <a:t> Saves dashboard space.</a:t>
            </a:r>
          </a:p>
          <a:p>
            <a:pPr>
              <a:buBlip>
                <a:blip r:embed="rId2"/>
              </a:buBlip>
            </a:pPr>
            <a:r>
              <a:rPr lang="en-US" sz="2800" dirty="0"/>
              <a:t> Shows relationships between metrics.</a:t>
            </a:r>
          </a:p>
          <a:p>
            <a:pPr>
              <a:buBlip>
                <a:blip r:embed="rId2"/>
              </a:buBlip>
            </a:pPr>
            <a:r>
              <a:rPr lang="en-US" sz="2800" dirty="0"/>
              <a:t> Compare total vs breakdown.</a:t>
            </a:r>
          </a:p>
          <a:p>
            <a:pPr>
              <a:buBlip>
                <a:blip r:embed="rId2"/>
              </a:buBlip>
            </a:pPr>
            <a:r>
              <a:rPr lang="en-US" sz="2800" dirty="0"/>
              <a:t> Show trend + composition together.</a:t>
            </a:r>
          </a:p>
          <a:p>
            <a:pPr>
              <a:buBlip>
                <a:blip r:embed="rId2"/>
              </a:buBlip>
            </a:pPr>
            <a:r>
              <a:rPr lang="en-US" sz="2800" dirty="0"/>
              <a:t> Analyze performance across categories over time.</a:t>
            </a:r>
          </a:p>
          <a:p>
            <a:endParaRPr lang="en-US" sz="2800" dirty="0"/>
          </a:p>
        </p:txBody>
      </p:sp>
      <p:pic>
        <p:nvPicPr>
          <p:cNvPr id="12" name="Picture 11">
            <a:extLst>
              <a:ext uri="{FF2B5EF4-FFF2-40B4-BE49-F238E27FC236}">
                <a16:creationId xmlns:a16="http://schemas.microsoft.com/office/drawing/2014/main" id="{25946702-7CB6-70F9-0FD4-C1E00828F6A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89883" y="2342594"/>
            <a:ext cx="5055885" cy="2774255"/>
          </a:xfrm>
          <a:prstGeom prst="rect">
            <a:avLst/>
          </a:prstGeom>
          <a:noFill/>
          <a:ln>
            <a:noFill/>
          </a:ln>
        </p:spPr>
      </p:pic>
    </p:spTree>
    <p:extLst>
      <p:ext uri="{BB962C8B-B14F-4D97-AF65-F5344CB8AC3E}">
        <p14:creationId xmlns:p14="http://schemas.microsoft.com/office/powerpoint/2010/main" val="23234381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B7DD1-0CF7-90F3-DDA9-E04690F4B5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C37383-4597-7BEA-F752-6EA760E83C7C}"/>
              </a:ext>
            </a:extLst>
          </p:cNvPr>
          <p:cNvSpPr>
            <a:spLocks noGrp="1"/>
          </p:cNvSpPr>
          <p:nvPr>
            <p:ph type="title"/>
          </p:nvPr>
        </p:nvSpPr>
        <p:spPr/>
        <p:txBody>
          <a:bodyPr/>
          <a:lstStyle/>
          <a:p>
            <a:r>
              <a:rPr lang="en-US"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a:t>
            </a:r>
            <a:r>
              <a:rPr lang="en-US" dirty="0">
                <a:latin typeface="ADLaM Display" panose="02010000000000000000" pitchFamily="2" charset="0"/>
                <a:ea typeface="ADLaM Display" panose="02010000000000000000" pitchFamily="2" charset="0"/>
                <a:cs typeface="ADLaM Display" panose="02010000000000000000" pitchFamily="2" charset="0"/>
              </a:rPr>
              <a:t> Comparison with Other Charts</a:t>
            </a:r>
            <a:endParaRPr lang="en-US" dirty="0"/>
          </a:p>
        </p:txBody>
      </p:sp>
      <p:graphicFrame>
        <p:nvGraphicFramePr>
          <p:cNvPr id="6" name="Table 5">
            <a:extLst>
              <a:ext uri="{FF2B5EF4-FFF2-40B4-BE49-F238E27FC236}">
                <a16:creationId xmlns:a16="http://schemas.microsoft.com/office/drawing/2014/main" id="{8EC72625-4533-E6CA-4B58-64B5085E2F43}"/>
              </a:ext>
            </a:extLst>
          </p:cNvPr>
          <p:cNvGraphicFramePr>
            <a:graphicFrameLocks noGrp="1"/>
          </p:cNvGraphicFramePr>
          <p:nvPr/>
        </p:nvGraphicFramePr>
        <p:xfrm>
          <a:off x="1042737" y="1698233"/>
          <a:ext cx="10700084" cy="4782775"/>
        </p:xfrm>
        <a:graphic>
          <a:graphicData uri="http://schemas.openxmlformats.org/drawingml/2006/table">
            <a:tbl>
              <a:tblPr firstRow="1" bandRow="1">
                <a:tableStyleId>{5C22544A-7EE6-4342-B048-85BDC9FD1C3A}</a:tableStyleId>
              </a:tblPr>
              <a:tblGrid>
                <a:gridCol w="5350042">
                  <a:extLst>
                    <a:ext uri="{9D8B030D-6E8A-4147-A177-3AD203B41FA5}">
                      <a16:colId xmlns:a16="http://schemas.microsoft.com/office/drawing/2014/main" val="2384811825"/>
                    </a:ext>
                  </a:extLst>
                </a:gridCol>
                <a:gridCol w="5350042">
                  <a:extLst>
                    <a:ext uri="{9D8B030D-6E8A-4147-A177-3AD203B41FA5}">
                      <a16:colId xmlns:a16="http://schemas.microsoft.com/office/drawing/2014/main" val="116356935"/>
                    </a:ext>
                  </a:extLst>
                </a:gridCol>
              </a:tblGrid>
              <a:tr h="956555">
                <a:tc>
                  <a:txBody>
                    <a:bodyPr/>
                    <a:lstStyle/>
                    <a:p>
                      <a:pPr algn="ctr"/>
                      <a:r>
                        <a:rPr lang="en-US" sz="2800" dirty="0">
                          <a:latin typeface="ADLaM Display" panose="02010000000000000000" pitchFamily="2" charset="0"/>
                          <a:ea typeface="ADLaM Display" panose="02010000000000000000" pitchFamily="2" charset="0"/>
                          <a:cs typeface="ADLaM Display" panose="02010000000000000000" pitchFamily="2" charset="0"/>
                        </a:rPr>
                        <a:t>Chart Type</a:t>
                      </a:r>
                    </a:p>
                  </a:txBody>
                  <a:tcPr>
                    <a:solidFill>
                      <a:srgbClr val="FFC000"/>
                    </a:solidFill>
                  </a:tcPr>
                </a:tc>
                <a:tc>
                  <a:txBody>
                    <a:bodyPr/>
                    <a:lstStyle/>
                    <a:p>
                      <a:pPr algn="ctr"/>
                      <a:r>
                        <a:rPr lang="en-US" sz="2800" dirty="0">
                          <a:latin typeface="ADLaM Display" panose="02010000000000000000" pitchFamily="2" charset="0"/>
                          <a:ea typeface="ADLaM Display" panose="02010000000000000000" pitchFamily="2" charset="0"/>
                          <a:cs typeface="ADLaM Display" panose="02010000000000000000" pitchFamily="2" charset="0"/>
                        </a:rPr>
                        <a:t>Purpose</a:t>
                      </a:r>
                    </a:p>
                  </a:txBody>
                  <a:tcPr>
                    <a:solidFill>
                      <a:srgbClr val="FFC000"/>
                    </a:solidFill>
                  </a:tcPr>
                </a:tc>
                <a:extLst>
                  <a:ext uri="{0D108BD9-81ED-4DB2-BD59-A6C34878D82A}">
                    <a16:rowId xmlns:a16="http://schemas.microsoft.com/office/drawing/2014/main" val="362808023"/>
                  </a:ext>
                </a:extLst>
              </a:tr>
              <a:tr h="956555">
                <a:tc>
                  <a:txBody>
                    <a:bodyPr/>
                    <a:lstStyle/>
                    <a:p>
                      <a:r>
                        <a:rPr lang="en-US" sz="2400" dirty="0">
                          <a:latin typeface="ADLaM Display" panose="02010000000000000000" pitchFamily="2" charset="0"/>
                          <a:ea typeface="ADLaM Display" panose="02010000000000000000" pitchFamily="2" charset="0"/>
                          <a:cs typeface="ADLaM Display" panose="02010000000000000000" pitchFamily="2" charset="0"/>
                        </a:rPr>
                        <a:t>Column Chart</a:t>
                      </a:r>
                    </a:p>
                  </a:txBody>
                  <a:tcPr>
                    <a:solidFill>
                      <a:schemeClr val="bg1"/>
                    </a:solidFill>
                  </a:tcPr>
                </a:tc>
                <a:tc>
                  <a:txBody>
                    <a:bodyPr/>
                    <a:lstStyle/>
                    <a:p>
                      <a:r>
                        <a:rPr lang="en-US" sz="2400" dirty="0">
                          <a:latin typeface="ADLaM Display" panose="02010000000000000000" pitchFamily="2" charset="0"/>
                          <a:ea typeface="ADLaM Display" panose="02010000000000000000" pitchFamily="2" charset="0"/>
                          <a:cs typeface="ADLaM Display" panose="02010000000000000000" pitchFamily="2" charset="0"/>
                        </a:rPr>
                        <a:t>Simple Comparison</a:t>
                      </a:r>
                    </a:p>
                  </a:txBody>
                  <a:tcPr>
                    <a:solidFill>
                      <a:schemeClr val="bg1"/>
                    </a:solidFill>
                  </a:tcPr>
                </a:tc>
                <a:extLst>
                  <a:ext uri="{0D108BD9-81ED-4DB2-BD59-A6C34878D82A}">
                    <a16:rowId xmlns:a16="http://schemas.microsoft.com/office/drawing/2014/main" val="1971840143"/>
                  </a:ext>
                </a:extLst>
              </a:tr>
              <a:tr h="956555">
                <a:tc>
                  <a:txBody>
                    <a:bodyPr/>
                    <a:lstStyle/>
                    <a:p>
                      <a:r>
                        <a:rPr lang="en-US" sz="2400" dirty="0">
                          <a:latin typeface="ADLaM Display" panose="02010000000000000000" pitchFamily="2" charset="0"/>
                          <a:ea typeface="ADLaM Display" panose="02010000000000000000" pitchFamily="2" charset="0"/>
                          <a:cs typeface="ADLaM Display" panose="02010000000000000000" pitchFamily="2" charset="0"/>
                        </a:rPr>
                        <a:t>Line Chart</a:t>
                      </a:r>
                    </a:p>
                  </a:txBody>
                  <a:tcPr>
                    <a:solidFill>
                      <a:schemeClr val="bg1"/>
                    </a:solidFill>
                  </a:tcPr>
                </a:tc>
                <a:tc>
                  <a:txBody>
                    <a:bodyPr/>
                    <a:lstStyle/>
                    <a:p>
                      <a:r>
                        <a:rPr lang="en-US" sz="2400" dirty="0">
                          <a:latin typeface="ADLaM Display" panose="02010000000000000000" pitchFamily="2" charset="0"/>
                          <a:ea typeface="ADLaM Display" panose="02010000000000000000" pitchFamily="2" charset="0"/>
                          <a:cs typeface="ADLaM Display" panose="02010000000000000000" pitchFamily="2" charset="0"/>
                        </a:rPr>
                        <a:t>Trend over time</a:t>
                      </a:r>
                    </a:p>
                  </a:txBody>
                  <a:tcPr>
                    <a:solidFill>
                      <a:schemeClr val="bg1"/>
                    </a:solidFill>
                  </a:tcPr>
                </a:tc>
                <a:extLst>
                  <a:ext uri="{0D108BD9-81ED-4DB2-BD59-A6C34878D82A}">
                    <a16:rowId xmlns:a16="http://schemas.microsoft.com/office/drawing/2014/main" val="2565846869"/>
                  </a:ext>
                </a:extLst>
              </a:tr>
              <a:tr h="956555">
                <a:tc>
                  <a:txBody>
                    <a:bodyPr/>
                    <a:lstStyle/>
                    <a:p>
                      <a:r>
                        <a:rPr lang="en-US" sz="2400" dirty="0">
                          <a:latin typeface="ADLaM Display" panose="02010000000000000000" pitchFamily="2" charset="0"/>
                          <a:ea typeface="ADLaM Display" panose="02010000000000000000" pitchFamily="2" charset="0"/>
                          <a:cs typeface="ADLaM Display" panose="02010000000000000000" pitchFamily="2" charset="0"/>
                        </a:rPr>
                        <a:t>Stacked Column Chart</a:t>
                      </a:r>
                    </a:p>
                  </a:txBody>
                  <a:tcPr>
                    <a:solidFill>
                      <a:schemeClr val="bg1"/>
                    </a:solidFill>
                  </a:tcPr>
                </a:tc>
                <a:tc>
                  <a:txBody>
                    <a:bodyPr/>
                    <a:lstStyle/>
                    <a:p>
                      <a:r>
                        <a:rPr lang="en-US" sz="2400" dirty="0">
                          <a:latin typeface="ADLaM Display" panose="02010000000000000000" pitchFamily="2" charset="0"/>
                          <a:ea typeface="ADLaM Display" panose="02010000000000000000" pitchFamily="2" charset="0"/>
                          <a:cs typeface="ADLaM Display" panose="02010000000000000000" pitchFamily="2" charset="0"/>
                        </a:rPr>
                        <a:t>Composition</a:t>
                      </a:r>
                    </a:p>
                  </a:txBody>
                  <a:tcPr>
                    <a:solidFill>
                      <a:schemeClr val="bg1"/>
                    </a:solidFill>
                  </a:tcPr>
                </a:tc>
                <a:extLst>
                  <a:ext uri="{0D108BD9-81ED-4DB2-BD59-A6C34878D82A}">
                    <a16:rowId xmlns:a16="http://schemas.microsoft.com/office/drawing/2014/main" val="3738497545"/>
                  </a:ext>
                </a:extLst>
              </a:tr>
              <a:tr h="956555">
                <a:tc>
                  <a:txBody>
                    <a:bodyPr/>
                    <a:lstStyle/>
                    <a:p>
                      <a:r>
                        <a:rPr lang="en-US" sz="2400" dirty="0">
                          <a:latin typeface="ADLaM Display" panose="02010000000000000000" pitchFamily="2" charset="0"/>
                          <a:ea typeface="ADLaM Display" panose="02010000000000000000" pitchFamily="2" charset="0"/>
                          <a:cs typeface="ADLaM Display" panose="02010000000000000000" pitchFamily="2" charset="0"/>
                        </a:rPr>
                        <a:t>Line &amp; Stacked Column</a:t>
                      </a:r>
                    </a:p>
                  </a:txBody>
                  <a:tcPr>
                    <a:solidFill>
                      <a:schemeClr val="bg1"/>
                    </a:solidFill>
                  </a:tcPr>
                </a:tc>
                <a:tc>
                  <a:txBody>
                    <a:bodyPr/>
                    <a:lstStyle/>
                    <a:p>
                      <a:r>
                        <a:rPr lang="en-US" sz="2400" dirty="0">
                          <a:latin typeface="ADLaM Display" panose="02010000000000000000" pitchFamily="2" charset="0"/>
                          <a:ea typeface="ADLaM Display" panose="02010000000000000000" pitchFamily="2" charset="0"/>
                          <a:cs typeface="ADLaM Display" panose="02010000000000000000" pitchFamily="2" charset="0"/>
                        </a:rPr>
                        <a:t>Trend + Composition together</a:t>
                      </a:r>
                    </a:p>
                  </a:txBody>
                  <a:tcPr>
                    <a:solidFill>
                      <a:schemeClr val="bg1"/>
                    </a:solidFill>
                  </a:tcPr>
                </a:tc>
                <a:extLst>
                  <a:ext uri="{0D108BD9-81ED-4DB2-BD59-A6C34878D82A}">
                    <a16:rowId xmlns:a16="http://schemas.microsoft.com/office/drawing/2014/main" val="2953588070"/>
                  </a:ext>
                </a:extLst>
              </a:tr>
            </a:tbl>
          </a:graphicData>
        </a:graphic>
      </p:graphicFrame>
    </p:spTree>
    <p:extLst>
      <p:ext uri="{BB962C8B-B14F-4D97-AF65-F5344CB8AC3E}">
        <p14:creationId xmlns:p14="http://schemas.microsoft.com/office/powerpoint/2010/main" val="5381663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EEB2F-AA4C-DD0E-5116-F9AC543052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0CC3FA-FF7F-5EA2-3E9F-C319BDA498DA}"/>
              </a:ext>
            </a:extLst>
          </p:cNvPr>
          <p:cNvSpPr>
            <a:spLocks noGrp="1"/>
          </p:cNvSpPr>
          <p:nvPr>
            <p:ph type="title"/>
          </p:nvPr>
        </p:nvSpPr>
        <p:spPr/>
        <p:txBody>
          <a:bodyPr/>
          <a:lstStyle/>
          <a:p>
            <a:r>
              <a:rPr lang="en-US" dirty="0">
                <a:latin typeface="ADLaM Display" panose="02010000000000000000" pitchFamily="2" charset="0"/>
                <a:ea typeface="ADLaM Display" panose="02010000000000000000" pitchFamily="2" charset="0"/>
                <a:cs typeface="ADLaM Display" panose="02010000000000000000" pitchFamily="2" charset="0"/>
              </a:rPr>
              <a:t>Area Charts</a:t>
            </a:r>
            <a:endParaRPr lang="en-US" dirty="0"/>
          </a:p>
        </p:txBody>
      </p:sp>
      <p:sp>
        <p:nvSpPr>
          <p:cNvPr id="3" name="Text Placeholder 2">
            <a:extLst>
              <a:ext uri="{FF2B5EF4-FFF2-40B4-BE49-F238E27FC236}">
                <a16:creationId xmlns:a16="http://schemas.microsoft.com/office/drawing/2014/main" id="{9C7A8D79-65DF-D6AC-D7BB-4B5D9FFEDC59}"/>
              </a:ext>
            </a:extLst>
          </p:cNvPr>
          <p:cNvSpPr>
            <a:spLocks noGrp="1"/>
          </p:cNvSpPr>
          <p:nvPr>
            <p:ph type="body" sz="quarter" idx="14"/>
          </p:nvPr>
        </p:nvSpPr>
        <p:spPr>
          <a:xfrm>
            <a:off x="5245768" y="984899"/>
            <a:ext cx="6946232" cy="6008070"/>
          </a:xfrm>
        </p:spPr>
        <p:txBody>
          <a:bodyPr>
            <a:normAutofit/>
          </a:bodyPr>
          <a:lstStyle/>
          <a:p>
            <a:r>
              <a:rPr lang="en-US" sz="2800" dirty="0"/>
              <a:t> </a:t>
            </a:r>
            <a:r>
              <a:rPr lang="en-US" sz="2800" b="1"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Area Charts </a:t>
            </a:r>
            <a:r>
              <a:rPr lang="en-US" sz="2800" dirty="0"/>
              <a:t>are like line charts but with the area filled below the line.</a:t>
            </a:r>
          </a:p>
          <a:p>
            <a:r>
              <a:rPr lang="en-US" sz="2800" dirty="0"/>
              <a:t> Used to show trends over time along with magnitude. (Highlights trend &amp; quantity).</a:t>
            </a:r>
          </a:p>
          <a:p>
            <a:r>
              <a:rPr lang="en-US" sz="2800" dirty="0"/>
              <a:t> Helps emphasize  the volume of data.</a:t>
            </a:r>
          </a:p>
          <a:p>
            <a:r>
              <a:rPr lang="en-US" sz="2800" dirty="0"/>
              <a:t> </a:t>
            </a:r>
            <a:r>
              <a:rPr lang="en-US" sz="2800" b="1" dirty="0"/>
              <a:t>Use Cases:</a:t>
            </a:r>
          </a:p>
          <a:p>
            <a:pPr>
              <a:buBlip>
                <a:blip r:embed="rId2"/>
              </a:buBlip>
            </a:pPr>
            <a:r>
              <a:rPr lang="en-US" sz="2800" dirty="0"/>
              <a:t> Show trends over time.</a:t>
            </a:r>
          </a:p>
          <a:p>
            <a:pPr>
              <a:buBlip>
                <a:blip r:embed="rId2"/>
              </a:buBlip>
            </a:pPr>
            <a:r>
              <a:rPr lang="en-US" sz="2800" dirty="0"/>
              <a:t> Display cumulative totals.</a:t>
            </a:r>
          </a:p>
          <a:p>
            <a:pPr>
              <a:buBlip>
                <a:blip r:embed="rId2"/>
              </a:buBlip>
            </a:pPr>
            <a:r>
              <a:rPr lang="en-US" sz="2800" dirty="0"/>
              <a:t> Compare multiple data series.</a:t>
            </a:r>
          </a:p>
          <a:p>
            <a:pPr>
              <a:buBlip>
                <a:blip r:embed="rId2"/>
              </a:buBlip>
            </a:pPr>
            <a:r>
              <a:rPr lang="en-US" sz="2800" dirty="0"/>
              <a:t> Emphasize the magnitude of values.</a:t>
            </a:r>
          </a:p>
          <a:p>
            <a:pPr>
              <a:buBlip>
                <a:blip r:embed="rId2"/>
              </a:buBlip>
            </a:pPr>
            <a:r>
              <a:rPr lang="en-US" sz="2800" dirty="0"/>
              <a:t> Best for  time-based data, showing contribution to total.</a:t>
            </a:r>
          </a:p>
          <a:p>
            <a:endParaRPr lang="en-US" sz="2800" dirty="0"/>
          </a:p>
          <a:p>
            <a:endParaRPr lang="en-US" sz="2800" dirty="0"/>
          </a:p>
        </p:txBody>
      </p:sp>
      <p:pic>
        <p:nvPicPr>
          <p:cNvPr id="12" name="Picture 11">
            <a:extLst>
              <a:ext uri="{FF2B5EF4-FFF2-40B4-BE49-F238E27FC236}">
                <a16:creationId xmlns:a16="http://schemas.microsoft.com/office/drawing/2014/main" id="{EB816A91-5BCD-C389-C29C-474FBB56C03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00661" y="2358190"/>
            <a:ext cx="5145108" cy="2775284"/>
          </a:xfrm>
          <a:prstGeom prst="rect">
            <a:avLst/>
          </a:prstGeom>
          <a:noFill/>
          <a:ln>
            <a:noFill/>
          </a:ln>
        </p:spPr>
      </p:pic>
    </p:spTree>
    <p:extLst>
      <p:ext uri="{BB962C8B-B14F-4D97-AF65-F5344CB8AC3E}">
        <p14:creationId xmlns:p14="http://schemas.microsoft.com/office/powerpoint/2010/main" val="2266091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9FA12-E4AB-CC6D-DACF-3A985B8B6C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0B33AE-0704-A68E-AFF3-9DA4ECBB0B24}"/>
              </a:ext>
            </a:extLst>
          </p:cNvPr>
          <p:cNvSpPr>
            <a:spLocks noGrp="1"/>
          </p:cNvSpPr>
          <p:nvPr>
            <p:ph type="title"/>
          </p:nvPr>
        </p:nvSpPr>
        <p:spPr/>
        <p:txBody>
          <a:bodyPr/>
          <a:lstStyle/>
          <a:p>
            <a:r>
              <a:rPr lang="en-US" dirty="0">
                <a:latin typeface="ADLaM Display" panose="02010000000000000000" pitchFamily="2" charset="0"/>
                <a:ea typeface="ADLaM Display" panose="02010000000000000000" pitchFamily="2" charset="0"/>
                <a:cs typeface="ADLaM Display" panose="02010000000000000000" pitchFamily="2" charset="0"/>
              </a:rPr>
              <a:t>Area Chart </a:t>
            </a:r>
            <a:r>
              <a:rPr lang="en-US"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Vs</a:t>
            </a:r>
            <a:r>
              <a:rPr lang="en-US" dirty="0">
                <a:latin typeface="ADLaM Display" panose="02010000000000000000" pitchFamily="2" charset="0"/>
                <a:ea typeface="ADLaM Display" panose="02010000000000000000" pitchFamily="2" charset="0"/>
                <a:cs typeface="ADLaM Display" panose="02010000000000000000" pitchFamily="2" charset="0"/>
              </a:rPr>
              <a:t> Line Chart</a:t>
            </a:r>
            <a:endParaRPr lang="en-US" dirty="0"/>
          </a:p>
        </p:txBody>
      </p:sp>
      <p:graphicFrame>
        <p:nvGraphicFramePr>
          <p:cNvPr id="12" name="Table 11">
            <a:extLst>
              <a:ext uri="{FF2B5EF4-FFF2-40B4-BE49-F238E27FC236}">
                <a16:creationId xmlns:a16="http://schemas.microsoft.com/office/drawing/2014/main" id="{332C6A7A-4481-698C-D9C5-A5B2CEE13516}"/>
              </a:ext>
            </a:extLst>
          </p:cNvPr>
          <p:cNvGraphicFramePr>
            <a:graphicFrameLocks noGrp="1"/>
          </p:cNvGraphicFramePr>
          <p:nvPr/>
        </p:nvGraphicFramePr>
        <p:xfrm>
          <a:off x="1156921" y="1698233"/>
          <a:ext cx="10393395" cy="4782775"/>
        </p:xfrm>
        <a:graphic>
          <a:graphicData uri="http://schemas.openxmlformats.org/drawingml/2006/table">
            <a:tbl>
              <a:tblPr firstRow="1" bandRow="1">
                <a:tableStyleId>{5C22544A-7EE6-4342-B048-85BDC9FD1C3A}</a:tableStyleId>
              </a:tblPr>
              <a:tblGrid>
                <a:gridCol w="3464465">
                  <a:extLst>
                    <a:ext uri="{9D8B030D-6E8A-4147-A177-3AD203B41FA5}">
                      <a16:colId xmlns:a16="http://schemas.microsoft.com/office/drawing/2014/main" val="2384811825"/>
                    </a:ext>
                  </a:extLst>
                </a:gridCol>
                <a:gridCol w="3464465">
                  <a:extLst>
                    <a:ext uri="{9D8B030D-6E8A-4147-A177-3AD203B41FA5}">
                      <a16:colId xmlns:a16="http://schemas.microsoft.com/office/drawing/2014/main" val="116356935"/>
                    </a:ext>
                  </a:extLst>
                </a:gridCol>
                <a:gridCol w="3464465">
                  <a:extLst>
                    <a:ext uri="{9D8B030D-6E8A-4147-A177-3AD203B41FA5}">
                      <a16:colId xmlns:a16="http://schemas.microsoft.com/office/drawing/2014/main" val="308172036"/>
                    </a:ext>
                  </a:extLst>
                </a:gridCol>
              </a:tblGrid>
              <a:tr h="956555">
                <a:tc>
                  <a:txBody>
                    <a:bodyPr/>
                    <a:lstStyle/>
                    <a:p>
                      <a:pPr algn="ctr"/>
                      <a:r>
                        <a:rPr lang="en-US" sz="2800" dirty="0">
                          <a:latin typeface="ADLaM Display" panose="02010000000000000000" pitchFamily="2" charset="0"/>
                          <a:ea typeface="ADLaM Display" panose="02010000000000000000" pitchFamily="2" charset="0"/>
                          <a:cs typeface="ADLaM Display" panose="02010000000000000000" pitchFamily="2" charset="0"/>
                        </a:rPr>
                        <a:t>Feature</a:t>
                      </a:r>
                    </a:p>
                  </a:txBody>
                  <a:tcPr>
                    <a:solidFill>
                      <a:srgbClr val="FFC000"/>
                    </a:solidFill>
                  </a:tcPr>
                </a:tc>
                <a:tc>
                  <a:txBody>
                    <a:bodyPr/>
                    <a:lstStyle/>
                    <a:p>
                      <a:pPr algn="ctr"/>
                      <a:r>
                        <a:rPr lang="en-US" sz="2800" dirty="0">
                          <a:latin typeface="ADLaM Display" panose="02010000000000000000" pitchFamily="2" charset="0"/>
                          <a:ea typeface="ADLaM Display" panose="02010000000000000000" pitchFamily="2" charset="0"/>
                          <a:cs typeface="ADLaM Display" panose="02010000000000000000" pitchFamily="2" charset="0"/>
                        </a:rPr>
                        <a:t>Area Chart</a:t>
                      </a:r>
                    </a:p>
                  </a:txBody>
                  <a:tcPr>
                    <a:solidFill>
                      <a:srgbClr val="FFC000"/>
                    </a:solidFill>
                  </a:tcPr>
                </a:tc>
                <a:tc>
                  <a:txBody>
                    <a:bodyPr/>
                    <a:lstStyle/>
                    <a:p>
                      <a:pPr algn="ctr"/>
                      <a:r>
                        <a:rPr lang="en-US" sz="2800" dirty="0">
                          <a:latin typeface="ADLaM Display" panose="02010000000000000000" pitchFamily="2" charset="0"/>
                          <a:ea typeface="ADLaM Display" panose="02010000000000000000" pitchFamily="2" charset="0"/>
                          <a:cs typeface="ADLaM Display" panose="02010000000000000000" pitchFamily="2" charset="0"/>
                        </a:rPr>
                        <a:t>Line Chart</a:t>
                      </a:r>
                    </a:p>
                  </a:txBody>
                  <a:tcPr>
                    <a:solidFill>
                      <a:srgbClr val="FFC000"/>
                    </a:solidFill>
                  </a:tcPr>
                </a:tc>
                <a:extLst>
                  <a:ext uri="{0D108BD9-81ED-4DB2-BD59-A6C34878D82A}">
                    <a16:rowId xmlns:a16="http://schemas.microsoft.com/office/drawing/2014/main" val="362808023"/>
                  </a:ext>
                </a:extLst>
              </a:tr>
              <a:tr h="956555">
                <a:tc>
                  <a:txBody>
                    <a:bodyPr/>
                    <a:lstStyle/>
                    <a:p>
                      <a:r>
                        <a:rPr lang="en-US" sz="2400" dirty="0">
                          <a:latin typeface="ADLaM Display" panose="02010000000000000000" pitchFamily="2" charset="0"/>
                          <a:ea typeface="ADLaM Display" panose="02010000000000000000" pitchFamily="2" charset="0"/>
                          <a:cs typeface="ADLaM Display" panose="02010000000000000000" pitchFamily="2" charset="0"/>
                        </a:rPr>
                        <a:t>Fill</a:t>
                      </a:r>
                    </a:p>
                  </a:txBody>
                  <a:tcPr>
                    <a:solidFill>
                      <a:schemeClr val="bg1"/>
                    </a:solidFill>
                  </a:tcPr>
                </a:tc>
                <a:tc>
                  <a:txBody>
                    <a:bodyPr/>
                    <a:lstStyle/>
                    <a:p>
                      <a:r>
                        <a:rPr lang="en-US" sz="2400" dirty="0">
                          <a:latin typeface="ADLaM Display" panose="02010000000000000000" pitchFamily="2" charset="0"/>
                          <a:ea typeface="ADLaM Display" panose="02010000000000000000" pitchFamily="2" charset="0"/>
                          <a:cs typeface="ADLaM Display" panose="02010000000000000000" pitchFamily="2" charset="0"/>
                        </a:rPr>
                        <a:t>Colored Area</a:t>
                      </a:r>
                    </a:p>
                  </a:txBody>
                  <a:tcPr>
                    <a:solidFill>
                      <a:schemeClr val="bg1"/>
                    </a:solidFill>
                  </a:tcPr>
                </a:tc>
                <a:tc>
                  <a:txBody>
                    <a:bodyPr/>
                    <a:lstStyle/>
                    <a:p>
                      <a:r>
                        <a:rPr lang="en-US" sz="2400" dirty="0">
                          <a:latin typeface="ADLaM Display" panose="02010000000000000000" pitchFamily="2" charset="0"/>
                          <a:ea typeface="ADLaM Display" panose="02010000000000000000" pitchFamily="2" charset="0"/>
                          <a:cs typeface="ADLaM Display" panose="02010000000000000000" pitchFamily="2" charset="0"/>
                        </a:rPr>
                        <a:t>No Fill</a:t>
                      </a:r>
                    </a:p>
                  </a:txBody>
                  <a:tcPr>
                    <a:solidFill>
                      <a:schemeClr val="bg1"/>
                    </a:solidFill>
                  </a:tcPr>
                </a:tc>
                <a:extLst>
                  <a:ext uri="{0D108BD9-81ED-4DB2-BD59-A6C34878D82A}">
                    <a16:rowId xmlns:a16="http://schemas.microsoft.com/office/drawing/2014/main" val="1971840143"/>
                  </a:ext>
                </a:extLst>
              </a:tr>
              <a:tr h="956555">
                <a:tc>
                  <a:txBody>
                    <a:bodyPr/>
                    <a:lstStyle/>
                    <a:p>
                      <a:r>
                        <a:rPr lang="en-US" sz="2400" dirty="0">
                          <a:latin typeface="ADLaM Display" panose="02010000000000000000" pitchFamily="2" charset="0"/>
                          <a:ea typeface="ADLaM Display" panose="02010000000000000000" pitchFamily="2" charset="0"/>
                          <a:cs typeface="ADLaM Display" panose="02010000000000000000" pitchFamily="2" charset="0"/>
                        </a:rPr>
                        <a:t>Focus</a:t>
                      </a:r>
                    </a:p>
                  </a:txBody>
                  <a:tcPr>
                    <a:solidFill>
                      <a:schemeClr val="bg1"/>
                    </a:solidFill>
                  </a:tcPr>
                </a:tc>
                <a:tc>
                  <a:txBody>
                    <a:bodyPr/>
                    <a:lstStyle/>
                    <a:p>
                      <a:r>
                        <a:rPr lang="en-US" sz="2400" dirty="0">
                          <a:latin typeface="ADLaM Display" panose="02010000000000000000" pitchFamily="2" charset="0"/>
                          <a:ea typeface="ADLaM Display" panose="02010000000000000000" pitchFamily="2" charset="0"/>
                          <a:cs typeface="ADLaM Display" panose="02010000000000000000" pitchFamily="2" charset="0"/>
                        </a:rPr>
                        <a:t>Trend + Volume</a:t>
                      </a:r>
                    </a:p>
                  </a:txBody>
                  <a:tcPr>
                    <a:solidFill>
                      <a:schemeClr val="bg1"/>
                    </a:solidFill>
                  </a:tcPr>
                </a:tc>
                <a:tc>
                  <a:txBody>
                    <a:bodyPr/>
                    <a:lstStyle/>
                    <a:p>
                      <a:r>
                        <a:rPr lang="en-US" sz="2400" dirty="0">
                          <a:latin typeface="ADLaM Display" panose="02010000000000000000" pitchFamily="2" charset="0"/>
                          <a:ea typeface="ADLaM Display" panose="02010000000000000000" pitchFamily="2" charset="0"/>
                          <a:cs typeface="ADLaM Display" panose="02010000000000000000" pitchFamily="2" charset="0"/>
                        </a:rPr>
                        <a:t>Trend only</a:t>
                      </a:r>
                    </a:p>
                  </a:txBody>
                  <a:tcPr>
                    <a:solidFill>
                      <a:schemeClr val="bg1"/>
                    </a:solidFill>
                  </a:tcPr>
                </a:tc>
                <a:extLst>
                  <a:ext uri="{0D108BD9-81ED-4DB2-BD59-A6C34878D82A}">
                    <a16:rowId xmlns:a16="http://schemas.microsoft.com/office/drawing/2014/main" val="2565846869"/>
                  </a:ext>
                </a:extLst>
              </a:tr>
              <a:tr h="956555">
                <a:tc>
                  <a:txBody>
                    <a:bodyPr/>
                    <a:lstStyle/>
                    <a:p>
                      <a:r>
                        <a:rPr lang="en-US" sz="2400" dirty="0">
                          <a:latin typeface="ADLaM Display" panose="02010000000000000000" pitchFamily="2" charset="0"/>
                          <a:ea typeface="ADLaM Display" panose="02010000000000000000" pitchFamily="2" charset="0"/>
                          <a:cs typeface="ADLaM Display" panose="02010000000000000000" pitchFamily="2" charset="0"/>
                        </a:rPr>
                        <a:t>Best Use</a:t>
                      </a:r>
                    </a:p>
                  </a:txBody>
                  <a:tcPr>
                    <a:solidFill>
                      <a:schemeClr val="bg1"/>
                    </a:solidFill>
                  </a:tcPr>
                </a:tc>
                <a:tc>
                  <a:txBody>
                    <a:bodyPr/>
                    <a:lstStyle/>
                    <a:p>
                      <a:r>
                        <a:rPr lang="en-US" sz="2400" dirty="0">
                          <a:latin typeface="ADLaM Display" panose="02010000000000000000" pitchFamily="2" charset="0"/>
                          <a:ea typeface="ADLaM Display" panose="02010000000000000000" pitchFamily="2" charset="0"/>
                          <a:cs typeface="ADLaM Display" panose="02010000000000000000" pitchFamily="2" charset="0"/>
                        </a:rPr>
                        <a:t>Cumulative data</a:t>
                      </a:r>
                    </a:p>
                  </a:txBody>
                  <a:tcPr>
                    <a:solidFill>
                      <a:schemeClr val="bg1"/>
                    </a:solidFill>
                  </a:tcPr>
                </a:tc>
                <a:tc>
                  <a:txBody>
                    <a:bodyPr/>
                    <a:lstStyle/>
                    <a:p>
                      <a:r>
                        <a:rPr lang="en-US" sz="2400" dirty="0">
                          <a:latin typeface="ADLaM Display" panose="02010000000000000000" pitchFamily="2" charset="0"/>
                          <a:ea typeface="ADLaM Display" panose="02010000000000000000" pitchFamily="2" charset="0"/>
                          <a:cs typeface="ADLaM Display" panose="02010000000000000000" pitchFamily="2" charset="0"/>
                        </a:rPr>
                        <a:t>Precise trends</a:t>
                      </a:r>
                    </a:p>
                  </a:txBody>
                  <a:tcPr>
                    <a:solidFill>
                      <a:schemeClr val="bg1"/>
                    </a:solidFill>
                  </a:tcPr>
                </a:tc>
                <a:extLst>
                  <a:ext uri="{0D108BD9-81ED-4DB2-BD59-A6C34878D82A}">
                    <a16:rowId xmlns:a16="http://schemas.microsoft.com/office/drawing/2014/main" val="3738497545"/>
                  </a:ext>
                </a:extLst>
              </a:tr>
              <a:tr h="956555">
                <a:tc>
                  <a:txBody>
                    <a:bodyPr/>
                    <a:lstStyle/>
                    <a:p>
                      <a:r>
                        <a:rPr lang="en-US" sz="2400" dirty="0">
                          <a:latin typeface="ADLaM Display" panose="02010000000000000000" pitchFamily="2" charset="0"/>
                          <a:ea typeface="ADLaM Display" panose="02010000000000000000" pitchFamily="2" charset="0"/>
                          <a:cs typeface="ADLaM Display" panose="02010000000000000000" pitchFamily="2" charset="0"/>
                        </a:rPr>
                        <a:t>Visual Impact</a:t>
                      </a:r>
                    </a:p>
                  </a:txBody>
                  <a:tcPr>
                    <a:solidFill>
                      <a:schemeClr val="bg1"/>
                    </a:solidFill>
                  </a:tcPr>
                </a:tc>
                <a:tc>
                  <a:txBody>
                    <a:bodyPr/>
                    <a:lstStyle/>
                    <a:p>
                      <a:r>
                        <a:rPr lang="en-US" sz="2400" dirty="0">
                          <a:latin typeface="ADLaM Display" panose="02010000000000000000" pitchFamily="2" charset="0"/>
                          <a:ea typeface="ADLaM Display" panose="02010000000000000000" pitchFamily="2" charset="0"/>
                          <a:cs typeface="ADLaM Display" panose="02010000000000000000" pitchFamily="2" charset="0"/>
                        </a:rPr>
                        <a:t>More attractive</a:t>
                      </a:r>
                    </a:p>
                  </a:txBody>
                  <a:tcPr>
                    <a:solidFill>
                      <a:schemeClr val="bg1"/>
                    </a:solidFill>
                  </a:tcPr>
                </a:tc>
                <a:tc>
                  <a:txBody>
                    <a:bodyPr/>
                    <a:lstStyle/>
                    <a:p>
                      <a:r>
                        <a:rPr lang="en-US" sz="2400" dirty="0">
                          <a:latin typeface="ADLaM Display" panose="02010000000000000000" pitchFamily="2" charset="0"/>
                          <a:ea typeface="ADLaM Display" panose="02010000000000000000" pitchFamily="2" charset="0"/>
                          <a:cs typeface="ADLaM Display" panose="02010000000000000000" pitchFamily="2" charset="0"/>
                        </a:rPr>
                        <a:t>Simpler</a:t>
                      </a:r>
                    </a:p>
                  </a:txBody>
                  <a:tcPr>
                    <a:solidFill>
                      <a:schemeClr val="bg1"/>
                    </a:solidFill>
                  </a:tcPr>
                </a:tc>
                <a:extLst>
                  <a:ext uri="{0D108BD9-81ED-4DB2-BD59-A6C34878D82A}">
                    <a16:rowId xmlns:a16="http://schemas.microsoft.com/office/drawing/2014/main" val="2953588070"/>
                  </a:ext>
                </a:extLst>
              </a:tr>
            </a:tbl>
          </a:graphicData>
        </a:graphic>
      </p:graphicFrame>
    </p:spTree>
    <p:extLst>
      <p:ext uri="{BB962C8B-B14F-4D97-AF65-F5344CB8AC3E}">
        <p14:creationId xmlns:p14="http://schemas.microsoft.com/office/powerpoint/2010/main" val="35251259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EEBF27-F1A6-559A-9E58-6B4CCCAF86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48CDAE-65C2-0D6F-1CDE-313BAE7112EC}"/>
              </a:ext>
            </a:extLst>
          </p:cNvPr>
          <p:cNvSpPr>
            <a:spLocks noGrp="1"/>
          </p:cNvSpPr>
          <p:nvPr>
            <p:ph type="title"/>
          </p:nvPr>
        </p:nvSpPr>
        <p:spPr/>
        <p:txBody>
          <a:bodyPr/>
          <a:lstStyle/>
          <a:p>
            <a:r>
              <a:rPr lang="en-US" dirty="0">
                <a:latin typeface="ADLaM Display" panose="02010000000000000000" pitchFamily="2" charset="0"/>
                <a:ea typeface="ADLaM Display" panose="02010000000000000000" pitchFamily="2" charset="0"/>
                <a:cs typeface="ADLaM Display" panose="02010000000000000000" pitchFamily="2" charset="0"/>
              </a:rPr>
              <a:t>Pie Chart</a:t>
            </a:r>
            <a:endParaRPr lang="en-US" dirty="0"/>
          </a:p>
        </p:txBody>
      </p:sp>
      <p:sp>
        <p:nvSpPr>
          <p:cNvPr id="3" name="Text Placeholder 2">
            <a:extLst>
              <a:ext uri="{FF2B5EF4-FFF2-40B4-BE49-F238E27FC236}">
                <a16:creationId xmlns:a16="http://schemas.microsoft.com/office/drawing/2014/main" id="{316702C7-DD55-1DBC-754D-3AAE9C649FE2}"/>
              </a:ext>
            </a:extLst>
          </p:cNvPr>
          <p:cNvSpPr>
            <a:spLocks noGrp="1"/>
          </p:cNvSpPr>
          <p:nvPr>
            <p:ph type="body" sz="quarter" idx="14"/>
          </p:nvPr>
        </p:nvSpPr>
        <p:spPr>
          <a:xfrm>
            <a:off x="5245768" y="984899"/>
            <a:ext cx="6946232" cy="6008070"/>
          </a:xfrm>
        </p:spPr>
        <p:txBody>
          <a:bodyPr>
            <a:normAutofit/>
          </a:bodyPr>
          <a:lstStyle/>
          <a:p>
            <a:r>
              <a:rPr lang="en-US" sz="2800" dirty="0"/>
              <a:t> </a:t>
            </a:r>
            <a:r>
              <a:rPr lang="en-US" sz="2800" b="1"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Pie Chart </a:t>
            </a:r>
            <a:r>
              <a:rPr lang="en-US" sz="2800" dirty="0"/>
              <a:t>is a circular chart divided into slices.</a:t>
            </a:r>
          </a:p>
          <a:p>
            <a:r>
              <a:rPr lang="en-US" sz="2800" dirty="0"/>
              <a:t> Each slice represents a proportion of the total. (Total equals 100%).</a:t>
            </a:r>
          </a:p>
          <a:p>
            <a:r>
              <a:rPr lang="en-US" sz="2800" dirty="0"/>
              <a:t>  </a:t>
            </a:r>
            <a:r>
              <a:rPr lang="en-US" sz="2800" b="1" dirty="0"/>
              <a:t>Use Cases:</a:t>
            </a:r>
          </a:p>
          <a:p>
            <a:pPr>
              <a:buBlip>
                <a:blip r:embed="rId2"/>
              </a:buBlip>
            </a:pPr>
            <a:r>
              <a:rPr lang="en-US" sz="2800" dirty="0"/>
              <a:t> Show percentage distribution.</a:t>
            </a:r>
          </a:p>
          <a:p>
            <a:pPr>
              <a:buBlip>
                <a:blip r:embed="rId2"/>
              </a:buBlip>
            </a:pPr>
            <a:r>
              <a:rPr lang="en-US" sz="2800" dirty="0"/>
              <a:t> Compare parts of a whole.</a:t>
            </a:r>
          </a:p>
          <a:p>
            <a:pPr>
              <a:buBlip>
                <a:blip r:embed="rId2"/>
              </a:buBlip>
            </a:pPr>
            <a:r>
              <a:rPr lang="en-US" sz="2800" dirty="0"/>
              <a:t> Highlight  dominant categories.</a:t>
            </a:r>
          </a:p>
          <a:p>
            <a:pPr>
              <a:buBlip>
                <a:blip r:embed="rId2"/>
              </a:buBlip>
            </a:pPr>
            <a:r>
              <a:rPr lang="en-US" sz="2800" dirty="0"/>
              <a:t> Best for Small number of categories (5-6 max &amp; Simple datasets).</a:t>
            </a:r>
          </a:p>
          <a:p>
            <a:pPr marL="0" indent="0">
              <a:buNone/>
            </a:pPr>
            <a:endParaRPr lang="en-US" sz="2800" dirty="0"/>
          </a:p>
          <a:p>
            <a:endParaRPr lang="en-US" sz="2800" dirty="0"/>
          </a:p>
        </p:txBody>
      </p:sp>
      <p:pic>
        <p:nvPicPr>
          <p:cNvPr id="4" name="Picture 3">
            <a:extLst>
              <a:ext uri="{FF2B5EF4-FFF2-40B4-BE49-F238E27FC236}">
                <a16:creationId xmlns:a16="http://schemas.microsoft.com/office/drawing/2014/main" id="{378B9C93-9C05-9EDB-EE7D-E248700FC8CF}"/>
              </a:ext>
            </a:extLst>
          </p:cNvPr>
          <p:cNvPicPr>
            <a:picLocks noChangeAspect="1"/>
          </p:cNvPicPr>
          <p:nvPr/>
        </p:nvPicPr>
        <p:blipFill>
          <a:blip r:embed="rId3"/>
          <a:stretch>
            <a:fillRect/>
          </a:stretch>
        </p:blipFill>
        <p:spPr>
          <a:xfrm>
            <a:off x="160422" y="2194993"/>
            <a:ext cx="5085346" cy="3163071"/>
          </a:xfrm>
          <a:prstGeom prst="rect">
            <a:avLst/>
          </a:prstGeom>
          <a:noFill/>
          <a:ln>
            <a:noFill/>
          </a:ln>
        </p:spPr>
      </p:pic>
    </p:spTree>
    <p:extLst>
      <p:ext uri="{BB962C8B-B14F-4D97-AF65-F5344CB8AC3E}">
        <p14:creationId xmlns:p14="http://schemas.microsoft.com/office/powerpoint/2010/main" val="23860082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CF45DF-99AF-4BC6-295E-4A85EFDB73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7836E6-FD09-4D5E-1049-B5785EEFB85D}"/>
              </a:ext>
            </a:extLst>
          </p:cNvPr>
          <p:cNvSpPr>
            <a:spLocks noGrp="1"/>
          </p:cNvSpPr>
          <p:nvPr>
            <p:ph type="title"/>
          </p:nvPr>
        </p:nvSpPr>
        <p:spPr/>
        <p:txBody>
          <a:bodyPr/>
          <a:lstStyle/>
          <a:p>
            <a:r>
              <a:rPr lang="en-US" dirty="0">
                <a:latin typeface="ADLaM Display" panose="02010000000000000000" pitchFamily="2" charset="0"/>
                <a:ea typeface="ADLaM Display" panose="02010000000000000000" pitchFamily="2" charset="0"/>
                <a:cs typeface="ADLaM Display" panose="02010000000000000000" pitchFamily="2" charset="0"/>
              </a:rPr>
              <a:t>Donut Chart</a:t>
            </a:r>
            <a:endParaRPr lang="en-US" dirty="0"/>
          </a:p>
        </p:txBody>
      </p:sp>
      <p:sp>
        <p:nvSpPr>
          <p:cNvPr id="3" name="Text Placeholder 2">
            <a:extLst>
              <a:ext uri="{FF2B5EF4-FFF2-40B4-BE49-F238E27FC236}">
                <a16:creationId xmlns:a16="http://schemas.microsoft.com/office/drawing/2014/main" id="{A332EBE4-D96E-617F-98FA-B02EF75B8DE2}"/>
              </a:ext>
            </a:extLst>
          </p:cNvPr>
          <p:cNvSpPr>
            <a:spLocks noGrp="1"/>
          </p:cNvSpPr>
          <p:nvPr>
            <p:ph type="body" sz="quarter" idx="14"/>
          </p:nvPr>
        </p:nvSpPr>
        <p:spPr>
          <a:xfrm>
            <a:off x="5245768" y="984899"/>
            <a:ext cx="6946232" cy="6008070"/>
          </a:xfrm>
        </p:spPr>
        <p:txBody>
          <a:bodyPr>
            <a:normAutofit/>
          </a:bodyPr>
          <a:lstStyle/>
          <a:p>
            <a:r>
              <a:rPr lang="en-US" sz="2800" dirty="0"/>
              <a:t> </a:t>
            </a:r>
            <a:r>
              <a:rPr lang="en-US" sz="2800" b="1"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Donut Chart </a:t>
            </a:r>
            <a:r>
              <a:rPr lang="en-US" sz="2800" dirty="0"/>
              <a:t>is like pie chart but with a hole in the center.</a:t>
            </a:r>
          </a:p>
          <a:p>
            <a:r>
              <a:rPr lang="en-US" sz="2800" dirty="0"/>
              <a:t> Displays proportions in a circular format.</a:t>
            </a:r>
          </a:p>
          <a:p>
            <a:r>
              <a:rPr lang="en-US" sz="2800" dirty="0"/>
              <a:t> Center space can show additional information.</a:t>
            </a:r>
          </a:p>
          <a:p>
            <a:r>
              <a:rPr lang="en-US" sz="2800" dirty="0"/>
              <a:t>  </a:t>
            </a:r>
            <a:r>
              <a:rPr lang="en-US" sz="2800" b="1" dirty="0"/>
              <a:t>Use Cases:</a:t>
            </a:r>
          </a:p>
          <a:p>
            <a:pPr>
              <a:buBlip>
                <a:blip r:embed="rId2"/>
              </a:buBlip>
            </a:pPr>
            <a:r>
              <a:rPr lang="en-US" sz="2800" dirty="0"/>
              <a:t> Show proportion of categories.</a:t>
            </a:r>
          </a:p>
          <a:p>
            <a:pPr>
              <a:buBlip>
                <a:blip r:embed="rId2"/>
              </a:buBlip>
            </a:pPr>
            <a:r>
              <a:rPr lang="en-US" sz="2800" dirty="0"/>
              <a:t> Display summary values in the center.</a:t>
            </a:r>
          </a:p>
          <a:p>
            <a:pPr>
              <a:buBlip>
                <a:blip r:embed="rId2"/>
              </a:buBlip>
            </a:pPr>
            <a:r>
              <a:rPr lang="en-US" sz="2800" dirty="0"/>
              <a:t> Improve visual design in dashboards.</a:t>
            </a:r>
          </a:p>
          <a:p>
            <a:pPr>
              <a:buBlip>
                <a:blip r:embed="rId2"/>
              </a:buBlip>
            </a:pPr>
            <a:r>
              <a:rPr lang="en-US" sz="2800" dirty="0"/>
              <a:t> Best for Dashboard visuals, Highlighting key metrics.</a:t>
            </a:r>
          </a:p>
          <a:p>
            <a:pPr marL="0" indent="0">
              <a:buNone/>
            </a:pPr>
            <a:endParaRPr lang="en-US" sz="2800" dirty="0"/>
          </a:p>
          <a:p>
            <a:endParaRPr lang="en-US" sz="2800" dirty="0"/>
          </a:p>
        </p:txBody>
      </p:sp>
      <p:pic>
        <p:nvPicPr>
          <p:cNvPr id="4" name="Picture 3">
            <a:extLst>
              <a:ext uri="{FF2B5EF4-FFF2-40B4-BE49-F238E27FC236}">
                <a16:creationId xmlns:a16="http://schemas.microsoft.com/office/drawing/2014/main" id="{0D88629C-42BF-9096-CEC2-7764283483A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03029" y="2514798"/>
            <a:ext cx="5000158" cy="2875349"/>
          </a:xfrm>
          <a:prstGeom prst="rect">
            <a:avLst/>
          </a:prstGeom>
          <a:noFill/>
          <a:ln>
            <a:noFill/>
          </a:ln>
        </p:spPr>
      </p:pic>
    </p:spTree>
    <p:extLst>
      <p:ext uri="{BB962C8B-B14F-4D97-AF65-F5344CB8AC3E}">
        <p14:creationId xmlns:p14="http://schemas.microsoft.com/office/powerpoint/2010/main" val="36705108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81906-CE8D-DECA-5B4D-0411CC7330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C13014-D1B0-24FD-E0A9-4A68B79D466B}"/>
              </a:ext>
            </a:extLst>
          </p:cNvPr>
          <p:cNvSpPr>
            <a:spLocks noGrp="1"/>
          </p:cNvSpPr>
          <p:nvPr>
            <p:ph type="title"/>
          </p:nvPr>
        </p:nvSpPr>
        <p:spPr/>
        <p:txBody>
          <a:bodyPr/>
          <a:lstStyle/>
          <a:p>
            <a:r>
              <a:rPr lang="en-US" dirty="0">
                <a:latin typeface="ADLaM Display" panose="02010000000000000000" pitchFamily="2" charset="0"/>
                <a:ea typeface="ADLaM Display" panose="02010000000000000000" pitchFamily="2" charset="0"/>
                <a:cs typeface="ADLaM Display" panose="02010000000000000000" pitchFamily="2" charset="0"/>
              </a:rPr>
              <a:t>Pie Chart </a:t>
            </a:r>
            <a:r>
              <a:rPr lang="en-US"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Vs</a:t>
            </a:r>
            <a:r>
              <a:rPr lang="en-US" dirty="0">
                <a:latin typeface="ADLaM Display" panose="02010000000000000000" pitchFamily="2" charset="0"/>
                <a:ea typeface="ADLaM Display" panose="02010000000000000000" pitchFamily="2" charset="0"/>
                <a:cs typeface="ADLaM Display" panose="02010000000000000000" pitchFamily="2" charset="0"/>
              </a:rPr>
              <a:t> Donut Chart</a:t>
            </a:r>
            <a:endParaRPr lang="en-US" dirty="0"/>
          </a:p>
        </p:txBody>
      </p:sp>
      <p:graphicFrame>
        <p:nvGraphicFramePr>
          <p:cNvPr id="12" name="Table 11">
            <a:extLst>
              <a:ext uri="{FF2B5EF4-FFF2-40B4-BE49-F238E27FC236}">
                <a16:creationId xmlns:a16="http://schemas.microsoft.com/office/drawing/2014/main" id="{D290AAAF-5CCF-D262-6E5E-83C7ADA179E8}"/>
              </a:ext>
            </a:extLst>
          </p:cNvPr>
          <p:cNvGraphicFramePr>
            <a:graphicFrameLocks noGrp="1"/>
          </p:cNvGraphicFramePr>
          <p:nvPr/>
        </p:nvGraphicFramePr>
        <p:xfrm>
          <a:off x="1156921" y="1698233"/>
          <a:ext cx="10393395" cy="4782775"/>
        </p:xfrm>
        <a:graphic>
          <a:graphicData uri="http://schemas.openxmlformats.org/drawingml/2006/table">
            <a:tbl>
              <a:tblPr firstRow="1" bandRow="1">
                <a:tableStyleId>{5C22544A-7EE6-4342-B048-85BDC9FD1C3A}</a:tableStyleId>
              </a:tblPr>
              <a:tblGrid>
                <a:gridCol w="3464465">
                  <a:extLst>
                    <a:ext uri="{9D8B030D-6E8A-4147-A177-3AD203B41FA5}">
                      <a16:colId xmlns:a16="http://schemas.microsoft.com/office/drawing/2014/main" val="2384811825"/>
                    </a:ext>
                  </a:extLst>
                </a:gridCol>
                <a:gridCol w="3464465">
                  <a:extLst>
                    <a:ext uri="{9D8B030D-6E8A-4147-A177-3AD203B41FA5}">
                      <a16:colId xmlns:a16="http://schemas.microsoft.com/office/drawing/2014/main" val="116356935"/>
                    </a:ext>
                  </a:extLst>
                </a:gridCol>
                <a:gridCol w="3464465">
                  <a:extLst>
                    <a:ext uri="{9D8B030D-6E8A-4147-A177-3AD203B41FA5}">
                      <a16:colId xmlns:a16="http://schemas.microsoft.com/office/drawing/2014/main" val="308172036"/>
                    </a:ext>
                  </a:extLst>
                </a:gridCol>
              </a:tblGrid>
              <a:tr h="956555">
                <a:tc>
                  <a:txBody>
                    <a:bodyPr/>
                    <a:lstStyle/>
                    <a:p>
                      <a:pPr algn="ctr"/>
                      <a:r>
                        <a:rPr lang="en-US" sz="2800" dirty="0">
                          <a:latin typeface="ADLaM Display" panose="02010000000000000000" pitchFamily="2" charset="0"/>
                          <a:ea typeface="ADLaM Display" panose="02010000000000000000" pitchFamily="2" charset="0"/>
                          <a:cs typeface="ADLaM Display" panose="02010000000000000000" pitchFamily="2" charset="0"/>
                        </a:rPr>
                        <a:t>Feature</a:t>
                      </a:r>
                    </a:p>
                  </a:txBody>
                  <a:tcPr>
                    <a:solidFill>
                      <a:srgbClr val="FFC000"/>
                    </a:solidFill>
                  </a:tcPr>
                </a:tc>
                <a:tc>
                  <a:txBody>
                    <a:bodyPr/>
                    <a:lstStyle/>
                    <a:p>
                      <a:pPr algn="ctr"/>
                      <a:r>
                        <a:rPr lang="en-US" sz="2800" dirty="0">
                          <a:latin typeface="ADLaM Display" panose="02010000000000000000" pitchFamily="2" charset="0"/>
                          <a:ea typeface="ADLaM Display" panose="02010000000000000000" pitchFamily="2" charset="0"/>
                          <a:cs typeface="ADLaM Display" panose="02010000000000000000" pitchFamily="2" charset="0"/>
                        </a:rPr>
                        <a:t>Pie Chart</a:t>
                      </a:r>
                    </a:p>
                  </a:txBody>
                  <a:tcPr>
                    <a:solidFill>
                      <a:srgbClr val="FFC000"/>
                    </a:solidFill>
                  </a:tcPr>
                </a:tc>
                <a:tc>
                  <a:txBody>
                    <a:bodyPr/>
                    <a:lstStyle/>
                    <a:p>
                      <a:pPr algn="ctr"/>
                      <a:r>
                        <a:rPr lang="en-US" sz="2800" dirty="0">
                          <a:latin typeface="ADLaM Display" panose="02010000000000000000" pitchFamily="2" charset="0"/>
                          <a:ea typeface="ADLaM Display" panose="02010000000000000000" pitchFamily="2" charset="0"/>
                          <a:cs typeface="ADLaM Display" panose="02010000000000000000" pitchFamily="2" charset="0"/>
                        </a:rPr>
                        <a:t>Donut Chart</a:t>
                      </a:r>
                    </a:p>
                  </a:txBody>
                  <a:tcPr>
                    <a:solidFill>
                      <a:srgbClr val="FFC000"/>
                    </a:solidFill>
                  </a:tcPr>
                </a:tc>
                <a:extLst>
                  <a:ext uri="{0D108BD9-81ED-4DB2-BD59-A6C34878D82A}">
                    <a16:rowId xmlns:a16="http://schemas.microsoft.com/office/drawing/2014/main" val="362808023"/>
                  </a:ext>
                </a:extLst>
              </a:tr>
              <a:tr h="956555">
                <a:tc>
                  <a:txBody>
                    <a:bodyPr/>
                    <a:lstStyle/>
                    <a:p>
                      <a:r>
                        <a:rPr lang="en-US" sz="2400" dirty="0">
                          <a:latin typeface="ADLaM Display" panose="02010000000000000000" pitchFamily="2" charset="0"/>
                          <a:ea typeface="ADLaM Display" panose="02010000000000000000" pitchFamily="2" charset="0"/>
                          <a:cs typeface="ADLaM Display" panose="02010000000000000000" pitchFamily="2" charset="0"/>
                        </a:rPr>
                        <a:t>Shape</a:t>
                      </a:r>
                    </a:p>
                  </a:txBody>
                  <a:tcPr>
                    <a:solidFill>
                      <a:schemeClr val="bg1"/>
                    </a:solidFill>
                  </a:tcPr>
                </a:tc>
                <a:tc>
                  <a:txBody>
                    <a:bodyPr/>
                    <a:lstStyle/>
                    <a:p>
                      <a:r>
                        <a:rPr lang="en-US" sz="2400" dirty="0">
                          <a:latin typeface="ADLaM Display" panose="02010000000000000000" pitchFamily="2" charset="0"/>
                          <a:ea typeface="ADLaM Display" panose="02010000000000000000" pitchFamily="2" charset="0"/>
                          <a:cs typeface="ADLaM Display" panose="02010000000000000000" pitchFamily="2" charset="0"/>
                        </a:rPr>
                        <a:t>Full Circle</a:t>
                      </a:r>
                    </a:p>
                  </a:txBody>
                  <a:tcPr>
                    <a:solidFill>
                      <a:schemeClr val="bg1"/>
                    </a:solidFill>
                  </a:tcPr>
                </a:tc>
                <a:tc>
                  <a:txBody>
                    <a:bodyPr/>
                    <a:lstStyle/>
                    <a:p>
                      <a:r>
                        <a:rPr lang="en-US" sz="2400" dirty="0">
                          <a:latin typeface="ADLaM Display" panose="02010000000000000000" pitchFamily="2" charset="0"/>
                          <a:ea typeface="ADLaM Display" panose="02010000000000000000" pitchFamily="2" charset="0"/>
                          <a:cs typeface="ADLaM Display" panose="02010000000000000000" pitchFamily="2" charset="0"/>
                        </a:rPr>
                        <a:t>Circle with hold</a:t>
                      </a:r>
                    </a:p>
                  </a:txBody>
                  <a:tcPr>
                    <a:solidFill>
                      <a:schemeClr val="bg1"/>
                    </a:solidFill>
                  </a:tcPr>
                </a:tc>
                <a:extLst>
                  <a:ext uri="{0D108BD9-81ED-4DB2-BD59-A6C34878D82A}">
                    <a16:rowId xmlns:a16="http://schemas.microsoft.com/office/drawing/2014/main" val="1971840143"/>
                  </a:ext>
                </a:extLst>
              </a:tr>
              <a:tr h="956555">
                <a:tc>
                  <a:txBody>
                    <a:bodyPr/>
                    <a:lstStyle/>
                    <a:p>
                      <a:r>
                        <a:rPr lang="en-US" sz="2400" dirty="0">
                          <a:latin typeface="ADLaM Display" panose="02010000000000000000" pitchFamily="2" charset="0"/>
                          <a:ea typeface="ADLaM Display" panose="02010000000000000000" pitchFamily="2" charset="0"/>
                          <a:cs typeface="ADLaM Display" panose="02010000000000000000" pitchFamily="2" charset="0"/>
                        </a:rPr>
                        <a:t>Center Space</a:t>
                      </a:r>
                    </a:p>
                  </a:txBody>
                  <a:tcPr>
                    <a:solidFill>
                      <a:schemeClr val="bg1"/>
                    </a:solidFill>
                  </a:tcPr>
                </a:tc>
                <a:tc>
                  <a:txBody>
                    <a:bodyPr/>
                    <a:lstStyle/>
                    <a:p>
                      <a:r>
                        <a:rPr lang="en-US" sz="2400" dirty="0">
                          <a:latin typeface="ADLaM Display" panose="02010000000000000000" pitchFamily="2" charset="0"/>
                          <a:ea typeface="ADLaM Display" panose="02010000000000000000" pitchFamily="2" charset="0"/>
                          <a:cs typeface="ADLaM Display" panose="02010000000000000000" pitchFamily="2" charset="0"/>
                        </a:rPr>
                        <a:t>Not available</a:t>
                      </a:r>
                    </a:p>
                  </a:txBody>
                  <a:tcPr>
                    <a:solidFill>
                      <a:schemeClr val="bg1"/>
                    </a:solidFill>
                  </a:tcPr>
                </a:tc>
                <a:tc>
                  <a:txBody>
                    <a:bodyPr/>
                    <a:lstStyle/>
                    <a:p>
                      <a:r>
                        <a:rPr lang="en-US" sz="2400" dirty="0">
                          <a:latin typeface="ADLaM Display" panose="02010000000000000000" pitchFamily="2" charset="0"/>
                          <a:ea typeface="ADLaM Display" panose="02010000000000000000" pitchFamily="2" charset="0"/>
                          <a:cs typeface="ADLaM Display" panose="02010000000000000000" pitchFamily="2" charset="0"/>
                        </a:rPr>
                        <a:t>Available</a:t>
                      </a:r>
                    </a:p>
                  </a:txBody>
                  <a:tcPr>
                    <a:solidFill>
                      <a:schemeClr val="bg1"/>
                    </a:solidFill>
                  </a:tcPr>
                </a:tc>
                <a:extLst>
                  <a:ext uri="{0D108BD9-81ED-4DB2-BD59-A6C34878D82A}">
                    <a16:rowId xmlns:a16="http://schemas.microsoft.com/office/drawing/2014/main" val="2565846869"/>
                  </a:ext>
                </a:extLst>
              </a:tr>
              <a:tr h="956555">
                <a:tc>
                  <a:txBody>
                    <a:bodyPr/>
                    <a:lstStyle/>
                    <a:p>
                      <a:r>
                        <a:rPr lang="en-US" sz="2400" dirty="0">
                          <a:latin typeface="ADLaM Display" panose="02010000000000000000" pitchFamily="2" charset="0"/>
                          <a:ea typeface="ADLaM Display" panose="02010000000000000000" pitchFamily="2" charset="0"/>
                          <a:cs typeface="ADLaM Display" panose="02010000000000000000" pitchFamily="2" charset="0"/>
                        </a:rPr>
                        <a:t>Best Use</a:t>
                      </a:r>
                    </a:p>
                  </a:txBody>
                  <a:tcPr>
                    <a:solidFill>
                      <a:schemeClr val="bg1"/>
                    </a:solidFill>
                  </a:tcPr>
                </a:tc>
                <a:tc>
                  <a:txBody>
                    <a:bodyPr/>
                    <a:lstStyle/>
                    <a:p>
                      <a:r>
                        <a:rPr lang="en-US" sz="2400" dirty="0">
                          <a:latin typeface="ADLaM Display" panose="02010000000000000000" pitchFamily="2" charset="0"/>
                          <a:ea typeface="ADLaM Display" panose="02010000000000000000" pitchFamily="2" charset="0"/>
                          <a:cs typeface="ADLaM Display" panose="02010000000000000000" pitchFamily="2" charset="0"/>
                        </a:rPr>
                        <a:t>Cumulative data</a:t>
                      </a:r>
                    </a:p>
                  </a:txBody>
                  <a:tcPr>
                    <a:solidFill>
                      <a:schemeClr val="bg1"/>
                    </a:solidFill>
                  </a:tcPr>
                </a:tc>
                <a:tc>
                  <a:txBody>
                    <a:bodyPr/>
                    <a:lstStyle/>
                    <a:p>
                      <a:r>
                        <a:rPr lang="en-US" sz="2400" dirty="0">
                          <a:latin typeface="ADLaM Display" panose="02010000000000000000" pitchFamily="2" charset="0"/>
                          <a:ea typeface="ADLaM Display" panose="02010000000000000000" pitchFamily="2" charset="0"/>
                          <a:cs typeface="ADLaM Display" panose="02010000000000000000" pitchFamily="2" charset="0"/>
                        </a:rPr>
                        <a:t>Precise trends</a:t>
                      </a:r>
                    </a:p>
                  </a:txBody>
                  <a:tcPr>
                    <a:solidFill>
                      <a:schemeClr val="bg1"/>
                    </a:solidFill>
                  </a:tcPr>
                </a:tc>
                <a:extLst>
                  <a:ext uri="{0D108BD9-81ED-4DB2-BD59-A6C34878D82A}">
                    <a16:rowId xmlns:a16="http://schemas.microsoft.com/office/drawing/2014/main" val="3738497545"/>
                  </a:ext>
                </a:extLst>
              </a:tr>
              <a:tr h="956555">
                <a:tc>
                  <a:txBody>
                    <a:bodyPr/>
                    <a:lstStyle/>
                    <a:p>
                      <a:r>
                        <a:rPr lang="en-US" sz="2400" dirty="0">
                          <a:latin typeface="ADLaM Display" panose="02010000000000000000" pitchFamily="2" charset="0"/>
                          <a:ea typeface="ADLaM Display" panose="02010000000000000000" pitchFamily="2" charset="0"/>
                          <a:cs typeface="ADLaM Display" panose="02010000000000000000" pitchFamily="2" charset="0"/>
                        </a:rPr>
                        <a:t>Visual Impact</a:t>
                      </a:r>
                    </a:p>
                  </a:txBody>
                  <a:tcPr>
                    <a:solidFill>
                      <a:schemeClr val="bg1"/>
                    </a:solidFill>
                  </a:tcPr>
                </a:tc>
                <a:tc>
                  <a:txBody>
                    <a:bodyPr/>
                    <a:lstStyle/>
                    <a:p>
                      <a:r>
                        <a:rPr lang="en-US" sz="2400" dirty="0">
                          <a:latin typeface="ADLaM Display" panose="02010000000000000000" pitchFamily="2" charset="0"/>
                          <a:ea typeface="ADLaM Display" panose="02010000000000000000" pitchFamily="2" charset="0"/>
                          <a:cs typeface="ADLaM Display" panose="02010000000000000000" pitchFamily="2" charset="0"/>
                        </a:rPr>
                        <a:t>More attractive</a:t>
                      </a:r>
                    </a:p>
                  </a:txBody>
                  <a:tcPr>
                    <a:solidFill>
                      <a:schemeClr val="bg1"/>
                    </a:solidFill>
                  </a:tcPr>
                </a:tc>
                <a:tc>
                  <a:txBody>
                    <a:bodyPr/>
                    <a:lstStyle/>
                    <a:p>
                      <a:r>
                        <a:rPr lang="en-US" sz="2400" dirty="0">
                          <a:latin typeface="ADLaM Display" panose="02010000000000000000" pitchFamily="2" charset="0"/>
                          <a:ea typeface="ADLaM Display" panose="02010000000000000000" pitchFamily="2" charset="0"/>
                          <a:cs typeface="ADLaM Display" panose="02010000000000000000" pitchFamily="2" charset="0"/>
                        </a:rPr>
                        <a:t>Simpler</a:t>
                      </a:r>
                    </a:p>
                  </a:txBody>
                  <a:tcPr>
                    <a:solidFill>
                      <a:schemeClr val="bg1"/>
                    </a:solidFill>
                  </a:tcPr>
                </a:tc>
                <a:extLst>
                  <a:ext uri="{0D108BD9-81ED-4DB2-BD59-A6C34878D82A}">
                    <a16:rowId xmlns:a16="http://schemas.microsoft.com/office/drawing/2014/main" val="2953588070"/>
                  </a:ext>
                </a:extLst>
              </a:tr>
            </a:tbl>
          </a:graphicData>
        </a:graphic>
      </p:graphicFrame>
    </p:spTree>
    <p:extLst>
      <p:ext uri="{BB962C8B-B14F-4D97-AF65-F5344CB8AC3E}">
        <p14:creationId xmlns:p14="http://schemas.microsoft.com/office/powerpoint/2010/main" val="2211035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1A9BF-F820-7802-1086-7A6400A168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E83D7A-914E-0208-8CCC-3C4A8853C0C3}"/>
              </a:ext>
            </a:extLst>
          </p:cNvPr>
          <p:cNvSpPr>
            <a:spLocks noGrp="1"/>
          </p:cNvSpPr>
          <p:nvPr>
            <p:ph type="title"/>
          </p:nvPr>
        </p:nvSpPr>
        <p:spPr/>
        <p:txBody>
          <a:bodyPr/>
          <a:lstStyle/>
          <a:p>
            <a:r>
              <a:rPr lang="en-US" dirty="0">
                <a:latin typeface="ADLaM Display" panose="02010000000000000000" pitchFamily="2" charset="0"/>
                <a:ea typeface="ADLaM Display" panose="02010000000000000000" pitchFamily="2" charset="0"/>
                <a:cs typeface="ADLaM Display" panose="02010000000000000000" pitchFamily="2" charset="0"/>
              </a:rPr>
              <a:t>Tree Map</a:t>
            </a:r>
            <a:endParaRPr lang="en-US" dirty="0"/>
          </a:p>
        </p:txBody>
      </p:sp>
      <p:sp>
        <p:nvSpPr>
          <p:cNvPr id="3" name="Text Placeholder 2">
            <a:extLst>
              <a:ext uri="{FF2B5EF4-FFF2-40B4-BE49-F238E27FC236}">
                <a16:creationId xmlns:a16="http://schemas.microsoft.com/office/drawing/2014/main" id="{7DA6F3EF-69A0-46BE-27B0-EFFCEF8B16C4}"/>
              </a:ext>
            </a:extLst>
          </p:cNvPr>
          <p:cNvSpPr>
            <a:spLocks noGrp="1"/>
          </p:cNvSpPr>
          <p:nvPr>
            <p:ph type="body" sz="quarter" idx="14"/>
          </p:nvPr>
        </p:nvSpPr>
        <p:spPr>
          <a:xfrm>
            <a:off x="5245768" y="849930"/>
            <a:ext cx="6946232" cy="6008070"/>
          </a:xfrm>
        </p:spPr>
        <p:txBody>
          <a:bodyPr>
            <a:normAutofit/>
          </a:bodyPr>
          <a:lstStyle/>
          <a:p>
            <a:r>
              <a:rPr lang="en-US" sz="2800" dirty="0"/>
              <a:t> </a:t>
            </a:r>
            <a:r>
              <a:rPr lang="en-US" sz="2800" b="1"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Tree Map </a:t>
            </a:r>
            <a:r>
              <a:rPr lang="en-US" sz="2800" dirty="0"/>
              <a:t>displays data as nested rectangles.</a:t>
            </a:r>
          </a:p>
          <a:p>
            <a:r>
              <a:rPr lang="en-US" sz="2800" dirty="0"/>
              <a:t> Each rectangle represents a category.</a:t>
            </a:r>
          </a:p>
          <a:p>
            <a:r>
              <a:rPr lang="en-US" sz="2800" dirty="0"/>
              <a:t> Size of the rectangle shows the value.</a:t>
            </a:r>
          </a:p>
          <a:p>
            <a:r>
              <a:rPr lang="en-US" sz="2800" dirty="0"/>
              <a:t> </a:t>
            </a:r>
            <a:r>
              <a:rPr lang="en-US" sz="2800" b="1" dirty="0"/>
              <a:t>Use Cases:</a:t>
            </a:r>
          </a:p>
          <a:p>
            <a:pPr>
              <a:buBlip>
                <a:blip r:embed="rId2"/>
              </a:buBlip>
            </a:pPr>
            <a:r>
              <a:rPr lang="en-US" sz="2800" dirty="0"/>
              <a:t> Show hierarchical data.</a:t>
            </a:r>
          </a:p>
          <a:p>
            <a:pPr>
              <a:buBlip>
                <a:blip r:embed="rId2"/>
              </a:buBlip>
            </a:pPr>
            <a:r>
              <a:rPr lang="en-US" sz="2800" dirty="0"/>
              <a:t> Display many categories at one &amp; efficient use of space.</a:t>
            </a:r>
          </a:p>
          <a:p>
            <a:pPr>
              <a:buBlip>
                <a:blip r:embed="rId2"/>
              </a:buBlip>
            </a:pPr>
            <a:r>
              <a:rPr lang="en-US" sz="2800" dirty="0"/>
              <a:t> Compare proportions within categories.</a:t>
            </a:r>
          </a:p>
          <a:p>
            <a:pPr>
              <a:buBlip>
                <a:blip r:embed="rId2"/>
              </a:buBlip>
            </a:pPr>
            <a:r>
              <a:rPr lang="en-US" sz="2800" dirty="0"/>
              <a:t> Identify largest and smallest contributors.</a:t>
            </a:r>
          </a:p>
          <a:p>
            <a:pPr>
              <a:buBlip>
                <a:blip r:embed="rId2"/>
              </a:buBlip>
            </a:pPr>
            <a:r>
              <a:rPr lang="en-US" sz="2800" dirty="0"/>
              <a:t> Best for Part-to-whole relationships, large datasets with hierarchy.</a:t>
            </a:r>
          </a:p>
          <a:p>
            <a:endParaRPr lang="en-US" sz="2800" dirty="0"/>
          </a:p>
          <a:p>
            <a:endParaRPr lang="en-US" sz="2800" dirty="0"/>
          </a:p>
        </p:txBody>
      </p:sp>
      <p:pic>
        <p:nvPicPr>
          <p:cNvPr id="4" name="Picture 3">
            <a:extLst>
              <a:ext uri="{FF2B5EF4-FFF2-40B4-BE49-F238E27FC236}">
                <a16:creationId xmlns:a16="http://schemas.microsoft.com/office/drawing/2014/main" id="{D39597FA-CFFE-8C20-36A9-6D66F6C5EC3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03028" y="2520579"/>
            <a:ext cx="5038263" cy="2885610"/>
          </a:xfrm>
          <a:prstGeom prst="rect">
            <a:avLst/>
          </a:prstGeom>
          <a:noFill/>
          <a:ln>
            <a:noFill/>
          </a:ln>
        </p:spPr>
      </p:pic>
    </p:spTree>
    <p:extLst>
      <p:ext uri="{BB962C8B-B14F-4D97-AF65-F5344CB8AC3E}">
        <p14:creationId xmlns:p14="http://schemas.microsoft.com/office/powerpoint/2010/main" val="424300168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E27156-2E2C-4BA1-04A8-1D80BA416B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74F04-C507-A983-2EAB-D0868955D396}"/>
              </a:ext>
            </a:extLst>
          </p:cNvPr>
          <p:cNvSpPr>
            <a:spLocks noGrp="1"/>
          </p:cNvSpPr>
          <p:nvPr>
            <p:ph type="title"/>
          </p:nvPr>
        </p:nvSpPr>
        <p:spPr>
          <a:xfrm>
            <a:off x="1156921" y="616107"/>
            <a:ext cx="9393848" cy="712765"/>
          </a:xfrm>
        </p:spPr>
        <p:txBody>
          <a:bodyPr/>
          <a:lstStyle/>
          <a:p>
            <a:r>
              <a:rPr lang="en-US" dirty="0">
                <a:latin typeface="ADLaM Display" panose="02010000000000000000" pitchFamily="2" charset="0"/>
                <a:ea typeface="ADLaM Display" panose="02010000000000000000" pitchFamily="2" charset="0"/>
                <a:cs typeface="ADLaM Display" panose="02010000000000000000" pitchFamily="2" charset="0"/>
              </a:rPr>
              <a:t>Scatter Plot</a:t>
            </a:r>
            <a:endParaRPr lang="en-US" dirty="0"/>
          </a:p>
        </p:txBody>
      </p:sp>
      <p:sp>
        <p:nvSpPr>
          <p:cNvPr id="3" name="Text Placeholder 2">
            <a:extLst>
              <a:ext uri="{FF2B5EF4-FFF2-40B4-BE49-F238E27FC236}">
                <a16:creationId xmlns:a16="http://schemas.microsoft.com/office/drawing/2014/main" id="{F9C7B783-D0DB-C56B-E435-28AB0EDF2937}"/>
              </a:ext>
            </a:extLst>
          </p:cNvPr>
          <p:cNvSpPr>
            <a:spLocks noGrp="1"/>
          </p:cNvSpPr>
          <p:nvPr>
            <p:ph type="body" sz="quarter" idx="14"/>
          </p:nvPr>
        </p:nvSpPr>
        <p:spPr>
          <a:xfrm>
            <a:off x="5245768" y="849930"/>
            <a:ext cx="6946232" cy="6008070"/>
          </a:xfrm>
        </p:spPr>
        <p:txBody>
          <a:bodyPr>
            <a:normAutofit/>
          </a:bodyPr>
          <a:lstStyle/>
          <a:p>
            <a:r>
              <a:rPr lang="en-US" sz="2800" dirty="0"/>
              <a:t> </a:t>
            </a:r>
            <a:r>
              <a:rPr lang="en-US" sz="2800" b="1"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Scatter Plot </a:t>
            </a:r>
            <a:r>
              <a:rPr lang="en-US" sz="2800" dirty="0"/>
              <a:t>shows data as points on a graph.</a:t>
            </a:r>
          </a:p>
          <a:p>
            <a:r>
              <a:rPr lang="en-US" sz="2800" dirty="0"/>
              <a:t> Used to display relationship between two variables.</a:t>
            </a:r>
          </a:p>
          <a:p>
            <a:r>
              <a:rPr lang="en-US" sz="2800" dirty="0"/>
              <a:t> Each point represents a data record.</a:t>
            </a:r>
          </a:p>
          <a:p>
            <a:r>
              <a:rPr lang="en-US" sz="2800" dirty="0"/>
              <a:t>  </a:t>
            </a:r>
            <a:r>
              <a:rPr lang="en-US" sz="2800" b="1" dirty="0"/>
              <a:t>Use Cases:</a:t>
            </a:r>
          </a:p>
          <a:p>
            <a:pPr>
              <a:buBlip>
                <a:blip r:embed="rId2"/>
              </a:buBlip>
            </a:pPr>
            <a:r>
              <a:rPr lang="en-US" sz="2800" dirty="0"/>
              <a:t> Identity relationships or correlations.</a:t>
            </a:r>
          </a:p>
          <a:p>
            <a:pPr>
              <a:buBlip>
                <a:blip r:embed="rId2"/>
              </a:buBlip>
            </a:pPr>
            <a:r>
              <a:rPr lang="en-US" sz="2800" dirty="0"/>
              <a:t> Detect patterns and trends.</a:t>
            </a:r>
          </a:p>
          <a:p>
            <a:pPr>
              <a:buBlip>
                <a:blip r:embed="rId2"/>
              </a:buBlip>
            </a:pPr>
            <a:r>
              <a:rPr lang="en-US" sz="2800" dirty="0"/>
              <a:t> Spot outliers.</a:t>
            </a:r>
          </a:p>
          <a:p>
            <a:pPr>
              <a:buBlip>
                <a:blip r:embed="rId2"/>
              </a:buBlip>
            </a:pPr>
            <a:r>
              <a:rPr lang="en-US" sz="2800" dirty="0"/>
              <a:t> Supports multiple variables.</a:t>
            </a:r>
          </a:p>
          <a:p>
            <a:pPr>
              <a:buBlip>
                <a:blip r:embed="rId2"/>
              </a:buBlip>
            </a:pPr>
            <a:r>
              <a:rPr lang="en-US" sz="2800" dirty="0"/>
              <a:t> Helps in predictive analysis.</a:t>
            </a:r>
          </a:p>
          <a:p>
            <a:pPr>
              <a:buBlip>
                <a:blip r:embed="rId2"/>
              </a:buBlip>
            </a:pPr>
            <a:r>
              <a:rPr lang="en-US" sz="2800" dirty="0"/>
              <a:t> Best for Numerical data, Statistical Analysis.</a:t>
            </a:r>
          </a:p>
          <a:p>
            <a:endParaRPr lang="en-US" sz="2800" dirty="0"/>
          </a:p>
          <a:p>
            <a:endParaRPr lang="en-US" sz="2800" dirty="0"/>
          </a:p>
        </p:txBody>
      </p:sp>
      <p:pic>
        <p:nvPicPr>
          <p:cNvPr id="4" name="Picture 3">
            <a:extLst>
              <a:ext uri="{FF2B5EF4-FFF2-40B4-BE49-F238E27FC236}">
                <a16:creationId xmlns:a16="http://schemas.microsoft.com/office/drawing/2014/main" id="{967CA169-2B10-B9DA-FB1A-4E61E6FAAEF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44379" y="2313922"/>
            <a:ext cx="5085277" cy="3333189"/>
          </a:xfrm>
          <a:prstGeom prst="rect">
            <a:avLst/>
          </a:prstGeom>
          <a:noFill/>
          <a:ln>
            <a:noFill/>
          </a:ln>
        </p:spPr>
      </p:pic>
    </p:spTree>
    <p:extLst>
      <p:ext uri="{BB962C8B-B14F-4D97-AF65-F5344CB8AC3E}">
        <p14:creationId xmlns:p14="http://schemas.microsoft.com/office/powerpoint/2010/main" val="363433051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18F284-8221-F663-451F-7F2D50BD14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E7966E-1110-530F-7600-543FEB249953}"/>
              </a:ext>
            </a:extLst>
          </p:cNvPr>
          <p:cNvSpPr>
            <a:spLocks noGrp="1"/>
          </p:cNvSpPr>
          <p:nvPr>
            <p:ph type="title"/>
          </p:nvPr>
        </p:nvSpPr>
        <p:spPr>
          <a:xfrm>
            <a:off x="1156921" y="616107"/>
            <a:ext cx="9393848" cy="712765"/>
          </a:xfrm>
        </p:spPr>
        <p:txBody>
          <a:bodyPr/>
          <a:lstStyle/>
          <a:p>
            <a:r>
              <a:rPr lang="en-US" dirty="0">
                <a:latin typeface="ADLaM Display" panose="02010000000000000000" pitchFamily="2" charset="0"/>
                <a:ea typeface="ADLaM Display" panose="02010000000000000000" pitchFamily="2" charset="0"/>
                <a:cs typeface="ADLaM Display" panose="02010000000000000000" pitchFamily="2" charset="0"/>
              </a:rPr>
              <a:t>Map Charts</a:t>
            </a:r>
            <a:endParaRPr lang="en-US" dirty="0"/>
          </a:p>
        </p:txBody>
      </p:sp>
      <p:sp>
        <p:nvSpPr>
          <p:cNvPr id="3" name="Text Placeholder 2">
            <a:extLst>
              <a:ext uri="{FF2B5EF4-FFF2-40B4-BE49-F238E27FC236}">
                <a16:creationId xmlns:a16="http://schemas.microsoft.com/office/drawing/2014/main" id="{4C9E9033-FE72-4EBC-37BD-236552CD9C8E}"/>
              </a:ext>
            </a:extLst>
          </p:cNvPr>
          <p:cNvSpPr>
            <a:spLocks noGrp="1"/>
          </p:cNvSpPr>
          <p:nvPr>
            <p:ph type="body" sz="quarter" idx="14"/>
          </p:nvPr>
        </p:nvSpPr>
        <p:spPr>
          <a:xfrm>
            <a:off x="5245768" y="1507958"/>
            <a:ext cx="6946232" cy="5205663"/>
          </a:xfrm>
        </p:spPr>
        <p:txBody>
          <a:bodyPr>
            <a:normAutofit fontScale="92500" lnSpcReduction="20000"/>
          </a:bodyPr>
          <a:lstStyle/>
          <a:p>
            <a:r>
              <a:rPr lang="en-US" sz="2800" dirty="0"/>
              <a:t> </a:t>
            </a:r>
            <a:r>
              <a:rPr lang="en-US" sz="2800" b="1"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Map Charts </a:t>
            </a:r>
            <a:r>
              <a:rPr lang="en-US" sz="2800" dirty="0"/>
              <a:t>display data based on geographic locations.</a:t>
            </a:r>
          </a:p>
          <a:p>
            <a:r>
              <a:rPr lang="en-US" sz="2800" dirty="0"/>
              <a:t> Helps users understand spatial patterns &amp; trends.</a:t>
            </a:r>
          </a:p>
          <a:p>
            <a:r>
              <a:rPr lang="en-US" sz="2800" dirty="0"/>
              <a:t> Widely used in business, logistics, and analytics.</a:t>
            </a:r>
          </a:p>
          <a:p>
            <a:r>
              <a:rPr lang="en-US" sz="2800" dirty="0"/>
              <a:t> It is a visual representation of  data on a map based on Country, City, Region, Latitude &amp; Longitude.</a:t>
            </a:r>
          </a:p>
          <a:p>
            <a:r>
              <a:rPr lang="en-US" sz="2800" dirty="0"/>
              <a:t> </a:t>
            </a:r>
            <a:r>
              <a:rPr lang="en-US" sz="2800" b="1" dirty="0"/>
              <a:t>Use Cases:</a:t>
            </a:r>
          </a:p>
          <a:p>
            <a:pPr>
              <a:buBlip>
                <a:blip r:embed="rId2"/>
              </a:buBlip>
            </a:pPr>
            <a:r>
              <a:rPr lang="en-US" sz="2800" dirty="0"/>
              <a:t> Analyze geographic trends.</a:t>
            </a:r>
          </a:p>
          <a:p>
            <a:pPr>
              <a:buBlip>
                <a:blip r:embed="rId2"/>
              </a:buBlip>
            </a:pPr>
            <a:r>
              <a:rPr lang="en-US" sz="2800" dirty="0"/>
              <a:t> Track regional performance.</a:t>
            </a:r>
          </a:p>
          <a:p>
            <a:pPr>
              <a:buBlip>
                <a:blip r:embed="rId2"/>
              </a:buBlip>
            </a:pPr>
            <a:r>
              <a:rPr lang="en-US" sz="2800" dirty="0"/>
              <a:t> Identify high &amp; low-performing areas.</a:t>
            </a:r>
          </a:p>
          <a:p>
            <a:pPr>
              <a:buBlip>
                <a:blip r:embed="rId2"/>
              </a:buBlip>
            </a:pPr>
            <a:r>
              <a:rPr lang="en-US" sz="2800" dirty="0"/>
              <a:t> Support decision-making based on locations.</a:t>
            </a:r>
          </a:p>
        </p:txBody>
      </p:sp>
      <p:pic>
        <p:nvPicPr>
          <p:cNvPr id="4" name="Picture 3">
            <a:extLst>
              <a:ext uri="{FF2B5EF4-FFF2-40B4-BE49-F238E27FC236}">
                <a16:creationId xmlns:a16="http://schemas.microsoft.com/office/drawing/2014/main" id="{F1875F18-9052-6A07-407B-5A09646B86F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2856" y="2322240"/>
            <a:ext cx="5122912" cy="3276455"/>
          </a:xfrm>
          <a:prstGeom prst="rect">
            <a:avLst/>
          </a:prstGeom>
          <a:noFill/>
          <a:ln>
            <a:noFill/>
          </a:ln>
        </p:spPr>
      </p:pic>
    </p:spTree>
    <p:extLst>
      <p:ext uri="{BB962C8B-B14F-4D97-AF65-F5344CB8AC3E}">
        <p14:creationId xmlns:p14="http://schemas.microsoft.com/office/powerpoint/2010/main" val="279243803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04F17D-3A2C-7D06-1E65-E08F051C44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D193ED-4CF5-C906-7AF4-8C699390A246}"/>
              </a:ext>
            </a:extLst>
          </p:cNvPr>
          <p:cNvSpPr>
            <a:spLocks noGrp="1"/>
          </p:cNvSpPr>
          <p:nvPr>
            <p:ph type="title"/>
          </p:nvPr>
        </p:nvSpPr>
        <p:spPr>
          <a:xfrm>
            <a:off x="1156920" y="715229"/>
            <a:ext cx="9393848" cy="712765"/>
          </a:xfrm>
        </p:spPr>
        <p:txBody>
          <a:bodyPr/>
          <a:lstStyle/>
          <a:p>
            <a:r>
              <a:rPr lang="en-US" dirty="0">
                <a:latin typeface="ADLaM Display" panose="02010000000000000000" pitchFamily="2" charset="0"/>
                <a:ea typeface="ADLaM Display" panose="02010000000000000000" pitchFamily="2" charset="0"/>
                <a:cs typeface="ADLaM Display" panose="02010000000000000000" pitchFamily="2" charset="0"/>
              </a:rPr>
              <a:t>Ribbon Chart</a:t>
            </a:r>
          </a:p>
        </p:txBody>
      </p:sp>
      <p:sp>
        <p:nvSpPr>
          <p:cNvPr id="3" name="Text Placeholder 2">
            <a:extLst>
              <a:ext uri="{FF2B5EF4-FFF2-40B4-BE49-F238E27FC236}">
                <a16:creationId xmlns:a16="http://schemas.microsoft.com/office/drawing/2014/main" id="{01E575D2-81A9-4779-AC1D-807230A6FFC5}"/>
              </a:ext>
            </a:extLst>
          </p:cNvPr>
          <p:cNvSpPr>
            <a:spLocks noGrp="1"/>
          </p:cNvSpPr>
          <p:nvPr>
            <p:ph type="body" sz="quarter" idx="14"/>
          </p:nvPr>
        </p:nvSpPr>
        <p:spPr>
          <a:xfrm>
            <a:off x="5894614" y="1193319"/>
            <a:ext cx="6297386" cy="5430006"/>
          </a:xfrm>
        </p:spPr>
        <p:txBody>
          <a:bodyPr>
            <a:normAutofit lnSpcReduction="10000"/>
          </a:bodyPr>
          <a:lstStyle/>
          <a:p>
            <a:pPr lvl="1"/>
            <a:r>
              <a:rPr lang="en-US" sz="2800" dirty="0">
                <a:ea typeface="ADLaM Display" panose="02010000000000000000" pitchFamily="2" charset="0"/>
                <a:cs typeface="ADLaM Display" panose="02010000000000000000" pitchFamily="2" charset="0"/>
              </a:rPr>
              <a:t> A </a:t>
            </a:r>
            <a:r>
              <a:rPr lang="en-US" sz="2800" b="1"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Ribbon Chart </a:t>
            </a:r>
            <a:r>
              <a:rPr lang="en-US" sz="2800" dirty="0">
                <a:ea typeface="ADLaM Display" panose="02010000000000000000" pitchFamily="2" charset="0"/>
                <a:cs typeface="ADLaM Display" panose="02010000000000000000" pitchFamily="2" charset="0"/>
              </a:rPr>
              <a:t>displays categories as ribbons across time.</a:t>
            </a:r>
          </a:p>
          <a:p>
            <a:pPr lvl="1"/>
            <a:r>
              <a:rPr lang="en-US" sz="2800" dirty="0">
                <a:ea typeface="ADLaM Display" panose="02010000000000000000" pitchFamily="2" charset="0"/>
                <a:cs typeface="ADLaM Display" panose="02010000000000000000" pitchFamily="2" charset="0"/>
              </a:rPr>
              <a:t> The position of each ribbon shows its rank.</a:t>
            </a:r>
          </a:p>
          <a:p>
            <a:pPr lvl="1"/>
            <a:r>
              <a:rPr lang="en-US" sz="2800" dirty="0">
                <a:ea typeface="ADLaM Display" panose="02010000000000000000" pitchFamily="2" charset="0"/>
                <a:cs typeface="ADLaM Display" panose="02010000000000000000" pitchFamily="2" charset="0"/>
              </a:rPr>
              <a:t> The width represents the value.</a:t>
            </a:r>
          </a:p>
          <a:p>
            <a:r>
              <a:rPr lang="en-US" sz="2800" dirty="0"/>
              <a:t> </a:t>
            </a:r>
            <a:r>
              <a:rPr lang="en-US" sz="2800" b="1" dirty="0"/>
              <a:t>Use Cases:</a:t>
            </a:r>
          </a:p>
          <a:p>
            <a:pPr>
              <a:buBlip>
                <a:blip r:embed="rId2"/>
              </a:buBlip>
            </a:pPr>
            <a:r>
              <a:rPr lang="en-US" sz="2800" dirty="0"/>
              <a:t> Track ranking changes over time.</a:t>
            </a:r>
          </a:p>
          <a:p>
            <a:pPr>
              <a:buBlip>
                <a:blip r:embed="rId2"/>
              </a:buBlip>
            </a:pPr>
            <a:r>
              <a:rPr lang="en-US" sz="2800" dirty="0"/>
              <a:t> Compare performance between categories.</a:t>
            </a:r>
          </a:p>
          <a:p>
            <a:pPr>
              <a:buBlip>
                <a:blip r:embed="rId2"/>
              </a:buBlip>
            </a:pPr>
            <a:r>
              <a:rPr lang="en-US" sz="2800" dirty="0"/>
              <a:t> Visualize competition dynamics.</a:t>
            </a:r>
          </a:p>
          <a:p>
            <a:pPr>
              <a:buBlip>
                <a:blip r:embed="rId2"/>
              </a:buBlip>
            </a:pPr>
            <a:r>
              <a:rPr lang="en-US" sz="2800" dirty="0"/>
              <a:t> Best for market share analysis, product performance comparison, sales ranking.</a:t>
            </a:r>
          </a:p>
          <a:p>
            <a:pPr lvl="1"/>
            <a:endParaRPr lang="en-US" sz="2800" dirty="0">
              <a:ea typeface="ADLaM Display" panose="02010000000000000000" pitchFamily="2" charset="0"/>
              <a:cs typeface="ADLaM Display" panose="02010000000000000000" pitchFamily="2" charset="0"/>
            </a:endParaRPr>
          </a:p>
        </p:txBody>
      </p:sp>
      <p:pic>
        <p:nvPicPr>
          <p:cNvPr id="4" name="Picture 3">
            <a:extLst>
              <a:ext uri="{FF2B5EF4-FFF2-40B4-BE49-F238E27FC236}">
                <a16:creationId xmlns:a16="http://schemas.microsoft.com/office/drawing/2014/main" id="{45246B76-0A17-C1C8-1FAE-7F3C294930C2}"/>
              </a:ext>
            </a:extLst>
          </p:cNvPr>
          <p:cNvPicPr>
            <a:picLocks noChangeAspect="1"/>
          </p:cNvPicPr>
          <p:nvPr/>
        </p:nvPicPr>
        <p:blipFill>
          <a:blip r:embed="rId3"/>
          <a:stretch>
            <a:fillRect/>
          </a:stretch>
        </p:blipFill>
        <p:spPr>
          <a:xfrm>
            <a:off x="165352" y="2294786"/>
            <a:ext cx="5729262" cy="3227072"/>
          </a:xfrm>
          <a:prstGeom prst="rect">
            <a:avLst/>
          </a:prstGeom>
          <a:noFill/>
          <a:ln>
            <a:noFill/>
          </a:ln>
        </p:spPr>
      </p:pic>
    </p:spTree>
    <p:extLst>
      <p:ext uri="{BB962C8B-B14F-4D97-AF65-F5344CB8AC3E}">
        <p14:creationId xmlns:p14="http://schemas.microsoft.com/office/powerpoint/2010/main" val="8523898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832B6-9339-97ED-A21E-3E885CB41C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17734C-0823-06BB-EF8A-33AD7089DADD}"/>
              </a:ext>
            </a:extLst>
          </p:cNvPr>
          <p:cNvSpPr>
            <a:spLocks noGrp="1"/>
          </p:cNvSpPr>
          <p:nvPr>
            <p:ph type="title"/>
          </p:nvPr>
        </p:nvSpPr>
        <p:spPr>
          <a:xfrm>
            <a:off x="1156920" y="715229"/>
            <a:ext cx="9393848" cy="712765"/>
          </a:xfrm>
        </p:spPr>
        <p:txBody>
          <a:bodyPr/>
          <a:lstStyle/>
          <a:p>
            <a:r>
              <a:rPr lang="en-US" dirty="0">
                <a:latin typeface="ADLaM Display" panose="02010000000000000000" pitchFamily="2" charset="0"/>
                <a:ea typeface="ADLaM Display" panose="02010000000000000000" pitchFamily="2" charset="0"/>
                <a:cs typeface="ADLaM Display" panose="02010000000000000000" pitchFamily="2" charset="0"/>
              </a:rPr>
              <a:t>Waterfall Chart</a:t>
            </a:r>
          </a:p>
        </p:txBody>
      </p:sp>
      <p:sp>
        <p:nvSpPr>
          <p:cNvPr id="3" name="Text Placeholder 2">
            <a:extLst>
              <a:ext uri="{FF2B5EF4-FFF2-40B4-BE49-F238E27FC236}">
                <a16:creationId xmlns:a16="http://schemas.microsoft.com/office/drawing/2014/main" id="{0511648A-4AF8-644B-7AEA-BDB54067498C}"/>
              </a:ext>
            </a:extLst>
          </p:cNvPr>
          <p:cNvSpPr>
            <a:spLocks noGrp="1"/>
          </p:cNvSpPr>
          <p:nvPr>
            <p:ph type="body" sz="quarter" idx="14"/>
          </p:nvPr>
        </p:nvSpPr>
        <p:spPr>
          <a:xfrm>
            <a:off x="6096000" y="1139761"/>
            <a:ext cx="5930648" cy="5827967"/>
          </a:xfrm>
        </p:spPr>
        <p:txBody>
          <a:bodyPr>
            <a:normAutofit fontScale="92500" lnSpcReduction="10000"/>
          </a:bodyPr>
          <a:lstStyle/>
          <a:p>
            <a:pPr lvl="1"/>
            <a:r>
              <a:rPr lang="en-US" sz="2800" dirty="0">
                <a:ea typeface="ADLaM Display" panose="02010000000000000000" pitchFamily="2" charset="0"/>
                <a:cs typeface="ADLaM Display" panose="02010000000000000000" pitchFamily="2" charset="0"/>
              </a:rPr>
              <a:t> A </a:t>
            </a:r>
            <a:r>
              <a:rPr lang="en-US" sz="2800" b="1"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Waterfall Chart </a:t>
            </a:r>
            <a:r>
              <a:rPr lang="en-US" sz="2800" dirty="0">
                <a:ea typeface="ADLaM Display" panose="02010000000000000000" pitchFamily="2" charset="0"/>
                <a:cs typeface="ADLaM Display" panose="02010000000000000000" pitchFamily="2" charset="0"/>
              </a:rPr>
              <a:t>show how a value changes step-by-step.</a:t>
            </a:r>
          </a:p>
          <a:p>
            <a:pPr lvl="1"/>
            <a:r>
              <a:rPr lang="en-US" sz="2800" dirty="0">
                <a:ea typeface="ADLaM Display" panose="02010000000000000000" pitchFamily="2" charset="0"/>
                <a:cs typeface="ADLaM Display" panose="02010000000000000000" pitchFamily="2" charset="0"/>
              </a:rPr>
              <a:t> Useful for understanding positive &amp; negative combinations.</a:t>
            </a:r>
          </a:p>
          <a:p>
            <a:pPr lvl="1"/>
            <a:r>
              <a:rPr lang="en-US" sz="2800" dirty="0">
                <a:ea typeface="ADLaM Display" panose="02010000000000000000" pitchFamily="2" charset="0"/>
                <a:cs typeface="ADLaM Display" panose="02010000000000000000" pitchFamily="2" charset="0"/>
              </a:rPr>
              <a:t> Common in financial &amp; business analysis.</a:t>
            </a:r>
          </a:p>
          <a:p>
            <a:r>
              <a:rPr lang="en-US" sz="2800" dirty="0">
                <a:ea typeface="ADLaM Display" panose="02010000000000000000" pitchFamily="2" charset="0"/>
                <a:cs typeface="ADLaM Display" panose="02010000000000000000" pitchFamily="2" charset="0"/>
              </a:rPr>
              <a:t> </a:t>
            </a:r>
            <a:r>
              <a:rPr lang="en-US" sz="2800" b="1" dirty="0"/>
              <a:t>Use Cases:</a:t>
            </a:r>
          </a:p>
          <a:p>
            <a:pPr>
              <a:buBlip>
                <a:blip r:embed="rId2"/>
              </a:buBlip>
            </a:pPr>
            <a:r>
              <a:rPr lang="en-US" sz="2800" dirty="0"/>
              <a:t> Analyze financial statements.</a:t>
            </a:r>
          </a:p>
          <a:p>
            <a:pPr>
              <a:buBlip>
                <a:blip r:embed="rId2"/>
              </a:buBlip>
            </a:pPr>
            <a:r>
              <a:rPr lang="en-US" sz="2800" dirty="0"/>
              <a:t> Break down profit &amp; loss.</a:t>
            </a:r>
          </a:p>
          <a:p>
            <a:pPr>
              <a:buBlip>
                <a:blip r:embed="rId2"/>
              </a:buBlip>
            </a:pPr>
            <a:r>
              <a:rPr lang="en-US" sz="2800" dirty="0"/>
              <a:t> Track changes in metrics over time.</a:t>
            </a:r>
          </a:p>
          <a:p>
            <a:pPr>
              <a:buBlip>
                <a:blip r:embed="rId2"/>
              </a:buBlip>
            </a:pPr>
            <a:r>
              <a:rPr lang="en-US" sz="2800" dirty="0"/>
              <a:t> Understand contributions of different factors.</a:t>
            </a:r>
          </a:p>
          <a:p>
            <a:pPr>
              <a:buBlip>
                <a:blip r:embed="rId2"/>
              </a:buBlip>
            </a:pPr>
            <a:r>
              <a:rPr lang="en-US" sz="2800" dirty="0"/>
              <a:t> Best for financial analysis, step-by-step  value tracking.</a:t>
            </a:r>
          </a:p>
          <a:p>
            <a:pPr lvl="1"/>
            <a:endParaRPr lang="en-US" sz="2800" dirty="0">
              <a:ea typeface="ADLaM Display" panose="02010000000000000000" pitchFamily="2" charset="0"/>
              <a:cs typeface="ADLaM Display" panose="02010000000000000000" pitchFamily="2" charset="0"/>
            </a:endParaRPr>
          </a:p>
        </p:txBody>
      </p:sp>
      <p:pic>
        <p:nvPicPr>
          <p:cNvPr id="5" name="Picture 4">
            <a:extLst>
              <a:ext uri="{FF2B5EF4-FFF2-40B4-BE49-F238E27FC236}">
                <a16:creationId xmlns:a16="http://schemas.microsoft.com/office/drawing/2014/main" id="{0D448B56-2472-2001-4AA8-465A4BA623D8}"/>
              </a:ext>
            </a:extLst>
          </p:cNvPr>
          <p:cNvPicPr>
            <a:picLocks noChangeAspect="1"/>
          </p:cNvPicPr>
          <p:nvPr/>
        </p:nvPicPr>
        <p:blipFill>
          <a:blip r:embed="rId3"/>
          <a:stretch>
            <a:fillRect/>
          </a:stretch>
        </p:blipFill>
        <p:spPr>
          <a:xfrm>
            <a:off x="0" y="2226855"/>
            <a:ext cx="5998790" cy="2998288"/>
          </a:xfrm>
          <a:prstGeom prst="rect">
            <a:avLst/>
          </a:prstGeom>
          <a:noFill/>
          <a:ln>
            <a:noFill/>
          </a:ln>
        </p:spPr>
      </p:pic>
    </p:spTree>
    <p:extLst>
      <p:ext uri="{BB962C8B-B14F-4D97-AF65-F5344CB8AC3E}">
        <p14:creationId xmlns:p14="http://schemas.microsoft.com/office/powerpoint/2010/main" val="71646250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EFCB33-94E4-070C-08F2-986B80AE8A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D605A9-55FF-A74B-EFB6-BA9568E92D29}"/>
              </a:ext>
            </a:extLst>
          </p:cNvPr>
          <p:cNvSpPr>
            <a:spLocks noGrp="1"/>
          </p:cNvSpPr>
          <p:nvPr>
            <p:ph type="title"/>
          </p:nvPr>
        </p:nvSpPr>
        <p:spPr>
          <a:xfrm>
            <a:off x="1156920" y="715229"/>
            <a:ext cx="9393848" cy="712765"/>
          </a:xfrm>
        </p:spPr>
        <p:txBody>
          <a:bodyPr/>
          <a:lstStyle/>
          <a:p>
            <a:r>
              <a:rPr lang="en-US" dirty="0">
                <a:latin typeface="ADLaM Display" panose="02010000000000000000" pitchFamily="2" charset="0"/>
                <a:ea typeface="ADLaM Display" panose="02010000000000000000" pitchFamily="2" charset="0"/>
                <a:cs typeface="ADLaM Display" panose="02010000000000000000" pitchFamily="2" charset="0"/>
              </a:rPr>
              <a:t>Funnel Chart</a:t>
            </a:r>
          </a:p>
        </p:txBody>
      </p:sp>
      <p:sp>
        <p:nvSpPr>
          <p:cNvPr id="3" name="Text Placeholder 2">
            <a:extLst>
              <a:ext uri="{FF2B5EF4-FFF2-40B4-BE49-F238E27FC236}">
                <a16:creationId xmlns:a16="http://schemas.microsoft.com/office/drawing/2014/main" id="{314B4EDB-96E0-DC80-B0DC-80369D18CCC8}"/>
              </a:ext>
            </a:extLst>
          </p:cNvPr>
          <p:cNvSpPr>
            <a:spLocks noGrp="1"/>
          </p:cNvSpPr>
          <p:nvPr>
            <p:ph type="body" sz="quarter" idx="14"/>
          </p:nvPr>
        </p:nvSpPr>
        <p:spPr>
          <a:xfrm>
            <a:off x="6096000" y="1030033"/>
            <a:ext cx="6025243" cy="5827967"/>
          </a:xfrm>
        </p:spPr>
        <p:txBody>
          <a:bodyPr>
            <a:normAutofit fontScale="92500"/>
          </a:bodyPr>
          <a:lstStyle/>
          <a:p>
            <a:pPr lvl="1"/>
            <a:r>
              <a:rPr lang="en-US" sz="2800" dirty="0">
                <a:ea typeface="ADLaM Display" panose="02010000000000000000" pitchFamily="2" charset="0"/>
                <a:cs typeface="ADLaM Display" panose="02010000000000000000" pitchFamily="2" charset="0"/>
              </a:rPr>
              <a:t> A </a:t>
            </a:r>
            <a:r>
              <a:rPr lang="en-US" sz="2800" b="1"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Funnel Chart </a:t>
            </a:r>
            <a:r>
              <a:rPr lang="en-US" sz="2800" dirty="0">
                <a:ea typeface="ADLaM Display" panose="02010000000000000000" pitchFamily="2" charset="0"/>
                <a:cs typeface="ADLaM Display" panose="02010000000000000000" pitchFamily="2" charset="0"/>
              </a:rPr>
              <a:t>represent stages in a process. </a:t>
            </a:r>
          </a:p>
          <a:p>
            <a:pPr lvl="1"/>
            <a:r>
              <a:rPr lang="en-US" sz="2800" dirty="0">
                <a:ea typeface="ADLaM Display" panose="02010000000000000000" pitchFamily="2" charset="0"/>
                <a:cs typeface="ADLaM Display" panose="02010000000000000000" pitchFamily="2" charset="0"/>
              </a:rPr>
              <a:t> Show how data flows from one stage to another.</a:t>
            </a:r>
          </a:p>
          <a:p>
            <a:pPr lvl="1"/>
            <a:r>
              <a:rPr lang="en-US" sz="2800" dirty="0">
                <a:ea typeface="ADLaM Display" panose="02010000000000000000" pitchFamily="2" charset="0"/>
                <a:cs typeface="ADLaM Display" panose="02010000000000000000" pitchFamily="2" charset="0"/>
              </a:rPr>
              <a:t> Commonly used in sales &amp; marketing analysis.</a:t>
            </a:r>
          </a:p>
          <a:p>
            <a:pPr lvl="1"/>
            <a:r>
              <a:rPr lang="en-US" sz="2800" dirty="0">
                <a:ea typeface="ADLaM Display" panose="02010000000000000000" pitchFamily="2" charset="0"/>
                <a:cs typeface="ADLaM Display" panose="02010000000000000000" pitchFamily="2" charset="0"/>
              </a:rPr>
              <a:t> Displays values across sequential stages.</a:t>
            </a:r>
          </a:p>
          <a:p>
            <a:r>
              <a:rPr lang="en-US" sz="2800" dirty="0"/>
              <a:t> </a:t>
            </a:r>
            <a:r>
              <a:rPr lang="en-US" sz="2800" b="1" dirty="0"/>
              <a:t>Use Cases:</a:t>
            </a:r>
          </a:p>
          <a:p>
            <a:pPr>
              <a:buBlip>
                <a:blip r:embed="rId2"/>
              </a:buBlip>
            </a:pPr>
            <a:r>
              <a:rPr lang="en-US" sz="2800" dirty="0"/>
              <a:t> Analyze conversion rates.</a:t>
            </a:r>
          </a:p>
          <a:p>
            <a:pPr>
              <a:buBlip>
                <a:blip r:embed="rId2"/>
              </a:buBlip>
            </a:pPr>
            <a:r>
              <a:rPr lang="en-US" sz="2800" dirty="0">
                <a:ea typeface="ADLaM Display" panose="02010000000000000000" pitchFamily="2" charset="0"/>
                <a:cs typeface="ADLaM Display" panose="02010000000000000000" pitchFamily="2" charset="0"/>
              </a:rPr>
              <a:t> Identify drop-offs in processes.</a:t>
            </a:r>
          </a:p>
          <a:p>
            <a:pPr>
              <a:buBlip>
                <a:blip r:embed="rId2"/>
              </a:buBlip>
            </a:pPr>
            <a:r>
              <a:rPr lang="en-US" sz="2800" dirty="0">
                <a:ea typeface="ADLaM Display" panose="02010000000000000000" pitchFamily="2" charset="0"/>
                <a:cs typeface="ADLaM Display" panose="02010000000000000000" pitchFamily="2" charset="0"/>
              </a:rPr>
              <a:t> Track performance across stages.</a:t>
            </a:r>
          </a:p>
          <a:p>
            <a:pPr>
              <a:buBlip>
                <a:blip r:embed="rId2"/>
              </a:buBlip>
            </a:pPr>
            <a:r>
              <a:rPr lang="en-US" sz="2800" dirty="0">
                <a:ea typeface="ADLaM Display" panose="02010000000000000000" pitchFamily="2" charset="0"/>
                <a:cs typeface="ADLaM Display" panose="02010000000000000000" pitchFamily="2" charset="0"/>
              </a:rPr>
              <a:t> Best for sales pipelines, recruitment processes, website conversion analysis.</a:t>
            </a:r>
          </a:p>
        </p:txBody>
      </p:sp>
      <p:pic>
        <p:nvPicPr>
          <p:cNvPr id="7" name="Picture 6">
            <a:extLst>
              <a:ext uri="{FF2B5EF4-FFF2-40B4-BE49-F238E27FC236}">
                <a16:creationId xmlns:a16="http://schemas.microsoft.com/office/drawing/2014/main" id="{B489B671-C272-0477-8D65-CE733D1644A3}"/>
              </a:ext>
            </a:extLst>
          </p:cNvPr>
          <p:cNvPicPr>
            <a:picLocks noChangeAspect="1"/>
          </p:cNvPicPr>
          <p:nvPr/>
        </p:nvPicPr>
        <p:blipFill>
          <a:blip r:embed="rId3"/>
          <a:stretch>
            <a:fillRect/>
          </a:stretch>
        </p:blipFill>
        <p:spPr>
          <a:xfrm>
            <a:off x="1" y="2084644"/>
            <a:ext cx="6096000" cy="3787281"/>
          </a:xfrm>
          <a:prstGeom prst="rect">
            <a:avLst/>
          </a:prstGeom>
          <a:noFill/>
          <a:ln>
            <a:noFill/>
          </a:ln>
        </p:spPr>
      </p:pic>
    </p:spTree>
    <p:extLst>
      <p:ext uri="{BB962C8B-B14F-4D97-AF65-F5344CB8AC3E}">
        <p14:creationId xmlns:p14="http://schemas.microsoft.com/office/powerpoint/2010/main" val="61909597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331E54-4025-8377-3564-712A00EB9A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EF5A27-7213-8E84-A479-325886A02810}"/>
              </a:ext>
            </a:extLst>
          </p:cNvPr>
          <p:cNvSpPr>
            <a:spLocks noGrp="1"/>
          </p:cNvSpPr>
          <p:nvPr>
            <p:ph type="title"/>
          </p:nvPr>
        </p:nvSpPr>
        <p:spPr>
          <a:xfrm>
            <a:off x="1156920" y="715229"/>
            <a:ext cx="9393848" cy="712765"/>
          </a:xfrm>
        </p:spPr>
        <p:txBody>
          <a:bodyPr/>
          <a:lstStyle/>
          <a:p>
            <a:r>
              <a:rPr lang="en-US" dirty="0">
                <a:latin typeface="ADLaM Display" panose="02010000000000000000" pitchFamily="2" charset="0"/>
                <a:ea typeface="ADLaM Display" panose="02010000000000000000" pitchFamily="2" charset="0"/>
                <a:cs typeface="ADLaM Display" panose="02010000000000000000" pitchFamily="2" charset="0"/>
              </a:rPr>
              <a:t>Tables</a:t>
            </a:r>
          </a:p>
        </p:txBody>
      </p:sp>
      <p:sp>
        <p:nvSpPr>
          <p:cNvPr id="3" name="Text Placeholder 2">
            <a:extLst>
              <a:ext uri="{FF2B5EF4-FFF2-40B4-BE49-F238E27FC236}">
                <a16:creationId xmlns:a16="http://schemas.microsoft.com/office/drawing/2014/main" id="{95F286BF-A01C-6F55-C068-EEB64197C8E0}"/>
              </a:ext>
            </a:extLst>
          </p:cNvPr>
          <p:cNvSpPr>
            <a:spLocks noGrp="1"/>
          </p:cNvSpPr>
          <p:nvPr>
            <p:ph type="body" sz="quarter" idx="14"/>
          </p:nvPr>
        </p:nvSpPr>
        <p:spPr>
          <a:xfrm>
            <a:off x="6400800" y="1254622"/>
            <a:ext cx="6025243" cy="5827967"/>
          </a:xfrm>
        </p:spPr>
        <p:txBody>
          <a:bodyPr>
            <a:normAutofit lnSpcReduction="10000"/>
          </a:bodyPr>
          <a:lstStyle/>
          <a:p>
            <a:pPr lvl="1"/>
            <a:r>
              <a:rPr lang="en-US" sz="2800" dirty="0">
                <a:ea typeface="ADLaM Display" panose="02010000000000000000" pitchFamily="2" charset="0"/>
                <a:cs typeface="ADLaM Display" panose="02010000000000000000" pitchFamily="2" charset="0"/>
              </a:rPr>
              <a:t> A </a:t>
            </a:r>
            <a:r>
              <a:rPr lang="en-US" sz="2800" b="1"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Table </a:t>
            </a:r>
            <a:r>
              <a:rPr lang="en-US" sz="2800" dirty="0">
                <a:ea typeface="ADLaM Display" panose="02010000000000000000" pitchFamily="2" charset="0"/>
                <a:cs typeface="ADLaM Display" panose="02010000000000000000" pitchFamily="2" charset="0"/>
              </a:rPr>
              <a:t>display data in rows &amp; columns.</a:t>
            </a:r>
          </a:p>
          <a:p>
            <a:pPr lvl="1"/>
            <a:r>
              <a:rPr lang="en-US" sz="2800" dirty="0">
                <a:ea typeface="ADLaM Display" panose="02010000000000000000" pitchFamily="2" charset="0"/>
                <a:cs typeface="ADLaM Display" panose="02010000000000000000" pitchFamily="2" charset="0"/>
              </a:rPr>
              <a:t> Each column represents a field &amp; each row represents a record.</a:t>
            </a:r>
          </a:p>
          <a:p>
            <a:pPr lvl="1"/>
            <a:r>
              <a:rPr lang="en-US" sz="2800" dirty="0">
                <a:ea typeface="ADLaM Display" panose="02010000000000000000" pitchFamily="2" charset="0"/>
                <a:cs typeface="ADLaM Display" panose="02010000000000000000" pitchFamily="2" charset="0"/>
              </a:rPr>
              <a:t> Ideal for showing exact values.</a:t>
            </a:r>
          </a:p>
          <a:p>
            <a:r>
              <a:rPr lang="en-US" sz="2800" dirty="0"/>
              <a:t> </a:t>
            </a:r>
            <a:r>
              <a:rPr lang="en-US" sz="2800" b="1" dirty="0"/>
              <a:t>Use Cases:</a:t>
            </a:r>
          </a:p>
          <a:p>
            <a:pPr>
              <a:buBlip>
                <a:blip r:embed="rId2"/>
              </a:buBlip>
            </a:pPr>
            <a:r>
              <a:rPr lang="en-US" sz="2800" dirty="0"/>
              <a:t> Display detailed data.</a:t>
            </a:r>
          </a:p>
          <a:p>
            <a:pPr>
              <a:buBlip>
                <a:blip r:embed="rId2"/>
              </a:buBlip>
            </a:pPr>
            <a:r>
              <a:rPr lang="en-US" sz="2800" dirty="0">
                <a:ea typeface="ADLaM Display" panose="02010000000000000000" pitchFamily="2" charset="0"/>
                <a:cs typeface="ADLaM Display" panose="02010000000000000000" pitchFamily="2" charset="0"/>
              </a:rPr>
              <a:t> Show exact values for reporting.</a:t>
            </a:r>
          </a:p>
          <a:p>
            <a:pPr>
              <a:buBlip>
                <a:blip r:embed="rId2"/>
              </a:buBlip>
            </a:pPr>
            <a:r>
              <a:rPr lang="en-US" sz="2800" dirty="0">
                <a:ea typeface="ADLaM Display" panose="02010000000000000000" pitchFamily="2" charset="0"/>
                <a:cs typeface="ADLaM Display" panose="02010000000000000000" pitchFamily="2" charset="0"/>
              </a:rPr>
              <a:t> Support data validation &amp; auditing.</a:t>
            </a:r>
          </a:p>
          <a:p>
            <a:pPr>
              <a:buBlip>
                <a:blip r:embed="rId2"/>
              </a:buBlip>
            </a:pPr>
            <a:r>
              <a:rPr lang="en-US" sz="2800" dirty="0">
                <a:ea typeface="ADLaM Display" panose="02010000000000000000" pitchFamily="2" charset="0"/>
                <a:cs typeface="ADLaM Display" panose="02010000000000000000" pitchFamily="2" charset="0"/>
              </a:rPr>
              <a:t> Provide structured view of datasets.</a:t>
            </a:r>
          </a:p>
          <a:p>
            <a:pPr>
              <a:buBlip>
                <a:blip r:embed="rId2"/>
              </a:buBlip>
            </a:pPr>
            <a:r>
              <a:rPr lang="en-US" sz="2800" dirty="0">
                <a:ea typeface="ADLaM Display" panose="02010000000000000000" pitchFamily="2" charset="0"/>
                <a:cs typeface="ADLaM Display" panose="02010000000000000000" pitchFamily="2" charset="0"/>
              </a:rPr>
              <a:t> Best for reports requiring precision, data inspection.</a:t>
            </a:r>
          </a:p>
          <a:p>
            <a:pPr lvl="1"/>
            <a:endParaRPr lang="en-US" sz="2800" dirty="0">
              <a:ea typeface="ADLaM Display" panose="02010000000000000000" pitchFamily="2" charset="0"/>
              <a:cs typeface="ADLaM Display" panose="02010000000000000000" pitchFamily="2" charset="0"/>
            </a:endParaRPr>
          </a:p>
        </p:txBody>
      </p:sp>
      <p:pic>
        <p:nvPicPr>
          <p:cNvPr id="4" name="Picture 3" descr="Create and Format Table Visualizations in Power BI - Power BI | Microsoft  Learn">
            <a:extLst>
              <a:ext uri="{FF2B5EF4-FFF2-40B4-BE49-F238E27FC236}">
                <a16:creationId xmlns:a16="http://schemas.microsoft.com/office/drawing/2014/main" id="{5EA84DFF-2311-0585-4EB0-BBBF9744E971}"/>
              </a:ext>
            </a:extLst>
          </p:cNvPr>
          <p:cNvPicPr>
            <a:picLocks noChangeAspect="1"/>
          </p:cNvPicPr>
          <p:nvPr/>
        </p:nvPicPr>
        <p:blipFill>
          <a:blip r:embed="rId3"/>
          <a:stretch>
            <a:fillRect/>
          </a:stretch>
        </p:blipFill>
        <p:spPr>
          <a:xfrm>
            <a:off x="0" y="1981765"/>
            <a:ext cx="6400799" cy="3056951"/>
          </a:xfrm>
          <a:prstGeom prst="rect">
            <a:avLst/>
          </a:prstGeom>
        </p:spPr>
      </p:pic>
    </p:spTree>
    <p:extLst>
      <p:ext uri="{BB962C8B-B14F-4D97-AF65-F5344CB8AC3E}">
        <p14:creationId xmlns:p14="http://schemas.microsoft.com/office/powerpoint/2010/main" val="284518169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15C37E-A3A8-B23E-60C4-FEC53D4A89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87F23C-E1DE-2E6B-2741-C433F8F0D7DE}"/>
              </a:ext>
            </a:extLst>
          </p:cNvPr>
          <p:cNvSpPr>
            <a:spLocks noGrp="1"/>
          </p:cNvSpPr>
          <p:nvPr>
            <p:ph type="title"/>
          </p:nvPr>
        </p:nvSpPr>
        <p:spPr>
          <a:xfrm>
            <a:off x="1156920" y="715229"/>
            <a:ext cx="9393848" cy="712765"/>
          </a:xfrm>
        </p:spPr>
        <p:txBody>
          <a:bodyPr/>
          <a:lstStyle/>
          <a:p>
            <a:r>
              <a:rPr lang="en-US" dirty="0">
                <a:latin typeface="ADLaM Display" panose="02010000000000000000" pitchFamily="2" charset="0"/>
                <a:ea typeface="ADLaM Display" panose="02010000000000000000" pitchFamily="2" charset="0"/>
                <a:cs typeface="ADLaM Display" panose="02010000000000000000" pitchFamily="2" charset="0"/>
              </a:rPr>
              <a:t>Matrix</a:t>
            </a:r>
          </a:p>
        </p:txBody>
      </p:sp>
      <p:sp>
        <p:nvSpPr>
          <p:cNvPr id="3" name="Text Placeholder 2">
            <a:extLst>
              <a:ext uri="{FF2B5EF4-FFF2-40B4-BE49-F238E27FC236}">
                <a16:creationId xmlns:a16="http://schemas.microsoft.com/office/drawing/2014/main" id="{F287516C-C3AB-352F-AC4B-B4678B332C59}"/>
              </a:ext>
            </a:extLst>
          </p:cNvPr>
          <p:cNvSpPr>
            <a:spLocks noGrp="1"/>
          </p:cNvSpPr>
          <p:nvPr>
            <p:ph type="body" sz="quarter" idx="14"/>
          </p:nvPr>
        </p:nvSpPr>
        <p:spPr>
          <a:xfrm>
            <a:off x="6166757" y="1030033"/>
            <a:ext cx="6025243" cy="5827967"/>
          </a:xfrm>
        </p:spPr>
        <p:txBody>
          <a:bodyPr>
            <a:normAutofit lnSpcReduction="10000"/>
          </a:bodyPr>
          <a:lstStyle/>
          <a:p>
            <a:pPr lvl="1"/>
            <a:r>
              <a:rPr lang="en-US" sz="2800" dirty="0">
                <a:ea typeface="ADLaM Display" panose="02010000000000000000" pitchFamily="2" charset="0"/>
                <a:cs typeface="ADLaM Display" panose="02010000000000000000" pitchFamily="2" charset="0"/>
              </a:rPr>
              <a:t> A </a:t>
            </a:r>
            <a:r>
              <a:rPr lang="en-US" sz="2800" b="1"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Matrix </a:t>
            </a:r>
            <a:r>
              <a:rPr lang="en-US" sz="2800" dirty="0">
                <a:ea typeface="ADLaM Display" panose="02010000000000000000" pitchFamily="2" charset="0"/>
                <a:cs typeface="ADLaM Display" panose="02010000000000000000" pitchFamily="2" charset="0"/>
              </a:rPr>
              <a:t>display data in a grid format.</a:t>
            </a:r>
          </a:p>
          <a:p>
            <a:pPr lvl="1"/>
            <a:r>
              <a:rPr lang="en-US" sz="2800" dirty="0">
                <a:ea typeface="ADLaM Display" panose="02010000000000000000" pitchFamily="2" charset="0"/>
                <a:cs typeface="ADLaM Display" panose="02010000000000000000" pitchFamily="2" charset="0"/>
              </a:rPr>
              <a:t> Enables dynamic data aggregation.</a:t>
            </a:r>
          </a:p>
          <a:p>
            <a:pPr lvl="1"/>
            <a:r>
              <a:rPr lang="en-US" sz="2800" dirty="0">
                <a:ea typeface="ADLaM Display" panose="02010000000000000000" pitchFamily="2" charset="0"/>
                <a:cs typeface="ADLaM Display" panose="02010000000000000000" pitchFamily="2" charset="0"/>
              </a:rPr>
              <a:t> Data is grouped into rows &amp; columns.</a:t>
            </a:r>
          </a:p>
          <a:p>
            <a:pPr lvl="1"/>
            <a:r>
              <a:rPr lang="en-US" sz="2800" dirty="0">
                <a:ea typeface="ADLaM Display" panose="02010000000000000000" pitchFamily="2" charset="0"/>
                <a:cs typeface="ADLaM Display" panose="02010000000000000000" pitchFamily="2" charset="0"/>
              </a:rPr>
              <a:t> Values are summarized (sum, average, count, etc.…).</a:t>
            </a:r>
          </a:p>
          <a:p>
            <a:pPr lvl="1"/>
            <a:r>
              <a:rPr lang="en-US" sz="2800" dirty="0">
                <a:ea typeface="ADLaM Display" panose="02010000000000000000" pitchFamily="2" charset="0"/>
                <a:cs typeface="ADLaM Display" panose="02010000000000000000" pitchFamily="2" charset="0"/>
              </a:rPr>
              <a:t> Users can drill down into details.</a:t>
            </a:r>
          </a:p>
          <a:p>
            <a:r>
              <a:rPr lang="en-US" sz="2800" dirty="0">
                <a:ea typeface="ADLaM Display" panose="02010000000000000000" pitchFamily="2" charset="0"/>
                <a:cs typeface="ADLaM Display" panose="02010000000000000000" pitchFamily="2" charset="0"/>
              </a:rPr>
              <a:t> </a:t>
            </a:r>
            <a:r>
              <a:rPr lang="en-US" sz="2800" b="1" dirty="0"/>
              <a:t>Use Cases:</a:t>
            </a:r>
          </a:p>
          <a:p>
            <a:pPr>
              <a:buBlip>
                <a:blip r:embed="rId2"/>
              </a:buBlip>
            </a:pPr>
            <a:r>
              <a:rPr lang="en-US" sz="2800" dirty="0"/>
              <a:t> Compare multiple dimensions of data.</a:t>
            </a:r>
          </a:p>
          <a:p>
            <a:pPr>
              <a:buBlip>
                <a:blip r:embed="rId2"/>
              </a:buBlip>
            </a:pPr>
            <a:r>
              <a:rPr lang="en-US" sz="2800" dirty="0">
                <a:ea typeface="ADLaM Display" panose="02010000000000000000" pitchFamily="2" charset="0"/>
                <a:cs typeface="ADLaM Display" panose="02010000000000000000" pitchFamily="2" charset="0"/>
              </a:rPr>
              <a:t> Perform cross-tab analysis.</a:t>
            </a:r>
          </a:p>
          <a:p>
            <a:pPr>
              <a:buBlip>
                <a:blip r:embed="rId2"/>
              </a:buBlip>
            </a:pPr>
            <a:r>
              <a:rPr lang="en-US" sz="2800" dirty="0">
                <a:ea typeface="ADLaM Display" panose="02010000000000000000" pitchFamily="2" charset="0"/>
                <a:cs typeface="ADLaM Display" panose="02010000000000000000" pitchFamily="2" charset="0"/>
              </a:rPr>
              <a:t> Display hierarchical relationships.</a:t>
            </a:r>
          </a:p>
          <a:p>
            <a:pPr>
              <a:buBlip>
                <a:blip r:embed="rId2"/>
              </a:buBlip>
            </a:pPr>
            <a:r>
              <a:rPr lang="en-US" sz="2800" dirty="0">
                <a:ea typeface="ADLaM Display" panose="02010000000000000000" pitchFamily="2" charset="0"/>
                <a:cs typeface="ADLaM Display" panose="02010000000000000000" pitchFamily="2" charset="0"/>
              </a:rPr>
              <a:t> Best for financial reports, sales analysis, multi-level data comparison.</a:t>
            </a:r>
          </a:p>
          <a:p>
            <a:pPr lvl="1"/>
            <a:endParaRPr lang="en-US" sz="2800" dirty="0">
              <a:ea typeface="ADLaM Display" panose="02010000000000000000" pitchFamily="2" charset="0"/>
              <a:cs typeface="ADLaM Display" panose="02010000000000000000" pitchFamily="2" charset="0"/>
            </a:endParaRPr>
          </a:p>
          <a:p>
            <a:pPr lvl="1"/>
            <a:endParaRPr lang="en-US" sz="2800" dirty="0">
              <a:ea typeface="ADLaM Display" panose="02010000000000000000" pitchFamily="2" charset="0"/>
              <a:cs typeface="ADLaM Display" panose="02010000000000000000" pitchFamily="2" charset="0"/>
            </a:endParaRPr>
          </a:p>
          <a:p>
            <a:pPr lvl="1"/>
            <a:endParaRPr lang="en-US" sz="2800" dirty="0">
              <a:ea typeface="ADLaM Display" panose="02010000000000000000" pitchFamily="2" charset="0"/>
              <a:cs typeface="ADLaM Display" panose="02010000000000000000" pitchFamily="2" charset="0"/>
            </a:endParaRPr>
          </a:p>
          <a:p>
            <a:pPr lvl="1"/>
            <a:endParaRPr lang="en-US" sz="2800" dirty="0">
              <a:ea typeface="ADLaM Display" panose="02010000000000000000" pitchFamily="2" charset="0"/>
              <a:cs typeface="ADLaM Display" panose="02010000000000000000" pitchFamily="2" charset="0"/>
            </a:endParaRPr>
          </a:p>
        </p:txBody>
      </p:sp>
      <p:pic>
        <p:nvPicPr>
          <p:cNvPr id="4" name="Picture 3">
            <a:extLst>
              <a:ext uri="{FF2B5EF4-FFF2-40B4-BE49-F238E27FC236}">
                <a16:creationId xmlns:a16="http://schemas.microsoft.com/office/drawing/2014/main" id="{544DF4ED-1E7B-F583-ED87-3FD07426DE4F}"/>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34548" y="2011083"/>
            <a:ext cx="6132209" cy="4131688"/>
          </a:xfrm>
          <a:prstGeom prst="rect">
            <a:avLst/>
          </a:prstGeom>
        </p:spPr>
      </p:pic>
    </p:spTree>
    <p:extLst>
      <p:ext uri="{BB962C8B-B14F-4D97-AF65-F5344CB8AC3E}">
        <p14:creationId xmlns:p14="http://schemas.microsoft.com/office/powerpoint/2010/main" val="222332274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13BFA-43FF-BF4B-C496-DF05CB365A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F1BD82-5E55-E963-0D61-E242D7B48604}"/>
              </a:ext>
            </a:extLst>
          </p:cNvPr>
          <p:cNvSpPr>
            <a:spLocks noGrp="1"/>
          </p:cNvSpPr>
          <p:nvPr>
            <p:ph type="title"/>
          </p:nvPr>
        </p:nvSpPr>
        <p:spPr>
          <a:xfrm>
            <a:off x="1156920" y="715229"/>
            <a:ext cx="9393848" cy="712765"/>
          </a:xfrm>
        </p:spPr>
        <p:txBody>
          <a:bodyPr/>
          <a:lstStyle/>
          <a:p>
            <a:r>
              <a:rPr lang="en-US" dirty="0">
                <a:latin typeface="ADLaM Display" panose="02010000000000000000" pitchFamily="2" charset="0"/>
                <a:ea typeface="ADLaM Display" panose="02010000000000000000" pitchFamily="2" charset="0"/>
                <a:cs typeface="ADLaM Display" panose="02010000000000000000" pitchFamily="2" charset="0"/>
              </a:rPr>
              <a:t>KPI Charts</a:t>
            </a:r>
          </a:p>
        </p:txBody>
      </p:sp>
      <p:sp>
        <p:nvSpPr>
          <p:cNvPr id="3" name="Text Placeholder 2">
            <a:extLst>
              <a:ext uri="{FF2B5EF4-FFF2-40B4-BE49-F238E27FC236}">
                <a16:creationId xmlns:a16="http://schemas.microsoft.com/office/drawing/2014/main" id="{08F99E07-DECD-BEC5-A679-1D2D510A0457}"/>
              </a:ext>
            </a:extLst>
          </p:cNvPr>
          <p:cNvSpPr>
            <a:spLocks noGrp="1"/>
          </p:cNvSpPr>
          <p:nvPr>
            <p:ph type="body" sz="quarter" idx="14"/>
          </p:nvPr>
        </p:nvSpPr>
        <p:spPr>
          <a:xfrm>
            <a:off x="6166757" y="1030033"/>
            <a:ext cx="6132209" cy="6204956"/>
          </a:xfrm>
        </p:spPr>
        <p:txBody>
          <a:bodyPr>
            <a:normAutofit fontScale="92500" lnSpcReduction="10000"/>
          </a:bodyPr>
          <a:lstStyle/>
          <a:p>
            <a:pPr lvl="1"/>
            <a:r>
              <a:rPr lang="en-US" sz="2800" dirty="0">
                <a:ea typeface="ADLaM Display" panose="02010000000000000000" pitchFamily="2" charset="0"/>
                <a:cs typeface="ADLaM Display" panose="02010000000000000000" pitchFamily="2" charset="0"/>
              </a:rPr>
              <a:t> </a:t>
            </a:r>
            <a:r>
              <a:rPr lang="en-US" sz="2800" b="1"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KPI Charts </a:t>
            </a:r>
            <a:r>
              <a:rPr lang="en-US" sz="2800" dirty="0">
                <a:ea typeface="ADLaM Display" panose="02010000000000000000" pitchFamily="2" charset="0"/>
                <a:cs typeface="ADLaM Display" panose="02010000000000000000" pitchFamily="2" charset="0"/>
              </a:rPr>
              <a:t>are visuals that shows:</a:t>
            </a:r>
          </a:p>
          <a:p>
            <a:pPr lvl="1">
              <a:buFont typeface="Wingdings" panose="05000000000000000000" pitchFamily="2" charset="2"/>
              <a:buChar char="Ø"/>
            </a:pPr>
            <a:r>
              <a:rPr lang="en-US" sz="2800" dirty="0">
                <a:ea typeface="ADLaM Display" panose="02010000000000000000" pitchFamily="2" charset="0"/>
                <a:cs typeface="ADLaM Display" panose="02010000000000000000" pitchFamily="2" charset="0"/>
              </a:rPr>
              <a:t> Actual value</a:t>
            </a:r>
          </a:p>
          <a:p>
            <a:pPr lvl="1">
              <a:buFont typeface="Wingdings" panose="05000000000000000000" pitchFamily="2" charset="2"/>
              <a:buChar char="Ø"/>
            </a:pPr>
            <a:r>
              <a:rPr lang="en-US" sz="2800" dirty="0">
                <a:ea typeface="ADLaM Display" panose="02010000000000000000" pitchFamily="2" charset="0"/>
                <a:cs typeface="ADLaM Display" panose="02010000000000000000" pitchFamily="2" charset="0"/>
              </a:rPr>
              <a:t> Target (goal)</a:t>
            </a:r>
          </a:p>
          <a:p>
            <a:pPr lvl="1">
              <a:buFont typeface="Wingdings" panose="05000000000000000000" pitchFamily="2" charset="2"/>
              <a:buChar char="Ø"/>
            </a:pPr>
            <a:r>
              <a:rPr lang="en-US" sz="2800" dirty="0">
                <a:ea typeface="ADLaM Display" panose="02010000000000000000" pitchFamily="2" charset="0"/>
                <a:cs typeface="ADLaM Display" panose="02010000000000000000" pitchFamily="2" charset="0"/>
              </a:rPr>
              <a:t> Trend over time</a:t>
            </a:r>
          </a:p>
          <a:p>
            <a:pPr lvl="1"/>
            <a:r>
              <a:rPr lang="en-US" sz="2800" dirty="0">
                <a:ea typeface="ADLaM Display" panose="02010000000000000000" pitchFamily="2" charset="0"/>
                <a:cs typeface="ADLaM Display" panose="02010000000000000000" pitchFamily="2" charset="0"/>
              </a:rPr>
              <a:t> KPI = </a:t>
            </a:r>
            <a:r>
              <a:rPr lang="en-US" sz="2800" b="1"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Key Performance Indicator</a:t>
            </a:r>
          </a:p>
          <a:p>
            <a:pPr lvl="1"/>
            <a:r>
              <a:rPr lang="en-US" sz="2800" dirty="0">
                <a:ea typeface="ADLaM Display" panose="02010000000000000000" pitchFamily="2" charset="0"/>
                <a:cs typeface="ADLaM Display" panose="02010000000000000000" pitchFamily="2" charset="0"/>
              </a:rPr>
              <a:t> KPI charts help track performance over time.</a:t>
            </a:r>
          </a:p>
          <a:p>
            <a:pPr lvl="1"/>
            <a:r>
              <a:rPr lang="en-US" sz="2800" dirty="0">
                <a:ea typeface="ADLaM Display" panose="02010000000000000000" pitchFamily="2" charset="0"/>
                <a:cs typeface="ADLaM Display" panose="02010000000000000000" pitchFamily="2" charset="0"/>
              </a:rPr>
              <a:t> Compare actual values against targets.</a:t>
            </a:r>
          </a:p>
          <a:p>
            <a:r>
              <a:rPr lang="en-US" sz="2800" b="1" dirty="0"/>
              <a:t>Use Cases:</a:t>
            </a:r>
          </a:p>
          <a:p>
            <a:pPr>
              <a:buBlip>
                <a:blip r:embed="rId2"/>
              </a:buBlip>
            </a:pPr>
            <a:r>
              <a:rPr lang="en-US" sz="2800" dirty="0"/>
              <a:t> Monitor business performance.</a:t>
            </a:r>
          </a:p>
          <a:p>
            <a:pPr>
              <a:buBlip>
                <a:blip r:embed="rId2"/>
              </a:buBlip>
            </a:pPr>
            <a:r>
              <a:rPr lang="en-US" sz="2800" dirty="0">
                <a:ea typeface="ADLaM Display" panose="02010000000000000000" pitchFamily="2" charset="0"/>
                <a:cs typeface="ADLaM Display" panose="02010000000000000000" pitchFamily="2" charset="0"/>
              </a:rPr>
              <a:t> Track progress toward goals.</a:t>
            </a:r>
          </a:p>
          <a:p>
            <a:pPr>
              <a:buBlip>
                <a:blip r:embed="rId2"/>
              </a:buBlip>
            </a:pPr>
            <a:r>
              <a:rPr lang="en-US" sz="2800" dirty="0">
                <a:ea typeface="ADLaM Display" panose="02010000000000000000" pitchFamily="2" charset="0"/>
                <a:cs typeface="ADLaM Display" panose="02010000000000000000" pitchFamily="2" charset="0"/>
              </a:rPr>
              <a:t> Identify underperformance.</a:t>
            </a:r>
          </a:p>
          <a:p>
            <a:pPr>
              <a:buBlip>
                <a:blip r:embed="rId2"/>
              </a:buBlip>
            </a:pPr>
            <a:r>
              <a:rPr lang="en-US" sz="2800" dirty="0">
                <a:ea typeface="ADLaM Display" panose="02010000000000000000" pitchFamily="2" charset="0"/>
                <a:cs typeface="ADLaM Display" panose="02010000000000000000" pitchFamily="2" charset="0"/>
              </a:rPr>
              <a:t> Best for executive dashboards, performance monitoring</a:t>
            </a:r>
          </a:p>
          <a:p>
            <a:pPr lvl="1"/>
            <a:endParaRPr lang="en-US" sz="2800" dirty="0">
              <a:ea typeface="ADLaM Display" panose="02010000000000000000" pitchFamily="2" charset="0"/>
              <a:cs typeface="ADLaM Display" panose="02010000000000000000" pitchFamily="2" charset="0"/>
            </a:endParaRPr>
          </a:p>
          <a:p>
            <a:pPr lvl="1"/>
            <a:endParaRPr lang="en-US" sz="2800" dirty="0">
              <a:ea typeface="ADLaM Display" panose="02010000000000000000" pitchFamily="2" charset="0"/>
              <a:cs typeface="ADLaM Display" panose="02010000000000000000" pitchFamily="2" charset="0"/>
            </a:endParaRPr>
          </a:p>
        </p:txBody>
      </p:sp>
      <p:pic>
        <p:nvPicPr>
          <p:cNvPr id="4" name="Picture 3">
            <a:extLst>
              <a:ext uri="{FF2B5EF4-FFF2-40B4-BE49-F238E27FC236}">
                <a16:creationId xmlns:a16="http://schemas.microsoft.com/office/drawing/2014/main" id="{C60DF611-3ACF-F650-2777-27254F5422E8}"/>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4548" y="2496656"/>
            <a:ext cx="6132209" cy="3160542"/>
          </a:xfrm>
          <a:prstGeom prst="rect">
            <a:avLst/>
          </a:prstGeom>
        </p:spPr>
      </p:pic>
    </p:spTree>
    <p:extLst>
      <p:ext uri="{BB962C8B-B14F-4D97-AF65-F5344CB8AC3E}">
        <p14:creationId xmlns:p14="http://schemas.microsoft.com/office/powerpoint/2010/main" val="12587623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22EAA-2FEB-DF15-C72F-821304E33C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6538B2-BBB6-E294-29D4-D1C8F39A3993}"/>
              </a:ext>
            </a:extLst>
          </p:cNvPr>
          <p:cNvSpPr>
            <a:spLocks noGrp="1"/>
          </p:cNvSpPr>
          <p:nvPr>
            <p:ph type="title"/>
          </p:nvPr>
        </p:nvSpPr>
        <p:spPr>
          <a:xfrm>
            <a:off x="1156920" y="715229"/>
            <a:ext cx="9393848" cy="712765"/>
          </a:xfrm>
        </p:spPr>
        <p:txBody>
          <a:bodyPr/>
          <a:lstStyle/>
          <a:p>
            <a:r>
              <a:rPr lang="en-US" dirty="0">
                <a:latin typeface="ADLaM Display" panose="02010000000000000000" pitchFamily="2" charset="0"/>
                <a:ea typeface="ADLaM Display" panose="02010000000000000000" pitchFamily="2" charset="0"/>
                <a:cs typeface="ADLaM Display" panose="02010000000000000000" pitchFamily="2" charset="0"/>
              </a:rPr>
              <a:t>Cards</a:t>
            </a:r>
          </a:p>
        </p:txBody>
      </p:sp>
      <p:sp>
        <p:nvSpPr>
          <p:cNvPr id="3" name="Text Placeholder 2">
            <a:extLst>
              <a:ext uri="{FF2B5EF4-FFF2-40B4-BE49-F238E27FC236}">
                <a16:creationId xmlns:a16="http://schemas.microsoft.com/office/drawing/2014/main" id="{390591EC-BF9A-8F44-DDFA-543F3B688ECA}"/>
              </a:ext>
            </a:extLst>
          </p:cNvPr>
          <p:cNvSpPr>
            <a:spLocks noGrp="1"/>
          </p:cNvSpPr>
          <p:nvPr>
            <p:ph type="body" sz="quarter" idx="14"/>
          </p:nvPr>
        </p:nvSpPr>
        <p:spPr>
          <a:xfrm>
            <a:off x="6166757" y="1030033"/>
            <a:ext cx="6025243" cy="5827967"/>
          </a:xfrm>
        </p:spPr>
        <p:txBody>
          <a:bodyPr>
            <a:normAutofit/>
          </a:bodyPr>
          <a:lstStyle/>
          <a:p>
            <a:pPr lvl="1"/>
            <a:r>
              <a:rPr lang="en-US" sz="2800" dirty="0">
                <a:ea typeface="ADLaM Display" panose="02010000000000000000" pitchFamily="2" charset="0"/>
                <a:cs typeface="ADLaM Display" panose="02010000000000000000" pitchFamily="2" charset="0"/>
              </a:rPr>
              <a:t> </a:t>
            </a:r>
            <a:r>
              <a:rPr lang="en-US" sz="2800" b="1"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Card </a:t>
            </a:r>
            <a:r>
              <a:rPr lang="en-US" sz="2800" dirty="0">
                <a:ea typeface="ADLaM Display" panose="02010000000000000000" pitchFamily="2" charset="0"/>
                <a:cs typeface="ADLaM Display" panose="02010000000000000000" pitchFamily="2" charset="0"/>
              </a:rPr>
              <a:t>visuals display single key values.</a:t>
            </a:r>
          </a:p>
          <a:p>
            <a:pPr lvl="1"/>
            <a:r>
              <a:rPr lang="en-US" sz="2800" dirty="0">
                <a:ea typeface="ADLaM Display" panose="02010000000000000000" pitchFamily="2" charset="0"/>
                <a:cs typeface="ADLaM Display" panose="02010000000000000000" pitchFamily="2" charset="0"/>
              </a:rPr>
              <a:t> Used to highlight import metrics (KPIs).</a:t>
            </a:r>
          </a:p>
          <a:p>
            <a:pPr lvl="1"/>
            <a:r>
              <a:rPr lang="en-US" sz="2800" dirty="0">
                <a:ea typeface="ADLaM Display" panose="02010000000000000000" pitchFamily="2" charset="0"/>
                <a:cs typeface="ADLaM Display" panose="02010000000000000000" pitchFamily="2" charset="0"/>
              </a:rPr>
              <a:t> Common in dashboards in quick insights.</a:t>
            </a:r>
          </a:p>
          <a:p>
            <a:r>
              <a:rPr lang="en-US" sz="2800" dirty="0">
                <a:ea typeface="ADLaM Display" panose="02010000000000000000" pitchFamily="2" charset="0"/>
                <a:cs typeface="ADLaM Display" panose="02010000000000000000" pitchFamily="2" charset="0"/>
              </a:rPr>
              <a:t> </a:t>
            </a:r>
            <a:r>
              <a:rPr lang="en-US" sz="2800" b="1" dirty="0"/>
              <a:t>Use Cases:</a:t>
            </a:r>
          </a:p>
          <a:p>
            <a:pPr>
              <a:buBlip>
                <a:blip r:embed="rId2"/>
              </a:buBlip>
            </a:pPr>
            <a:r>
              <a:rPr lang="en-US" sz="2800" dirty="0"/>
              <a:t> Display KPIs.</a:t>
            </a:r>
          </a:p>
          <a:p>
            <a:pPr>
              <a:buBlip>
                <a:blip r:embed="rId2"/>
              </a:buBlip>
            </a:pPr>
            <a:r>
              <a:rPr lang="en-US" sz="2800" dirty="0">
                <a:ea typeface="ADLaM Display" panose="02010000000000000000" pitchFamily="2" charset="0"/>
                <a:cs typeface="ADLaM Display" panose="02010000000000000000" pitchFamily="2" charset="0"/>
              </a:rPr>
              <a:t> Highlight important numbers.</a:t>
            </a:r>
          </a:p>
          <a:p>
            <a:pPr>
              <a:buBlip>
                <a:blip r:embed="rId2"/>
              </a:buBlip>
            </a:pPr>
            <a:r>
              <a:rPr lang="en-US" sz="2800" dirty="0">
                <a:ea typeface="ADLaM Display" panose="02010000000000000000" pitchFamily="2" charset="0"/>
                <a:cs typeface="ADLaM Display" panose="02010000000000000000" pitchFamily="2" charset="0"/>
              </a:rPr>
              <a:t> Provide quick summary of data.</a:t>
            </a:r>
          </a:p>
          <a:p>
            <a:pPr>
              <a:buBlip>
                <a:blip r:embed="rId2"/>
              </a:buBlip>
            </a:pPr>
            <a:r>
              <a:rPr lang="en-US" sz="2800" dirty="0">
                <a:ea typeface="ADLaM Display" panose="02010000000000000000" pitchFamily="2" charset="0"/>
                <a:cs typeface="ADLaM Display" panose="02010000000000000000" pitchFamily="2" charset="0"/>
              </a:rPr>
              <a:t> Best for dashboards, executive reports.</a:t>
            </a:r>
          </a:p>
          <a:p>
            <a:pPr lvl="1"/>
            <a:endParaRPr lang="en-US" sz="2800" dirty="0">
              <a:ea typeface="ADLaM Display" panose="02010000000000000000" pitchFamily="2" charset="0"/>
              <a:cs typeface="ADLaM Display" panose="02010000000000000000" pitchFamily="2" charset="0"/>
            </a:endParaRPr>
          </a:p>
          <a:p>
            <a:pPr lvl="1"/>
            <a:endParaRPr lang="en-US" sz="2800" dirty="0">
              <a:ea typeface="ADLaM Display" panose="02010000000000000000" pitchFamily="2" charset="0"/>
              <a:cs typeface="ADLaM Display" panose="02010000000000000000" pitchFamily="2" charset="0"/>
            </a:endParaRPr>
          </a:p>
          <a:p>
            <a:pPr lvl="1"/>
            <a:endParaRPr lang="en-US" sz="2800" dirty="0">
              <a:ea typeface="ADLaM Display" panose="02010000000000000000" pitchFamily="2" charset="0"/>
              <a:cs typeface="ADLaM Display" panose="02010000000000000000" pitchFamily="2" charset="0"/>
            </a:endParaRPr>
          </a:p>
        </p:txBody>
      </p:sp>
      <p:pic>
        <p:nvPicPr>
          <p:cNvPr id="4" name="Picture 3">
            <a:extLst>
              <a:ext uri="{FF2B5EF4-FFF2-40B4-BE49-F238E27FC236}">
                <a16:creationId xmlns:a16="http://schemas.microsoft.com/office/drawing/2014/main" id="{415C53C2-FCBC-D131-7862-53B84244439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82763" y="1969532"/>
            <a:ext cx="5635778" cy="3948968"/>
          </a:xfrm>
          <a:prstGeom prst="rect">
            <a:avLst/>
          </a:prstGeom>
        </p:spPr>
      </p:pic>
    </p:spTree>
    <p:extLst>
      <p:ext uri="{BB962C8B-B14F-4D97-AF65-F5344CB8AC3E}">
        <p14:creationId xmlns:p14="http://schemas.microsoft.com/office/powerpoint/2010/main" val="128956446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C3307-76D0-4968-44CF-229E41684A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F18B6F-C2FE-EBFB-7AAD-C9E772E1A240}"/>
              </a:ext>
            </a:extLst>
          </p:cNvPr>
          <p:cNvSpPr>
            <a:spLocks noGrp="1"/>
          </p:cNvSpPr>
          <p:nvPr>
            <p:ph type="title"/>
          </p:nvPr>
        </p:nvSpPr>
        <p:spPr>
          <a:xfrm>
            <a:off x="1156920" y="715229"/>
            <a:ext cx="9393848" cy="712765"/>
          </a:xfrm>
        </p:spPr>
        <p:txBody>
          <a:bodyPr/>
          <a:lstStyle/>
          <a:p>
            <a:r>
              <a:rPr lang="en-US" dirty="0">
                <a:latin typeface="ADLaM Display" panose="02010000000000000000" pitchFamily="2" charset="0"/>
                <a:ea typeface="ADLaM Display" panose="02010000000000000000" pitchFamily="2" charset="0"/>
                <a:cs typeface="ADLaM Display" panose="02010000000000000000" pitchFamily="2" charset="0"/>
              </a:rPr>
              <a:t>Gauge Charts</a:t>
            </a:r>
          </a:p>
        </p:txBody>
      </p:sp>
      <p:sp>
        <p:nvSpPr>
          <p:cNvPr id="3" name="Text Placeholder 2">
            <a:extLst>
              <a:ext uri="{FF2B5EF4-FFF2-40B4-BE49-F238E27FC236}">
                <a16:creationId xmlns:a16="http://schemas.microsoft.com/office/drawing/2014/main" id="{53CE8AB3-DD32-CD90-5046-F43809174B79}"/>
              </a:ext>
            </a:extLst>
          </p:cNvPr>
          <p:cNvSpPr>
            <a:spLocks noGrp="1"/>
          </p:cNvSpPr>
          <p:nvPr>
            <p:ph type="body" sz="quarter" idx="14"/>
          </p:nvPr>
        </p:nvSpPr>
        <p:spPr>
          <a:xfrm>
            <a:off x="6166757" y="1427994"/>
            <a:ext cx="6025243" cy="5827967"/>
          </a:xfrm>
        </p:spPr>
        <p:txBody>
          <a:bodyPr>
            <a:normAutofit fontScale="92500" lnSpcReduction="10000"/>
          </a:bodyPr>
          <a:lstStyle/>
          <a:p>
            <a:pPr lvl="1"/>
            <a:r>
              <a:rPr lang="en-US" sz="2800" dirty="0">
                <a:ea typeface="ADLaM Display" panose="02010000000000000000" pitchFamily="2" charset="0"/>
                <a:cs typeface="ADLaM Display" panose="02010000000000000000" pitchFamily="2" charset="0"/>
              </a:rPr>
              <a:t> </a:t>
            </a:r>
            <a:r>
              <a:rPr lang="en-US" sz="2800" b="1"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Gauge Charts </a:t>
            </a:r>
            <a:r>
              <a:rPr lang="en-US" sz="2800" dirty="0">
                <a:ea typeface="ADLaM Display" panose="02010000000000000000" pitchFamily="2" charset="0"/>
                <a:cs typeface="ADLaM Display" panose="02010000000000000000" pitchFamily="2" charset="0"/>
              </a:rPr>
              <a:t>are a circular visual that shows current value, target value, minimum &amp; maximum range.</a:t>
            </a:r>
          </a:p>
          <a:p>
            <a:pPr lvl="1"/>
            <a:r>
              <a:rPr lang="en-US" sz="2800" dirty="0">
                <a:ea typeface="ADLaM Display" panose="02010000000000000000" pitchFamily="2" charset="0"/>
                <a:cs typeface="ADLaM Display" panose="02010000000000000000" pitchFamily="2" charset="0"/>
              </a:rPr>
              <a:t> It displays performance against a goal.</a:t>
            </a:r>
          </a:p>
          <a:p>
            <a:pPr lvl="1"/>
            <a:r>
              <a:rPr lang="en-US" sz="2800" dirty="0">
                <a:ea typeface="ADLaM Display" panose="02010000000000000000" pitchFamily="2" charset="0"/>
                <a:cs typeface="ADLaM Display" panose="02010000000000000000" pitchFamily="2" charset="0"/>
              </a:rPr>
              <a:t> Designed like a speedometer (car dashboard).</a:t>
            </a:r>
          </a:p>
          <a:p>
            <a:pPr lvl="1"/>
            <a:r>
              <a:rPr lang="en-US" sz="2800" dirty="0">
                <a:ea typeface="ADLaM Display" panose="02010000000000000000" pitchFamily="2" charset="0"/>
                <a:cs typeface="ADLaM Display" panose="02010000000000000000" pitchFamily="2" charset="0"/>
              </a:rPr>
              <a:t> Show how close a value is to a target.</a:t>
            </a:r>
          </a:p>
          <a:p>
            <a:r>
              <a:rPr lang="en-US" sz="2800" dirty="0">
                <a:ea typeface="ADLaM Display" panose="02010000000000000000" pitchFamily="2" charset="0"/>
                <a:cs typeface="ADLaM Display" panose="02010000000000000000" pitchFamily="2" charset="0"/>
              </a:rPr>
              <a:t> </a:t>
            </a:r>
            <a:r>
              <a:rPr lang="en-US" sz="2800" b="1" dirty="0"/>
              <a:t>Use Cases:</a:t>
            </a:r>
          </a:p>
          <a:p>
            <a:pPr>
              <a:buBlip>
                <a:blip r:embed="rId2"/>
              </a:buBlip>
            </a:pPr>
            <a:r>
              <a:rPr lang="en-US" sz="2800" dirty="0"/>
              <a:t> Monitor progress toward goals.</a:t>
            </a:r>
          </a:p>
          <a:p>
            <a:pPr>
              <a:buBlip>
                <a:blip r:embed="rId2"/>
              </a:buBlip>
            </a:pPr>
            <a:r>
              <a:rPr lang="en-US" sz="2800" dirty="0">
                <a:ea typeface="ADLaM Display" panose="02010000000000000000" pitchFamily="2" charset="0"/>
                <a:cs typeface="ADLaM Display" panose="02010000000000000000" pitchFamily="2" charset="0"/>
              </a:rPr>
              <a:t> Display KPIs visually.</a:t>
            </a:r>
          </a:p>
          <a:p>
            <a:pPr>
              <a:buBlip>
                <a:blip r:embed="rId2"/>
              </a:buBlip>
            </a:pPr>
            <a:r>
              <a:rPr lang="en-US" sz="2800" dirty="0">
                <a:ea typeface="ADLaM Display" panose="02010000000000000000" pitchFamily="2" charset="0"/>
                <a:cs typeface="ADLaM Display" panose="02010000000000000000" pitchFamily="2" charset="0"/>
              </a:rPr>
              <a:t> Show performance status.</a:t>
            </a:r>
          </a:p>
          <a:p>
            <a:pPr>
              <a:buBlip>
                <a:blip r:embed="rId2"/>
              </a:buBlip>
            </a:pPr>
            <a:r>
              <a:rPr lang="en-US" sz="2800" dirty="0">
                <a:ea typeface="ADLaM Display" panose="02010000000000000000" pitchFamily="2" charset="0"/>
                <a:cs typeface="ADLaM Display" panose="02010000000000000000" pitchFamily="2" charset="0"/>
              </a:rPr>
              <a:t> Best for dashboards, executive summaries.</a:t>
            </a:r>
          </a:p>
          <a:p>
            <a:pPr lvl="1"/>
            <a:endParaRPr lang="en-US" sz="2800" dirty="0">
              <a:ea typeface="ADLaM Display" panose="02010000000000000000" pitchFamily="2" charset="0"/>
              <a:cs typeface="ADLaM Display" panose="02010000000000000000" pitchFamily="2" charset="0"/>
            </a:endParaRPr>
          </a:p>
          <a:p>
            <a:pPr lvl="1"/>
            <a:endParaRPr lang="en-US" sz="2800" dirty="0">
              <a:ea typeface="ADLaM Display" panose="02010000000000000000" pitchFamily="2" charset="0"/>
              <a:cs typeface="ADLaM Display" panose="02010000000000000000" pitchFamily="2" charset="0"/>
            </a:endParaRPr>
          </a:p>
          <a:p>
            <a:pPr lvl="1"/>
            <a:endParaRPr lang="en-US" sz="2800" dirty="0">
              <a:ea typeface="ADLaM Display" panose="02010000000000000000" pitchFamily="2" charset="0"/>
              <a:cs typeface="ADLaM Display" panose="02010000000000000000" pitchFamily="2" charset="0"/>
            </a:endParaRPr>
          </a:p>
          <a:p>
            <a:pPr lvl="1"/>
            <a:endParaRPr lang="en-US" sz="2800" dirty="0">
              <a:ea typeface="ADLaM Display" panose="02010000000000000000" pitchFamily="2" charset="0"/>
              <a:cs typeface="ADLaM Display" panose="02010000000000000000" pitchFamily="2" charset="0"/>
            </a:endParaRPr>
          </a:p>
        </p:txBody>
      </p:sp>
      <p:pic>
        <p:nvPicPr>
          <p:cNvPr id="4" name="Picture 3">
            <a:extLst>
              <a:ext uri="{FF2B5EF4-FFF2-40B4-BE49-F238E27FC236}">
                <a16:creationId xmlns:a16="http://schemas.microsoft.com/office/drawing/2014/main" id="{E6A495A9-4B8F-1FE8-1026-02B332E5FCD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41514" y="1969532"/>
            <a:ext cx="6025243" cy="4179874"/>
          </a:xfrm>
          <a:prstGeom prst="rect">
            <a:avLst/>
          </a:prstGeom>
        </p:spPr>
      </p:pic>
    </p:spTree>
    <p:extLst>
      <p:ext uri="{BB962C8B-B14F-4D97-AF65-F5344CB8AC3E}">
        <p14:creationId xmlns:p14="http://schemas.microsoft.com/office/powerpoint/2010/main" val="22689585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CE2EC-695B-06D1-6BD5-F62230B99732}"/>
              </a:ext>
            </a:extLst>
          </p:cNvPr>
          <p:cNvSpPr>
            <a:spLocks noGrp="1"/>
          </p:cNvSpPr>
          <p:nvPr>
            <p:ph type="title"/>
          </p:nvPr>
        </p:nvSpPr>
        <p:spPr/>
        <p:txBody>
          <a:bodyPr/>
          <a:lstStyle/>
          <a:p>
            <a:r>
              <a:rPr lang="en-US" dirty="0">
                <a:latin typeface="ADLaM Display" panose="02010000000000000000" pitchFamily="2" charset="0"/>
                <a:ea typeface="ADLaM Display" panose="02010000000000000000" pitchFamily="2" charset="0"/>
                <a:cs typeface="ADLaM Display" panose="02010000000000000000" pitchFamily="2" charset="0"/>
              </a:rPr>
              <a:t>Filters</a:t>
            </a:r>
          </a:p>
        </p:txBody>
      </p:sp>
      <p:sp>
        <p:nvSpPr>
          <p:cNvPr id="3" name="Text Placeholder 2">
            <a:extLst>
              <a:ext uri="{FF2B5EF4-FFF2-40B4-BE49-F238E27FC236}">
                <a16:creationId xmlns:a16="http://schemas.microsoft.com/office/drawing/2014/main" id="{69FA544F-47D3-371E-ACD7-98EB719BA1D9}"/>
              </a:ext>
            </a:extLst>
          </p:cNvPr>
          <p:cNvSpPr>
            <a:spLocks noGrp="1"/>
          </p:cNvSpPr>
          <p:nvPr>
            <p:ph type="body" sz="quarter" idx="14"/>
          </p:nvPr>
        </p:nvSpPr>
        <p:spPr>
          <a:xfrm>
            <a:off x="1012541" y="1533673"/>
            <a:ext cx="10762363" cy="4705350"/>
          </a:xfrm>
        </p:spPr>
        <p:txBody>
          <a:bodyPr>
            <a:normAutofit/>
          </a:bodyPr>
          <a:lstStyle/>
          <a:p>
            <a:r>
              <a:rPr lang="en-US" sz="2800" dirty="0">
                <a:ea typeface="ADLaM Display" panose="02010000000000000000" pitchFamily="2" charset="0"/>
                <a:cs typeface="ADLaM Display" panose="02010000000000000000" pitchFamily="2" charset="0"/>
              </a:rPr>
              <a:t> </a:t>
            </a:r>
            <a:r>
              <a:rPr lang="en-US" sz="2800" b="1"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Filters</a:t>
            </a:r>
            <a:r>
              <a:rPr lang="en-US" sz="2800" dirty="0">
                <a:ea typeface="ADLaM Display" panose="02010000000000000000" pitchFamily="2" charset="0"/>
                <a:cs typeface="ADLaM Display" panose="02010000000000000000" pitchFamily="2" charset="0"/>
              </a:rPr>
              <a:t> are used to limit the data displayed in a report.</a:t>
            </a:r>
          </a:p>
          <a:p>
            <a:r>
              <a:rPr lang="en-US" sz="2800" dirty="0">
                <a:ea typeface="ADLaM Display" panose="02010000000000000000" pitchFamily="2" charset="0"/>
                <a:cs typeface="ADLaM Display" panose="02010000000000000000" pitchFamily="2" charset="0"/>
              </a:rPr>
              <a:t> Helps focus on specific information.</a:t>
            </a:r>
          </a:p>
          <a:p>
            <a:r>
              <a:rPr lang="en-US" sz="2800" dirty="0">
                <a:ea typeface="ADLaM Display" panose="02010000000000000000" pitchFamily="2" charset="0"/>
                <a:cs typeface="ADLaM Display" panose="02010000000000000000" pitchFamily="2" charset="0"/>
              </a:rPr>
              <a:t> Works behind the scenes or visibly.</a:t>
            </a:r>
          </a:p>
          <a:p>
            <a:r>
              <a:rPr lang="en-US" sz="2800" dirty="0">
                <a:ea typeface="ADLaM Display" panose="02010000000000000000" pitchFamily="2" charset="0"/>
                <a:cs typeface="ADLaM Display" panose="02010000000000000000" pitchFamily="2" charset="0"/>
              </a:rPr>
              <a:t> Applies to visuals, pages, or entire reports.</a:t>
            </a:r>
          </a:p>
          <a:p>
            <a:r>
              <a:rPr lang="en-US" sz="2800" dirty="0">
                <a:ea typeface="ADLaM Display" panose="02010000000000000000" pitchFamily="2" charset="0"/>
                <a:cs typeface="ADLaM Display" panose="02010000000000000000" pitchFamily="2" charset="0"/>
              </a:rPr>
              <a:t> A filter in Power BI works behind the scenes. It is not part of the visual layer unless you make it visible via the filter pane.</a:t>
            </a:r>
          </a:p>
          <a:p>
            <a:r>
              <a:rPr lang="en-US" sz="2800" dirty="0">
                <a:ea typeface="ADLaM Display" panose="02010000000000000000" pitchFamily="2" charset="0"/>
                <a:cs typeface="ADLaM Display" panose="02010000000000000000" pitchFamily="2" charset="0"/>
              </a:rPr>
              <a:t> Filters help control what data is shown.</a:t>
            </a:r>
          </a:p>
          <a:p>
            <a:r>
              <a:rPr lang="en-US" sz="2800" dirty="0">
                <a:ea typeface="ADLaM Display" panose="02010000000000000000" pitchFamily="2" charset="0"/>
                <a:cs typeface="ADLaM Display" panose="02010000000000000000" pitchFamily="2" charset="0"/>
              </a:rPr>
              <a:t> Essential for data analysis and reporting.</a:t>
            </a:r>
          </a:p>
          <a:p>
            <a:r>
              <a:rPr lang="en-US" sz="2800" dirty="0">
                <a:ea typeface="ADLaM Display" panose="02010000000000000000" pitchFamily="2" charset="0"/>
                <a:cs typeface="ADLaM Display" panose="02010000000000000000" pitchFamily="2" charset="0"/>
              </a:rPr>
              <a:t> Best when combined with slicers.</a:t>
            </a:r>
          </a:p>
        </p:txBody>
      </p:sp>
    </p:spTree>
    <p:extLst>
      <p:ext uri="{BB962C8B-B14F-4D97-AF65-F5344CB8AC3E}">
        <p14:creationId xmlns:p14="http://schemas.microsoft.com/office/powerpoint/2010/main" val="4204032154"/>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7B588-F523-6457-F4E4-D28F8C30A4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9C5963-D338-B2F0-FFA2-650ED9A82065}"/>
              </a:ext>
            </a:extLst>
          </p:cNvPr>
          <p:cNvSpPr>
            <a:spLocks noGrp="1"/>
          </p:cNvSpPr>
          <p:nvPr>
            <p:ph type="title"/>
          </p:nvPr>
        </p:nvSpPr>
        <p:spPr/>
        <p:txBody>
          <a:bodyPr/>
          <a:lstStyle/>
          <a:p>
            <a:r>
              <a:rPr lang="en-US"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Types</a:t>
            </a:r>
            <a:r>
              <a:rPr lang="en-US" dirty="0">
                <a:latin typeface="ADLaM Display" panose="02010000000000000000" pitchFamily="2" charset="0"/>
                <a:ea typeface="ADLaM Display" panose="02010000000000000000" pitchFamily="2" charset="0"/>
                <a:cs typeface="ADLaM Display" panose="02010000000000000000" pitchFamily="2" charset="0"/>
              </a:rPr>
              <a:t> of Filters in Power BI</a:t>
            </a:r>
          </a:p>
        </p:txBody>
      </p:sp>
      <p:sp>
        <p:nvSpPr>
          <p:cNvPr id="3" name="Text Placeholder 2">
            <a:extLst>
              <a:ext uri="{FF2B5EF4-FFF2-40B4-BE49-F238E27FC236}">
                <a16:creationId xmlns:a16="http://schemas.microsoft.com/office/drawing/2014/main" id="{433F0589-620F-F4A9-D797-5E8BBA3BA3E6}"/>
              </a:ext>
            </a:extLst>
          </p:cNvPr>
          <p:cNvSpPr>
            <a:spLocks noGrp="1"/>
          </p:cNvSpPr>
          <p:nvPr>
            <p:ph type="body" sz="quarter" idx="14"/>
          </p:nvPr>
        </p:nvSpPr>
        <p:spPr>
          <a:xfrm>
            <a:off x="5181601" y="1662159"/>
            <a:ext cx="7427494" cy="4576864"/>
          </a:xfrm>
        </p:spPr>
        <p:txBody>
          <a:bodyPr>
            <a:normAutofit/>
          </a:bodyPr>
          <a:lstStyle/>
          <a:p>
            <a:pPr marL="571500" indent="-571500">
              <a:buFont typeface="+mj-lt"/>
              <a:buAutoNum type="romanUcPeriod"/>
            </a:pPr>
            <a:r>
              <a:rPr lang="en-US" sz="2800" dirty="0">
                <a:latin typeface="ADLaM Display" panose="02010000000000000000" pitchFamily="2" charset="0"/>
                <a:ea typeface="ADLaM Display" panose="02010000000000000000" pitchFamily="2" charset="0"/>
                <a:cs typeface="ADLaM Display" panose="02010000000000000000" pitchFamily="2" charset="0"/>
              </a:rPr>
              <a:t>Visual-Level Filters</a:t>
            </a:r>
          </a:p>
          <a:p>
            <a:pPr marL="571500" indent="-571500">
              <a:buFont typeface="+mj-lt"/>
              <a:buAutoNum type="romanUcPeriod"/>
            </a:pPr>
            <a:r>
              <a:rPr lang="en-US" sz="2800" dirty="0">
                <a:latin typeface="ADLaM Display" panose="02010000000000000000" pitchFamily="2" charset="0"/>
                <a:ea typeface="ADLaM Display" panose="02010000000000000000" pitchFamily="2" charset="0"/>
                <a:cs typeface="ADLaM Display" panose="02010000000000000000" pitchFamily="2" charset="0"/>
              </a:rPr>
              <a:t>Page-Level Filters</a:t>
            </a:r>
          </a:p>
          <a:p>
            <a:pPr marL="571500" indent="-571500">
              <a:buFont typeface="+mj-lt"/>
              <a:buAutoNum type="romanUcPeriod"/>
            </a:pPr>
            <a:r>
              <a:rPr lang="en-US" sz="2800" dirty="0">
                <a:latin typeface="ADLaM Display" panose="02010000000000000000" pitchFamily="2" charset="0"/>
                <a:ea typeface="ADLaM Display" panose="02010000000000000000" pitchFamily="2" charset="0"/>
                <a:cs typeface="ADLaM Display" panose="02010000000000000000" pitchFamily="2" charset="0"/>
              </a:rPr>
              <a:t>Report-Level Filters</a:t>
            </a:r>
          </a:p>
          <a:p>
            <a:pPr marL="571500" indent="-571500">
              <a:buFont typeface="+mj-lt"/>
              <a:buAutoNum type="romanUcPeriod"/>
            </a:pPr>
            <a:r>
              <a:rPr lang="en-US" sz="2800" dirty="0">
                <a:latin typeface="ADLaM Display" panose="02010000000000000000" pitchFamily="2" charset="0"/>
                <a:ea typeface="ADLaM Display" panose="02010000000000000000" pitchFamily="2" charset="0"/>
                <a:cs typeface="ADLaM Display" panose="02010000000000000000" pitchFamily="2" charset="0"/>
              </a:rPr>
              <a:t>Drillthrough Filter</a:t>
            </a:r>
          </a:p>
        </p:txBody>
      </p:sp>
      <p:pic>
        <p:nvPicPr>
          <p:cNvPr id="10" name="Picture 9">
            <a:extLst>
              <a:ext uri="{FF2B5EF4-FFF2-40B4-BE49-F238E27FC236}">
                <a16:creationId xmlns:a16="http://schemas.microsoft.com/office/drawing/2014/main" id="{6A17F995-307D-6902-8F8B-1AA917FD1BC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072196" y="1329940"/>
            <a:ext cx="1887213" cy="5393357"/>
          </a:xfrm>
          <a:prstGeom prst="rect">
            <a:avLst/>
          </a:prstGeom>
        </p:spPr>
      </p:pic>
      <p:cxnSp>
        <p:nvCxnSpPr>
          <p:cNvPr id="12" name="Connector: Curved 11">
            <a:extLst>
              <a:ext uri="{FF2B5EF4-FFF2-40B4-BE49-F238E27FC236}">
                <a16:creationId xmlns:a16="http://schemas.microsoft.com/office/drawing/2014/main" id="{54545963-F097-AE9D-3069-D1CFC9B56BD4}"/>
              </a:ext>
            </a:extLst>
          </p:cNvPr>
          <p:cNvCxnSpPr/>
          <p:nvPr/>
        </p:nvCxnSpPr>
        <p:spPr>
          <a:xfrm>
            <a:off x="3959409" y="4570198"/>
            <a:ext cx="834189" cy="657727"/>
          </a:xfrm>
          <a:prstGeom prst="curvedConnector3">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Title 1">
            <a:extLst>
              <a:ext uri="{FF2B5EF4-FFF2-40B4-BE49-F238E27FC236}">
                <a16:creationId xmlns:a16="http://schemas.microsoft.com/office/drawing/2014/main" id="{E26B72D8-876F-62DB-5E5F-760EE644C6AD}"/>
              </a:ext>
            </a:extLst>
          </p:cNvPr>
          <p:cNvSpPr txBox="1">
            <a:spLocks/>
          </p:cNvSpPr>
          <p:nvPr/>
        </p:nvSpPr>
        <p:spPr>
          <a:xfrm>
            <a:off x="4874684" y="4899061"/>
            <a:ext cx="4161036" cy="712765"/>
          </a:xfrm>
          <a:prstGeom prst="rect">
            <a:avLst/>
          </a:prstGeom>
        </p:spPr>
        <p:txBody>
          <a:bodyPr/>
          <a:lstStyle>
            <a:lvl1pPr algn="l" defTabSz="685800" rtl="0" eaLnBrk="1" latinLnBrk="0" hangingPunct="1">
              <a:lnSpc>
                <a:spcPct val="90000"/>
              </a:lnSpc>
              <a:spcBef>
                <a:spcPct val="0"/>
              </a:spcBef>
              <a:buNone/>
              <a:defRPr lang="en-US" sz="3600" b="1" kern="1200" spc="-38" baseline="0" dirty="0">
                <a:solidFill>
                  <a:srgbClr val="002060"/>
                </a:solidFill>
                <a:latin typeface="+mn-lt"/>
                <a:ea typeface="+mj-ea"/>
                <a:cs typeface="+mj-cs"/>
              </a:defRPr>
            </a:lvl1pPr>
          </a:lstStyle>
          <a:p>
            <a:pPr marL="0" marR="0" lvl="0" indent="0" algn="l" defTabSz="685800" rtl="0" eaLnBrk="1" fontAlgn="auto" latinLnBrk="0" hangingPunct="1">
              <a:lnSpc>
                <a:spcPct val="90000"/>
              </a:lnSpc>
              <a:spcBef>
                <a:spcPct val="0"/>
              </a:spcBef>
              <a:spcAft>
                <a:spcPts val="0"/>
              </a:spcAft>
              <a:buClrTx/>
              <a:buSzTx/>
              <a:buFontTx/>
              <a:buNone/>
              <a:tabLst/>
              <a:defRPr/>
            </a:pPr>
            <a:r>
              <a:rPr kumimoji="0" lang="en-US" sz="3600" b="1" i="0" u="none" strike="noStrike" kern="1200" cap="none" spc="-38" normalizeH="0" baseline="0" noProof="0" dirty="0">
                <a:ln>
                  <a:noFill/>
                </a:ln>
                <a:solidFill>
                  <a:srgbClr val="FF0000"/>
                </a:solidFill>
                <a:effectLst/>
                <a:uLnTx/>
                <a:uFillTx/>
                <a:latin typeface="ADLaM Display" panose="02010000000000000000" pitchFamily="2" charset="0"/>
                <a:ea typeface="ADLaM Display" panose="02010000000000000000" pitchFamily="2" charset="0"/>
                <a:cs typeface="ADLaM Display" panose="02010000000000000000" pitchFamily="2" charset="0"/>
              </a:rPr>
              <a:t>Filter Types</a:t>
            </a:r>
          </a:p>
        </p:txBody>
      </p:sp>
    </p:spTree>
    <p:extLst>
      <p:ext uri="{BB962C8B-B14F-4D97-AF65-F5344CB8AC3E}">
        <p14:creationId xmlns:p14="http://schemas.microsoft.com/office/powerpoint/2010/main" val="155450404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C4723-C9C7-AE2F-88A7-65337A303A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8BE7DA-D58A-206C-A0F9-F5286C8A1B18}"/>
              </a:ext>
            </a:extLst>
          </p:cNvPr>
          <p:cNvSpPr>
            <a:spLocks noGrp="1"/>
          </p:cNvSpPr>
          <p:nvPr>
            <p:ph type="title"/>
          </p:nvPr>
        </p:nvSpPr>
        <p:spPr/>
        <p:txBody>
          <a:bodyPr/>
          <a:lstStyle/>
          <a:p>
            <a:r>
              <a:rPr lang="en-US"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a:t>
            </a:r>
            <a:endParaRPr lang="en-US" dirty="0">
              <a:latin typeface="ADLaM Display" panose="02010000000000000000" pitchFamily="2" charset="0"/>
              <a:ea typeface="ADLaM Display" panose="02010000000000000000" pitchFamily="2" charset="0"/>
              <a:cs typeface="ADLaM Display" panose="02010000000000000000" pitchFamily="2" charset="0"/>
            </a:endParaRPr>
          </a:p>
        </p:txBody>
      </p:sp>
      <p:graphicFrame>
        <p:nvGraphicFramePr>
          <p:cNvPr id="6" name="Table 5">
            <a:extLst>
              <a:ext uri="{FF2B5EF4-FFF2-40B4-BE49-F238E27FC236}">
                <a16:creationId xmlns:a16="http://schemas.microsoft.com/office/drawing/2014/main" id="{D551C03C-0971-FEFC-448E-D86DC31A3127}"/>
              </a:ext>
            </a:extLst>
          </p:cNvPr>
          <p:cNvGraphicFramePr>
            <a:graphicFrameLocks noGrp="1"/>
          </p:cNvGraphicFramePr>
          <p:nvPr/>
        </p:nvGraphicFramePr>
        <p:xfrm>
          <a:off x="899302" y="1548310"/>
          <a:ext cx="10393396" cy="4876800"/>
        </p:xfrm>
        <a:graphic>
          <a:graphicData uri="http://schemas.openxmlformats.org/drawingml/2006/table">
            <a:tbl>
              <a:tblPr firstRow="1" bandRow="1">
                <a:tableStyleId>{5C22544A-7EE6-4342-B048-85BDC9FD1C3A}</a:tableStyleId>
              </a:tblPr>
              <a:tblGrid>
                <a:gridCol w="2598349">
                  <a:extLst>
                    <a:ext uri="{9D8B030D-6E8A-4147-A177-3AD203B41FA5}">
                      <a16:colId xmlns:a16="http://schemas.microsoft.com/office/drawing/2014/main" val="2384811825"/>
                    </a:ext>
                  </a:extLst>
                </a:gridCol>
                <a:gridCol w="2598349">
                  <a:extLst>
                    <a:ext uri="{9D8B030D-6E8A-4147-A177-3AD203B41FA5}">
                      <a16:colId xmlns:a16="http://schemas.microsoft.com/office/drawing/2014/main" val="116356935"/>
                    </a:ext>
                  </a:extLst>
                </a:gridCol>
                <a:gridCol w="2598349">
                  <a:extLst>
                    <a:ext uri="{9D8B030D-6E8A-4147-A177-3AD203B41FA5}">
                      <a16:colId xmlns:a16="http://schemas.microsoft.com/office/drawing/2014/main" val="308172036"/>
                    </a:ext>
                  </a:extLst>
                </a:gridCol>
                <a:gridCol w="2598349">
                  <a:extLst>
                    <a:ext uri="{9D8B030D-6E8A-4147-A177-3AD203B41FA5}">
                      <a16:colId xmlns:a16="http://schemas.microsoft.com/office/drawing/2014/main" val="2496246121"/>
                    </a:ext>
                  </a:extLst>
                </a:gridCol>
              </a:tblGrid>
              <a:tr h="844843">
                <a:tc>
                  <a:txBody>
                    <a:bodyPr/>
                    <a:lstStyle/>
                    <a:p>
                      <a:pPr algn="ctr"/>
                      <a:r>
                        <a:rPr lang="en-US" sz="2800" dirty="0">
                          <a:latin typeface="ADLaM Display" panose="02010000000000000000" pitchFamily="2" charset="0"/>
                          <a:ea typeface="ADLaM Display" panose="02010000000000000000" pitchFamily="2" charset="0"/>
                          <a:cs typeface="ADLaM Display" panose="02010000000000000000" pitchFamily="2" charset="0"/>
                        </a:rPr>
                        <a:t>Visual-Level</a:t>
                      </a:r>
                    </a:p>
                    <a:p>
                      <a:pPr algn="ctr"/>
                      <a:r>
                        <a:rPr lang="en-US" sz="2800" dirty="0">
                          <a:latin typeface="ADLaM Display" panose="02010000000000000000" pitchFamily="2" charset="0"/>
                          <a:ea typeface="ADLaM Display" panose="02010000000000000000" pitchFamily="2" charset="0"/>
                          <a:cs typeface="ADLaM Display" panose="02010000000000000000" pitchFamily="2" charset="0"/>
                        </a:rPr>
                        <a:t> Filters</a:t>
                      </a:r>
                    </a:p>
                  </a:txBody>
                  <a:tcPr>
                    <a:solidFill>
                      <a:srgbClr val="FFC000"/>
                    </a:solidFill>
                  </a:tcPr>
                </a:tc>
                <a:tc>
                  <a:txBody>
                    <a:bodyPr/>
                    <a:lstStyle/>
                    <a:p>
                      <a:pPr algn="ctr"/>
                      <a:r>
                        <a:rPr lang="en-US" sz="2800" dirty="0">
                          <a:latin typeface="ADLaM Display" panose="02010000000000000000" pitchFamily="2" charset="0"/>
                          <a:ea typeface="ADLaM Display" panose="02010000000000000000" pitchFamily="2" charset="0"/>
                          <a:cs typeface="ADLaM Display" panose="02010000000000000000" pitchFamily="2" charset="0"/>
                        </a:rPr>
                        <a:t>Page-Level </a:t>
                      </a:r>
                    </a:p>
                    <a:p>
                      <a:pPr algn="ctr"/>
                      <a:r>
                        <a:rPr lang="en-US" sz="2800" dirty="0">
                          <a:latin typeface="ADLaM Display" panose="02010000000000000000" pitchFamily="2" charset="0"/>
                          <a:ea typeface="ADLaM Display" panose="02010000000000000000" pitchFamily="2" charset="0"/>
                          <a:cs typeface="ADLaM Display" panose="02010000000000000000" pitchFamily="2" charset="0"/>
                        </a:rPr>
                        <a:t>Filters</a:t>
                      </a:r>
                    </a:p>
                  </a:txBody>
                  <a:tcPr>
                    <a:solidFill>
                      <a:srgbClr val="FFC000"/>
                    </a:solidFill>
                  </a:tcPr>
                </a:tc>
                <a:tc>
                  <a:txBody>
                    <a:bodyPr/>
                    <a:lstStyle/>
                    <a:p>
                      <a:pPr algn="ctr"/>
                      <a:r>
                        <a:rPr lang="en-US" sz="2800" dirty="0">
                          <a:latin typeface="ADLaM Display" panose="02010000000000000000" pitchFamily="2" charset="0"/>
                          <a:ea typeface="ADLaM Display" panose="02010000000000000000" pitchFamily="2" charset="0"/>
                          <a:cs typeface="ADLaM Display" panose="02010000000000000000" pitchFamily="2" charset="0"/>
                        </a:rPr>
                        <a:t>Report-Level </a:t>
                      </a:r>
                    </a:p>
                    <a:p>
                      <a:pPr algn="ctr"/>
                      <a:r>
                        <a:rPr lang="en-US" sz="2800" dirty="0">
                          <a:latin typeface="ADLaM Display" panose="02010000000000000000" pitchFamily="2" charset="0"/>
                          <a:ea typeface="ADLaM Display" panose="02010000000000000000" pitchFamily="2" charset="0"/>
                          <a:cs typeface="ADLaM Display" panose="02010000000000000000" pitchFamily="2" charset="0"/>
                        </a:rPr>
                        <a:t>Filters</a:t>
                      </a:r>
                    </a:p>
                  </a:txBody>
                  <a:tcPr>
                    <a:solidFill>
                      <a:srgbClr val="FFC000"/>
                    </a:solidFill>
                  </a:tcPr>
                </a:tc>
                <a:tc>
                  <a:txBody>
                    <a:bodyPr/>
                    <a:lstStyle/>
                    <a:p>
                      <a:pPr algn="ctr"/>
                      <a:r>
                        <a:rPr lang="en-US" sz="2800" dirty="0">
                          <a:latin typeface="ADLaM Display" panose="02010000000000000000" pitchFamily="2" charset="0"/>
                          <a:ea typeface="ADLaM Display" panose="02010000000000000000" pitchFamily="2" charset="0"/>
                          <a:cs typeface="ADLaM Display" panose="02010000000000000000" pitchFamily="2" charset="0"/>
                        </a:rPr>
                        <a:t>Drillthrough</a:t>
                      </a:r>
                    </a:p>
                    <a:p>
                      <a:pPr algn="ctr"/>
                      <a:r>
                        <a:rPr lang="en-US" sz="2800" dirty="0">
                          <a:latin typeface="ADLaM Display" panose="02010000000000000000" pitchFamily="2" charset="0"/>
                          <a:ea typeface="ADLaM Display" panose="02010000000000000000" pitchFamily="2" charset="0"/>
                          <a:cs typeface="ADLaM Display" panose="02010000000000000000" pitchFamily="2" charset="0"/>
                        </a:rPr>
                        <a:t>Filters</a:t>
                      </a:r>
                    </a:p>
                  </a:txBody>
                  <a:tcPr>
                    <a:solidFill>
                      <a:srgbClr val="FFC000"/>
                    </a:solidFill>
                  </a:tcPr>
                </a:tc>
                <a:extLst>
                  <a:ext uri="{0D108BD9-81ED-4DB2-BD59-A6C34878D82A}">
                    <a16:rowId xmlns:a16="http://schemas.microsoft.com/office/drawing/2014/main" val="362808023"/>
                  </a:ext>
                </a:extLst>
              </a:tr>
              <a:tr h="844843">
                <a:tc>
                  <a:txBody>
                    <a:bodyPr/>
                    <a:lstStyle/>
                    <a:p>
                      <a:r>
                        <a:rPr lang="en-US" sz="2400" dirty="0">
                          <a:latin typeface="ADLaM Display" panose="02010000000000000000" pitchFamily="2" charset="0"/>
                          <a:ea typeface="ADLaM Display" panose="02010000000000000000" pitchFamily="2" charset="0"/>
                          <a:cs typeface="ADLaM Display" panose="02010000000000000000" pitchFamily="2" charset="0"/>
                        </a:rPr>
                        <a:t>Applied to one specific visual</a:t>
                      </a:r>
                    </a:p>
                  </a:txBody>
                  <a:tcPr>
                    <a:solidFill>
                      <a:schemeClr val="bg1"/>
                    </a:solidFill>
                  </a:tcPr>
                </a:tc>
                <a:tc>
                  <a:txBody>
                    <a:bodyPr/>
                    <a:lstStyle/>
                    <a:p>
                      <a:r>
                        <a:rPr lang="en-US" sz="2400" dirty="0">
                          <a:latin typeface="ADLaM Display" panose="02010000000000000000" pitchFamily="2" charset="0"/>
                          <a:ea typeface="ADLaM Display" panose="02010000000000000000" pitchFamily="2" charset="0"/>
                          <a:cs typeface="ADLaM Display" panose="02010000000000000000" pitchFamily="2" charset="0"/>
                        </a:rPr>
                        <a:t>Applied to all visuals on a page</a:t>
                      </a:r>
                    </a:p>
                  </a:txBody>
                  <a:tcPr>
                    <a:solidFill>
                      <a:schemeClr val="bg1"/>
                    </a:solidFill>
                  </a:tcPr>
                </a:tc>
                <a:tc>
                  <a:txBody>
                    <a:bodyPr/>
                    <a:lstStyle/>
                    <a:p>
                      <a:r>
                        <a:rPr lang="en-US" sz="2400" dirty="0">
                          <a:latin typeface="ADLaM Display" panose="02010000000000000000" pitchFamily="2" charset="0"/>
                          <a:ea typeface="ADLaM Display" panose="02010000000000000000" pitchFamily="2" charset="0"/>
                          <a:cs typeface="ADLaM Display" panose="02010000000000000000" pitchFamily="2" charset="0"/>
                        </a:rPr>
                        <a:t>Applied to entire report</a:t>
                      </a:r>
                    </a:p>
                  </a:txBody>
                  <a:tcPr>
                    <a:solidFill>
                      <a:schemeClr val="bg1"/>
                    </a:solidFill>
                  </a:tcPr>
                </a:tc>
                <a:tc>
                  <a:txBody>
                    <a:bodyPr/>
                    <a:lstStyle/>
                    <a:p>
                      <a:r>
                        <a:rPr lang="en-US" sz="2400" dirty="0">
                          <a:latin typeface="ADLaM Display" panose="02010000000000000000" pitchFamily="2" charset="0"/>
                          <a:ea typeface="ADLaM Display" panose="02010000000000000000" pitchFamily="2" charset="0"/>
                          <a:cs typeface="ADLaM Display" panose="02010000000000000000" pitchFamily="2" charset="0"/>
                        </a:rPr>
                        <a:t>Used for detailed analysis</a:t>
                      </a:r>
                    </a:p>
                  </a:txBody>
                  <a:tcPr>
                    <a:solidFill>
                      <a:schemeClr val="bg1"/>
                    </a:solidFill>
                  </a:tcPr>
                </a:tc>
                <a:extLst>
                  <a:ext uri="{0D108BD9-81ED-4DB2-BD59-A6C34878D82A}">
                    <a16:rowId xmlns:a16="http://schemas.microsoft.com/office/drawing/2014/main" val="1971840143"/>
                  </a:ext>
                </a:extLst>
              </a:tr>
              <a:tr h="844843">
                <a:tc>
                  <a:txBody>
                    <a:bodyPr/>
                    <a:lstStyle/>
                    <a:p>
                      <a:r>
                        <a:rPr lang="en-US" sz="2400" dirty="0">
                          <a:latin typeface="ADLaM Display" panose="02010000000000000000" pitchFamily="2" charset="0"/>
                          <a:ea typeface="ADLaM Display" panose="02010000000000000000" pitchFamily="2" charset="0"/>
                          <a:cs typeface="ADLaM Display" panose="02010000000000000000" pitchFamily="2" charset="0"/>
                        </a:rPr>
                        <a:t>Does not affect other visuals</a:t>
                      </a:r>
                    </a:p>
                  </a:txBody>
                  <a:tcPr>
                    <a:solidFill>
                      <a:schemeClr val="bg1"/>
                    </a:solidFill>
                  </a:tcPr>
                </a:tc>
                <a:tc>
                  <a:txBody>
                    <a:bodyPr/>
                    <a:lstStyle/>
                    <a:p>
                      <a:r>
                        <a:rPr lang="en-US" sz="2400" dirty="0">
                          <a:latin typeface="ADLaM Display" panose="02010000000000000000" pitchFamily="2" charset="0"/>
                          <a:ea typeface="ADLaM Display" panose="02010000000000000000" pitchFamily="2" charset="0"/>
                          <a:cs typeface="ADLaM Display" panose="02010000000000000000" pitchFamily="2" charset="0"/>
                        </a:rPr>
                        <a:t>Useful for page-specific analysis</a:t>
                      </a:r>
                    </a:p>
                  </a:txBody>
                  <a:tcPr>
                    <a:solidFill>
                      <a:schemeClr val="bg1"/>
                    </a:solidFill>
                  </a:tcPr>
                </a:tc>
                <a:tc>
                  <a:txBody>
                    <a:bodyPr/>
                    <a:lstStyle/>
                    <a:p>
                      <a:r>
                        <a:rPr lang="en-US" sz="2400" dirty="0">
                          <a:latin typeface="ADLaM Display" panose="02010000000000000000" pitchFamily="2" charset="0"/>
                          <a:ea typeface="ADLaM Display" panose="02010000000000000000" pitchFamily="2" charset="0"/>
                          <a:cs typeface="ADLaM Display" panose="02010000000000000000" pitchFamily="2" charset="0"/>
                        </a:rPr>
                        <a:t>Affects all pages and visuals</a:t>
                      </a:r>
                    </a:p>
                  </a:txBody>
                  <a:tcPr>
                    <a:solidFill>
                      <a:schemeClr val="bg1"/>
                    </a:solidFill>
                  </a:tcPr>
                </a:tc>
                <a:tc>
                  <a:txBody>
                    <a:bodyPr/>
                    <a:lstStyle/>
                    <a:p>
                      <a:r>
                        <a:rPr lang="en-US" sz="2400" dirty="0">
                          <a:latin typeface="ADLaM Display" panose="02010000000000000000" pitchFamily="2" charset="0"/>
                          <a:ea typeface="ADLaM Display" panose="02010000000000000000" pitchFamily="2" charset="0"/>
                          <a:cs typeface="ADLaM Display" panose="02010000000000000000" pitchFamily="2" charset="0"/>
                        </a:rPr>
                        <a:t>Navigate from summary to detailed pages</a:t>
                      </a:r>
                    </a:p>
                  </a:txBody>
                  <a:tcPr>
                    <a:solidFill>
                      <a:schemeClr val="bg1"/>
                    </a:solidFill>
                  </a:tcPr>
                </a:tc>
                <a:extLst>
                  <a:ext uri="{0D108BD9-81ED-4DB2-BD59-A6C34878D82A}">
                    <a16:rowId xmlns:a16="http://schemas.microsoft.com/office/drawing/2014/main" val="3131354608"/>
                  </a:ext>
                </a:extLst>
              </a:tr>
              <a:tr h="844843">
                <a:tc>
                  <a:txBody>
                    <a:bodyPr/>
                    <a:lstStyle/>
                    <a:p>
                      <a:r>
                        <a:rPr lang="en-US" sz="2400" b="1" u="sng"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Example</a:t>
                      </a:r>
                      <a:r>
                        <a:rPr lang="en-US" sz="2400" dirty="0">
                          <a:latin typeface="ADLaM Display" panose="02010000000000000000" pitchFamily="2" charset="0"/>
                          <a:ea typeface="ADLaM Display" panose="02010000000000000000" pitchFamily="2" charset="0"/>
                          <a:cs typeface="ADLaM Display" panose="02010000000000000000" pitchFamily="2" charset="0"/>
                        </a:rPr>
                        <a:t>: Show only Top 5 products in a chart</a:t>
                      </a:r>
                    </a:p>
                  </a:txBody>
                  <a:tcPr>
                    <a:solidFill>
                      <a:schemeClr val="bg1"/>
                    </a:solidFill>
                  </a:tcPr>
                </a:tc>
                <a:tc>
                  <a:txBody>
                    <a:bodyPr/>
                    <a:lstStyle/>
                    <a:p>
                      <a:r>
                        <a:rPr lang="en-US" sz="2400" b="1" u="sng"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Example</a:t>
                      </a:r>
                      <a:r>
                        <a:rPr lang="en-US" sz="2400" dirty="0">
                          <a:latin typeface="ADLaM Display" panose="02010000000000000000" pitchFamily="2" charset="0"/>
                          <a:ea typeface="ADLaM Display" panose="02010000000000000000" pitchFamily="2" charset="0"/>
                          <a:cs typeface="ADLaM Display" panose="02010000000000000000" pitchFamily="2" charset="0"/>
                        </a:rPr>
                        <a:t>: Filter a page by Region = Africa</a:t>
                      </a:r>
                    </a:p>
                  </a:txBody>
                  <a:tcPr>
                    <a:solidFill>
                      <a:schemeClr val="bg1"/>
                    </a:solidFill>
                  </a:tcPr>
                </a:tc>
                <a:tc>
                  <a:txBody>
                    <a:bodyPr/>
                    <a:lstStyle/>
                    <a:p>
                      <a:r>
                        <a:rPr lang="en-US" sz="2400" b="1" u="sng"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Example</a:t>
                      </a:r>
                      <a:r>
                        <a:rPr lang="en-US" sz="2400" dirty="0">
                          <a:latin typeface="ADLaM Display" panose="02010000000000000000" pitchFamily="2" charset="0"/>
                          <a:ea typeface="ADLaM Display" panose="02010000000000000000" pitchFamily="2" charset="0"/>
                          <a:cs typeface="ADLaM Display" panose="02010000000000000000" pitchFamily="2" charset="0"/>
                        </a:rPr>
                        <a:t>: Show only Year = 2025</a:t>
                      </a:r>
                    </a:p>
                  </a:txBody>
                  <a:tcPr>
                    <a:solidFill>
                      <a:schemeClr val="bg1"/>
                    </a:solidFill>
                  </a:tcPr>
                </a:tc>
                <a:tc>
                  <a:txBody>
                    <a:bodyPr/>
                    <a:lstStyle/>
                    <a:p>
                      <a:r>
                        <a:rPr lang="en-US" sz="2400" b="1" u="sng"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Example</a:t>
                      </a:r>
                      <a:r>
                        <a:rPr lang="en-US" sz="2400" dirty="0">
                          <a:latin typeface="ADLaM Display" panose="02010000000000000000" pitchFamily="2" charset="0"/>
                          <a:ea typeface="ADLaM Display" panose="02010000000000000000" pitchFamily="2" charset="0"/>
                          <a:cs typeface="ADLaM Display" panose="02010000000000000000" pitchFamily="2" charset="0"/>
                        </a:rPr>
                        <a:t>: Click a customer </a:t>
                      </a:r>
                      <a:r>
                        <a:rPr lang="en-US" sz="2400" b="0" dirty="0">
                          <a:latin typeface="ADLaM Display" panose="02010000000000000000" pitchFamily="2" charset="0"/>
                          <a:ea typeface="ADLaM Display" panose="02010000000000000000" pitchFamily="2" charset="0"/>
                          <a:cs typeface="ADLaM Display" panose="02010000000000000000" pitchFamily="2" charset="0"/>
                        </a:rPr>
                        <a:t>→  view detailed transactions</a:t>
                      </a:r>
                    </a:p>
                  </a:txBody>
                  <a:tcPr>
                    <a:solidFill>
                      <a:schemeClr val="bg1"/>
                    </a:solidFill>
                  </a:tcPr>
                </a:tc>
                <a:extLst>
                  <a:ext uri="{0D108BD9-81ED-4DB2-BD59-A6C34878D82A}">
                    <a16:rowId xmlns:a16="http://schemas.microsoft.com/office/drawing/2014/main" val="1974785591"/>
                  </a:ext>
                </a:extLst>
              </a:tr>
            </a:tbl>
          </a:graphicData>
        </a:graphic>
      </p:graphicFrame>
    </p:spTree>
    <p:extLst>
      <p:ext uri="{BB962C8B-B14F-4D97-AF65-F5344CB8AC3E}">
        <p14:creationId xmlns:p14="http://schemas.microsoft.com/office/powerpoint/2010/main" val="353721537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2FFB2-4C14-E42A-5D60-C964E55237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7A6AF8-F6FC-E95D-8B13-717DC66DA88B}"/>
              </a:ext>
            </a:extLst>
          </p:cNvPr>
          <p:cNvSpPr>
            <a:spLocks noGrp="1"/>
          </p:cNvSpPr>
          <p:nvPr>
            <p:ph type="title"/>
          </p:nvPr>
        </p:nvSpPr>
        <p:spPr/>
        <p:txBody>
          <a:bodyPr/>
          <a:lstStyle/>
          <a:p>
            <a:r>
              <a:rPr lang="en-US"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Filter Types (</a:t>
            </a:r>
            <a:r>
              <a:rPr lang="en-US"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Advanced</a:t>
            </a:r>
            <a:r>
              <a:rPr lang="en-US"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a:t>
            </a:r>
          </a:p>
        </p:txBody>
      </p:sp>
      <p:sp>
        <p:nvSpPr>
          <p:cNvPr id="3" name="Text Placeholder 2">
            <a:extLst>
              <a:ext uri="{FF2B5EF4-FFF2-40B4-BE49-F238E27FC236}">
                <a16:creationId xmlns:a16="http://schemas.microsoft.com/office/drawing/2014/main" id="{DB6EA767-EE39-75FF-BB79-F09566D8AC2A}"/>
              </a:ext>
            </a:extLst>
          </p:cNvPr>
          <p:cNvSpPr>
            <a:spLocks noGrp="1"/>
          </p:cNvSpPr>
          <p:nvPr>
            <p:ph type="body" sz="quarter" idx="14"/>
          </p:nvPr>
        </p:nvSpPr>
        <p:spPr>
          <a:xfrm>
            <a:off x="7395411" y="1533673"/>
            <a:ext cx="4796589" cy="4705350"/>
          </a:xfrm>
        </p:spPr>
        <p:txBody>
          <a:bodyPr>
            <a:normAutofit/>
          </a:bodyPr>
          <a:lstStyle/>
          <a:p>
            <a:pPr marL="571500" indent="-571500">
              <a:buFont typeface="+mj-lt"/>
              <a:buAutoNum type="arabicPeriod"/>
            </a:pPr>
            <a:r>
              <a:rPr lang="en-US" sz="2800" dirty="0">
                <a:latin typeface="ADLaM Display" panose="02010000000000000000" pitchFamily="2" charset="0"/>
                <a:ea typeface="ADLaM Display" panose="02010000000000000000" pitchFamily="2" charset="0"/>
                <a:cs typeface="ADLaM Display" panose="02010000000000000000" pitchFamily="2" charset="0"/>
              </a:rPr>
              <a:t>Basic Filtering (Checkbox selection)</a:t>
            </a:r>
          </a:p>
          <a:p>
            <a:pPr marL="571500" indent="-571500">
              <a:buFont typeface="+mj-lt"/>
              <a:buAutoNum type="arabicPeriod"/>
            </a:pPr>
            <a:r>
              <a:rPr lang="en-US" sz="2800" dirty="0">
                <a:latin typeface="ADLaM Display" panose="02010000000000000000" pitchFamily="2" charset="0"/>
                <a:ea typeface="ADLaM Display" panose="02010000000000000000" pitchFamily="2" charset="0"/>
                <a:cs typeface="ADLaM Display" panose="02010000000000000000" pitchFamily="2" charset="0"/>
              </a:rPr>
              <a:t>Advanced Filtering (Conditions like &gt;, &lt;, contains)</a:t>
            </a:r>
          </a:p>
          <a:p>
            <a:pPr marL="571500" indent="-571500">
              <a:buFont typeface="+mj-lt"/>
              <a:buAutoNum type="arabicPeriod"/>
            </a:pPr>
            <a:r>
              <a:rPr lang="en-US" sz="2800" dirty="0">
                <a:latin typeface="ADLaM Display" panose="02010000000000000000" pitchFamily="2" charset="0"/>
                <a:ea typeface="ADLaM Display" panose="02010000000000000000" pitchFamily="2" charset="0"/>
                <a:cs typeface="ADLaM Display" panose="02010000000000000000" pitchFamily="2" charset="0"/>
              </a:rPr>
              <a:t>Top N Filtering</a:t>
            </a:r>
          </a:p>
          <a:p>
            <a:pPr marL="571500" indent="-571500">
              <a:buFont typeface="+mj-lt"/>
              <a:buAutoNum type="arabicPeriod"/>
            </a:pPr>
            <a:r>
              <a:rPr lang="en-US" sz="2800" dirty="0">
                <a:latin typeface="ADLaM Display" panose="02010000000000000000" pitchFamily="2" charset="0"/>
                <a:ea typeface="ADLaM Display" panose="02010000000000000000" pitchFamily="2" charset="0"/>
                <a:cs typeface="ADLaM Display" panose="02010000000000000000" pitchFamily="2" charset="0"/>
              </a:rPr>
              <a:t>Relative Data Filtering</a:t>
            </a:r>
          </a:p>
        </p:txBody>
      </p:sp>
      <p:pic>
        <p:nvPicPr>
          <p:cNvPr id="4" name="Picture 3">
            <a:extLst>
              <a:ext uri="{FF2B5EF4-FFF2-40B4-BE49-F238E27FC236}">
                <a16:creationId xmlns:a16="http://schemas.microsoft.com/office/drawing/2014/main" id="{29106691-F7B5-FA26-7449-5519C606DF8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3029" y="1533673"/>
            <a:ext cx="7372382" cy="5091716"/>
          </a:xfrm>
          <a:prstGeom prst="rect">
            <a:avLst/>
          </a:prstGeom>
        </p:spPr>
      </p:pic>
    </p:spTree>
    <p:extLst>
      <p:ext uri="{BB962C8B-B14F-4D97-AF65-F5344CB8AC3E}">
        <p14:creationId xmlns:p14="http://schemas.microsoft.com/office/powerpoint/2010/main" val="161202313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5D102-E6BA-D2AA-72CA-AB8552829E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25A69F-BB7C-EAF0-74B8-558A772A08DB}"/>
              </a:ext>
            </a:extLst>
          </p:cNvPr>
          <p:cNvSpPr>
            <a:spLocks noGrp="1"/>
          </p:cNvSpPr>
          <p:nvPr>
            <p:ph type="title"/>
          </p:nvPr>
        </p:nvSpPr>
        <p:spPr/>
        <p:txBody>
          <a:bodyPr/>
          <a:lstStyle/>
          <a:p>
            <a:r>
              <a:rPr lang="en-US" dirty="0">
                <a:latin typeface="ADLaM Display" panose="02010000000000000000" pitchFamily="2" charset="0"/>
                <a:ea typeface="ADLaM Display" panose="02010000000000000000" pitchFamily="2" charset="0"/>
                <a:cs typeface="ADLaM Display" panose="02010000000000000000" pitchFamily="2" charset="0"/>
              </a:rPr>
              <a:t>Slicers</a:t>
            </a:r>
          </a:p>
        </p:txBody>
      </p:sp>
      <p:sp>
        <p:nvSpPr>
          <p:cNvPr id="3" name="Text Placeholder 2">
            <a:extLst>
              <a:ext uri="{FF2B5EF4-FFF2-40B4-BE49-F238E27FC236}">
                <a16:creationId xmlns:a16="http://schemas.microsoft.com/office/drawing/2014/main" id="{1CCE255A-61EF-4ED5-3282-FD7780AD7DE2}"/>
              </a:ext>
            </a:extLst>
          </p:cNvPr>
          <p:cNvSpPr>
            <a:spLocks noGrp="1"/>
          </p:cNvSpPr>
          <p:nvPr>
            <p:ph type="body" sz="quarter" idx="14"/>
          </p:nvPr>
        </p:nvSpPr>
        <p:spPr>
          <a:xfrm>
            <a:off x="844902" y="1533673"/>
            <a:ext cx="6117010" cy="4705350"/>
          </a:xfrm>
        </p:spPr>
        <p:txBody>
          <a:bodyPr>
            <a:normAutofit/>
          </a:bodyPr>
          <a:lstStyle/>
          <a:p>
            <a:r>
              <a:rPr lang="en-US" sz="2800" dirty="0">
                <a:ea typeface="ADLaM Display" panose="02010000000000000000" pitchFamily="2" charset="0"/>
                <a:cs typeface="ADLaM Display" panose="02010000000000000000" pitchFamily="2" charset="0"/>
              </a:rPr>
              <a:t> </a:t>
            </a:r>
            <a:r>
              <a:rPr lang="en-US" sz="2800" b="1"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Slicers</a:t>
            </a:r>
            <a:r>
              <a:rPr lang="en-US" sz="2800" dirty="0">
                <a:ea typeface="ADLaM Display" panose="02010000000000000000" pitchFamily="2" charset="0"/>
                <a:cs typeface="ADLaM Display" panose="02010000000000000000" pitchFamily="2" charset="0"/>
              </a:rPr>
              <a:t> are visual filters in Power BI.</a:t>
            </a:r>
          </a:p>
          <a:p>
            <a:r>
              <a:rPr lang="en-US" sz="2800" dirty="0">
                <a:ea typeface="ADLaM Display" panose="02010000000000000000" pitchFamily="2" charset="0"/>
                <a:cs typeface="ADLaM Display" panose="02010000000000000000" pitchFamily="2" charset="0"/>
              </a:rPr>
              <a:t> Allows users to filter data interactively.</a:t>
            </a:r>
          </a:p>
          <a:p>
            <a:r>
              <a:rPr lang="en-US" sz="2800" dirty="0">
                <a:ea typeface="ADLaM Display" panose="02010000000000000000" pitchFamily="2" charset="0"/>
                <a:cs typeface="ADLaM Display" panose="02010000000000000000" pitchFamily="2" charset="0"/>
              </a:rPr>
              <a:t> Works directly on report visuals.</a:t>
            </a:r>
          </a:p>
          <a:p>
            <a:r>
              <a:rPr lang="en-US" sz="2800" dirty="0">
                <a:ea typeface="ADLaM Display" panose="02010000000000000000" pitchFamily="2" charset="0"/>
                <a:cs typeface="ADLaM Display" panose="02010000000000000000" pitchFamily="2" charset="0"/>
              </a:rPr>
              <a:t> Provides an easy way to segment data.</a:t>
            </a:r>
          </a:p>
          <a:p>
            <a:r>
              <a:rPr lang="en-US" sz="2800" dirty="0">
                <a:ea typeface="ADLaM Display" panose="02010000000000000000" pitchFamily="2" charset="0"/>
                <a:cs typeface="ADLaM Display" panose="02010000000000000000" pitchFamily="2" charset="0"/>
              </a:rPr>
              <a:t> They enable viewers to focus on specific subsets of data, making reports more dynamic and user-friendly.</a:t>
            </a:r>
          </a:p>
          <a:p>
            <a:pPr marL="0" indent="0">
              <a:buNone/>
            </a:pPr>
            <a:endParaRPr lang="en-US" sz="2800" dirty="0">
              <a:ea typeface="ADLaM Display" panose="02010000000000000000" pitchFamily="2" charset="0"/>
              <a:cs typeface="ADLaM Display" panose="02010000000000000000" pitchFamily="2" charset="0"/>
            </a:endParaRPr>
          </a:p>
        </p:txBody>
      </p:sp>
      <p:pic>
        <p:nvPicPr>
          <p:cNvPr id="7" name="Picture 6">
            <a:extLst>
              <a:ext uri="{FF2B5EF4-FFF2-40B4-BE49-F238E27FC236}">
                <a16:creationId xmlns:a16="http://schemas.microsoft.com/office/drawing/2014/main" id="{36617092-DBA3-8DD5-052B-843DE94F8D7F}"/>
              </a:ext>
            </a:extLst>
          </p:cNvPr>
          <p:cNvPicPr>
            <a:picLocks noChangeAspect="1"/>
          </p:cNvPicPr>
          <p:nvPr/>
        </p:nvPicPr>
        <p:blipFill>
          <a:blip r:embed="rId2"/>
          <a:stretch>
            <a:fillRect/>
          </a:stretch>
        </p:blipFill>
        <p:spPr>
          <a:xfrm>
            <a:off x="7129551" y="1331742"/>
            <a:ext cx="4645353" cy="5419578"/>
          </a:xfrm>
          <a:prstGeom prst="rect">
            <a:avLst/>
          </a:prstGeom>
        </p:spPr>
      </p:pic>
    </p:spTree>
    <p:extLst>
      <p:ext uri="{BB962C8B-B14F-4D97-AF65-F5344CB8AC3E}">
        <p14:creationId xmlns:p14="http://schemas.microsoft.com/office/powerpoint/2010/main" val="323593595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2D6B1C-902C-A825-0C33-14D9F17998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C7130F-AF98-0849-93F4-88EE989BB386}"/>
              </a:ext>
            </a:extLst>
          </p:cNvPr>
          <p:cNvSpPr>
            <a:spLocks noGrp="1"/>
          </p:cNvSpPr>
          <p:nvPr>
            <p:ph type="title"/>
          </p:nvPr>
        </p:nvSpPr>
        <p:spPr/>
        <p:txBody>
          <a:bodyPr/>
          <a:lstStyle/>
          <a:p>
            <a:r>
              <a:rPr lang="en-US"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Types</a:t>
            </a:r>
            <a:r>
              <a:rPr lang="en-US" dirty="0">
                <a:latin typeface="ADLaM Display" panose="02010000000000000000" pitchFamily="2" charset="0"/>
                <a:ea typeface="ADLaM Display" panose="02010000000000000000" pitchFamily="2" charset="0"/>
                <a:cs typeface="ADLaM Display" panose="02010000000000000000" pitchFamily="2" charset="0"/>
              </a:rPr>
              <a:t> of Slicers in Power BI</a:t>
            </a:r>
          </a:p>
        </p:txBody>
      </p:sp>
      <p:sp>
        <p:nvSpPr>
          <p:cNvPr id="3" name="Text Placeholder 2">
            <a:extLst>
              <a:ext uri="{FF2B5EF4-FFF2-40B4-BE49-F238E27FC236}">
                <a16:creationId xmlns:a16="http://schemas.microsoft.com/office/drawing/2014/main" id="{680CE3CB-EFB8-3C08-0839-D4D534576D25}"/>
              </a:ext>
            </a:extLst>
          </p:cNvPr>
          <p:cNvSpPr>
            <a:spLocks noGrp="1"/>
          </p:cNvSpPr>
          <p:nvPr>
            <p:ph type="body" sz="quarter" idx="14"/>
          </p:nvPr>
        </p:nvSpPr>
        <p:spPr>
          <a:xfrm>
            <a:off x="5853845" y="1448799"/>
            <a:ext cx="6513095" cy="5274498"/>
          </a:xfrm>
        </p:spPr>
        <p:txBody>
          <a:bodyPr>
            <a:normAutofit/>
          </a:bodyPr>
          <a:lstStyle/>
          <a:p>
            <a:pPr marL="571500" indent="-571500">
              <a:buFont typeface="+mj-lt"/>
              <a:buAutoNum type="romanUcPeriod"/>
            </a:pPr>
            <a:r>
              <a:rPr lang="en-US" sz="2800" b="1"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List Slicer </a:t>
            </a:r>
            <a:r>
              <a:rPr lang="en-US" sz="2800" dirty="0">
                <a:latin typeface="ADLaM Display" panose="02010000000000000000" pitchFamily="2" charset="0"/>
                <a:ea typeface="ADLaM Display" panose="02010000000000000000" pitchFamily="2" charset="0"/>
                <a:cs typeface="ADLaM Display" panose="02010000000000000000" pitchFamily="2" charset="0"/>
              </a:rPr>
              <a:t>– Displays values in a list.</a:t>
            </a:r>
          </a:p>
          <a:p>
            <a:pPr marL="571500" indent="-571500">
              <a:buFont typeface="+mj-lt"/>
              <a:buAutoNum type="romanUcPeriod"/>
            </a:pPr>
            <a:r>
              <a:rPr lang="en-US" sz="2800" b="1"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Dropdown Slicer </a:t>
            </a:r>
            <a:r>
              <a:rPr lang="en-US" sz="2800" dirty="0">
                <a:latin typeface="ADLaM Display" panose="02010000000000000000" pitchFamily="2" charset="0"/>
                <a:ea typeface="ADLaM Display" panose="02010000000000000000" pitchFamily="2" charset="0"/>
                <a:cs typeface="ADLaM Display" panose="02010000000000000000" pitchFamily="2" charset="0"/>
              </a:rPr>
              <a:t>– Saves space with dropdown.</a:t>
            </a:r>
          </a:p>
          <a:p>
            <a:pPr marL="571500" indent="-571500">
              <a:buFont typeface="+mj-lt"/>
              <a:buAutoNum type="romanUcPeriod"/>
            </a:pPr>
            <a:r>
              <a:rPr lang="en-US" sz="2800" b="1"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Between Slicer </a:t>
            </a:r>
            <a:r>
              <a:rPr lang="en-US" sz="2800" dirty="0">
                <a:latin typeface="ADLaM Display" panose="02010000000000000000" pitchFamily="2" charset="0"/>
                <a:ea typeface="ADLaM Display" panose="02010000000000000000" pitchFamily="2" charset="0"/>
                <a:cs typeface="ADLaM Display" panose="02010000000000000000" pitchFamily="2" charset="0"/>
              </a:rPr>
              <a:t>– For ranges (numbers/dates)</a:t>
            </a:r>
          </a:p>
          <a:p>
            <a:pPr marL="571500" indent="-571500">
              <a:buFont typeface="+mj-lt"/>
              <a:buAutoNum type="romanUcPeriod"/>
            </a:pPr>
            <a:r>
              <a:rPr lang="en-US" sz="2800" b="1"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Relative Date Slicer </a:t>
            </a:r>
            <a:r>
              <a:rPr lang="en-US" sz="2800" dirty="0">
                <a:latin typeface="ADLaM Display" panose="02010000000000000000" pitchFamily="2" charset="0"/>
                <a:ea typeface="ADLaM Display" panose="02010000000000000000" pitchFamily="2" charset="0"/>
                <a:cs typeface="ADLaM Display" panose="02010000000000000000" pitchFamily="2" charset="0"/>
              </a:rPr>
              <a:t>– Filters based on time (last 7 days, months, etc.).</a:t>
            </a:r>
          </a:p>
          <a:p>
            <a:pPr marL="571500" indent="-571500">
              <a:buFont typeface="+mj-lt"/>
              <a:buAutoNum type="romanUcPeriod"/>
            </a:pPr>
            <a:r>
              <a:rPr lang="en-US" sz="2800" b="1"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Hierarchy Slicer </a:t>
            </a:r>
            <a:r>
              <a:rPr lang="en-US" sz="2800" dirty="0">
                <a:latin typeface="ADLaM Display" panose="02010000000000000000" pitchFamily="2" charset="0"/>
                <a:ea typeface="ADLaM Display" panose="02010000000000000000" pitchFamily="2" charset="0"/>
                <a:cs typeface="ADLaM Display" panose="02010000000000000000" pitchFamily="2" charset="0"/>
              </a:rPr>
              <a:t>– For structured data (Year → Month → Day)</a:t>
            </a:r>
          </a:p>
          <a:p>
            <a:pPr marL="571500" indent="-571500">
              <a:buFont typeface="+mj-lt"/>
              <a:buAutoNum type="romanUcPeriod"/>
            </a:pPr>
            <a:endParaRPr lang="en-US" sz="2800" dirty="0">
              <a:latin typeface="ADLaM Display" panose="02010000000000000000" pitchFamily="2" charset="0"/>
              <a:ea typeface="ADLaM Display" panose="02010000000000000000" pitchFamily="2" charset="0"/>
              <a:cs typeface="ADLaM Display" panose="02010000000000000000" pitchFamily="2" charset="0"/>
            </a:endParaRPr>
          </a:p>
          <a:p>
            <a:pPr marL="571500" indent="-571500">
              <a:buFont typeface="+mj-lt"/>
              <a:buAutoNum type="romanUcPeriod"/>
            </a:pPr>
            <a:endParaRPr lang="en-US" sz="2800" dirty="0">
              <a:latin typeface="ADLaM Display" panose="02010000000000000000" pitchFamily="2" charset="0"/>
              <a:ea typeface="ADLaM Display" panose="02010000000000000000" pitchFamily="2" charset="0"/>
              <a:cs typeface="ADLaM Display" panose="02010000000000000000" pitchFamily="2" charset="0"/>
            </a:endParaRPr>
          </a:p>
        </p:txBody>
      </p:sp>
      <p:pic>
        <p:nvPicPr>
          <p:cNvPr id="10" name="Picture 9">
            <a:extLst>
              <a:ext uri="{FF2B5EF4-FFF2-40B4-BE49-F238E27FC236}">
                <a16:creationId xmlns:a16="http://schemas.microsoft.com/office/drawing/2014/main" id="{375EC418-C68C-FEF6-9683-87AD40470945}"/>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1600199" y="5059680"/>
            <a:ext cx="3720245" cy="1663617"/>
          </a:xfrm>
          <a:prstGeom prst="rect">
            <a:avLst/>
          </a:prstGeom>
        </p:spPr>
      </p:pic>
      <p:pic>
        <p:nvPicPr>
          <p:cNvPr id="4" name="Picture 3">
            <a:extLst>
              <a:ext uri="{FF2B5EF4-FFF2-40B4-BE49-F238E27FC236}">
                <a16:creationId xmlns:a16="http://schemas.microsoft.com/office/drawing/2014/main" id="{E5FC1F47-9E11-B8FD-355F-63C6ECC00E12}"/>
              </a:ext>
            </a:extLst>
          </p:cNvPr>
          <p:cNvPicPr>
            <a:picLocks noChangeAspect="1"/>
          </p:cNvPicPr>
          <p:nvPr/>
        </p:nvPicPr>
        <p:blipFill>
          <a:blip r:embed="rId3"/>
          <a:stretch>
            <a:fillRect/>
          </a:stretch>
        </p:blipFill>
        <p:spPr>
          <a:xfrm>
            <a:off x="2908480" y="1331742"/>
            <a:ext cx="1417745" cy="3577590"/>
          </a:xfrm>
          <a:prstGeom prst="rect">
            <a:avLst/>
          </a:prstGeom>
        </p:spPr>
      </p:pic>
    </p:spTree>
    <p:extLst>
      <p:ext uri="{BB962C8B-B14F-4D97-AF65-F5344CB8AC3E}">
        <p14:creationId xmlns:p14="http://schemas.microsoft.com/office/powerpoint/2010/main" val="91380935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0323C-5774-C55F-F2AA-4022287058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18A04B-0B82-54FE-503A-C943DB2A0182}"/>
              </a:ext>
            </a:extLst>
          </p:cNvPr>
          <p:cNvSpPr>
            <a:spLocks noGrp="1"/>
          </p:cNvSpPr>
          <p:nvPr>
            <p:ph type="title"/>
          </p:nvPr>
        </p:nvSpPr>
        <p:spPr/>
        <p:txBody>
          <a:bodyPr/>
          <a:lstStyle/>
          <a:p>
            <a:r>
              <a:rPr lang="en-US" dirty="0">
                <a:latin typeface="ADLaM Display" panose="02010000000000000000" pitchFamily="2" charset="0"/>
                <a:ea typeface="ADLaM Display" panose="02010000000000000000" pitchFamily="2" charset="0"/>
                <a:cs typeface="ADLaM Display" panose="02010000000000000000" pitchFamily="2" charset="0"/>
              </a:rPr>
              <a:t>Slicer </a:t>
            </a:r>
            <a:r>
              <a:rPr lang="en-US"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Vs</a:t>
            </a:r>
            <a:r>
              <a:rPr lang="en-US" dirty="0">
                <a:latin typeface="ADLaM Display" panose="02010000000000000000" pitchFamily="2" charset="0"/>
                <a:ea typeface="ADLaM Display" panose="02010000000000000000" pitchFamily="2" charset="0"/>
                <a:cs typeface="ADLaM Display" panose="02010000000000000000" pitchFamily="2" charset="0"/>
              </a:rPr>
              <a:t> Filter Pane</a:t>
            </a:r>
            <a:endParaRPr lang="en-US" dirty="0"/>
          </a:p>
        </p:txBody>
      </p:sp>
      <p:graphicFrame>
        <p:nvGraphicFramePr>
          <p:cNvPr id="4" name="Table 3">
            <a:extLst>
              <a:ext uri="{FF2B5EF4-FFF2-40B4-BE49-F238E27FC236}">
                <a16:creationId xmlns:a16="http://schemas.microsoft.com/office/drawing/2014/main" id="{90A4942C-DEA5-A640-08B1-C2DE18E33CFE}"/>
              </a:ext>
            </a:extLst>
          </p:cNvPr>
          <p:cNvGraphicFramePr>
            <a:graphicFrameLocks noGrp="1"/>
          </p:cNvGraphicFramePr>
          <p:nvPr/>
        </p:nvGraphicFramePr>
        <p:xfrm>
          <a:off x="1716112" y="1875695"/>
          <a:ext cx="9953040" cy="4582125"/>
        </p:xfrm>
        <a:graphic>
          <a:graphicData uri="http://schemas.openxmlformats.org/drawingml/2006/table">
            <a:tbl>
              <a:tblPr firstRow="1" bandRow="1">
                <a:tableStyleId>{5C22544A-7EE6-4342-B048-85BDC9FD1C3A}</a:tableStyleId>
              </a:tblPr>
              <a:tblGrid>
                <a:gridCol w="4976520">
                  <a:extLst>
                    <a:ext uri="{9D8B030D-6E8A-4147-A177-3AD203B41FA5}">
                      <a16:colId xmlns:a16="http://schemas.microsoft.com/office/drawing/2014/main" val="116356935"/>
                    </a:ext>
                  </a:extLst>
                </a:gridCol>
                <a:gridCol w="4976520">
                  <a:extLst>
                    <a:ext uri="{9D8B030D-6E8A-4147-A177-3AD203B41FA5}">
                      <a16:colId xmlns:a16="http://schemas.microsoft.com/office/drawing/2014/main" val="308172036"/>
                    </a:ext>
                  </a:extLst>
                </a:gridCol>
              </a:tblGrid>
              <a:tr h="506859">
                <a:tc>
                  <a:txBody>
                    <a:bodyPr/>
                    <a:lstStyle/>
                    <a:p>
                      <a:pPr algn="ctr"/>
                      <a:r>
                        <a:rPr lang="en-US" sz="2800" dirty="0">
                          <a:latin typeface="ADLaM Display" panose="02010000000000000000" pitchFamily="2" charset="0"/>
                          <a:ea typeface="ADLaM Display" panose="02010000000000000000" pitchFamily="2" charset="0"/>
                          <a:cs typeface="ADLaM Display" panose="02010000000000000000" pitchFamily="2" charset="0"/>
                        </a:rPr>
                        <a:t>Slicer</a:t>
                      </a:r>
                    </a:p>
                  </a:txBody>
                  <a:tcPr>
                    <a:solidFill>
                      <a:srgbClr val="FFC000"/>
                    </a:solidFill>
                  </a:tcPr>
                </a:tc>
                <a:tc>
                  <a:txBody>
                    <a:bodyPr/>
                    <a:lstStyle/>
                    <a:p>
                      <a:pPr algn="ctr"/>
                      <a:r>
                        <a:rPr lang="en-US" sz="2800" dirty="0">
                          <a:latin typeface="ADLaM Display" panose="02010000000000000000" pitchFamily="2" charset="0"/>
                          <a:ea typeface="ADLaM Display" panose="02010000000000000000" pitchFamily="2" charset="0"/>
                          <a:cs typeface="ADLaM Display" panose="02010000000000000000" pitchFamily="2" charset="0"/>
                        </a:rPr>
                        <a:t>Filter Pane</a:t>
                      </a:r>
                    </a:p>
                  </a:txBody>
                  <a:tcPr>
                    <a:solidFill>
                      <a:srgbClr val="FFC000"/>
                    </a:solidFill>
                  </a:tcPr>
                </a:tc>
                <a:extLst>
                  <a:ext uri="{0D108BD9-81ED-4DB2-BD59-A6C34878D82A}">
                    <a16:rowId xmlns:a16="http://schemas.microsoft.com/office/drawing/2014/main" val="362808023"/>
                  </a:ext>
                </a:extLst>
              </a:tr>
              <a:tr h="812793">
                <a:tc>
                  <a:txBody>
                    <a:bodyPr/>
                    <a:lstStyle/>
                    <a:p>
                      <a:r>
                        <a:rPr lang="en-US" sz="2400" dirty="0">
                          <a:latin typeface="ADLaM Display" panose="02010000000000000000" pitchFamily="2" charset="0"/>
                          <a:ea typeface="ADLaM Display" panose="02010000000000000000" pitchFamily="2" charset="0"/>
                          <a:cs typeface="ADLaM Display" panose="02010000000000000000" pitchFamily="2" charset="0"/>
                        </a:rPr>
                        <a:t>Visible on report</a:t>
                      </a:r>
                    </a:p>
                  </a:txBody>
                  <a:tcPr>
                    <a:solidFill>
                      <a:schemeClr val="bg1"/>
                    </a:solidFill>
                  </a:tcPr>
                </a:tc>
                <a:tc>
                  <a:txBody>
                    <a:bodyPr/>
                    <a:lstStyle/>
                    <a:p>
                      <a:r>
                        <a:rPr lang="en-US" sz="2400" dirty="0">
                          <a:latin typeface="ADLaM Display" panose="02010000000000000000" pitchFamily="2" charset="0"/>
                          <a:ea typeface="ADLaM Display" panose="02010000000000000000" pitchFamily="2" charset="0"/>
                          <a:cs typeface="ADLaM Display" panose="02010000000000000000" pitchFamily="2" charset="0"/>
                        </a:rPr>
                        <a:t>Hidden Panel</a:t>
                      </a:r>
                    </a:p>
                  </a:txBody>
                  <a:tcPr>
                    <a:solidFill>
                      <a:schemeClr val="bg1"/>
                    </a:solidFill>
                  </a:tcPr>
                </a:tc>
                <a:extLst>
                  <a:ext uri="{0D108BD9-81ED-4DB2-BD59-A6C34878D82A}">
                    <a16:rowId xmlns:a16="http://schemas.microsoft.com/office/drawing/2014/main" val="1971840143"/>
                  </a:ext>
                </a:extLst>
              </a:tr>
              <a:tr h="812793">
                <a:tc>
                  <a:txBody>
                    <a:bodyPr/>
                    <a:lstStyle/>
                    <a:p>
                      <a:r>
                        <a:rPr lang="en-US" sz="2400" dirty="0">
                          <a:latin typeface="ADLaM Display" panose="02010000000000000000" pitchFamily="2" charset="0"/>
                          <a:ea typeface="ADLaM Display" panose="02010000000000000000" pitchFamily="2" charset="0"/>
                          <a:cs typeface="ADLaM Display" panose="02010000000000000000" pitchFamily="2" charset="0"/>
                        </a:rPr>
                        <a:t>User-friendly (More interactive)</a:t>
                      </a:r>
                    </a:p>
                  </a:txBody>
                  <a:tcPr>
                    <a:solidFill>
                      <a:schemeClr val="bg1"/>
                    </a:solidFill>
                  </a:tcPr>
                </a:tc>
                <a:tc>
                  <a:txBody>
                    <a:bodyPr/>
                    <a:lstStyle/>
                    <a:p>
                      <a:r>
                        <a:rPr lang="en-US" sz="2400" dirty="0">
                          <a:latin typeface="ADLaM Display" panose="02010000000000000000" pitchFamily="2" charset="0"/>
                          <a:ea typeface="ADLaM Display" panose="02010000000000000000" pitchFamily="2" charset="0"/>
                          <a:cs typeface="ADLaM Display" panose="02010000000000000000" pitchFamily="2" charset="0"/>
                        </a:rPr>
                        <a:t>More advanced</a:t>
                      </a:r>
                    </a:p>
                  </a:txBody>
                  <a:tcPr>
                    <a:solidFill>
                      <a:schemeClr val="bg1"/>
                    </a:solidFill>
                  </a:tcPr>
                </a:tc>
                <a:extLst>
                  <a:ext uri="{0D108BD9-81ED-4DB2-BD59-A6C34878D82A}">
                    <a16:rowId xmlns:a16="http://schemas.microsoft.com/office/drawing/2014/main" val="2565846869"/>
                  </a:ext>
                </a:extLst>
              </a:tr>
              <a:tr h="812793">
                <a:tc>
                  <a:txBody>
                    <a:bodyPr/>
                    <a:lstStyle/>
                    <a:p>
                      <a:r>
                        <a:rPr lang="en-US" sz="2400" dirty="0">
                          <a:latin typeface="ADLaM Display" panose="02010000000000000000" pitchFamily="2" charset="0"/>
                          <a:ea typeface="ADLaM Display" panose="02010000000000000000" pitchFamily="2" charset="0"/>
                          <a:cs typeface="ADLaM Display" panose="02010000000000000000" pitchFamily="2" charset="0"/>
                        </a:rPr>
                        <a:t>Interactive</a:t>
                      </a:r>
                    </a:p>
                  </a:txBody>
                  <a:tcPr>
                    <a:solidFill>
                      <a:schemeClr val="bg1"/>
                    </a:solidFill>
                  </a:tcPr>
                </a:tc>
                <a:tc>
                  <a:txBody>
                    <a:bodyPr/>
                    <a:lstStyle/>
                    <a:p>
                      <a:r>
                        <a:rPr lang="en-US" sz="2400" dirty="0">
                          <a:latin typeface="ADLaM Display" panose="02010000000000000000" pitchFamily="2" charset="0"/>
                          <a:ea typeface="ADLaM Display" panose="02010000000000000000" pitchFamily="2" charset="0"/>
                          <a:cs typeface="ADLaM Display" panose="02010000000000000000" pitchFamily="2" charset="0"/>
                        </a:rPr>
                        <a:t>Static filtering</a:t>
                      </a:r>
                    </a:p>
                  </a:txBody>
                  <a:tcPr>
                    <a:solidFill>
                      <a:schemeClr val="bg1"/>
                    </a:solidFill>
                  </a:tcPr>
                </a:tc>
                <a:extLst>
                  <a:ext uri="{0D108BD9-81ED-4DB2-BD59-A6C34878D82A}">
                    <a16:rowId xmlns:a16="http://schemas.microsoft.com/office/drawing/2014/main" val="3738497545"/>
                  </a:ext>
                </a:extLst>
              </a:tr>
              <a:tr h="812793">
                <a:tc>
                  <a:txBody>
                    <a:bodyPr/>
                    <a:lstStyle/>
                    <a:p>
                      <a:r>
                        <a:rPr lang="en-US" sz="2400" dirty="0">
                          <a:latin typeface="ADLaM Display" panose="02010000000000000000" pitchFamily="2" charset="0"/>
                          <a:ea typeface="ADLaM Display" panose="02010000000000000000" pitchFamily="2" charset="0"/>
                          <a:cs typeface="ADLaM Display" panose="02010000000000000000" pitchFamily="2" charset="0"/>
                        </a:rPr>
                        <a:t>Best for dashboards</a:t>
                      </a:r>
                    </a:p>
                  </a:txBody>
                  <a:tcPr>
                    <a:solidFill>
                      <a:schemeClr val="bg1"/>
                    </a:solidFill>
                  </a:tcPr>
                </a:tc>
                <a:tc>
                  <a:txBody>
                    <a:bodyPr/>
                    <a:lstStyle/>
                    <a:p>
                      <a:r>
                        <a:rPr lang="en-US" sz="2400" dirty="0">
                          <a:latin typeface="ADLaM Display" panose="02010000000000000000" pitchFamily="2" charset="0"/>
                          <a:ea typeface="ADLaM Display" panose="02010000000000000000" pitchFamily="2" charset="0"/>
                          <a:cs typeface="ADLaM Display" panose="02010000000000000000" pitchFamily="2" charset="0"/>
                        </a:rPr>
                        <a:t>Best for developers</a:t>
                      </a:r>
                    </a:p>
                  </a:txBody>
                  <a:tcPr>
                    <a:solidFill>
                      <a:schemeClr val="bg1"/>
                    </a:solidFill>
                  </a:tcPr>
                </a:tc>
                <a:extLst>
                  <a:ext uri="{0D108BD9-81ED-4DB2-BD59-A6C34878D82A}">
                    <a16:rowId xmlns:a16="http://schemas.microsoft.com/office/drawing/2014/main" val="214591671"/>
                  </a:ext>
                </a:extLst>
              </a:tr>
              <a:tr h="812793">
                <a:tc>
                  <a:txBody>
                    <a:bodyPr/>
                    <a:lstStyle/>
                    <a:p>
                      <a:r>
                        <a:rPr lang="en-US" sz="2400" dirty="0">
                          <a:latin typeface="ADLaM Display" panose="02010000000000000000" pitchFamily="2" charset="0"/>
                          <a:ea typeface="ADLaM Display" panose="02010000000000000000" pitchFamily="2" charset="0"/>
                          <a:cs typeface="ADLaM Display" panose="02010000000000000000" pitchFamily="2" charset="0"/>
                        </a:rPr>
                        <a:t>Takes space on canvas</a:t>
                      </a:r>
                    </a:p>
                  </a:txBody>
                  <a:tcPr>
                    <a:solidFill>
                      <a:schemeClr val="bg1"/>
                    </a:solidFill>
                  </a:tcPr>
                </a:tc>
                <a:tc>
                  <a:txBody>
                    <a:bodyPr/>
                    <a:lstStyle/>
                    <a:p>
                      <a:r>
                        <a:rPr lang="en-US" sz="2400" dirty="0">
                          <a:latin typeface="ADLaM Display" panose="02010000000000000000" pitchFamily="2" charset="0"/>
                          <a:ea typeface="ADLaM Display" panose="02010000000000000000" pitchFamily="2" charset="0"/>
                          <a:cs typeface="ADLaM Display" panose="02010000000000000000" pitchFamily="2" charset="0"/>
                        </a:rPr>
                        <a:t>Less space usage</a:t>
                      </a:r>
                    </a:p>
                  </a:txBody>
                  <a:tcPr>
                    <a:solidFill>
                      <a:schemeClr val="bg1"/>
                    </a:solidFill>
                  </a:tcPr>
                </a:tc>
                <a:extLst>
                  <a:ext uri="{0D108BD9-81ED-4DB2-BD59-A6C34878D82A}">
                    <a16:rowId xmlns:a16="http://schemas.microsoft.com/office/drawing/2014/main" val="2164858213"/>
                  </a:ext>
                </a:extLst>
              </a:tr>
            </a:tbl>
          </a:graphicData>
        </a:graphic>
      </p:graphicFrame>
    </p:spTree>
    <p:extLst>
      <p:ext uri="{BB962C8B-B14F-4D97-AF65-F5344CB8AC3E}">
        <p14:creationId xmlns:p14="http://schemas.microsoft.com/office/powerpoint/2010/main" val="306585466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E191C0-2976-2D54-D2A9-50BC89293B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2BF342-7AEE-81A4-EA2A-816478AB65DA}"/>
              </a:ext>
            </a:extLst>
          </p:cNvPr>
          <p:cNvSpPr>
            <a:spLocks noGrp="1"/>
          </p:cNvSpPr>
          <p:nvPr>
            <p:ph type="title"/>
          </p:nvPr>
        </p:nvSpPr>
        <p:spPr/>
        <p:txBody>
          <a:bodyPr/>
          <a:lstStyle/>
          <a:p>
            <a:r>
              <a:rPr lang="en-US" dirty="0">
                <a:latin typeface="ADLaM Display" panose="02010000000000000000" pitchFamily="2" charset="0"/>
                <a:ea typeface="ADLaM Display" panose="02010000000000000000" pitchFamily="2" charset="0"/>
                <a:cs typeface="ADLaM Display" panose="02010000000000000000" pitchFamily="2" charset="0"/>
              </a:rPr>
              <a:t>Buttons</a:t>
            </a:r>
          </a:p>
        </p:txBody>
      </p:sp>
      <p:sp>
        <p:nvSpPr>
          <p:cNvPr id="3" name="Text Placeholder 2">
            <a:extLst>
              <a:ext uri="{FF2B5EF4-FFF2-40B4-BE49-F238E27FC236}">
                <a16:creationId xmlns:a16="http://schemas.microsoft.com/office/drawing/2014/main" id="{4F316BC7-1F4A-B118-7C2E-294A000C9B99}"/>
              </a:ext>
            </a:extLst>
          </p:cNvPr>
          <p:cNvSpPr>
            <a:spLocks noGrp="1"/>
          </p:cNvSpPr>
          <p:nvPr>
            <p:ph type="body" sz="quarter" idx="14"/>
          </p:nvPr>
        </p:nvSpPr>
        <p:spPr>
          <a:xfrm>
            <a:off x="1012541" y="1533673"/>
            <a:ext cx="10762363" cy="4705350"/>
          </a:xfrm>
        </p:spPr>
        <p:txBody>
          <a:bodyPr>
            <a:normAutofit/>
          </a:bodyPr>
          <a:lstStyle/>
          <a:p>
            <a:r>
              <a:rPr lang="en-US" sz="2800" dirty="0">
                <a:ea typeface="ADLaM Display" panose="02010000000000000000" pitchFamily="2" charset="0"/>
                <a:cs typeface="ADLaM Display" panose="02010000000000000000" pitchFamily="2" charset="0"/>
              </a:rPr>
              <a:t> </a:t>
            </a:r>
            <a:r>
              <a:rPr lang="en-US" sz="2800" b="1"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Buttons</a:t>
            </a:r>
            <a:r>
              <a:rPr lang="en-US" sz="2800" dirty="0">
                <a:ea typeface="ADLaM Display" panose="02010000000000000000" pitchFamily="2" charset="0"/>
                <a:cs typeface="ADLaM Display" panose="02010000000000000000" pitchFamily="2" charset="0"/>
              </a:rPr>
              <a:t> are Clickable elements used for navigation and actions.</a:t>
            </a:r>
          </a:p>
          <a:p>
            <a:r>
              <a:rPr lang="en-US" sz="2800" dirty="0">
                <a:ea typeface="ADLaM Display" panose="02010000000000000000" pitchFamily="2" charset="0"/>
                <a:cs typeface="ADLaM Display" panose="02010000000000000000" pitchFamily="2" charset="0"/>
              </a:rPr>
              <a:t> Help users interact with reports easily.</a:t>
            </a:r>
          </a:p>
          <a:p>
            <a:r>
              <a:rPr lang="en-US" sz="2800" dirty="0">
                <a:ea typeface="ADLaM Display" panose="02010000000000000000" pitchFamily="2" charset="0"/>
                <a:cs typeface="ADLaM Display" panose="02010000000000000000" pitchFamily="2" charset="0"/>
              </a:rPr>
              <a:t> </a:t>
            </a:r>
            <a:r>
              <a:rPr lang="en-US" sz="2800" b="1" dirty="0">
                <a:ea typeface="ADLaM Display" panose="02010000000000000000" pitchFamily="2" charset="0"/>
                <a:cs typeface="ADLaM Display" panose="02010000000000000000" pitchFamily="2" charset="0"/>
              </a:rPr>
              <a:t>Can trigger</a:t>
            </a:r>
            <a:r>
              <a:rPr lang="en-US" sz="2800" dirty="0">
                <a:ea typeface="ADLaM Display" panose="02010000000000000000" pitchFamily="2" charset="0"/>
                <a:cs typeface="ADLaM Display" panose="02010000000000000000" pitchFamily="2" charset="0"/>
              </a:rPr>
              <a:t>:</a:t>
            </a:r>
          </a:p>
          <a:p>
            <a:pPr>
              <a:buFont typeface="Wingdings" panose="05000000000000000000" pitchFamily="2" charset="2"/>
              <a:buChar char="Ø"/>
            </a:pPr>
            <a:r>
              <a:rPr lang="en-US" sz="2800" dirty="0">
                <a:ea typeface="ADLaM Display" panose="02010000000000000000" pitchFamily="2" charset="0"/>
                <a:cs typeface="ADLaM Display" panose="02010000000000000000" pitchFamily="2" charset="0"/>
              </a:rPr>
              <a:t> Page navigation</a:t>
            </a:r>
          </a:p>
          <a:p>
            <a:pPr>
              <a:buFont typeface="Wingdings" panose="05000000000000000000" pitchFamily="2" charset="2"/>
              <a:buChar char="Ø"/>
            </a:pPr>
            <a:r>
              <a:rPr lang="en-US" sz="2800" dirty="0">
                <a:ea typeface="ADLaM Display" panose="02010000000000000000" pitchFamily="2" charset="0"/>
                <a:cs typeface="ADLaM Display" panose="02010000000000000000" pitchFamily="2" charset="0"/>
              </a:rPr>
              <a:t> Bookmark actions</a:t>
            </a:r>
          </a:p>
          <a:p>
            <a:pPr>
              <a:buFont typeface="Wingdings" panose="05000000000000000000" pitchFamily="2" charset="2"/>
              <a:buChar char="Ø"/>
            </a:pPr>
            <a:r>
              <a:rPr lang="en-US" sz="2800" dirty="0">
                <a:ea typeface="ADLaM Display" panose="02010000000000000000" pitchFamily="2" charset="0"/>
                <a:cs typeface="ADLaM Display" panose="02010000000000000000" pitchFamily="2" charset="0"/>
              </a:rPr>
              <a:t> Drillthrough</a:t>
            </a:r>
          </a:p>
        </p:txBody>
      </p:sp>
      <p:pic>
        <p:nvPicPr>
          <p:cNvPr id="5" name="Picture 4">
            <a:extLst>
              <a:ext uri="{FF2B5EF4-FFF2-40B4-BE49-F238E27FC236}">
                <a16:creationId xmlns:a16="http://schemas.microsoft.com/office/drawing/2014/main" id="{CB3B4406-86D1-AB44-CE3C-6701B680ADF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239000" y="2300105"/>
            <a:ext cx="1767840" cy="4453599"/>
          </a:xfrm>
          <a:prstGeom prst="rect">
            <a:avLst/>
          </a:prstGeom>
        </p:spPr>
      </p:pic>
    </p:spTree>
    <p:extLst>
      <p:ext uri="{BB962C8B-B14F-4D97-AF65-F5344CB8AC3E}">
        <p14:creationId xmlns:p14="http://schemas.microsoft.com/office/powerpoint/2010/main" val="61017435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0A4BB7-364B-CBA4-4A1B-DA1DD89DB3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F42CD9-3794-ABEC-B584-0EC25E2F10C6}"/>
              </a:ext>
            </a:extLst>
          </p:cNvPr>
          <p:cNvSpPr>
            <a:spLocks noGrp="1"/>
          </p:cNvSpPr>
          <p:nvPr>
            <p:ph type="title"/>
          </p:nvPr>
        </p:nvSpPr>
        <p:spPr/>
        <p:txBody>
          <a:bodyPr/>
          <a:lstStyle/>
          <a:p>
            <a:r>
              <a:rPr lang="en-US"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Types of </a:t>
            </a:r>
            <a:r>
              <a:rPr lang="en-US"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Data Sources</a:t>
            </a:r>
            <a:endParaRPr lang="en-US" dirty="0">
              <a:latin typeface="ADLaM Display" panose="02010000000000000000" pitchFamily="2" charset="0"/>
              <a:ea typeface="ADLaM Display" panose="02010000000000000000" pitchFamily="2" charset="0"/>
              <a:cs typeface="ADLaM Display" panose="02010000000000000000" pitchFamily="2" charset="0"/>
            </a:endParaRPr>
          </a:p>
        </p:txBody>
      </p:sp>
      <p:sp>
        <p:nvSpPr>
          <p:cNvPr id="3" name="Text Placeholder 2">
            <a:extLst>
              <a:ext uri="{FF2B5EF4-FFF2-40B4-BE49-F238E27FC236}">
                <a16:creationId xmlns:a16="http://schemas.microsoft.com/office/drawing/2014/main" id="{C8AF02D8-05A6-BE31-E13E-56A095D67FBA}"/>
              </a:ext>
            </a:extLst>
          </p:cNvPr>
          <p:cNvSpPr>
            <a:spLocks noGrp="1"/>
          </p:cNvSpPr>
          <p:nvPr>
            <p:ph type="body" sz="quarter" idx="14"/>
          </p:nvPr>
        </p:nvSpPr>
        <p:spPr>
          <a:xfrm>
            <a:off x="6412600" y="1533673"/>
            <a:ext cx="2468595" cy="4705350"/>
          </a:xfrm>
        </p:spPr>
        <p:txBody>
          <a:bodyPr>
            <a:normAutofit/>
          </a:bodyPr>
          <a:lstStyle/>
          <a:p>
            <a:r>
              <a:rPr lang="en-US" sz="2800" b="1"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Files</a:t>
            </a:r>
            <a:endParaRPr lang="en-US" sz="2800" dirty="0"/>
          </a:p>
          <a:p>
            <a:pPr>
              <a:buBlip>
                <a:blip r:embed="rId2"/>
              </a:buBlip>
            </a:pPr>
            <a:r>
              <a:rPr lang="en-US" sz="2800" dirty="0"/>
              <a:t> Excel</a:t>
            </a:r>
          </a:p>
          <a:p>
            <a:pPr>
              <a:buBlip>
                <a:blip r:embed="rId2"/>
              </a:buBlip>
            </a:pPr>
            <a:r>
              <a:rPr lang="en-US" sz="2800" dirty="0"/>
              <a:t> CSV</a:t>
            </a:r>
          </a:p>
          <a:p>
            <a:pPr>
              <a:buBlip>
                <a:blip r:embed="rId2"/>
              </a:buBlip>
            </a:pPr>
            <a:r>
              <a:rPr lang="en-US" sz="2800" dirty="0"/>
              <a:t> JSON</a:t>
            </a:r>
          </a:p>
          <a:p>
            <a:r>
              <a:rPr lang="en-US" sz="2800" dirty="0"/>
              <a:t> </a:t>
            </a:r>
            <a:r>
              <a:rPr lang="en-US" sz="2800" b="1"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Databases</a:t>
            </a:r>
          </a:p>
          <a:p>
            <a:pPr>
              <a:buBlip>
                <a:blip r:embed="rId3"/>
              </a:buBlip>
            </a:pPr>
            <a:r>
              <a:rPr lang="en-US" sz="2800" dirty="0"/>
              <a:t> SQL Server</a:t>
            </a:r>
          </a:p>
          <a:p>
            <a:pPr>
              <a:buBlip>
                <a:blip r:embed="rId3"/>
              </a:buBlip>
            </a:pPr>
            <a:r>
              <a:rPr lang="en-US" sz="2800" dirty="0"/>
              <a:t> MySQL</a:t>
            </a:r>
          </a:p>
          <a:p>
            <a:pPr>
              <a:buBlip>
                <a:blip r:embed="rId3"/>
              </a:buBlip>
            </a:pPr>
            <a:r>
              <a:rPr lang="en-US" sz="2800" dirty="0"/>
              <a:t> Oracle</a:t>
            </a:r>
          </a:p>
        </p:txBody>
      </p:sp>
      <p:sp>
        <p:nvSpPr>
          <p:cNvPr id="4" name="Text Placeholder 2">
            <a:extLst>
              <a:ext uri="{FF2B5EF4-FFF2-40B4-BE49-F238E27FC236}">
                <a16:creationId xmlns:a16="http://schemas.microsoft.com/office/drawing/2014/main" id="{775AF7E4-140D-0D89-2703-3594483EEF5D}"/>
              </a:ext>
            </a:extLst>
          </p:cNvPr>
          <p:cNvSpPr txBox="1">
            <a:spLocks/>
          </p:cNvSpPr>
          <p:nvPr/>
        </p:nvSpPr>
        <p:spPr>
          <a:xfrm>
            <a:off x="8881195" y="1533673"/>
            <a:ext cx="2925794" cy="4705350"/>
          </a:xfrm>
          <a:prstGeom prst="rect">
            <a:avLst/>
          </a:prstGeom>
        </p:spPr>
        <p:txBody>
          <a:bodyPr>
            <a:normAutofit/>
          </a:bodyPr>
          <a:lstStyle>
            <a:lvl1pPr marL="200025" indent="-200025" algn="l" defTabSz="685800" rtl="0" eaLnBrk="1" latinLnBrk="0" hangingPunct="1">
              <a:lnSpc>
                <a:spcPct val="100000"/>
              </a:lnSpc>
              <a:spcBef>
                <a:spcPts val="0"/>
              </a:spcBef>
              <a:spcAft>
                <a:spcPts val="600"/>
              </a:spcAft>
              <a:buClr>
                <a:schemeClr val="accent1"/>
              </a:buClr>
              <a:buSzPct val="100000"/>
              <a:buFont typeface="Wingdings" panose="05000000000000000000" pitchFamily="2" charset="2"/>
              <a:buChar char="§"/>
              <a:defRPr sz="2400" kern="1200">
                <a:solidFill>
                  <a:srgbClr val="002060"/>
                </a:solidFill>
                <a:latin typeface="+mn-lt"/>
                <a:ea typeface="+mn-ea"/>
                <a:cs typeface="+mn-cs"/>
              </a:defRPr>
            </a:lvl1pPr>
            <a:lvl2pPr marL="288290" indent="-137160" algn="l" defTabSz="685800" rtl="0" eaLnBrk="1" latinLnBrk="0" hangingPunct="1">
              <a:lnSpc>
                <a:spcPct val="100000"/>
              </a:lnSpc>
              <a:spcBef>
                <a:spcPts val="150"/>
              </a:spcBef>
              <a:spcAft>
                <a:spcPts val="300"/>
              </a:spcAft>
              <a:buClr>
                <a:schemeClr val="accent1"/>
              </a:buClr>
              <a:buFont typeface="Wingdings" panose="05000000000000000000" pitchFamily="2" charset="2"/>
              <a:buChar char="§"/>
              <a:defRPr sz="1350" kern="1200">
                <a:solidFill>
                  <a:schemeClr val="tx1">
                    <a:lumMod val="75000"/>
                    <a:lumOff val="25000"/>
                  </a:schemeClr>
                </a:solidFill>
                <a:latin typeface="+mn-lt"/>
                <a:ea typeface="+mn-ea"/>
                <a:cs typeface="+mn-cs"/>
              </a:defRPr>
            </a:lvl2pPr>
            <a:lvl3pPr marL="425450" indent="-137160" algn="l" defTabSz="685800" rtl="0" eaLnBrk="1" latinLnBrk="0" hangingPunct="1">
              <a:lnSpc>
                <a:spcPct val="100000"/>
              </a:lnSpc>
              <a:spcBef>
                <a:spcPts val="150"/>
              </a:spcBef>
              <a:spcAft>
                <a:spcPts val="300"/>
              </a:spcAft>
              <a:buClr>
                <a:schemeClr val="accent1"/>
              </a:buClr>
              <a:buFont typeface="Wingdings" panose="05000000000000000000" pitchFamily="2" charset="2"/>
              <a:buChar char="§"/>
              <a:defRPr sz="1050" kern="1200">
                <a:solidFill>
                  <a:schemeClr val="tx1">
                    <a:lumMod val="75000"/>
                    <a:lumOff val="25000"/>
                  </a:schemeClr>
                </a:solidFill>
                <a:latin typeface="+mn-lt"/>
                <a:ea typeface="+mn-ea"/>
                <a:cs typeface="+mn-cs"/>
              </a:defRPr>
            </a:lvl3pPr>
            <a:lvl4pPr marL="562610" indent="-137160" algn="l" defTabSz="685800" rtl="0" eaLnBrk="1" latinLnBrk="0" hangingPunct="1">
              <a:lnSpc>
                <a:spcPct val="100000"/>
              </a:lnSpc>
              <a:spcBef>
                <a:spcPts val="150"/>
              </a:spcBef>
              <a:spcAft>
                <a:spcPts val="300"/>
              </a:spcAft>
              <a:buClr>
                <a:schemeClr val="accent1"/>
              </a:buClr>
              <a:buFont typeface="Wingdings" panose="05000000000000000000" pitchFamily="2" charset="2"/>
              <a:buChar char="§"/>
              <a:defRPr sz="1050" kern="1200">
                <a:solidFill>
                  <a:schemeClr val="tx1">
                    <a:lumMod val="75000"/>
                    <a:lumOff val="25000"/>
                  </a:schemeClr>
                </a:solidFill>
                <a:latin typeface="+mn-lt"/>
                <a:ea typeface="+mn-ea"/>
                <a:cs typeface="+mn-cs"/>
              </a:defRPr>
            </a:lvl4pPr>
            <a:lvl5pPr marL="699770" indent="-137160" algn="l" defTabSz="685800" rtl="0" eaLnBrk="1" latinLnBrk="0" hangingPunct="1">
              <a:lnSpc>
                <a:spcPct val="100000"/>
              </a:lnSpc>
              <a:spcBef>
                <a:spcPts val="150"/>
              </a:spcBef>
              <a:spcAft>
                <a:spcPts val="300"/>
              </a:spcAft>
              <a:buClr>
                <a:schemeClr val="accent1"/>
              </a:buClr>
              <a:buFont typeface="Wingdings" panose="05000000000000000000" pitchFamily="2" charset="2"/>
              <a:buChar char="§"/>
              <a:defRPr sz="1050" kern="1200">
                <a:solidFill>
                  <a:schemeClr val="tx1">
                    <a:lumMod val="75000"/>
                    <a:lumOff val="25000"/>
                  </a:schemeClr>
                </a:solidFill>
                <a:latin typeface="+mn-lt"/>
                <a:ea typeface="+mn-ea"/>
                <a:cs typeface="+mn-cs"/>
              </a:defRPr>
            </a:lvl5pPr>
            <a:lvl6pPr marL="824865" indent="-17145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6pPr>
            <a:lvl7pPr marL="974725" indent="-17145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7pPr>
            <a:lvl8pPr marL="1125220" indent="-17145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8pPr>
            <a:lvl9pPr marL="1275080" indent="-17145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9pPr>
          </a:lstStyle>
          <a:p>
            <a:pPr marL="200025" marR="0" lvl="0" indent="-200025" algn="l" defTabSz="685800" rtl="0" eaLnBrk="1" fontAlgn="auto" latinLnBrk="0" hangingPunct="1">
              <a:lnSpc>
                <a:spcPct val="100000"/>
              </a:lnSpc>
              <a:spcBef>
                <a:spcPts val="0"/>
              </a:spcBef>
              <a:spcAft>
                <a:spcPts val="600"/>
              </a:spcAft>
              <a:buClr>
                <a:srgbClr val="1CADE4"/>
              </a:buClr>
              <a:buSzPct val="100000"/>
              <a:buFont typeface="Wingdings" panose="05000000000000000000" pitchFamily="2" charset="2"/>
              <a:buChar char="§"/>
              <a:tabLst/>
              <a:defRPr/>
            </a:pPr>
            <a:r>
              <a:rPr kumimoji="0" lang="en-US" sz="2800" b="1" i="0" u="none" strike="noStrike" kern="1200" cap="none" spc="0" normalizeH="0" baseline="0" noProof="0" dirty="0">
                <a:ln>
                  <a:noFill/>
                </a:ln>
                <a:solidFill>
                  <a:srgbClr val="FFC000"/>
                </a:solidFill>
                <a:effectLst/>
                <a:uLnTx/>
                <a:uFillTx/>
                <a:latin typeface="ADLaM Display" panose="02010000000000000000" pitchFamily="2" charset="0"/>
                <a:ea typeface="ADLaM Display" panose="02010000000000000000" pitchFamily="2" charset="0"/>
                <a:cs typeface="ADLaM Display" panose="02010000000000000000" pitchFamily="2" charset="0"/>
              </a:rPr>
              <a:t>Online Sources</a:t>
            </a:r>
            <a:endParaRPr kumimoji="0" lang="en-US" sz="2800" b="0" i="0" u="none" strike="noStrike" kern="1200" cap="none" spc="0" normalizeH="0" baseline="0" noProof="0" dirty="0">
              <a:ln>
                <a:noFill/>
              </a:ln>
              <a:solidFill>
                <a:srgbClr val="002060"/>
              </a:solidFill>
              <a:effectLst/>
              <a:uLnTx/>
              <a:uFillTx/>
              <a:latin typeface="Calibri"/>
              <a:ea typeface="+mn-ea"/>
              <a:cs typeface="+mn-cs"/>
            </a:endParaRPr>
          </a:p>
          <a:p>
            <a:pPr marL="200025" marR="0" lvl="0" indent="-200025" algn="l" defTabSz="685800" rtl="0" eaLnBrk="1" fontAlgn="auto" latinLnBrk="0" hangingPunct="1">
              <a:lnSpc>
                <a:spcPct val="100000"/>
              </a:lnSpc>
              <a:spcBef>
                <a:spcPts val="0"/>
              </a:spcBef>
              <a:spcAft>
                <a:spcPts val="600"/>
              </a:spcAft>
              <a:buClr>
                <a:srgbClr val="1CADE4"/>
              </a:buClr>
              <a:buSzPct val="100000"/>
              <a:buFont typeface="Wingdings" panose="05000000000000000000" pitchFamily="2" charset="2"/>
              <a:buBlip>
                <a:blip r:embed="rId4"/>
              </a:buBlip>
              <a:tabLst/>
              <a:defRPr/>
            </a:pPr>
            <a:r>
              <a:rPr kumimoji="0" lang="en-US" sz="2800" b="0" i="0" u="none" strike="noStrike" kern="1200" cap="none" spc="0" normalizeH="0" baseline="0" noProof="0" dirty="0">
                <a:ln>
                  <a:noFill/>
                </a:ln>
                <a:solidFill>
                  <a:srgbClr val="002060"/>
                </a:solidFill>
                <a:effectLst/>
                <a:uLnTx/>
                <a:uFillTx/>
                <a:latin typeface="Calibri"/>
                <a:ea typeface="+mn-ea"/>
                <a:cs typeface="+mn-cs"/>
              </a:rPr>
              <a:t> Web pages</a:t>
            </a:r>
          </a:p>
          <a:p>
            <a:pPr marL="200025" marR="0" lvl="0" indent="-200025" algn="l" defTabSz="685800" rtl="0" eaLnBrk="1" fontAlgn="auto" latinLnBrk="0" hangingPunct="1">
              <a:lnSpc>
                <a:spcPct val="100000"/>
              </a:lnSpc>
              <a:spcBef>
                <a:spcPts val="0"/>
              </a:spcBef>
              <a:spcAft>
                <a:spcPts val="600"/>
              </a:spcAft>
              <a:buClr>
                <a:srgbClr val="1CADE4"/>
              </a:buClr>
              <a:buSzPct val="100000"/>
              <a:buFont typeface="Wingdings" panose="05000000000000000000" pitchFamily="2" charset="2"/>
              <a:buBlip>
                <a:blip r:embed="rId4"/>
              </a:buBlip>
              <a:tabLst/>
              <a:defRPr/>
            </a:pPr>
            <a:r>
              <a:rPr kumimoji="0" lang="en-US" sz="2800" b="0" i="0" u="none" strike="noStrike" kern="1200" cap="none" spc="0" normalizeH="0" baseline="0" noProof="0" dirty="0">
                <a:ln>
                  <a:noFill/>
                </a:ln>
                <a:solidFill>
                  <a:srgbClr val="002060"/>
                </a:solidFill>
                <a:effectLst/>
                <a:uLnTx/>
                <a:uFillTx/>
                <a:latin typeface="Calibri"/>
                <a:ea typeface="+mn-ea"/>
                <a:cs typeface="+mn-cs"/>
              </a:rPr>
              <a:t> APIs</a:t>
            </a:r>
          </a:p>
          <a:p>
            <a:pPr marL="200025" marR="0" lvl="0" indent="-200025" algn="l" defTabSz="685800" rtl="0" eaLnBrk="1" fontAlgn="auto" latinLnBrk="0" hangingPunct="1">
              <a:lnSpc>
                <a:spcPct val="100000"/>
              </a:lnSpc>
              <a:spcBef>
                <a:spcPts val="0"/>
              </a:spcBef>
              <a:spcAft>
                <a:spcPts val="600"/>
              </a:spcAft>
              <a:buClr>
                <a:srgbClr val="1CADE4"/>
              </a:buClr>
              <a:buSzPct val="100000"/>
              <a:buFont typeface="Wingdings" panose="05000000000000000000" pitchFamily="2" charset="2"/>
              <a:buChar char="§"/>
              <a:tabLst/>
              <a:defRPr/>
            </a:pPr>
            <a:r>
              <a:rPr kumimoji="0" lang="en-US" sz="2800" b="0" i="0" u="none" strike="noStrike" kern="1200" cap="none" spc="0" normalizeH="0" baseline="0" noProof="0" dirty="0">
                <a:ln>
                  <a:noFill/>
                </a:ln>
                <a:solidFill>
                  <a:srgbClr val="002060"/>
                </a:solidFill>
                <a:effectLst/>
                <a:uLnTx/>
                <a:uFillTx/>
                <a:latin typeface="Calibri"/>
                <a:ea typeface="+mn-ea"/>
                <a:cs typeface="+mn-cs"/>
              </a:rPr>
              <a:t> </a:t>
            </a:r>
            <a:r>
              <a:rPr kumimoji="0" lang="en-US" sz="2800" b="1" i="0" u="none" strike="noStrike" kern="1200" cap="none" spc="0" normalizeH="0" baseline="0" noProof="0" dirty="0">
                <a:ln>
                  <a:noFill/>
                </a:ln>
                <a:solidFill>
                  <a:srgbClr val="FFC000"/>
                </a:solidFill>
                <a:effectLst/>
                <a:uLnTx/>
                <a:uFillTx/>
                <a:latin typeface="ADLaM Display" panose="02010000000000000000" pitchFamily="2" charset="0"/>
                <a:ea typeface="ADLaM Display" panose="02010000000000000000" pitchFamily="2" charset="0"/>
                <a:cs typeface="ADLaM Display" panose="02010000000000000000" pitchFamily="2" charset="0"/>
              </a:rPr>
              <a:t>Cloud Services</a:t>
            </a:r>
          </a:p>
          <a:p>
            <a:pPr marL="200025" marR="0" lvl="0" indent="-200025" algn="l" defTabSz="685800" rtl="0" eaLnBrk="1" fontAlgn="auto" latinLnBrk="0" hangingPunct="1">
              <a:lnSpc>
                <a:spcPct val="100000"/>
              </a:lnSpc>
              <a:spcBef>
                <a:spcPts val="0"/>
              </a:spcBef>
              <a:spcAft>
                <a:spcPts val="600"/>
              </a:spcAft>
              <a:buClr>
                <a:srgbClr val="1CADE4"/>
              </a:buClr>
              <a:buSzPct val="100000"/>
              <a:buFont typeface="Wingdings" panose="05000000000000000000" pitchFamily="2" charset="2"/>
              <a:buBlip>
                <a:blip r:embed="rId5"/>
              </a:buBlip>
              <a:tabLst/>
              <a:defRPr/>
            </a:pPr>
            <a:r>
              <a:rPr kumimoji="0" lang="en-US" sz="2800" b="0" i="0" u="none" strike="noStrike" kern="1200" cap="none" spc="0" normalizeH="0" baseline="0" noProof="0" dirty="0">
                <a:ln>
                  <a:noFill/>
                </a:ln>
                <a:solidFill>
                  <a:srgbClr val="002060"/>
                </a:solidFill>
                <a:effectLst/>
                <a:uLnTx/>
                <a:uFillTx/>
                <a:latin typeface="Calibri"/>
                <a:ea typeface="+mn-ea"/>
                <a:cs typeface="+mn-cs"/>
              </a:rPr>
              <a:t> SharePoint</a:t>
            </a:r>
          </a:p>
          <a:p>
            <a:pPr marL="200025" marR="0" lvl="0" indent="-200025" algn="l" defTabSz="685800" rtl="0" eaLnBrk="1" fontAlgn="auto" latinLnBrk="0" hangingPunct="1">
              <a:lnSpc>
                <a:spcPct val="100000"/>
              </a:lnSpc>
              <a:spcBef>
                <a:spcPts val="0"/>
              </a:spcBef>
              <a:spcAft>
                <a:spcPts val="600"/>
              </a:spcAft>
              <a:buClr>
                <a:srgbClr val="1CADE4"/>
              </a:buClr>
              <a:buSzPct val="100000"/>
              <a:buFont typeface="Wingdings" panose="05000000000000000000" pitchFamily="2" charset="2"/>
              <a:buBlip>
                <a:blip r:embed="rId5"/>
              </a:buBlip>
              <a:tabLst/>
              <a:defRPr/>
            </a:pPr>
            <a:r>
              <a:rPr kumimoji="0" lang="en-US" sz="2800" b="0" i="0" u="none" strike="noStrike" kern="1200" cap="none" spc="0" normalizeH="0" baseline="0" noProof="0" dirty="0">
                <a:ln>
                  <a:noFill/>
                </a:ln>
                <a:solidFill>
                  <a:srgbClr val="002060"/>
                </a:solidFill>
                <a:effectLst/>
                <a:uLnTx/>
                <a:uFillTx/>
                <a:latin typeface="Calibri"/>
                <a:ea typeface="+mn-ea"/>
                <a:cs typeface="+mn-cs"/>
              </a:rPr>
              <a:t> Google Analytics</a:t>
            </a:r>
          </a:p>
        </p:txBody>
      </p:sp>
      <p:pic>
        <p:nvPicPr>
          <p:cNvPr id="6" name="Picture 5" descr="IMG_256">
            <a:extLst>
              <a:ext uri="{FF2B5EF4-FFF2-40B4-BE49-F238E27FC236}">
                <a16:creationId xmlns:a16="http://schemas.microsoft.com/office/drawing/2014/main" id="{26389DAA-CF48-8E2E-326A-39CF744EB1D9}"/>
              </a:ext>
            </a:extLst>
          </p:cNvPr>
          <p:cNvPicPr>
            <a:picLocks noChangeAspect="1"/>
          </p:cNvPicPr>
          <p:nvPr/>
        </p:nvPicPr>
        <p:blipFill>
          <a:blip r:embed="rId6"/>
          <a:stretch>
            <a:fillRect/>
          </a:stretch>
        </p:blipFill>
        <p:spPr>
          <a:xfrm>
            <a:off x="3486806" y="1331742"/>
            <a:ext cx="2753365" cy="3958780"/>
          </a:xfrm>
          <a:prstGeom prst="rect">
            <a:avLst/>
          </a:prstGeom>
          <a:noFill/>
          <a:ln w="9525">
            <a:noFill/>
          </a:ln>
        </p:spPr>
      </p:pic>
      <p:pic>
        <p:nvPicPr>
          <p:cNvPr id="7" name="Picture 6">
            <a:extLst>
              <a:ext uri="{FF2B5EF4-FFF2-40B4-BE49-F238E27FC236}">
                <a16:creationId xmlns:a16="http://schemas.microsoft.com/office/drawing/2014/main" id="{3997BABA-5FD3-3FB4-4E00-6A71C895D4DE}"/>
              </a:ext>
            </a:extLst>
          </p:cNvPr>
          <p:cNvPicPr>
            <a:picLocks noChangeAspect="1"/>
          </p:cNvPicPr>
          <p:nvPr/>
        </p:nvPicPr>
        <p:blipFill>
          <a:blip r:embed="rId7"/>
          <a:stretch>
            <a:fillRect/>
          </a:stretch>
        </p:blipFill>
        <p:spPr>
          <a:xfrm>
            <a:off x="369420" y="2147879"/>
            <a:ext cx="2925794" cy="4432144"/>
          </a:xfrm>
          <a:prstGeom prst="rect">
            <a:avLst/>
          </a:prstGeom>
        </p:spPr>
      </p:pic>
      <p:sp>
        <p:nvSpPr>
          <p:cNvPr id="8" name="Title 1">
            <a:extLst>
              <a:ext uri="{FF2B5EF4-FFF2-40B4-BE49-F238E27FC236}">
                <a16:creationId xmlns:a16="http://schemas.microsoft.com/office/drawing/2014/main" id="{750C9D81-9282-037B-0D0D-916A82C602CE}"/>
              </a:ext>
            </a:extLst>
          </p:cNvPr>
          <p:cNvSpPr txBox="1">
            <a:spLocks/>
          </p:cNvSpPr>
          <p:nvPr/>
        </p:nvSpPr>
        <p:spPr>
          <a:xfrm>
            <a:off x="3486806" y="5646904"/>
            <a:ext cx="9393848" cy="712765"/>
          </a:xfrm>
          <a:prstGeom prst="rect">
            <a:avLst/>
          </a:prstGeom>
        </p:spPr>
        <p:txBody>
          <a:bodyPr/>
          <a:lstStyle>
            <a:lvl1pPr algn="l" defTabSz="685800" rtl="0" eaLnBrk="1" latinLnBrk="0" hangingPunct="1">
              <a:lnSpc>
                <a:spcPct val="90000"/>
              </a:lnSpc>
              <a:spcBef>
                <a:spcPct val="0"/>
              </a:spcBef>
              <a:buNone/>
              <a:defRPr lang="en-US" sz="3600" b="1" kern="1200" spc="-38" baseline="0" dirty="0">
                <a:solidFill>
                  <a:srgbClr val="002060"/>
                </a:solidFill>
                <a:latin typeface="+mn-lt"/>
                <a:ea typeface="+mj-ea"/>
                <a:cs typeface="+mj-cs"/>
              </a:defRPr>
            </a:lvl1pPr>
          </a:lstStyle>
          <a:p>
            <a:pPr marL="0" marR="0" lvl="0" indent="0" algn="l" defTabSz="685800" rtl="0" eaLnBrk="1" fontAlgn="auto" latinLnBrk="0" hangingPunct="1">
              <a:lnSpc>
                <a:spcPct val="90000"/>
              </a:lnSpc>
              <a:spcBef>
                <a:spcPct val="0"/>
              </a:spcBef>
              <a:spcAft>
                <a:spcPts val="0"/>
              </a:spcAft>
              <a:buClrTx/>
              <a:buSzTx/>
              <a:buFontTx/>
              <a:buNone/>
              <a:tabLst/>
              <a:defRPr/>
            </a:pPr>
            <a:r>
              <a:rPr kumimoji="0" lang="en-US" sz="3600" b="1" i="0" u="none" strike="noStrike" kern="1200" cap="none" spc="-38" normalizeH="0" baseline="0" noProof="0" dirty="0">
                <a:ln>
                  <a:noFill/>
                </a:ln>
                <a:solidFill>
                  <a:prstClr val="black"/>
                </a:solidFill>
                <a:effectLst/>
                <a:uLnTx/>
                <a:uFillTx/>
                <a:latin typeface="ADLaM Display" panose="02010000000000000000" pitchFamily="2" charset="0"/>
                <a:ea typeface="ADLaM Display" panose="02010000000000000000" pitchFamily="2" charset="0"/>
                <a:cs typeface="ADLaM Display" panose="02010000000000000000" pitchFamily="2" charset="0"/>
              </a:rPr>
              <a:t>👉🏿 To get all the </a:t>
            </a:r>
            <a:r>
              <a:rPr kumimoji="0" lang="en-US" sz="3600" b="1" i="0" u="none" strike="noStrike" kern="1200" cap="none" spc="-38" normalizeH="0" baseline="0" noProof="0" dirty="0">
                <a:ln>
                  <a:noFill/>
                </a:ln>
                <a:solidFill>
                  <a:srgbClr val="FFC000"/>
                </a:solidFill>
                <a:effectLst/>
                <a:uLnTx/>
                <a:uFillTx/>
                <a:latin typeface="ADLaM Display" panose="02010000000000000000" pitchFamily="2" charset="0"/>
                <a:ea typeface="ADLaM Display" panose="02010000000000000000" pitchFamily="2" charset="0"/>
                <a:cs typeface="ADLaM Display" panose="02010000000000000000" pitchFamily="2" charset="0"/>
                <a:hlinkClick r:id="rId8">
                  <a:extLst>
                    <a:ext uri="{A12FA001-AC4F-418D-AE19-62706E023703}">
                      <ahyp:hlinkClr xmlns:ahyp="http://schemas.microsoft.com/office/drawing/2018/hyperlinkcolor" val="tx"/>
                    </a:ext>
                  </a:extLst>
                </a:hlinkClick>
              </a:rPr>
              <a:t>data sources</a:t>
            </a:r>
            <a:endParaRPr kumimoji="0" lang="en-US" sz="3600" b="1" i="0" u="none" strike="noStrike" kern="1200" cap="none" spc="-38" normalizeH="0" baseline="0" noProof="0" dirty="0">
              <a:ln>
                <a:noFill/>
              </a:ln>
              <a:solidFill>
                <a:srgbClr val="FFC000"/>
              </a:solidFill>
              <a:effectLst/>
              <a:uLnTx/>
              <a:uFillTx/>
              <a:latin typeface="ADLaM Display" panose="02010000000000000000" pitchFamily="2" charset="0"/>
              <a:ea typeface="ADLaM Display" panose="02010000000000000000" pitchFamily="2" charset="0"/>
              <a:cs typeface="ADLaM Display" panose="02010000000000000000" pitchFamily="2" charset="0"/>
            </a:endParaRPr>
          </a:p>
        </p:txBody>
      </p:sp>
    </p:spTree>
    <p:extLst>
      <p:ext uri="{BB962C8B-B14F-4D97-AF65-F5344CB8AC3E}">
        <p14:creationId xmlns:p14="http://schemas.microsoft.com/office/powerpoint/2010/main" val="328201962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18061-013F-ED07-5908-4A7FD7F35136}"/>
              </a:ext>
            </a:extLst>
          </p:cNvPr>
          <p:cNvSpPr>
            <a:spLocks noGrp="1"/>
          </p:cNvSpPr>
          <p:nvPr>
            <p:ph type="title"/>
          </p:nvPr>
        </p:nvSpPr>
        <p:spPr/>
        <p:txBody>
          <a:bodyPr/>
          <a:lstStyle/>
          <a:p>
            <a:r>
              <a:rPr lang="en-US"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Connecting</a:t>
            </a:r>
            <a:r>
              <a:rPr lang="en-US" dirty="0">
                <a:latin typeface="ADLaM Display" panose="02010000000000000000" pitchFamily="2" charset="0"/>
                <a:ea typeface="ADLaM Display" panose="02010000000000000000" pitchFamily="2" charset="0"/>
                <a:cs typeface="ADLaM Display" panose="02010000000000000000" pitchFamily="2" charset="0"/>
              </a:rPr>
              <a:t> to Data</a:t>
            </a:r>
          </a:p>
        </p:txBody>
      </p:sp>
      <p:sp>
        <p:nvSpPr>
          <p:cNvPr id="3" name="Text Placeholder 2">
            <a:extLst>
              <a:ext uri="{FF2B5EF4-FFF2-40B4-BE49-F238E27FC236}">
                <a16:creationId xmlns:a16="http://schemas.microsoft.com/office/drawing/2014/main" id="{D11619DA-4249-04EE-03FD-9A9F20E11207}"/>
              </a:ext>
            </a:extLst>
          </p:cNvPr>
          <p:cNvSpPr>
            <a:spLocks noGrp="1"/>
          </p:cNvSpPr>
          <p:nvPr>
            <p:ph type="body" sz="quarter" idx="14"/>
          </p:nvPr>
        </p:nvSpPr>
        <p:spPr>
          <a:xfrm>
            <a:off x="6448928" y="1683927"/>
            <a:ext cx="6042344" cy="4925419"/>
          </a:xfrm>
        </p:spPr>
        <p:txBody>
          <a:bodyPr/>
          <a:lstStyle/>
          <a:p>
            <a:pPr marL="457200" indent="-457200">
              <a:buFont typeface="+mj-lt"/>
              <a:buAutoNum type="arabicPeriod"/>
            </a:pPr>
            <a:r>
              <a:rPr lang="en-US" dirty="0">
                <a:latin typeface="ADLaM Display" panose="02010000000000000000" pitchFamily="2" charset="0"/>
                <a:ea typeface="ADLaM Display" panose="02010000000000000000" pitchFamily="2" charset="0"/>
                <a:cs typeface="ADLaM Display" panose="02010000000000000000" pitchFamily="2" charset="0"/>
              </a:rPr>
              <a:t> Open Power BI Desktop</a:t>
            </a:r>
          </a:p>
          <a:p>
            <a:pPr marL="457200" indent="-457200">
              <a:buFont typeface="+mj-lt"/>
              <a:buAutoNum type="arabicPeriod"/>
            </a:pPr>
            <a:r>
              <a:rPr lang="en-US" dirty="0">
                <a:latin typeface="ADLaM Display" panose="02010000000000000000" pitchFamily="2" charset="0"/>
                <a:ea typeface="ADLaM Display" panose="02010000000000000000" pitchFamily="2" charset="0"/>
                <a:cs typeface="ADLaM Display" panose="02010000000000000000" pitchFamily="2" charset="0"/>
              </a:rPr>
              <a:t> Click </a:t>
            </a:r>
            <a:r>
              <a:rPr lang="en-US" b="1"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Get Data</a:t>
            </a:r>
          </a:p>
          <a:p>
            <a:pPr marL="457200" indent="-457200">
              <a:buFont typeface="+mj-lt"/>
              <a:buAutoNum type="arabicPeriod"/>
            </a:pPr>
            <a:r>
              <a:rPr lang="en-US" dirty="0">
                <a:latin typeface="ADLaM Display" panose="02010000000000000000" pitchFamily="2" charset="0"/>
                <a:ea typeface="ADLaM Display" panose="02010000000000000000" pitchFamily="2" charset="0"/>
                <a:cs typeface="ADLaM Display" panose="02010000000000000000" pitchFamily="2" charset="0"/>
              </a:rPr>
              <a:t> Choose a data source</a:t>
            </a:r>
          </a:p>
          <a:p>
            <a:pPr marL="457200" indent="-457200">
              <a:buFont typeface="+mj-lt"/>
              <a:buAutoNum type="arabicPeriod"/>
            </a:pPr>
            <a:r>
              <a:rPr lang="en-US" dirty="0">
                <a:latin typeface="ADLaM Display" panose="02010000000000000000" pitchFamily="2" charset="0"/>
                <a:ea typeface="ADLaM Display" panose="02010000000000000000" pitchFamily="2" charset="0"/>
                <a:cs typeface="ADLaM Display" panose="02010000000000000000" pitchFamily="2" charset="0"/>
              </a:rPr>
              <a:t> Connect using credentials (if needed)</a:t>
            </a:r>
          </a:p>
          <a:p>
            <a:pPr marL="457200" indent="-457200">
              <a:buFont typeface="+mj-lt"/>
              <a:buAutoNum type="arabicPeriod"/>
            </a:pPr>
            <a:r>
              <a:rPr lang="en-US" dirty="0">
                <a:latin typeface="ADLaM Display" panose="02010000000000000000" pitchFamily="2" charset="0"/>
                <a:ea typeface="ADLaM Display" panose="02010000000000000000" pitchFamily="2" charset="0"/>
                <a:cs typeface="ADLaM Display" panose="02010000000000000000" pitchFamily="2" charset="0"/>
              </a:rPr>
              <a:t> Load or Transform data</a:t>
            </a:r>
          </a:p>
          <a:p>
            <a:pPr marL="457200" indent="-457200">
              <a:buFont typeface="+mj-lt"/>
              <a:buAutoNum type="arabicPeriod"/>
            </a:pPr>
            <a:r>
              <a:rPr lang="en-US" dirty="0">
                <a:latin typeface="ADLaM Display" panose="02010000000000000000" pitchFamily="2" charset="0"/>
                <a:ea typeface="ADLaM Display" panose="02010000000000000000" pitchFamily="2" charset="0"/>
                <a:cs typeface="ADLaM Display" panose="02010000000000000000" pitchFamily="2" charset="0"/>
              </a:rPr>
              <a:t> Build your data model</a:t>
            </a:r>
          </a:p>
          <a:p>
            <a:pPr marL="457200" indent="-457200">
              <a:buFont typeface="+mj-lt"/>
              <a:buAutoNum type="arabicPeriod"/>
            </a:pPr>
            <a:endParaRPr lang="en-US" dirty="0">
              <a:latin typeface="ADLaM Display" panose="02010000000000000000" pitchFamily="2" charset="0"/>
              <a:ea typeface="ADLaM Display" panose="02010000000000000000" pitchFamily="2" charset="0"/>
              <a:cs typeface="ADLaM Display" panose="02010000000000000000" pitchFamily="2" charset="0"/>
            </a:endParaRPr>
          </a:p>
          <a:p>
            <a:pPr marL="0" indent="0">
              <a:buNone/>
            </a:pPr>
            <a:r>
              <a:rPr lang="en-US" dirty="0">
                <a:latin typeface="ADLaM Display" panose="02010000000000000000" pitchFamily="2" charset="0"/>
                <a:ea typeface="ADLaM Display" panose="02010000000000000000" pitchFamily="2" charset="0"/>
                <a:cs typeface="ADLaM Display" panose="02010000000000000000" pitchFamily="2" charset="0"/>
              </a:rPr>
              <a:t>👉🏿 </a:t>
            </a:r>
            <a:r>
              <a:rPr lang="en-US" b="1"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Two options</a:t>
            </a:r>
            <a:r>
              <a:rPr lang="en-US" dirty="0">
                <a:latin typeface="ADLaM Display" panose="02010000000000000000" pitchFamily="2" charset="0"/>
                <a:ea typeface="ADLaM Display" panose="02010000000000000000" pitchFamily="2" charset="0"/>
                <a:cs typeface="ADLaM Display" panose="02010000000000000000" pitchFamily="2" charset="0"/>
              </a:rPr>
              <a:t>:</a:t>
            </a:r>
          </a:p>
          <a:p>
            <a:pPr>
              <a:buFont typeface="Wingdings" panose="05000000000000000000" pitchFamily="2" charset="2"/>
              <a:buChar char="Ø"/>
            </a:pPr>
            <a:r>
              <a:rPr lang="en-US" dirty="0">
                <a:latin typeface="ADLaM Display" panose="02010000000000000000" pitchFamily="2" charset="0"/>
                <a:ea typeface="ADLaM Display" panose="02010000000000000000" pitchFamily="2" charset="0"/>
                <a:cs typeface="ADLaM Display" panose="02010000000000000000" pitchFamily="2" charset="0"/>
              </a:rPr>
              <a:t> Load (directly use data)</a:t>
            </a:r>
          </a:p>
          <a:p>
            <a:pPr>
              <a:buFont typeface="Wingdings" panose="05000000000000000000" pitchFamily="2" charset="2"/>
              <a:buChar char="Ø"/>
            </a:pPr>
            <a:r>
              <a:rPr lang="en-US" dirty="0">
                <a:latin typeface="ADLaM Display" panose="02010000000000000000" pitchFamily="2" charset="0"/>
                <a:ea typeface="ADLaM Display" panose="02010000000000000000" pitchFamily="2" charset="0"/>
                <a:cs typeface="ADLaM Display" panose="02010000000000000000" pitchFamily="2" charset="0"/>
              </a:rPr>
              <a:t> Transform Data (clean before use)</a:t>
            </a:r>
          </a:p>
        </p:txBody>
      </p:sp>
      <p:pic>
        <p:nvPicPr>
          <p:cNvPr id="4" name="Picture 3" descr="Screenshot that shows the Get Data icon and the Get Data dialog box in Power BI Desktop.">
            <a:extLst>
              <a:ext uri="{FF2B5EF4-FFF2-40B4-BE49-F238E27FC236}">
                <a16:creationId xmlns:a16="http://schemas.microsoft.com/office/drawing/2014/main" id="{9D9A6EFA-66B1-59D6-493F-C96F39E834A2}"/>
              </a:ext>
            </a:extLst>
          </p:cNvPr>
          <p:cNvPicPr>
            <a:picLocks noChangeAspect="1"/>
          </p:cNvPicPr>
          <p:nvPr/>
        </p:nvPicPr>
        <p:blipFill>
          <a:blip r:embed="rId2"/>
          <a:stretch>
            <a:fillRect/>
          </a:stretch>
        </p:blipFill>
        <p:spPr>
          <a:xfrm>
            <a:off x="759509" y="1375737"/>
            <a:ext cx="4983565" cy="5377498"/>
          </a:xfrm>
          <a:prstGeom prst="rect">
            <a:avLst/>
          </a:prstGeom>
        </p:spPr>
      </p:pic>
    </p:spTree>
    <p:extLst>
      <p:ext uri="{BB962C8B-B14F-4D97-AF65-F5344CB8AC3E}">
        <p14:creationId xmlns:p14="http://schemas.microsoft.com/office/powerpoint/2010/main" val="408679228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BF657-95A1-FC20-4391-009F52864DBB}"/>
              </a:ext>
            </a:extLst>
          </p:cNvPr>
          <p:cNvSpPr>
            <a:spLocks noGrp="1"/>
          </p:cNvSpPr>
          <p:nvPr>
            <p:ph type="title"/>
          </p:nvPr>
        </p:nvSpPr>
        <p:spPr/>
        <p:txBody>
          <a:bodyPr/>
          <a:lstStyle/>
          <a:p>
            <a:r>
              <a:rPr lang="en-US" dirty="0">
                <a:latin typeface="ADLaM Display" panose="02010000000000000000" pitchFamily="2" charset="0"/>
                <a:ea typeface="ADLaM Display" panose="02010000000000000000" pitchFamily="2" charset="0"/>
                <a:cs typeface="ADLaM Display" panose="02010000000000000000" pitchFamily="2" charset="0"/>
              </a:rPr>
              <a:t>Import Mode </a:t>
            </a:r>
            <a:r>
              <a:rPr lang="en-US"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Vs</a:t>
            </a:r>
            <a:r>
              <a:rPr lang="en-US" dirty="0">
                <a:latin typeface="ADLaM Display" panose="02010000000000000000" pitchFamily="2" charset="0"/>
                <a:ea typeface="ADLaM Display" panose="02010000000000000000" pitchFamily="2" charset="0"/>
                <a:cs typeface="ADLaM Display" panose="02010000000000000000" pitchFamily="2" charset="0"/>
              </a:rPr>
              <a:t> Direct Query</a:t>
            </a:r>
          </a:p>
        </p:txBody>
      </p:sp>
      <p:graphicFrame>
        <p:nvGraphicFramePr>
          <p:cNvPr id="4" name="Table 3">
            <a:extLst>
              <a:ext uri="{FF2B5EF4-FFF2-40B4-BE49-F238E27FC236}">
                <a16:creationId xmlns:a16="http://schemas.microsoft.com/office/drawing/2014/main" id="{0F4078C3-6788-3CD0-16E8-E5301670453A}"/>
              </a:ext>
            </a:extLst>
          </p:cNvPr>
          <p:cNvGraphicFramePr>
            <a:graphicFrameLocks noGrp="1"/>
          </p:cNvGraphicFramePr>
          <p:nvPr/>
        </p:nvGraphicFramePr>
        <p:xfrm>
          <a:off x="899302" y="1580394"/>
          <a:ext cx="10393395" cy="4224215"/>
        </p:xfrm>
        <a:graphic>
          <a:graphicData uri="http://schemas.openxmlformats.org/drawingml/2006/table">
            <a:tbl>
              <a:tblPr firstRow="1" bandRow="1">
                <a:tableStyleId>{5C22544A-7EE6-4342-B048-85BDC9FD1C3A}</a:tableStyleId>
              </a:tblPr>
              <a:tblGrid>
                <a:gridCol w="3464465">
                  <a:extLst>
                    <a:ext uri="{9D8B030D-6E8A-4147-A177-3AD203B41FA5}">
                      <a16:colId xmlns:a16="http://schemas.microsoft.com/office/drawing/2014/main" val="2384811825"/>
                    </a:ext>
                  </a:extLst>
                </a:gridCol>
                <a:gridCol w="3464465">
                  <a:extLst>
                    <a:ext uri="{9D8B030D-6E8A-4147-A177-3AD203B41FA5}">
                      <a16:colId xmlns:a16="http://schemas.microsoft.com/office/drawing/2014/main" val="116356935"/>
                    </a:ext>
                  </a:extLst>
                </a:gridCol>
                <a:gridCol w="3464465">
                  <a:extLst>
                    <a:ext uri="{9D8B030D-6E8A-4147-A177-3AD203B41FA5}">
                      <a16:colId xmlns:a16="http://schemas.microsoft.com/office/drawing/2014/main" val="308172036"/>
                    </a:ext>
                  </a:extLst>
                </a:gridCol>
              </a:tblGrid>
              <a:tr h="844843">
                <a:tc>
                  <a:txBody>
                    <a:bodyPr/>
                    <a:lstStyle/>
                    <a:p>
                      <a:pPr algn="ctr"/>
                      <a:r>
                        <a:rPr lang="en-US" sz="2800" dirty="0">
                          <a:latin typeface="ADLaM Display" panose="02010000000000000000" pitchFamily="2" charset="0"/>
                          <a:ea typeface="ADLaM Display" panose="02010000000000000000" pitchFamily="2" charset="0"/>
                          <a:cs typeface="ADLaM Display" panose="02010000000000000000" pitchFamily="2" charset="0"/>
                        </a:rPr>
                        <a:t>Feature</a:t>
                      </a:r>
                    </a:p>
                  </a:txBody>
                  <a:tcPr>
                    <a:solidFill>
                      <a:srgbClr val="FFC000"/>
                    </a:solidFill>
                  </a:tcPr>
                </a:tc>
                <a:tc>
                  <a:txBody>
                    <a:bodyPr/>
                    <a:lstStyle/>
                    <a:p>
                      <a:pPr algn="ctr"/>
                      <a:r>
                        <a:rPr lang="en-US" sz="2800" dirty="0">
                          <a:latin typeface="ADLaM Display" panose="02010000000000000000" pitchFamily="2" charset="0"/>
                          <a:ea typeface="ADLaM Display" panose="02010000000000000000" pitchFamily="2" charset="0"/>
                          <a:cs typeface="ADLaM Display" panose="02010000000000000000" pitchFamily="2" charset="0"/>
                        </a:rPr>
                        <a:t>Import Mode</a:t>
                      </a:r>
                    </a:p>
                  </a:txBody>
                  <a:tcPr>
                    <a:solidFill>
                      <a:srgbClr val="FFC000"/>
                    </a:solidFill>
                  </a:tcPr>
                </a:tc>
                <a:tc>
                  <a:txBody>
                    <a:bodyPr/>
                    <a:lstStyle/>
                    <a:p>
                      <a:pPr algn="ctr"/>
                      <a:r>
                        <a:rPr lang="en-US" sz="2800" dirty="0">
                          <a:latin typeface="ADLaM Display" panose="02010000000000000000" pitchFamily="2" charset="0"/>
                          <a:ea typeface="ADLaM Display" panose="02010000000000000000" pitchFamily="2" charset="0"/>
                          <a:cs typeface="ADLaM Display" panose="02010000000000000000" pitchFamily="2" charset="0"/>
                        </a:rPr>
                        <a:t>DirectQuery Mode</a:t>
                      </a:r>
                    </a:p>
                  </a:txBody>
                  <a:tcPr>
                    <a:solidFill>
                      <a:srgbClr val="FFC000"/>
                    </a:solidFill>
                  </a:tcPr>
                </a:tc>
                <a:extLst>
                  <a:ext uri="{0D108BD9-81ED-4DB2-BD59-A6C34878D82A}">
                    <a16:rowId xmlns:a16="http://schemas.microsoft.com/office/drawing/2014/main" val="362808023"/>
                  </a:ext>
                </a:extLst>
              </a:tr>
              <a:tr h="844843">
                <a:tc>
                  <a:txBody>
                    <a:bodyPr/>
                    <a:lstStyle/>
                    <a:p>
                      <a:r>
                        <a:rPr lang="en-US" sz="2400" dirty="0">
                          <a:latin typeface="ADLaM Display" panose="02010000000000000000" pitchFamily="2" charset="0"/>
                          <a:ea typeface="ADLaM Display" panose="02010000000000000000" pitchFamily="2" charset="0"/>
                          <a:cs typeface="ADLaM Display" panose="02010000000000000000" pitchFamily="2" charset="0"/>
                        </a:rPr>
                        <a:t>Performance</a:t>
                      </a:r>
                    </a:p>
                  </a:txBody>
                  <a:tcPr>
                    <a:solidFill>
                      <a:schemeClr val="bg1"/>
                    </a:solidFill>
                  </a:tcPr>
                </a:tc>
                <a:tc>
                  <a:txBody>
                    <a:bodyPr/>
                    <a:lstStyle/>
                    <a:p>
                      <a:r>
                        <a:rPr lang="en-US" sz="2400" dirty="0">
                          <a:latin typeface="ADLaM Display" panose="02010000000000000000" pitchFamily="2" charset="0"/>
                          <a:ea typeface="ADLaM Display" panose="02010000000000000000" pitchFamily="2" charset="0"/>
                          <a:cs typeface="ADLaM Display" panose="02010000000000000000" pitchFamily="2" charset="0"/>
                        </a:rPr>
                        <a:t>⚡Very fast</a:t>
                      </a:r>
                    </a:p>
                  </a:txBody>
                  <a:tcPr>
                    <a:solidFill>
                      <a:schemeClr val="bg1"/>
                    </a:solidFill>
                  </a:tcPr>
                </a:tc>
                <a:tc>
                  <a:txBody>
                    <a:bodyPr/>
                    <a:lstStyle/>
                    <a:p>
                      <a:r>
                        <a:rPr lang="en-US" sz="2400" dirty="0">
                          <a:latin typeface="ADLaM Display" panose="02010000000000000000" pitchFamily="2" charset="0"/>
                          <a:ea typeface="ADLaM Display" panose="02010000000000000000" pitchFamily="2" charset="0"/>
                          <a:cs typeface="ADLaM Display" panose="02010000000000000000" pitchFamily="2" charset="0"/>
                        </a:rPr>
                        <a:t>🗄️Depends on data source</a:t>
                      </a:r>
                    </a:p>
                  </a:txBody>
                  <a:tcPr>
                    <a:solidFill>
                      <a:schemeClr val="bg1"/>
                    </a:solidFill>
                  </a:tcPr>
                </a:tc>
                <a:extLst>
                  <a:ext uri="{0D108BD9-81ED-4DB2-BD59-A6C34878D82A}">
                    <a16:rowId xmlns:a16="http://schemas.microsoft.com/office/drawing/2014/main" val="1971840143"/>
                  </a:ext>
                </a:extLst>
              </a:tr>
              <a:tr h="844843">
                <a:tc>
                  <a:txBody>
                    <a:bodyPr/>
                    <a:lstStyle/>
                    <a:p>
                      <a:r>
                        <a:rPr lang="en-US" sz="2400" dirty="0">
                          <a:latin typeface="ADLaM Display" panose="02010000000000000000" pitchFamily="2" charset="0"/>
                          <a:ea typeface="ADLaM Display" panose="02010000000000000000" pitchFamily="2" charset="0"/>
                          <a:cs typeface="ADLaM Display" panose="02010000000000000000" pitchFamily="2" charset="0"/>
                        </a:rPr>
                        <a:t>Supports Full DAX &amp; Modeling </a:t>
                      </a:r>
                    </a:p>
                  </a:txBody>
                  <a:tcPr>
                    <a:solidFill>
                      <a:schemeClr val="bg1"/>
                    </a:solidFill>
                  </a:tcPr>
                </a:tc>
                <a:tc>
                  <a:txBody>
                    <a:bodyPr/>
                    <a:lstStyle/>
                    <a:p>
                      <a:r>
                        <a:rPr lang="en-US" sz="2400" dirty="0">
                          <a:latin typeface="ADLaM Display" panose="02010000000000000000" pitchFamily="2" charset="0"/>
                          <a:ea typeface="ADLaM Display" panose="02010000000000000000" pitchFamily="2" charset="0"/>
                          <a:cs typeface="ADLaM Display" panose="02010000000000000000" pitchFamily="2" charset="0"/>
                        </a:rPr>
                        <a:t>✅ Yes</a:t>
                      </a:r>
                    </a:p>
                  </a:txBody>
                  <a:tcPr>
                    <a:solidFill>
                      <a:schemeClr val="bg1"/>
                    </a:solidFill>
                  </a:tcPr>
                </a:tc>
                <a:tc>
                  <a:txBody>
                    <a:bodyPr/>
                    <a:lstStyle/>
                    <a:p>
                      <a:r>
                        <a:rPr lang="en-US" sz="2400" dirty="0">
                          <a:latin typeface="ADLaM Display" panose="02010000000000000000" pitchFamily="2" charset="0"/>
                          <a:ea typeface="ADLaM Display" panose="02010000000000000000" pitchFamily="2" charset="0"/>
                          <a:cs typeface="ADLaM Display" panose="02010000000000000000" pitchFamily="2" charset="0"/>
                        </a:rPr>
                        <a:t>❌ Limited</a:t>
                      </a:r>
                    </a:p>
                  </a:txBody>
                  <a:tcPr>
                    <a:solidFill>
                      <a:schemeClr val="bg1"/>
                    </a:solidFill>
                  </a:tcPr>
                </a:tc>
                <a:extLst>
                  <a:ext uri="{0D108BD9-81ED-4DB2-BD59-A6C34878D82A}">
                    <a16:rowId xmlns:a16="http://schemas.microsoft.com/office/drawing/2014/main" val="2565846869"/>
                  </a:ext>
                </a:extLst>
              </a:tr>
              <a:tr h="844843">
                <a:tc>
                  <a:txBody>
                    <a:bodyPr/>
                    <a:lstStyle/>
                    <a:p>
                      <a:r>
                        <a:rPr lang="en-US" sz="2400" dirty="0">
                          <a:latin typeface="ADLaM Display" panose="02010000000000000000" pitchFamily="2" charset="0"/>
                          <a:ea typeface="ADLaM Display" panose="02010000000000000000" pitchFamily="2" charset="0"/>
                          <a:cs typeface="ADLaM Display" panose="02010000000000000000" pitchFamily="2" charset="0"/>
                        </a:rPr>
                        <a:t>Offline Access</a:t>
                      </a:r>
                    </a:p>
                  </a:txBody>
                  <a:tcPr>
                    <a:solidFill>
                      <a:schemeClr val="bg1"/>
                    </a:solidFill>
                  </a:tcPr>
                </a:tc>
                <a:tc>
                  <a:txBody>
                    <a:bodyPr/>
                    <a:lstStyle/>
                    <a:p>
                      <a:r>
                        <a:rPr lang="en-US" sz="2400" dirty="0">
                          <a:latin typeface="ADLaM Display" panose="02010000000000000000" pitchFamily="2" charset="0"/>
                          <a:ea typeface="ADLaM Display" panose="02010000000000000000" pitchFamily="2" charset="0"/>
                          <a:cs typeface="ADLaM Display" panose="02010000000000000000" pitchFamily="2" charset="0"/>
                        </a:rPr>
                        <a:t>✅ Yes</a:t>
                      </a:r>
                    </a:p>
                  </a:txBody>
                  <a:tcPr>
                    <a:solidFill>
                      <a:schemeClr val="bg1"/>
                    </a:solidFill>
                  </a:tcPr>
                </a:tc>
                <a:tc>
                  <a:txBody>
                    <a:bodyPr/>
                    <a:lstStyle/>
                    <a:p>
                      <a:r>
                        <a:rPr lang="en-US" sz="2400" dirty="0">
                          <a:latin typeface="ADLaM Display" panose="02010000000000000000" pitchFamily="2" charset="0"/>
                          <a:ea typeface="ADLaM Display" panose="02010000000000000000" pitchFamily="2" charset="0"/>
                          <a:cs typeface="ADLaM Display" panose="02010000000000000000" pitchFamily="2" charset="0"/>
                        </a:rPr>
                        <a:t>❌ No</a:t>
                      </a:r>
                    </a:p>
                  </a:txBody>
                  <a:tcPr>
                    <a:solidFill>
                      <a:schemeClr val="bg1"/>
                    </a:solidFill>
                  </a:tcPr>
                </a:tc>
                <a:extLst>
                  <a:ext uri="{0D108BD9-81ED-4DB2-BD59-A6C34878D82A}">
                    <a16:rowId xmlns:a16="http://schemas.microsoft.com/office/drawing/2014/main" val="3738497545"/>
                  </a:ext>
                </a:extLst>
              </a:tr>
              <a:tr h="844843">
                <a:tc>
                  <a:txBody>
                    <a:bodyPr/>
                    <a:lstStyle/>
                    <a:p>
                      <a:r>
                        <a:rPr lang="en-US" sz="2400" dirty="0">
                          <a:latin typeface="ADLaM Display" panose="02010000000000000000" pitchFamily="2" charset="0"/>
                          <a:ea typeface="ADLaM Display" panose="02010000000000000000" pitchFamily="2" charset="0"/>
                          <a:cs typeface="ADLaM Display" panose="02010000000000000000" pitchFamily="2" charset="0"/>
                        </a:rPr>
                        <a:t>Auto-Refresh</a:t>
                      </a:r>
                    </a:p>
                  </a:txBody>
                  <a:tcPr>
                    <a:solidFill>
                      <a:schemeClr val="bg1"/>
                    </a:solidFill>
                  </a:tcPr>
                </a:tc>
                <a:tc>
                  <a:txBody>
                    <a:bodyPr/>
                    <a:lstStyle/>
                    <a:p>
                      <a:r>
                        <a:rPr lang="en-US" sz="2400" dirty="0">
                          <a:latin typeface="ADLaM Display" panose="02010000000000000000" pitchFamily="2" charset="0"/>
                          <a:ea typeface="ADLaM Display" panose="02010000000000000000" pitchFamily="2" charset="0"/>
                          <a:cs typeface="ADLaM Display" panose="02010000000000000000" pitchFamily="2" charset="0"/>
                        </a:rPr>
                        <a:t>❌ No (must schedule it)</a:t>
                      </a:r>
                    </a:p>
                  </a:txBody>
                  <a:tcPr>
                    <a:solidFill>
                      <a:schemeClr val="bg1"/>
                    </a:solidFill>
                  </a:tcPr>
                </a:tc>
                <a:tc>
                  <a:txBody>
                    <a:bodyPr/>
                    <a:lstStyle/>
                    <a:p>
                      <a:r>
                        <a:rPr lang="en-US" sz="2400" dirty="0">
                          <a:latin typeface="ADLaM Display" panose="02010000000000000000" pitchFamily="2" charset="0"/>
                          <a:ea typeface="ADLaM Display" panose="02010000000000000000" pitchFamily="2" charset="0"/>
                          <a:cs typeface="ADLaM Display" panose="02010000000000000000" pitchFamily="2" charset="0"/>
                        </a:rPr>
                        <a:t>✅ Yes (always live)</a:t>
                      </a:r>
                    </a:p>
                  </a:txBody>
                  <a:tcPr>
                    <a:solidFill>
                      <a:schemeClr val="bg1"/>
                    </a:solidFill>
                  </a:tcPr>
                </a:tc>
                <a:extLst>
                  <a:ext uri="{0D108BD9-81ED-4DB2-BD59-A6C34878D82A}">
                    <a16:rowId xmlns:a16="http://schemas.microsoft.com/office/drawing/2014/main" val="2953588070"/>
                  </a:ext>
                </a:extLst>
              </a:tr>
            </a:tbl>
          </a:graphicData>
        </a:graphic>
      </p:graphicFrame>
    </p:spTree>
    <p:extLst>
      <p:ext uri="{BB962C8B-B14F-4D97-AF65-F5344CB8AC3E}">
        <p14:creationId xmlns:p14="http://schemas.microsoft.com/office/powerpoint/2010/main" val="292845989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F5A90-AA8E-3BC5-7BC7-E30B26CE2283}"/>
              </a:ext>
            </a:extLst>
          </p:cNvPr>
          <p:cNvSpPr>
            <a:spLocks noGrp="1"/>
          </p:cNvSpPr>
          <p:nvPr>
            <p:ph type="title"/>
          </p:nvPr>
        </p:nvSpPr>
        <p:spPr/>
        <p:txBody>
          <a:bodyPr/>
          <a:lstStyle/>
          <a:p>
            <a:r>
              <a:rPr lang="en-US"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Publishing</a:t>
            </a:r>
            <a:r>
              <a:rPr lang="en-US" dirty="0">
                <a:latin typeface="ADLaM Display" panose="02010000000000000000" pitchFamily="2" charset="0"/>
                <a:ea typeface="ADLaM Display" panose="02010000000000000000" pitchFamily="2" charset="0"/>
                <a:cs typeface="ADLaM Display" panose="02010000000000000000" pitchFamily="2" charset="0"/>
              </a:rPr>
              <a:t> Power BI Reports</a:t>
            </a:r>
          </a:p>
        </p:txBody>
      </p:sp>
      <p:sp>
        <p:nvSpPr>
          <p:cNvPr id="3" name="Text Placeholder 2">
            <a:extLst>
              <a:ext uri="{FF2B5EF4-FFF2-40B4-BE49-F238E27FC236}">
                <a16:creationId xmlns:a16="http://schemas.microsoft.com/office/drawing/2014/main" id="{6C732AB8-F17D-A6AE-BECA-0F595D46F905}"/>
              </a:ext>
            </a:extLst>
          </p:cNvPr>
          <p:cNvSpPr>
            <a:spLocks noGrp="1"/>
          </p:cNvSpPr>
          <p:nvPr>
            <p:ph type="body" sz="quarter" idx="14"/>
          </p:nvPr>
        </p:nvSpPr>
        <p:spPr>
          <a:xfrm>
            <a:off x="6845300" y="1644184"/>
            <a:ext cx="5132622" cy="4713009"/>
          </a:xfrm>
        </p:spPr>
        <p:txBody>
          <a:bodyPr/>
          <a:lstStyle/>
          <a:p>
            <a:pPr algn="just"/>
            <a:r>
              <a:rPr lang="en-US" dirty="0"/>
              <a:t> Microsoft Power BI provides a seamless workflow for creating and sharing interactive reports and dashboards.</a:t>
            </a:r>
          </a:p>
          <a:p>
            <a:pPr algn="just"/>
            <a:r>
              <a:rPr lang="en-US" dirty="0"/>
              <a:t> After designing a report using Power BI Desktop, you can </a:t>
            </a:r>
            <a:r>
              <a:rPr lang="en-US" dirty="0">
                <a:ea typeface="ADLaM Display" panose="02010000000000000000" pitchFamily="2" charset="0"/>
                <a:cs typeface="ADLaM Display" panose="02010000000000000000" pitchFamily="2" charset="0"/>
              </a:rPr>
              <a:t>publish</a:t>
            </a:r>
            <a:r>
              <a:rPr lang="en-US" dirty="0"/>
              <a:t> it to Power BI Online to share it with your team or a wider audience.</a:t>
            </a:r>
          </a:p>
          <a:p>
            <a:pPr algn="just">
              <a:buBlip>
                <a:blip r:embed="rId2"/>
              </a:buBlip>
            </a:pPr>
            <a:r>
              <a:rPr lang="en-US" dirty="0"/>
              <a:t>  In Power BI Desktop, click on the “</a:t>
            </a:r>
            <a:r>
              <a:rPr lang="en-US" b="1"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Publish</a:t>
            </a:r>
            <a:r>
              <a:rPr lang="en-US" dirty="0"/>
              <a:t>” button in the Home tab of the ribbon.</a:t>
            </a:r>
          </a:p>
        </p:txBody>
      </p:sp>
      <p:pic>
        <p:nvPicPr>
          <p:cNvPr id="4" name="Picture 3">
            <a:extLst>
              <a:ext uri="{FF2B5EF4-FFF2-40B4-BE49-F238E27FC236}">
                <a16:creationId xmlns:a16="http://schemas.microsoft.com/office/drawing/2014/main" id="{AFFE6216-0925-42AF-7F2C-2C660A1FF370}"/>
              </a:ext>
            </a:extLst>
          </p:cNvPr>
          <p:cNvPicPr>
            <a:picLocks noChangeAspect="1"/>
          </p:cNvPicPr>
          <p:nvPr/>
        </p:nvPicPr>
        <p:blipFill>
          <a:blip r:embed="rId3"/>
          <a:stretch>
            <a:fillRect/>
          </a:stretch>
        </p:blipFill>
        <p:spPr>
          <a:xfrm>
            <a:off x="214078" y="2220072"/>
            <a:ext cx="6631222" cy="2993744"/>
          </a:xfrm>
          <a:prstGeom prst="rect">
            <a:avLst/>
          </a:prstGeom>
        </p:spPr>
      </p:pic>
    </p:spTree>
    <p:extLst>
      <p:ext uri="{BB962C8B-B14F-4D97-AF65-F5344CB8AC3E}">
        <p14:creationId xmlns:p14="http://schemas.microsoft.com/office/powerpoint/2010/main" val="131559607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B1F75A-ECB8-966D-EE8B-DBFB067FE3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726946-40F5-DECE-8B0F-BA27FD5F5ABF}"/>
              </a:ext>
            </a:extLst>
          </p:cNvPr>
          <p:cNvSpPr>
            <a:spLocks noGrp="1"/>
          </p:cNvSpPr>
          <p:nvPr>
            <p:ph type="title"/>
          </p:nvPr>
        </p:nvSpPr>
        <p:spPr/>
        <p:txBody>
          <a:bodyPr/>
          <a:lstStyle/>
          <a:p>
            <a:r>
              <a:rPr lang="en-US"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 </a:t>
            </a:r>
            <a:r>
              <a:rPr lang="en-US"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Steps</a:t>
            </a:r>
          </a:p>
        </p:txBody>
      </p:sp>
      <p:sp>
        <p:nvSpPr>
          <p:cNvPr id="3" name="Text Placeholder 2">
            <a:extLst>
              <a:ext uri="{FF2B5EF4-FFF2-40B4-BE49-F238E27FC236}">
                <a16:creationId xmlns:a16="http://schemas.microsoft.com/office/drawing/2014/main" id="{1616CE19-F283-B3A3-96D9-6AEE86AE2745}"/>
              </a:ext>
            </a:extLst>
          </p:cNvPr>
          <p:cNvSpPr>
            <a:spLocks noGrp="1"/>
          </p:cNvSpPr>
          <p:nvPr>
            <p:ph type="body" sz="quarter" idx="14"/>
          </p:nvPr>
        </p:nvSpPr>
        <p:spPr>
          <a:xfrm>
            <a:off x="5967663" y="1219447"/>
            <a:ext cx="5994217" cy="5526258"/>
          </a:xfrm>
        </p:spPr>
        <p:txBody>
          <a:bodyPr/>
          <a:lstStyle/>
          <a:p>
            <a:pPr marL="457200" indent="-457200" algn="just">
              <a:buFont typeface="+mj-lt"/>
              <a:buAutoNum type="arabicPeriod"/>
            </a:pPr>
            <a:r>
              <a:rPr lang="en-US" dirty="0"/>
              <a:t>In Power BI Desktop, choose </a:t>
            </a:r>
            <a:r>
              <a:rPr lang="en-US" b="1" dirty="0"/>
              <a:t>File &gt;  Publish &gt; Publish to Power BI </a:t>
            </a:r>
            <a:r>
              <a:rPr lang="en-US" dirty="0"/>
              <a:t>or select </a:t>
            </a:r>
            <a:r>
              <a:rPr lang="en-US" b="1" dirty="0"/>
              <a:t>Publish</a:t>
            </a:r>
            <a:r>
              <a:rPr lang="en-US" dirty="0"/>
              <a:t> on the </a:t>
            </a:r>
            <a:r>
              <a:rPr lang="en-US" b="1" dirty="0"/>
              <a:t>Home</a:t>
            </a:r>
            <a:r>
              <a:rPr lang="en-US" dirty="0"/>
              <a:t> ribbon.</a:t>
            </a:r>
          </a:p>
          <a:p>
            <a:pPr marL="457200" indent="-457200" algn="just">
              <a:buFont typeface="+mj-lt"/>
              <a:buAutoNum type="arabicPeriod"/>
            </a:pPr>
            <a:r>
              <a:rPr lang="en-US" dirty="0"/>
              <a:t>Sign in to Power BI if you aren’t already signed in.</a:t>
            </a:r>
          </a:p>
          <a:p>
            <a:pPr marL="457200" indent="-457200" algn="just">
              <a:buFont typeface="+mj-lt"/>
              <a:buAutoNum type="arabicPeriod"/>
            </a:pPr>
            <a:r>
              <a:rPr lang="en-US" dirty="0"/>
              <a:t>Select the destination. You can search your list of available workspaces to find the workspace into which you want to publish. The search box lets you filter your workspaces. Select the workspace, and then click the </a:t>
            </a:r>
            <a:r>
              <a:rPr lang="en-US" b="1" dirty="0"/>
              <a:t>Select</a:t>
            </a:r>
            <a:r>
              <a:rPr lang="en-US" dirty="0"/>
              <a:t> button to publish.</a:t>
            </a:r>
          </a:p>
          <a:p>
            <a:pPr marL="457200" indent="-457200" algn="just">
              <a:buFont typeface="+mj-lt"/>
              <a:buAutoNum type="arabicPeriod"/>
            </a:pPr>
            <a:r>
              <a:rPr lang="en-US" dirty="0"/>
              <a:t>When publishing is complete, you receive a link to your report. Select the link to open the report in your Power BI site.</a:t>
            </a:r>
          </a:p>
        </p:txBody>
      </p:sp>
      <p:pic>
        <p:nvPicPr>
          <p:cNvPr id="5" name="Picture 4" descr="Screenshot of the Publish to Power BI dialog.">
            <a:extLst>
              <a:ext uri="{FF2B5EF4-FFF2-40B4-BE49-F238E27FC236}">
                <a16:creationId xmlns:a16="http://schemas.microsoft.com/office/drawing/2014/main" id="{6E15E869-CC97-B6E1-456A-CBD6415DE5AD}"/>
              </a:ext>
            </a:extLst>
          </p:cNvPr>
          <p:cNvPicPr>
            <a:picLocks noChangeAspect="1"/>
          </p:cNvPicPr>
          <p:nvPr/>
        </p:nvPicPr>
        <p:blipFill>
          <a:blip r:embed="rId2"/>
          <a:stretch>
            <a:fillRect/>
          </a:stretch>
        </p:blipFill>
        <p:spPr>
          <a:xfrm>
            <a:off x="1853625" y="3778198"/>
            <a:ext cx="4057129" cy="1564089"/>
          </a:xfrm>
          <a:prstGeom prst="rect">
            <a:avLst/>
          </a:prstGeom>
        </p:spPr>
      </p:pic>
      <p:pic>
        <p:nvPicPr>
          <p:cNvPr id="6" name="Picture 5" descr="Screenshot of the successful Publishing to Power BI dialog.">
            <a:extLst>
              <a:ext uri="{FF2B5EF4-FFF2-40B4-BE49-F238E27FC236}">
                <a16:creationId xmlns:a16="http://schemas.microsoft.com/office/drawing/2014/main" id="{088BCB5C-D9AE-2F4D-9F62-4CF345DCDAB0}"/>
              </a:ext>
            </a:extLst>
          </p:cNvPr>
          <p:cNvPicPr>
            <a:picLocks noChangeAspect="1"/>
          </p:cNvPicPr>
          <p:nvPr/>
        </p:nvPicPr>
        <p:blipFill>
          <a:blip r:embed="rId3"/>
          <a:stretch>
            <a:fillRect/>
          </a:stretch>
        </p:blipFill>
        <p:spPr>
          <a:xfrm>
            <a:off x="1796716" y="5614737"/>
            <a:ext cx="4057129" cy="1130968"/>
          </a:xfrm>
          <a:prstGeom prst="rect">
            <a:avLst/>
          </a:prstGeom>
        </p:spPr>
      </p:pic>
      <p:pic>
        <p:nvPicPr>
          <p:cNvPr id="7" name="Picture 6" descr="Can't sign in Power BI desktop - Microsoft Fabric Community">
            <a:extLst>
              <a:ext uri="{FF2B5EF4-FFF2-40B4-BE49-F238E27FC236}">
                <a16:creationId xmlns:a16="http://schemas.microsoft.com/office/drawing/2014/main" id="{1BBC3733-3C8D-ECC8-A5BE-7999CAE274AB}"/>
              </a:ext>
            </a:extLst>
          </p:cNvPr>
          <p:cNvPicPr>
            <a:picLocks noChangeAspect="1"/>
          </p:cNvPicPr>
          <p:nvPr/>
        </p:nvPicPr>
        <p:blipFill>
          <a:blip r:embed="rId4"/>
          <a:stretch>
            <a:fillRect/>
          </a:stretch>
        </p:blipFill>
        <p:spPr>
          <a:xfrm>
            <a:off x="2734417" y="2287633"/>
            <a:ext cx="3119428" cy="1382555"/>
          </a:xfrm>
          <a:prstGeom prst="rect">
            <a:avLst/>
          </a:prstGeom>
        </p:spPr>
      </p:pic>
      <p:pic>
        <p:nvPicPr>
          <p:cNvPr id="8" name="Picture 7" descr="Screenshot of the Power BI Home ribbon, highlighting Publish.">
            <a:extLst>
              <a:ext uri="{FF2B5EF4-FFF2-40B4-BE49-F238E27FC236}">
                <a16:creationId xmlns:a16="http://schemas.microsoft.com/office/drawing/2014/main" id="{4DE07D52-9AEE-CC10-B2E3-4334C20D979A}"/>
              </a:ext>
            </a:extLst>
          </p:cNvPr>
          <p:cNvPicPr>
            <a:picLocks noChangeAspect="1"/>
          </p:cNvPicPr>
          <p:nvPr/>
        </p:nvPicPr>
        <p:blipFill>
          <a:blip r:embed="rId5"/>
          <a:stretch>
            <a:fillRect/>
          </a:stretch>
        </p:blipFill>
        <p:spPr>
          <a:xfrm>
            <a:off x="586780" y="1348714"/>
            <a:ext cx="5323974" cy="830909"/>
          </a:xfrm>
          <a:prstGeom prst="rect">
            <a:avLst/>
          </a:prstGeom>
        </p:spPr>
      </p:pic>
    </p:spTree>
    <p:extLst>
      <p:ext uri="{BB962C8B-B14F-4D97-AF65-F5344CB8AC3E}">
        <p14:creationId xmlns:p14="http://schemas.microsoft.com/office/powerpoint/2010/main" val="151170484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BA0B3-11BE-4D2B-5F1C-875D1BB5A15A}"/>
              </a:ext>
            </a:extLst>
          </p:cNvPr>
          <p:cNvSpPr>
            <a:spLocks noGrp="1"/>
          </p:cNvSpPr>
          <p:nvPr>
            <p:ph type="title"/>
          </p:nvPr>
        </p:nvSpPr>
        <p:spPr/>
        <p:txBody>
          <a:bodyPr/>
          <a:lstStyle/>
          <a:p>
            <a:r>
              <a:rPr lang="en-US" dirty="0"/>
              <a:t>Sharing Methods</a:t>
            </a:r>
          </a:p>
        </p:txBody>
      </p:sp>
      <p:graphicFrame>
        <p:nvGraphicFramePr>
          <p:cNvPr id="4" name="Table 3">
            <a:extLst>
              <a:ext uri="{FF2B5EF4-FFF2-40B4-BE49-F238E27FC236}">
                <a16:creationId xmlns:a16="http://schemas.microsoft.com/office/drawing/2014/main" id="{A4ECE51F-B24E-AA00-2CB0-DB9BE2DC1FFD}"/>
              </a:ext>
            </a:extLst>
          </p:cNvPr>
          <p:cNvGraphicFramePr>
            <a:graphicFrameLocks noGrp="1"/>
          </p:cNvGraphicFramePr>
          <p:nvPr/>
        </p:nvGraphicFramePr>
        <p:xfrm>
          <a:off x="1156919" y="1938866"/>
          <a:ext cx="10329228" cy="3178566"/>
        </p:xfrm>
        <a:graphic>
          <a:graphicData uri="http://schemas.openxmlformats.org/drawingml/2006/table">
            <a:tbl>
              <a:tblPr firstRow="1" bandRow="1">
                <a:tableStyleId>{5C22544A-7EE6-4342-B048-85BDC9FD1C3A}</a:tableStyleId>
              </a:tblPr>
              <a:tblGrid>
                <a:gridCol w="3443076">
                  <a:extLst>
                    <a:ext uri="{9D8B030D-6E8A-4147-A177-3AD203B41FA5}">
                      <a16:colId xmlns:a16="http://schemas.microsoft.com/office/drawing/2014/main" val="2094557925"/>
                    </a:ext>
                  </a:extLst>
                </a:gridCol>
                <a:gridCol w="3443076">
                  <a:extLst>
                    <a:ext uri="{9D8B030D-6E8A-4147-A177-3AD203B41FA5}">
                      <a16:colId xmlns:a16="http://schemas.microsoft.com/office/drawing/2014/main" val="2089983418"/>
                    </a:ext>
                  </a:extLst>
                </a:gridCol>
                <a:gridCol w="3443076">
                  <a:extLst>
                    <a:ext uri="{9D8B030D-6E8A-4147-A177-3AD203B41FA5}">
                      <a16:colId xmlns:a16="http://schemas.microsoft.com/office/drawing/2014/main" val="3874766296"/>
                    </a:ext>
                  </a:extLst>
                </a:gridCol>
              </a:tblGrid>
              <a:tr h="1059522">
                <a:tc>
                  <a:txBody>
                    <a:bodyPr/>
                    <a:lstStyle/>
                    <a:p>
                      <a:pPr algn="ctr">
                        <a:lnSpc>
                          <a:spcPct val="200000"/>
                        </a:lnSpc>
                      </a:pPr>
                      <a:r>
                        <a:rPr lang="en-US" sz="2400" dirty="0">
                          <a:latin typeface="ADLaM Display" panose="02010000000000000000" pitchFamily="2" charset="0"/>
                          <a:ea typeface="ADLaM Display" panose="02010000000000000000" pitchFamily="2" charset="0"/>
                          <a:cs typeface="ADLaM Display" panose="02010000000000000000" pitchFamily="2" charset="0"/>
                        </a:rPr>
                        <a:t>🚀Sharing Method</a:t>
                      </a:r>
                    </a:p>
                  </a:txBody>
                  <a:tcPr>
                    <a:solidFill>
                      <a:srgbClr val="FFC000"/>
                    </a:solidFill>
                  </a:tcPr>
                </a:tc>
                <a:tc>
                  <a:txBody>
                    <a:bodyPr/>
                    <a:lstStyle/>
                    <a:p>
                      <a:pPr algn="ctr">
                        <a:lnSpc>
                          <a:spcPct val="200000"/>
                        </a:lnSpc>
                      </a:pPr>
                      <a:r>
                        <a:rPr lang="en-US" sz="2400" dirty="0">
                          <a:latin typeface="ADLaM Display" panose="02010000000000000000" pitchFamily="2" charset="0"/>
                          <a:ea typeface="ADLaM Display" panose="02010000000000000000" pitchFamily="2" charset="0"/>
                          <a:cs typeface="ADLaM Display" panose="02010000000000000000" pitchFamily="2" charset="0"/>
                        </a:rPr>
                        <a:t>✅Pros</a:t>
                      </a:r>
                    </a:p>
                  </a:txBody>
                  <a:tcPr>
                    <a:solidFill>
                      <a:srgbClr val="FFC000"/>
                    </a:solidFill>
                  </a:tcPr>
                </a:tc>
                <a:tc>
                  <a:txBody>
                    <a:bodyPr/>
                    <a:lstStyle/>
                    <a:p>
                      <a:pPr algn="ctr">
                        <a:lnSpc>
                          <a:spcPct val="200000"/>
                        </a:lnSpc>
                      </a:pPr>
                      <a:r>
                        <a:rPr lang="en-US" sz="2400" dirty="0">
                          <a:latin typeface="ADLaM Display" panose="02010000000000000000" pitchFamily="2" charset="0"/>
                          <a:ea typeface="ADLaM Display" panose="02010000000000000000" pitchFamily="2" charset="0"/>
                          <a:cs typeface="ADLaM Display" panose="02010000000000000000" pitchFamily="2" charset="0"/>
                        </a:rPr>
                        <a:t>❌Cons</a:t>
                      </a:r>
                    </a:p>
                  </a:txBody>
                  <a:tcPr>
                    <a:solidFill>
                      <a:srgbClr val="FFC000"/>
                    </a:solidFill>
                  </a:tcPr>
                </a:tc>
                <a:extLst>
                  <a:ext uri="{0D108BD9-81ED-4DB2-BD59-A6C34878D82A}">
                    <a16:rowId xmlns:a16="http://schemas.microsoft.com/office/drawing/2014/main" val="2159673213"/>
                  </a:ext>
                </a:extLst>
              </a:tr>
              <a:tr h="1059522">
                <a:tc>
                  <a:txBody>
                    <a:bodyPr/>
                    <a:lstStyle/>
                    <a:p>
                      <a:r>
                        <a:rPr lang="en-US" sz="2400" dirty="0"/>
                        <a:t>📒 </a:t>
                      </a:r>
                      <a:r>
                        <a:rPr lang="en-US" sz="2400" dirty="0">
                          <a:solidFill>
                            <a:srgbClr val="FF0000"/>
                          </a:solidFill>
                        </a:rPr>
                        <a:t>.</a:t>
                      </a:r>
                      <a:r>
                        <a:rPr lang="en-US" sz="2400" b="1" dirty="0">
                          <a:solidFill>
                            <a:srgbClr val="FF0000"/>
                          </a:solidFill>
                        </a:rPr>
                        <a:t>pbix</a:t>
                      </a:r>
                      <a:r>
                        <a:rPr lang="en-US" sz="2400" dirty="0"/>
                        <a:t> file</a:t>
                      </a:r>
                    </a:p>
                  </a:txBody>
                  <a:tcPr>
                    <a:solidFill>
                      <a:schemeClr val="bg1"/>
                    </a:solidFill>
                  </a:tcPr>
                </a:tc>
                <a:tc>
                  <a:txBody>
                    <a:bodyPr/>
                    <a:lstStyle/>
                    <a:p>
                      <a:r>
                        <a:rPr lang="en-US" sz="2400" dirty="0"/>
                        <a:t>No account needed </a:t>
                      </a:r>
                    </a:p>
                  </a:txBody>
                  <a:tcPr>
                    <a:solidFill>
                      <a:schemeClr val="bg1"/>
                    </a:solidFill>
                  </a:tcPr>
                </a:tc>
                <a:tc>
                  <a:txBody>
                    <a:bodyPr/>
                    <a:lstStyle/>
                    <a:p>
                      <a:r>
                        <a:rPr lang="en-US" sz="2400" dirty="0"/>
                        <a:t>Must have Power BI Desktop</a:t>
                      </a:r>
                    </a:p>
                  </a:txBody>
                  <a:tcPr>
                    <a:solidFill>
                      <a:schemeClr val="bg1"/>
                    </a:solidFill>
                  </a:tcPr>
                </a:tc>
                <a:extLst>
                  <a:ext uri="{0D108BD9-81ED-4DB2-BD59-A6C34878D82A}">
                    <a16:rowId xmlns:a16="http://schemas.microsoft.com/office/drawing/2014/main" val="318525676"/>
                  </a:ext>
                </a:extLst>
              </a:tr>
              <a:tr h="1059522">
                <a:tc>
                  <a:txBody>
                    <a:bodyPr/>
                    <a:lstStyle/>
                    <a:p>
                      <a:r>
                        <a:rPr lang="en-US" sz="2400" dirty="0"/>
                        <a:t>🌩️ Power BI service</a:t>
                      </a:r>
                    </a:p>
                  </a:txBody>
                  <a:tcPr>
                    <a:solidFill>
                      <a:schemeClr val="bg1"/>
                    </a:solidFill>
                  </a:tcPr>
                </a:tc>
                <a:tc>
                  <a:txBody>
                    <a:bodyPr/>
                    <a:lstStyle/>
                    <a:p>
                      <a:r>
                        <a:rPr lang="en-US" sz="2400" dirty="0"/>
                        <a:t>Easy online sharing</a:t>
                      </a:r>
                    </a:p>
                  </a:txBody>
                  <a:tcPr>
                    <a:solidFill>
                      <a:schemeClr val="bg1"/>
                    </a:solidFill>
                  </a:tcPr>
                </a:tc>
                <a:tc>
                  <a:txBody>
                    <a:bodyPr/>
                    <a:lstStyle/>
                    <a:p>
                      <a:r>
                        <a:rPr lang="en-US" sz="2400" dirty="0"/>
                        <a:t>Requires Power BI account</a:t>
                      </a:r>
                    </a:p>
                  </a:txBody>
                  <a:tcPr>
                    <a:solidFill>
                      <a:schemeClr val="bg1"/>
                    </a:solidFill>
                  </a:tcPr>
                </a:tc>
                <a:extLst>
                  <a:ext uri="{0D108BD9-81ED-4DB2-BD59-A6C34878D82A}">
                    <a16:rowId xmlns:a16="http://schemas.microsoft.com/office/drawing/2014/main" val="924808478"/>
                  </a:ext>
                </a:extLst>
              </a:tr>
            </a:tbl>
          </a:graphicData>
        </a:graphic>
      </p:graphicFrame>
    </p:spTree>
    <p:extLst>
      <p:ext uri="{BB962C8B-B14F-4D97-AF65-F5344CB8AC3E}">
        <p14:creationId xmlns:p14="http://schemas.microsoft.com/office/powerpoint/2010/main" val="389385963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21052-4287-6BBB-F293-33B2CAEA5E62}"/>
              </a:ext>
            </a:extLst>
          </p:cNvPr>
          <p:cNvSpPr>
            <a:spLocks noGrp="1"/>
          </p:cNvSpPr>
          <p:nvPr>
            <p:ph type="title"/>
          </p:nvPr>
        </p:nvSpPr>
        <p:spPr/>
        <p:txBody>
          <a:bodyPr/>
          <a:lstStyle/>
          <a:p>
            <a:r>
              <a:rPr lang="en-US" dirty="0">
                <a:latin typeface="ADLaM Display" panose="02010000000000000000" pitchFamily="2" charset="0"/>
                <a:ea typeface="ADLaM Display" panose="02010000000000000000" pitchFamily="2" charset="0"/>
                <a:cs typeface="ADLaM Display" panose="02010000000000000000" pitchFamily="2" charset="0"/>
              </a:rPr>
              <a:t>Power BI </a:t>
            </a:r>
            <a:r>
              <a:rPr lang="en-US"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Workspace</a:t>
            </a:r>
          </a:p>
        </p:txBody>
      </p:sp>
      <p:sp>
        <p:nvSpPr>
          <p:cNvPr id="3" name="Text Placeholder 2">
            <a:extLst>
              <a:ext uri="{FF2B5EF4-FFF2-40B4-BE49-F238E27FC236}">
                <a16:creationId xmlns:a16="http://schemas.microsoft.com/office/drawing/2014/main" id="{EFAD753B-EAA6-DCC3-8DBB-B19400C813BC}"/>
              </a:ext>
            </a:extLst>
          </p:cNvPr>
          <p:cNvSpPr>
            <a:spLocks noGrp="1"/>
          </p:cNvSpPr>
          <p:nvPr>
            <p:ph type="body" sz="quarter" idx="14"/>
          </p:nvPr>
        </p:nvSpPr>
        <p:spPr>
          <a:xfrm>
            <a:off x="6096000" y="1180745"/>
            <a:ext cx="5801711" cy="5677255"/>
          </a:xfrm>
        </p:spPr>
        <p:txBody>
          <a:bodyPr>
            <a:normAutofit lnSpcReduction="10000"/>
          </a:bodyPr>
          <a:lstStyle/>
          <a:p>
            <a:pPr algn="just"/>
            <a:r>
              <a:rPr lang="en-US" dirty="0"/>
              <a:t> </a:t>
            </a:r>
            <a:r>
              <a:rPr lang="en-US" b="1"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Power BI Workspace </a:t>
            </a:r>
            <a:r>
              <a:rPr lang="en-US" dirty="0"/>
              <a:t>refers to a collaboration hub where you and your team can collaborate to create interactive dashboards and reports.</a:t>
            </a:r>
          </a:p>
          <a:p>
            <a:pPr algn="just"/>
            <a:r>
              <a:rPr lang="en-US" dirty="0"/>
              <a:t> To share your content with others in Power BI, you can begin by creating what is essentially another designated area, referred to as a Workspaces.</a:t>
            </a:r>
          </a:p>
          <a:p>
            <a:pPr algn="just"/>
            <a:r>
              <a:rPr lang="en-US" dirty="0"/>
              <a:t> These workspaces are alternatively known as “</a:t>
            </a:r>
            <a:r>
              <a:rPr lang="en-US" b="1"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App workspaces</a:t>
            </a:r>
            <a:r>
              <a:rPr lang="en-US" dirty="0"/>
              <a:t>” or “</a:t>
            </a:r>
            <a:r>
              <a:rPr lang="en-US" b="1"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Organizational workspaces</a:t>
            </a:r>
            <a:r>
              <a:rPr lang="en-US" dirty="0"/>
              <a:t>”.</a:t>
            </a:r>
          </a:p>
          <a:p>
            <a:pPr algn="just"/>
            <a:r>
              <a:rPr lang="en-US" dirty="0"/>
              <a:t> Workspaces are most effectively utilized as collaborative spaces where teams can efficiently share and collaborate on content.</a:t>
            </a:r>
          </a:p>
        </p:txBody>
      </p:sp>
      <p:pic>
        <p:nvPicPr>
          <p:cNvPr id="6" name="Picture 5" descr="Screenshot shows the navigation pane with two types of workspaces.">
            <a:extLst>
              <a:ext uri="{FF2B5EF4-FFF2-40B4-BE49-F238E27FC236}">
                <a16:creationId xmlns:a16="http://schemas.microsoft.com/office/drawing/2014/main" id="{D5704547-A342-B663-3885-7463C0A5FA4E}"/>
              </a:ext>
            </a:extLst>
          </p:cNvPr>
          <p:cNvPicPr>
            <a:picLocks noChangeAspect="1"/>
          </p:cNvPicPr>
          <p:nvPr/>
        </p:nvPicPr>
        <p:blipFill>
          <a:blip r:embed="rId2"/>
          <a:stretch>
            <a:fillRect/>
          </a:stretch>
        </p:blipFill>
        <p:spPr>
          <a:xfrm>
            <a:off x="194805" y="1893510"/>
            <a:ext cx="5901195" cy="3468978"/>
          </a:xfrm>
          <a:prstGeom prst="rect">
            <a:avLst/>
          </a:prstGeom>
        </p:spPr>
      </p:pic>
    </p:spTree>
    <p:extLst>
      <p:ext uri="{BB962C8B-B14F-4D97-AF65-F5344CB8AC3E}">
        <p14:creationId xmlns:p14="http://schemas.microsoft.com/office/powerpoint/2010/main" val="364414714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F264F-126F-79A1-7111-0A4E621E9D81}"/>
              </a:ext>
            </a:extLst>
          </p:cNvPr>
          <p:cNvSpPr>
            <a:spLocks noGrp="1"/>
          </p:cNvSpPr>
          <p:nvPr>
            <p:ph type="title"/>
          </p:nvPr>
        </p:nvSpPr>
        <p:spPr/>
        <p:txBody>
          <a:bodyPr/>
          <a:lstStyle/>
          <a:p>
            <a:r>
              <a:rPr lang="en-US" dirty="0">
                <a:latin typeface="ADLaM Display" panose="02010000000000000000" pitchFamily="2" charset="0"/>
                <a:ea typeface="ADLaM Display" panose="02010000000000000000" pitchFamily="2" charset="0"/>
                <a:cs typeface="ADLaM Display" panose="02010000000000000000" pitchFamily="2" charset="0"/>
              </a:rPr>
              <a:t>Dashboard &amp; Reports</a:t>
            </a:r>
          </a:p>
        </p:txBody>
      </p:sp>
      <p:sp>
        <p:nvSpPr>
          <p:cNvPr id="3" name="Text Placeholder 2">
            <a:extLst>
              <a:ext uri="{FF2B5EF4-FFF2-40B4-BE49-F238E27FC236}">
                <a16:creationId xmlns:a16="http://schemas.microsoft.com/office/drawing/2014/main" id="{DD62855C-8554-7EF3-DDD3-EFD5FE28CFF3}"/>
              </a:ext>
            </a:extLst>
          </p:cNvPr>
          <p:cNvSpPr>
            <a:spLocks noGrp="1"/>
          </p:cNvSpPr>
          <p:nvPr>
            <p:ph type="body" sz="quarter" idx="14"/>
          </p:nvPr>
        </p:nvSpPr>
        <p:spPr>
          <a:xfrm>
            <a:off x="547319" y="1524247"/>
            <a:ext cx="5933691" cy="3176090"/>
          </a:xfrm>
        </p:spPr>
        <p:txBody>
          <a:bodyPr/>
          <a:lstStyle/>
          <a:p>
            <a:pPr algn="just"/>
            <a:r>
              <a:rPr lang="en-US" dirty="0"/>
              <a:t> A </a:t>
            </a:r>
            <a:r>
              <a:rPr lang="en-US" b="1"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Power BI dashboard </a:t>
            </a:r>
            <a:r>
              <a:rPr lang="en-US" dirty="0"/>
              <a:t>is a single page view that brings together selected visuals from one or more reports. It is useful for combining information from different reports or subject areas into one place, making it easy to monitor key metrics at a glance.</a:t>
            </a:r>
          </a:p>
          <a:p>
            <a:pPr marL="0" indent="0" algn="just">
              <a:buNone/>
            </a:pPr>
            <a:endParaRPr lang="en-US" dirty="0"/>
          </a:p>
        </p:txBody>
      </p:sp>
      <p:sp>
        <p:nvSpPr>
          <p:cNvPr id="4" name="Text Placeholder 2">
            <a:extLst>
              <a:ext uri="{FF2B5EF4-FFF2-40B4-BE49-F238E27FC236}">
                <a16:creationId xmlns:a16="http://schemas.microsoft.com/office/drawing/2014/main" id="{F9D22BE2-7B5C-9D72-CF03-DAA6EAC6898A}"/>
              </a:ext>
            </a:extLst>
          </p:cNvPr>
          <p:cNvSpPr txBox="1">
            <a:spLocks/>
          </p:cNvSpPr>
          <p:nvPr/>
        </p:nvSpPr>
        <p:spPr>
          <a:xfrm>
            <a:off x="6866024" y="1524247"/>
            <a:ext cx="4778658" cy="3176090"/>
          </a:xfrm>
          <a:prstGeom prst="rect">
            <a:avLst/>
          </a:prstGeom>
        </p:spPr>
        <p:txBody>
          <a:bodyPr>
            <a:normAutofit/>
          </a:bodyPr>
          <a:lstStyle>
            <a:lvl1pPr marL="200025" indent="-200025" algn="l" defTabSz="685800" rtl="0" eaLnBrk="1" latinLnBrk="0" hangingPunct="1">
              <a:lnSpc>
                <a:spcPct val="100000"/>
              </a:lnSpc>
              <a:spcBef>
                <a:spcPts val="0"/>
              </a:spcBef>
              <a:spcAft>
                <a:spcPts val="600"/>
              </a:spcAft>
              <a:buClr>
                <a:schemeClr val="accent1"/>
              </a:buClr>
              <a:buSzPct val="100000"/>
              <a:buFont typeface="Wingdings" panose="05000000000000000000" pitchFamily="2" charset="2"/>
              <a:buChar char="§"/>
              <a:defRPr sz="2400" kern="1200">
                <a:solidFill>
                  <a:srgbClr val="002060"/>
                </a:solidFill>
                <a:latin typeface="+mn-lt"/>
                <a:ea typeface="+mn-ea"/>
                <a:cs typeface="+mn-cs"/>
              </a:defRPr>
            </a:lvl1pPr>
            <a:lvl2pPr marL="288290" indent="-137160" algn="l" defTabSz="685800" rtl="0" eaLnBrk="1" latinLnBrk="0" hangingPunct="1">
              <a:lnSpc>
                <a:spcPct val="100000"/>
              </a:lnSpc>
              <a:spcBef>
                <a:spcPts val="150"/>
              </a:spcBef>
              <a:spcAft>
                <a:spcPts val="300"/>
              </a:spcAft>
              <a:buClr>
                <a:schemeClr val="accent1"/>
              </a:buClr>
              <a:buFont typeface="Wingdings" panose="05000000000000000000" pitchFamily="2" charset="2"/>
              <a:buChar char="§"/>
              <a:defRPr sz="1350" kern="1200">
                <a:solidFill>
                  <a:schemeClr val="tx1">
                    <a:lumMod val="75000"/>
                    <a:lumOff val="25000"/>
                  </a:schemeClr>
                </a:solidFill>
                <a:latin typeface="+mn-lt"/>
                <a:ea typeface="+mn-ea"/>
                <a:cs typeface="+mn-cs"/>
              </a:defRPr>
            </a:lvl2pPr>
            <a:lvl3pPr marL="425450" indent="-137160" algn="l" defTabSz="685800" rtl="0" eaLnBrk="1" latinLnBrk="0" hangingPunct="1">
              <a:lnSpc>
                <a:spcPct val="100000"/>
              </a:lnSpc>
              <a:spcBef>
                <a:spcPts val="150"/>
              </a:spcBef>
              <a:spcAft>
                <a:spcPts val="300"/>
              </a:spcAft>
              <a:buClr>
                <a:schemeClr val="accent1"/>
              </a:buClr>
              <a:buFont typeface="Wingdings" panose="05000000000000000000" pitchFamily="2" charset="2"/>
              <a:buChar char="§"/>
              <a:defRPr sz="1050" kern="1200">
                <a:solidFill>
                  <a:schemeClr val="tx1">
                    <a:lumMod val="75000"/>
                    <a:lumOff val="25000"/>
                  </a:schemeClr>
                </a:solidFill>
                <a:latin typeface="+mn-lt"/>
                <a:ea typeface="+mn-ea"/>
                <a:cs typeface="+mn-cs"/>
              </a:defRPr>
            </a:lvl3pPr>
            <a:lvl4pPr marL="562610" indent="-137160" algn="l" defTabSz="685800" rtl="0" eaLnBrk="1" latinLnBrk="0" hangingPunct="1">
              <a:lnSpc>
                <a:spcPct val="100000"/>
              </a:lnSpc>
              <a:spcBef>
                <a:spcPts val="150"/>
              </a:spcBef>
              <a:spcAft>
                <a:spcPts val="300"/>
              </a:spcAft>
              <a:buClr>
                <a:schemeClr val="accent1"/>
              </a:buClr>
              <a:buFont typeface="Wingdings" panose="05000000000000000000" pitchFamily="2" charset="2"/>
              <a:buChar char="§"/>
              <a:defRPr sz="1050" kern="1200">
                <a:solidFill>
                  <a:schemeClr val="tx1">
                    <a:lumMod val="75000"/>
                    <a:lumOff val="25000"/>
                  </a:schemeClr>
                </a:solidFill>
                <a:latin typeface="+mn-lt"/>
                <a:ea typeface="+mn-ea"/>
                <a:cs typeface="+mn-cs"/>
              </a:defRPr>
            </a:lvl4pPr>
            <a:lvl5pPr marL="699770" indent="-137160" algn="l" defTabSz="685800" rtl="0" eaLnBrk="1" latinLnBrk="0" hangingPunct="1">
              <a:lnSpc>
                <a:spcPct val="100000"/>
              </a:lnSpc>
              <a:spcBef>
                <a:spcPts val="150"/>
              </a:spcBef>
              <a:spcAft>
                <a:spcPts val="300"/>
              </a:spcAft>
              <a:buClr>
                <a:schemeClr val="accent1"/>
              </a:buClr>
              <a:buFont typeface="Wingdings" panose="05000000000000000000" pitchFamily="2" charset="2"/>
              <a:buChar char="§"/>
              <a:defRPr sz="1050" kern="1200">
                <a:solidFill>
                  <a:schemeClr val="tx1">
                    <a:lumMod val="75000"/>
                    <a:lumOff val="25000"/>
                  </a:schemeClr>
                </a:solidFill>
                <a:latin typeface="+mn-lt"/>
                <a:ea typeface="+mn-ea"/>
                <a:cs typeface="+mn-cs"/>
              </a:defRPr>
            </a:lvl5pPr>
            <a:lvl6pPr marL="824865" indent="-17145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6pPr>
            <a:lvl7pPr marL="974725" indent="-17145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7pPr>
            <a:lvl8pPr marL="1125220" indent="-17145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8pPr>
            <a:lvl9pPr marL="1275080" indent="-17145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9pPr>
          </a:lstStyle>
          <a:p>
            <a:pPr marL="200025" marR="0" lvl="0" indent="-200025" algn="just" defTabSz="685800" rtl="0" eaLnBrk="1" fontAlgn="auto" latinLnBrk="0" hangingPunct="1">
              <a:lnSpc>
                <a:spcPct val="100000"/>
              </a:lnSpc>
              <a:spcBef>
                <a:spcPts val="0"/>
              </a:spcBef>
              <a:spcAft>
                <a:spcPts val="600"/>
              </a:spcAft>
              <a:buClr>
                <a:srgbClr val="1CADE4"/>
              </a:buClr>
              <a:buSzPct val="100000"/>
              <a:buFont typeface="Wingdings" panose="05000000000000000000" pitchFamily="2" charset="2"/>
              <a:buChar char="§"/>
              <a:tabLst/>
              <a:defRPr/>
            </a:pPr>
            <a:r>
              <a:rPr kumimoji="0" lang="en-US" sz="2400" b="0" i="0" u="none" strike="noStrike" kern="1200" cap="none" spc="0" normalizeH="0" baseline="0" noProof="0" dirty="0">
                <a:ln>
                  <a:noFill/>
                </a:ln>
                <a:solidFill>
                  <a:srgbClr val="002060"/>
                </a:solidFill>
                <a:effectLst/>
                <a:uLnTx/>
                <a:uFillTx/>
                <a:latin typeface="Calibri"/>
                <a:ea typeface="+mn-ea"/>
                <a:cs typeface="+mn-cs"/>
              </a:rPr>
              <a:t> A </a:t>
            </a:r>
            <a:r>
              <a:rPr kumimoji="0" lang="en-US" sz="2400" b="1" i="0" u="none" strike="noStrike" kern="1200" cap="none" spc="0" normalizeH="0" baseline="0" noProof="0" dirty="0">
                <a:ln>
                  <a:noFill/>
                </a:ln>
                <a:solidFill>
                  <a:srgbClr val="FFC000"/>
                </a:solidFill>
                <a:effectLst/>
                <a:uLnTx/>
                <a:uFillTx/>
                <a:latin typeface="ADLaM Display" panose="02010000000000000000" pitchFamily="2" charset="0"/>
                <a:ea typeface="ADLaM Display" panose="02010000000000000000" pitchFamily="2" charset="0"/>
                <a:cs typeface="ADLaM Display" panose="02010000000000000000" pitchFamily="2" charset="0"/>
              </a:rPr>
              <a:t>Power BI report </a:t>
            </a:r>
            <a:r>
              <a:rPr kumimoji="0" lang="en-US" sz="2400" b="0" i="0" u="none" strike="noStrike" kern="1200" cap="none" spc="0" normalizeH="0" baseline="0" noProof="0" dirty="0">
                <a:ln>
                  <a:noFill/>
                </a:ln>
                <a:solidFill>
                  <a:srgbClr val="002060"/>
                </a:solidFill>
                <a:effectLst/>
                <a:uLnTx/>
                <a:uFillTx/>
                <a:latin typeface="Calibri"/>
                <a:ea typeface="+mn-ea"/>
                <a:cs typeface="+mn-cs"/>
              </a:rPr>
              <a:t>is an interactive document that can contain or multiple pages and may use one or several data sources. Reports are designed for detailed analysis.</a:t>
            </a:r>
          </a:p>
          <a:p>
            <a:pPr marL="0" marR="0" lvl="0" indent="0" algn="just" defTabSz="685800" rtl="0" eaLnBrk="1" fontAlgn="auto" latinLnBrk="0" hangingPunct="1">
              <a:lnSpc>
                <a:spcPct val="100000"/>
              </a:lnSpc>
              <a:spcBef>
                <a:spcPts val="0"/>
              </a:spcBef>
              <a:spcAft>
                <a:spcPts val="600"/>
              </a:spcAft>
              <a:buClr>
                <a:srgbClr val="1CADE4"/>
              </a:buClr>
              <a:buSzPct val="100000"/>
              <a:buFont typeface="Wingdings" panose="05000000000000000000" pitchFamily="2" charset="2"/>
              <a:buNone/>
              <a:tabLst/>
              <a:defRPr/>
            </a:pPr>
            <a:endParaRPr kumimoji="0" lang="en-US" sz="2400" b="0" i="0" u="none" strike="noStrike" kern="1200" cap="none" spc="0" normalizeH="0" baseline="0" noProof="0" dirty="0">
              <a:ln>
                <a:noFill/>
              </a:ln>
              <a:solidFill>
                <a:srgbClr val="002060"/>
              </a:solidFill>
              <a:effectLst/>
              <a:uLnTx/>
              <a:uFillTx/>
              <a:latin typeface="Calibri"/>
              <a:ea typeface="+mn-ea"/>
              <a:cs typeface="+mn-cs"/>
            </a:endParaRPr>
          </a:p>
        </p:txBody>
      </p:sp>
      <p:pic>
        <p:nvPicPr>
          <p:cNvPr id="5" name="Picture 4" descr="Power BI report showing used car sales data with geospatial distribution, sales by vehicle type and fuel type, and sales trends by registration year and month">
            <a:extLst>
              <a:ext uri="{FF2B5EF4-FFF2-40B4-BE49-F238E27FC236}">
                <a16:creationId xmlns:a16="http://schemas.microsoft.com/office/drawing/2014/main" id="{ECC8BA15-BFE8-D323-EB3C-653AD249B235}"/>
              </a:ext>
            </a:extLst>
          </p:cNvPr>
          <p:cNvPicPr>
            <a:picLocks noChangeAspect="1"/>
          </p:cNvPicPr>
          <p:nvPr/>
        </p:nvPicPr>
        <p:blipFill>
          <a:blip r:embed="rId2"/>
          <a:stretch>
            <a:fillRect/>
          </a:stretch>
        </p:blipFill>
        <p:spPr>
          <a:xfrm>
            <a:off x="7036245" y="4017190"/>
            <a:ext cx="4778658" cy="2687995"/>
          </a:xfrm>
          <a:prstGeom prst="rect">
            <a:avLst/>
          </a:prstGeom>
        </p:spPr>
      </p:pic>
      <p:pic>
        <p:nvPicPr>
          <p:cNvPr id="6" name="Picture 5" descr="Power BI dashboard example for human resources">
            <a:extLst>
              <a:ext uri="{FF2B5EF4-FFF2-40B4-BE49-F238E27FC236}">
                <a16:creationId xmlns:a16="http://schemas.microsoft.com/office/drawing/2014/main" id="{31F7DB88-A51B-A84D-6581-660699DB2B2F}"/>
              </a:ext>
            </a:extLst>
          </p:cNvPr>
          <p:cNvPicPr>
            <a:picLocks noChangeAspect="1"/>
          </p:cNvPicPr>
          <p:nvPr/>
        </p:nvPicPr>
        <p:blipFill>
          <a:blip r:embed="rId3"/>
          <a:stretch>
            <a:fillRect/>
          </a:stretch>
        </p:blipFill>
        <p:spPr>
          <a:xfrm>
            <a:off x="1828798" y="4017190"/>
            <a:ext cx="4267202" cy="2689964"/>
          </a:xfrm>
          <a:prstGeom prst="rect">
            <a:avLst/>
          </a:prstGeom>
        </p:spPr>
      </p:pic>
    </p:spTree>
    <p:extLst>
      <p:ext uri="{BB962C8B-B14F-4D97-AF65-F5344CB8AC3E}">
        <p14:creationId xmlns:p14="http://schemas.microsoft.com/office/powerpoint/2010/main" val="175178164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5EDC4F-42E5-4A5E-8600-D5F365F06E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8A8CBA-1DAF-2169-ABE7-61A8BBB7B387}"/>
              </a:ext>
            </a:extLst>
          </p:cNvPr>
          <p:cNvSpPr>
            <a:spLocks noGrp="1"/>
          </p:cNvSpPr>
          <p:nvPr>
            <p:ph type="title"/>
          </p:nvPr>
        </p:nvSpPr>
        <p:spPr/>
        <p:txBody>
          <a:bodyPr/>
          <a:lstStyle/>
          <a:p>
            <a:r>
              <a:rPr lang="en-US" dirty="0">
                <a:latin typeface="ADLaM Display" panose="02010000000000000000" pitchFamily="2" charset="0"/>
                <a:ea typeface="ADLaM Display" panose="02010000000000000000" pitchFamily="2" charset="0"/>
                <a:cs typeface="ADLaM Display" panose="02010000000000000000" pitchFamily="2" charset="0"/>
              </a:rPr>
              <a:t>Dashboard </a:t>
            </a:r>
            <a:r>
              <a:rPr lang="en-US"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Vs</a:t>
            </a:r>
            <a:r>
              <a:rPr lang="en-US" dirty="0">
                <a:latin typeface="ADLaM Display" panose="02010000000000000000" pitchFamily="2" charset="0"/>
                <a:ea typeface="ADLaM Display" panose="02010000000000000000" pitchFamily="2" charset="0"/>
                <a:cs typeface="ADLaM Display" panose="02010000000000000000" pitchFamily="2" charset="0"/>
              </a:rPr>
              <a:t> Reports</a:t>
            </a:r>
          </a:p>
        </p:txBody>
      </p:sp>
      <p:graphicFrame>
        <p:nvGraphicFramePr>
          <p:cNvPr id="9" name="Table 8">
            <a:extLst>
              <a:ext uri="{FF2B5EF4-FFF2-40B4-BE49-F238E27FC236}">
                <a16:creationId xmlns:a16="http://schemas.microsoft.com/office/drawing/2014/main" id="{A04A38B9-99DB-7FA6-6013-10B4220DBE61}"/>
              </a:ext>
            </a:extLst>
          </p:cNvPr>
          <p:cNvGraphicFramePr>
            <a:graphicFrameLocks noGrp="1"/>
          </p:cNvGraphicFramePr>
          <p:nvPr/>
        </p:nvGraphicFramePr>
        <p:xfrm>
          <a:off x="668421" y="1514090"/>
          <a:ext cx="10079790" cy="3491047"/>
        </p:xfrm>
        <a:graphic>
          <a:graphicData uri="http://schemas.openxmlformats.org/drawingml/2006/table">
            <a:tbl>
              <a:tblPr firstRow="1" bandRow="1">
                <a:tableStyleId>{5C22544A-7EE6-4342-B048-85BDC9FD1C3A}</a:tableStyleId>
              </a:tblPr>
              <a:tblGrid>
                <a:gridCol w="5039895">
                  <a:extLst>
                    <a:ext uri="{9D8B030D-6E8A-4147-A177-3AD203B41FA5}">
                      <a16:colId xmlns:a16="http://schemas.microsoft.com/office/drawing/2014/main" val="2474309570"/>
                    </a:ext>
                  </a:extLst>
                </a:gridCol>
                <a:gridCol w="5039895">
                  <a:extLst>
                    <a:ext uri="{9D8B030D-6E8A-4147-A177-3AD203B41FA5}">
                      <a16:colId xmlns:a16="http://schemas.microsoft.com/office/drawing/2014/main" val="1458637394"/>
                    </a:ext>
                  </a:extLst>
                </a:gridCol>
              </a:tblGrid>
              <a:tr h="683779">
                <a:tc>
                  <a:txBody>
                    <a:bodyPr/>
                    <a:lstStyle/>
                    <a:p>
                      <a:pPr algn="ctr">
                        <a:lnSpc>
                          <a:spcPct val="150000"/>
                        </a:lnSpc>
                      </a:pPr>
                      <a:r>
                        <a:rPr lang="en-US" sz="2400" dirty="0">
                          <a:latin typeface="ADLaM Display" panose="02010000000000000000" pitchFamily="2" charset="0"/>
                          <a:ea typeface="ADLaM Display" panose="02010000000000000000" pitchFamily="2" charset="0"/>
                          <a:cs typeface="ADLaM Display" panose="02010000000000000000" pitchFamily="2" charset="0"/>
                        </a:rPr>
                        <a:t>Dashboard</a:t>
                      </a:r>
                    </a:p>
                  </a:txBody>
                  <a:tcPr>
                    <a:solidFill>
                      <a:srgbClr val="FFC000"/>
                    </a:solidFill>
                  </a:tcPr>
                </a:tc>
                <a:tc>
                  <a:txBody>
                    <a:bodyPr/>
                    <a:lstStyle/>
                    <a:p>
                      <a:pPr algn="ctr">
                        <a:lnSpc>
                          <a:spcPct val="150000"/>
                        </a:lnSpc>
                      </a:pPr>
                      <a:r>
                        <a:rPr lang="en-US" sz="2400" dirty="0">
                          <a:latin typeface="ADLaM Display" panose="02010000000000000000" pitchFamily="2" charset="0"/>
                          <a:ea typeface="ADLaM Display" panose="02010000000000000000" pitchFamily="2" charset="0"/>
                          <a:cs typeface="ADLaM Display" panose="02010000000000000000" pitchFamily="2" charset="0"/>
                        </a:rPr>
                        <a:t>Report</a:t>
                      </a:r>
                    </a:p>
                  </a:txBody>
                  <a:tcPr>
                    <a:solidFill>
                      <a:srgbClr val="FFC000"/>
                    </a:solidFill>
                  </a:tcPr>
                </a:tc>
                <a:extLst>
                  <a:ext uri="{0D108BD9-81ED-4DB2-BD59-A6C34878D82A}">
                    <a16:rowId xmlns:a16="http://schemas.microsoft.com/office/drawing/2014/main" val="1560423561"/>
                  </a:ext>
                </a:extLst>
              </a:tr>
              <a:tr h="624319">
                <a:tc>
                  <a:txBody>
                    <a:bodyPr/>
                    <a:lstStyle/>
                    <a:p>
                      <a:r>
                        <a:rPr lang="en-US" sz="2000" dirty="0">
                          <a:latin typeface="ADLaM Display" panose="02010000000000000000" pitchFamily="2" charset="0"/>
                          <a:ea typeface="ADLaM Display" panose="02010000000000000000" pitchFamily="2" charset="0"/>
                          <a:cs typeface="ADLaM Display" panose="02010000000000000000" pitchFamily="2" charset="0"/>
                        </a:rPr>
                        <a:t>Visual and interactive</a:t>
                      </a:r>
                    </a:p>
                  </a:txBody>
                  <a:tcPr>
                    <a:solidFill>
                      <a:schemeClr val="bg1"/>
                    </a:solidFill>
                  </a:tcPr>
                </a:tc>
                <a:tc>
                  <a:txBody>
                    <a:bodyPr/>
                    <a:lstStyle/>
                    <a:p>
                      <a:r>
                        <a:rPr lang="en-US" sz="2000" dirty="0">
                          <a:latin typeface="ADLaM Display" panose="02010000000000000000" pitchFamily="2" charset="0"/>
                          <a:ea typeface="ADLaM Display" panose="02010000000000000000" pitchFamily="2" charset="0"/>
                          <a:cs typeface="ADLaM Display" panose="02010000000000000000" pitchFamily="2" charset="0"/>
                        </a:rPr>
                        <a:t>Detailed and structured</a:t>
                      </a:r>
                    </a:p>
                  </a:txBody>
                  <a:tcPr>
                    <a:solidFill>
                      <a:schemeClr val="bg1"/>
                    </a:solidFill>
                  </a:tcPr>
                </a:tc>
                <a:extLst>
                  <a:ext uri="{0D108BD9-81ED-4DB2-BD59-A6C34878D82A}">
                    <a16:rowId xmlns:a16="http://schemas.microsoft.com/office/drawing/2014/main" val="1743554599"/>
                  </a:ext>
                </a:extLst>
              </a:tr>
              <a:tr h="600778">
                <a:tc>
                  <a:txBody>
                    <a:bodyPr/>
                    <a:lstStyle/>
                    <a:p>
                      <a:r>
                        <a:rPr lang="en-US" sz="2000" dirty="0">
                          <a:latin typeface="ADLaM Display" panose="02010000000000000000" pitchFamily="2" charset="0"/>
                          <a:ea typeface="ADLaM Display" panose="02010000000000000000" pitchFamily="2" charset="0"/>
                          <a:cs typeface="ADLaM Display" panose="02010000000000000000" pitchFamily="2" charset="0"/>
                        </a:rPr>
                        <a:t>Real-time or live data</a:t>
                      </a:r>
                    </a:p>
                  </a:txBody>
                  <a:tcPr>
                    <a:solidFill>
                      <a:schemeClr val="bg1"/>
                    </a:solidFill>
                  </a:tcPr>
                </a:tc>
                <a:tc>
                  <a:txBody>
                    <a:bodyPr/>
                    <a:lstStyle/>
                    <a:p>
                      <a:r>
                        <a:rPr lang="en-US" sz="2000" dirty="0">
                          <a:latin typeface="ADLaM Display" panose="02010000000000000000" pitchFamily="2" charset="0"/>
                          <a:ea typeface="ADLaM Display" panose="02010000000000000000" pitchFamily="2" charset="0"/>
                          <a:cs typeface="ADLaM Display" panose="02010000000000000000" pitchFamily="2" charset="0"/>
                        </a:rPr>
                        <a:t>Historical data</a:t>
                      </a:r>
                    </a:p>
                  </a:txBody>
                  <a:tcPr>
                    <a:solidFill>
                      <a:schemeClr val="bg1"/>
                    </a:solidFill>
                  </a:tcPr>
                </a:tc>
                <a:extLst>
                  <a:ext uri="{0D108BD9-81ED-4DB2-BD59-A6C34878D82A}">
                    <a16:rowId xmlns:a16="http://schemas.microsoft.com/office/drawing/2014/main" val="2930181476"/>
                  </a:ext>
                </a:extLst>
              </a:tr>
              <a:tr h="499669">
                <a:tc>
                  <a:txBody>
                    <a:bodyPr/>
                    <a:lstStyle/>
                    <a:p>
                      <a:r>
                        <a:rPr lang="en-US" sz="2000" dirty="0">
                          <a:latin typeface="ADLaM Display" panose="02010000000000000000" pitchFamily="2" charset="0"/>
                          <a:ea typeface="ADLaM Display" panose="02010000000000000000" pitchFamily="2" charset="0"/>
                          <a:cs typeface="ADLaM Display" panose="02010000000000000000" pitchFamily="2" charset="0"/>
                        </a:rPr>
                        <a:t>Quick overview</a:t>
                      </a:r>
                    </a:p>
                  </a:txBody>
                  <a:tcPr>
                    <a:solidFill>
                      <a:schemeClr val="bg1"/>
                    </a:solidFill>
                  </a:tcPr>
                </a:tc>
                <a:tc>
                  <a:txBody>
                    <a:bodyPr/>
                    <a:lstStyle/>
                    <a:p>
                      <a:r>
                        <a:rPr lang="en-US" sz="2000" dirty="0">
                          <a:latin typeface="ADLaM Display" panose="02010000000000000000" pitchFamily="2" charset="0"/>
                          <a:ea typeface="ADLaM Display" panose="02010000000000000000" pitchFamily="2" charset="0"/>
                          <a:cs typeface="ADLaM Display" panose="02010000000000000000" pitchFamily="2" charset="0"/>
                        </a:rPr>
                        <a:t>In-depth analysis</a:t>
                      </a:r>
                    </a:p>
                  </a:txBody>
                  <a:tcPr>
                    <a:solidFill>
                      <a:schemeClr val="bg1"/>
                    </a:solidFill>
                  </a:tcPr>
                </a:tc>
                <a:extLst>
                  <a:ext uri="{0D108BD9-81ED-4DB2-BD59-A6C34878D82A}">
                    <a16:rowId xmlns:a16="http://schemas.microsoft.com/office/drawing/2014/main" val="2740033526"/>
                  </a:ext>
                </a:extLst>
              </a:tr>
              <a:tr h="529389">
                <a:tc>
                  <a:txBody>
                    <a:bodyPr/>
                    <a:lstStyle/>
                    <a:p>
                      <a:r>
                        <a:rPr lang="en-US" sz="2000" dirty="0">
                          <a:latin typeface="ADLaM Display" panose="02010000000000000000" pitchFamily="2" charset="0"/>
                          <a:ea typeface="ADLaM Display" panose="02010000000000000000" pitchFamily="2" charset="0"/>
                          <a:cs typeface="ADLaM Display" panose="02010000000000000000" pitchFamily="2" charset="0"/>
                        </a:rPr>
                        <a:t>Charts and KPIs</a:t>
                      </a:r>
                    </a:p>
                  </a:txBody>
                  <a:tcPr>
                    <a:solidFill>
                      <a:schemeClr val="bg1"/>
                    </a:solidFill>
                  </a:tcPr>
                </a:tc>
                <a:tc>
                  <a:txBody>
                    <a:bodyPr/>
                    <a:lstStyle/>
                    <a:p>
                      <a:r>
                        <a:rPr lang="en-US" sz="2000" dirty="0">
                          <a:latin typeface="ADLaM Display" panose="02010000000000000000" pitchFamily="2" charset="0"/>
                          <a:ea typeface="ADLaM Display" panose="02010000000000000000" pitchFamily="2" charset="0"/>
                          <a:cs typeface="ADLaM Display" panose="02010000000000000000" pitchFamily="2" charset="0"/>
                        </a:rPr>
                        <a:t>Tables and text</a:t>
                      </a:r>
                    </a:p>
                  </a:txBody>
                  <a:tcPr>
                    <a:solidFill>
                      <a:schemeClr val="bg1"/>
                    </a:solidFill>
                  </a:tcPr>
                </a:tc>
                <a:extLst>
                  <a:ext uri="{0D108BD9-81ED-4DB2-BD59-A6C34878D82A}">
                    <a16:rowId xmlns:a16="http://schemas.microsoft.com/office/drawing/2014/main" val="1619815732"/>
                  </a:ext>
                </a:extLst>
              </a:tr>
              <a:tr h="553113">
                <a:tc>
                  <a:txBody>
                    <a:bodyPr/>
                    <a:lstStyle/>
                    <a:p>
                      <a:r>
                        <a:rPr lang="en-US" sz="2000" dirty="0">
                          <a:latin typeface="ADLaM Display" panose="02010000000000000000" pitchFamily="2" charset="0"/>
                          <a:ea typeface="ADLaM Display" panose="02010000000000000000" pitchFamily="2" charset="0"/>
                          <a:cs typeface="ADLaM Display" panose="02010000000000000000" pitchFamily="2" charset="0"/>
                        </a:rPr>
                        <a:t>Used by managers</a:t>
                      </a:r>
                    </a:p>
                  </a:txBody>
                  <a:tcPr>
                    <a:solidFill>
                      <a:schemeClr val="bg1"/>
                    </a:solidFill>
                  </a:tcPr>
                </a:tc>
                <a:tc>
                  <a:txBody>
                    <a:bodyPr/>
                    <a:lstStyle/>
                    <a:p>
                      <a:r>
                        <a:rPr lang="en-US" sz="2000" dirty="0">
                          <a:latin typeface="ADLaM Display" panose="02010000000000000000" pitchFamily="2" charset="0"/>
                          <a:ea typeface="ADLaM Display" panose="02010000000000000000" pitchFamily="2" charset="0"/>
                          <a:cs typeface="ADLaM Display" panose="02010000000000000000" pitchFamily="2" charset="0"/>
                        </a:rPr>
                        <a:t>Used by analysts/admins</a:t>
                      </a:r>
                    </a:p>
                  </a:txBody>
                  <a:tcPr>
                    <a:solidFill>
                      <a:schemeClr val="bg1"/>
                    </a:solidFill>
                  </a:tcPr>
                </a:tc>
                <a:extLst>
                  <a:ext uri="{0D108BD9-81ED-4DB2-BD59-A6C34878D82A}">
                    <a16:rowId xmlns:a16="http://schemas.microsoft.com/office/drawing/2014/main" val="969565339"/>
                  </a:ext>
                </a:extLst>
              </a:tr>
            </a:tbl>
          </a:graphicData>
        </a:graphic>
      </p:graphicFrame>
    </p:spTree>
    <p:extLst>
      <p:ext uri="{BB962C8B-B14F-4D97-AF65-F5344CB8AC3E}">
        <p14:creationId xmlns:p14="http://schemas.microsoft.com/office/powerpoint/2010/main" val="20286924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RetrospectVTI">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RetrospectVTI">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3335</TotalTime>
  <Words>3605</Words>
  <Application>Microsoft Office PowerPoint</Application>
  <PresentationFormat>Widescreen</PresentationFormat>
  <Paragraphs>577</Paragraphs>
  <Slides>63</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63</vt:i4>
      </vt:variant>
    </vt:vector>
  </HeadingPairs>
  <TitlesOfParts>
    <vt:vector size="69" baseType="lpstr">
      <vt:lpstr>ADLaM Display</vt:lpstr>
      <vt:lpstr>Calibri</vt:lpstr>
      <vt:lpstr>Wingdings</vt:lpstr>
      <vt:lpstr>YESHUAH</vt:lpstr>
      <vt:lpstr>RetrospectVTI</vt:lpstr>
      <vt:lpstr>1_RetrospectVTI</vt:lpstr>
      <vt:lpstr>Power BI</vt:lpstr>
      <vt:lpstr>PowerPoint Presentation</vt:lpstr>
      <vt:lpstr>What is Business Intelligence?</vt:lpstr>
      <vt:lpstr>Key components of BI</vt:lpstr>
      <vt:lpstr>BI Tools</vt:lpstr>
      <vt:lpstr>What is Power BI?</vt:lpstr>
      <vt:lpstr>…</vt:lpstr>
      <vt:lpstr>Key Features of Power BI</vt:lpstr>
      <vt:lpstr>How Power BI fit together?</vt:lpstr>
      <vt:lpstr>Elements of Power BI Services</vt:lpstr>
      <vt:lpstr>Power BI Desktop Vs Power BI Service</vt:lpstr>
      <vt:lpstr>…</vt:lpstr>
      <vt:lpstr>Power BI Architecture</vt:lpstr>
      <vt:lpstr>Setup Power BI Desktop </vt:lpstr>
      <vt:lpstr>Walk-through Power BI GUI</vt:lpstr>
      <vt:lpstr>…</vt:lpstr>
      <vt:lpstr>Views in Power BI Desktop</vt:lpstr>
      <vt:lpstr>…</vt:lpstr>
      <vt:lpstr>Power BI Contents</vt:lpstr>
      <vt:lpstr>…</vt:lpstr>
      <vt:lpstr>Dashboard, report, and dataset</vt:lpstr>
      <vt:lpstr>What is Visualization in Power BI?</vt:lpstr>
      <vt:lpstr>Benefits of Visualization in Power BI</vt:lpstr>
      <vt:lpstr>Bar Charts</vt:lpstr>
      <vt:lpstr>Column Charts</vt:lpstr>
      <vt:lpstr>Column Chart Vs Bar Chart</vt:lpstr>
      <vt:lpstr>Line Charts</vt:lpstr>
      <vt:lpstr>Line &amp; Stacked Column Charts</vt:lpstr>
      <vt:lpstr>… Comparison with Other Charts</vt:lpstr>
      <vt:lpstr>Area Charts</vt:lpstr>
      <vt:lpstr>Area Chart Vs Line Chart</vt:lpstr>
      <vt:lpstr>Pie Chart</vt:lpstr>
      <vt:lpstr>Donut Chart</vt:lpstr>
      <vt:lpstr>Pie Chart Vs Donut Chart</vt:lpstr>
      <vt:lpstr>Tree Map</vt:lpstr>
      <vt:lpstr>Scatter Plot</vt:lpstr>
      <vt:lpstr>Map Charts</vt:lpstr>
      <vt:lpstr>Ribbon Chart</vt:lpstr>
      <vt:lpstr>Waterfall Chart</vt:lpstr>
      <vt:lpstr>Funnel Chart</vt:lpstr>
      <vt:lpstr>Tables</vt:lpstr>
      <vt:lpstr>Matrix</vt:lpstr>
      <vt:lpstr>KPI Charts</vt:lpstr>
      <vt:lpstr>Cards</vt:lpstr>
      <vt:lpstr>Gauge Charts</vt:lpstr>
      <vt:lpstr>Filters</vt:lpstr>
      <vt:lpstr>Types of Filters in Power BI</vt:lpstr>
      <vt:lpstr>…</vt:lpstr>
      <vt:lpstr>Filter Types (Advanced)</vt:lpstr>
      <vt:lpstr>Slicers</vt:lpstr>
      <vt:lpstr>Types of Slicers in Power BI</vt:lpstr>
      <vt:lpstr>Slicer Vs Filter Pane</vt:lpstr>
      <vt:lpstr>Buttons</vt:lpstr>
      <vt:lpstr>Types of Data Sources</vt:lpstr>
      <vt:lpstr>Connecting to Data</vt:lpstr>
      <vt:lpstr>Import Mode Vs Direct Query</vt:lpstr>
      <vt:lpstr>Publishing Power BI Reports</vt:lpstr>
      <vt:lpstr>… Steps</vt:lpstr>
      <vt:lpstr>Sharing Methods</vt:lpstr>
      <vt:lpstr>Power BI Workspace</vt:lpstr>
      <vt:lpstr>Dashboard &amp; Reports</vt:lpstr>
      <vt:lpstr>Dashboard Vs Reports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Mintesnot Iwunete</cp:lastModifiedBy>
  <cp:revision>430</cp:revision>
  <dcterms:created xsi:type="dcterms:W3CDTF">2020-02-06T00:04:00Z</dcterms:created>
  <dcterms:modified xsi:type="dcterms:W3CDTF">2026-06-30T09:32:22Z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1033-11.2.0.9937</vt:lpwstr>
  </property>
</Properties>
</file>