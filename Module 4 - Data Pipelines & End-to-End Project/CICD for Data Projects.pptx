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11" r:id="rId2"/>
    <p:sldId id="410" r:id="rId3"/>
    <p:sldId id="412" r:id="rId4"/>
    <p:sldId id="436" r:id="rId5"/>
    <p:sldId id="439" r:id="rId6"/>
    <p:sldId id="437" r:id="rId7"/>
    <p:sldId id="438" r:id="rId8"/>
    <p:sldId id="435" r:id="rId9"/>
    <p:sldId id="440" r:id="rId10"/>
    <p:sldId id="434" r:id="rId11"/>
    <p:sldId id="433" r:id="rId12"/>
    <p:sldId id="441" r:id="rId13"/>
    <p:sldId id="442" r:id="rId14"/>
    <p:sldId id="443" r:id="rId15"/>
    <p:sldId id="444" r:id="rId16"/>
    <p:sldId id="445" r:id="rId17"/>
    <p:sldId id="432" r:id="rId18"/>
    <p:sldId id="446" r:id="rId19"/>
    <p:sldId id="26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E2F5"/>
    <a:srgbClr val="E7F7FE"/>
    <a:srgbClr val="0072C6"/>
    <a:srgbClr val="00A4EF"/>
    <a:srgbClr val="3333FF"/>
    <a:srgbClr val="FFDF00"/>
    <a:srgbClr val="75CDEA"/>
    <a:srgbClr val="002060"/>
    <a:srgbClr val="5A56A1"/>
    <a:srgbClr val="565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79" autoAdjust="0"/>
    <p:restoredTop sz="94639" autoAdjust="0"/>
  </p:normalViewPr>
  <p:slideViewPr>
    <p:cSldViewPr snapToGrid="0">
      <p:cViewPr>
        <p:scale>
          <a:sx n="35" d="100"/>
          <a:sy n="35" d="100"/>
        </p:scale>
        <p:origin x="104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-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6/30/2026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5116068" cy="511606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93268"/>
            <a:ext cx="5378824" cy="1814591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CI/CD</a:t>
            </a:r>
            <a:br>
              <a:rPr lang="en-US" sz="4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48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GitHub Actions</a:t>
            </a:r>
            <a:endParaRPr lang="en-US" sz="6000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0912" y="1523757"/>
            <a:ext cx="6934200" cy="40799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507D29-28AE-6807-B33C-5F66E1F4C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76" y="4049592"/>
            <a:ext cx="2164080" cy="216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81287" y="1233269"/>
            <a:ext cx="6810713" cy="6667828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CI/CD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Components of Cloud Data Platform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The Cloud Data Landscape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a Data Warehouse?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ETL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ELT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ETL Vs. ELT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578F-CBAD-808A-25C1-530BED34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CI/CD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A79AF-4BB5-9209-E9FA-9521D5AB69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7823" y="1584907"/>
            <a:ext cx="10858295" cy="5819940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 </a:t>
            </a:r>
            <a:r>
              <a:rPr lang="en-US" sz="2600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CI/CD </a:t>
            </a:r>
            <a:r>
              <a:rPr lang="en-US" sz="2600" dirty="0"/>
              <a:t>is a modern software engineering practice that automates the process of building, testing, validating, &amp; deploying application or data pipelines.</a:t>
            </a:r>
          </a:p>
          <a:p>
            <a:pPr algn="just"/>
            <a:r>
              <a:rPr lang="en-US" sz="2600" dirty="0"/>
              <a:t> Instead of manually performing repetitive deployment tasks, automated workflows execute every time developers make changes to the codebase.</a:t>
            </a:r>
          </a:p>
          <a:p>
            <a:pPr algn="just"/>
            <a:r>
              <a:rPr lang="en-US" sz="2600" dirty="0"/>
              <a:t> For data engineering teams, CI/CD ensures that SQL models, ETL pipelines, data transformations, infrastructure configurations, and workflow definitions are automatically tested before reaching production.</a:t>
            </a:r>
          </a:p>
          <a:p>
            <a:pPr algn="just"/>
            <a:r>
              <a:rPr lang="en-US" sz="2600" dirty="0"/>
              <a:t> This significantly reduces deployment risks while increasing reliability, consistency, and development speed.</a:t>
            </a:r>
          </a:p>
          <a:p>
            <a:pPr algn="just"/>
            <a:r>
              <a:rPr lang="en-US" sz="2600" dirty="0"/>
              <a:t> CI/CD allows organizations to deliver new features faster while maintaining high-quality and stable data platforms.</a:t>
            </a:r>
          </a:p>
          <a:p>
            <a:pPr marL="0" indent="0" algn="just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40203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AFB9-82E1-2C4D-1669-76068C6B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Continuous Integration (CI)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42EFD-094D-F884-3981-4A928264DA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Continuous Integration (CI) </a:t>
            </a:r>
            <a:r>
              <a:rPr lang="en-US" dirty="0"/>
              <a:t>is the practice of automatically integrating code changes from multiple developers into a shared repository several times a day.</a:t>
            </a:r>
          </a:p>
          <a:p>
            <a:pPr algn="just"/>
            <a:r>
              <a:rPr lang="en-US" dirty="0"/>
              <a:t> Whenever a developer commits or pushes code, automated workflows immediately validate the changes by running tests, formatting checks, linting, and build processes.</a:t>
            </a:r>
          </a:p>
          <a:p>
            <a:pPr algn="just"/>
            <a:r>
              <a:rPr lang="en-US" dirty="0"/>
              <a:t> Instead of waiting until the end of development to identify issues, CI continuously verifies that every change is compatible with the existing codebase.</a:t>
            </a:r>
          </a:p>
          <a:p>
            <a:pPr algn="just"/>
            <a:r>
              <a:rPr lang="en-US" dirty="0"/>
              <a:t> For data engineering projects, CI validates SQL models, </a:t>
            </a:r>
            <a:r>
              <a:rPr lang="en-US" dirty="0" err="1"/>
              <a:t>dbt</a:t>
            </a:r>
            <a:r>
              <a:rPr lang="en-US" dirty="0"/>
              <a:t> transformations, Python scripts, Airflow DAGs, and infrastructure code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11969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17292-167C-D9C3-AFA2-D697E425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B459-A856-77D1-319B-46120361A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Continuous Integration Activities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55348-F485-5949-1626-E1134A7F54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30769" y="1987765"/>
            <a:ext cx="3761232" cy="4870235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sz="2800" b="1" dirty="0"/>
              <a:t> Code validation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Automated testing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SQL syntax checking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Python unit testing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Code formatting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Dependency installation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Build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D46DF-80FC-F0F9-7FFC-82B2FE50E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8985"/>
            <a:ext cx="8430769" cy="562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9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2F199-0CDD-2342-A26F-254CB173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3879-289E-2F36-FC7E-BA25B783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Continuous Delivery (CD)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A375B-BCDB-BA10-40A6-2A5DE6E562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603716"/>
            <a:ext cx="10275570" cy="4925099"/>
          </a:xfrm>
        </p:spPr>
        <p:txBody>
          <a:bodyPr/>
          <a:lstStyle/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Continuous Delivery (CD) </a:t>
            </a:r>
            <a:r>
              <a:rPr lang="en-US" dirty="0"/>
              <a:t>is the process of automatically preparing validated code for  deployment into staging or production environments.</a:t>
            </a:r>
          </a:p>
          <a:p>
            <a:pPr algn="just"/>
            <a:r>
              <a:rPr lang="en-US" dirty="0"/>
              <a:t> Once Continuous Integration successfully completes all tests, the deployment pipeline packages &amp; releases the application or data pipeline with minimal manual interventions.</a:t>
            </a:r>
          </a:p>
          <a:p>
            <a:pPr algn="just"/>
            <a:r>
              <a:rPr lang="en-US" dirty="0"/>
              <a:t> In data engineering, Continuous Delivery automates  deploying </a:t>
            </a:r>
            <a:r>
              <a:rPr lang="en-US" dirty="0" err="1"/>
              <a:t>dbt</a:t>
            </a:r>
            <a:r>
              <a:rPr lang="en-US" dirty="0"/>
              <a:t> models, Airflow DAGs, Snowflake objects, infrastructure configurations, and minimal manual intervention.</a:t>
            </a:r>
          </a:p>
          <a:p>
            <a:pPr algn="just"/>
            <a:r>
              <a:rPr lang="en-US" dirty="0"/>
              <a:t> This ensures deployments are repeatable, predictable, and consistent across different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86741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C5CE-B75E-6921-65AE-89E0AB0C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Continuous Delivery Activities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FA695-C384-4F92-E2F8-8A00AB128D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4464" y="1603716"/>
            <a:ext cx="3907536" cy="5071403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sz="2800" b="1" dirty="0"/>
              <a:t> Package application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Deploy to staging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Deploy to production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Execute migration scripts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Update workflows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Validate deployment</a:t>
            </a:r>
          </a:p>
          <a:p>
            <a:pPr>
              <a:buBlip>
                <a:blip r:embed="rId2"/>
              </a:buBlip>
            </a:pPr>
            <a:r>
              <a:rPr lang="en-US" sz="2800" b="1" dirty="0"/>
              <a:t> Notify stakeholders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D597F-C26D-611A-B59D-E1550907E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24" y="1331742"/>
            <a:ext cx="8289388" cy="552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52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96FE-897B-1309-91E7-9FF21C9B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 Vs. CD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1123B9-C90C-73B7-4A79-9B7C8B6C6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49425"/>
              </p:ext>
            </p:extLst>
          </p:nvPr>
        </p:nvGraphicFramePr>
        <p:xfrm>
          <a:off x="1156921" y="1538691"/>
          <a:ext cx="10192398" cy="378061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096199">
                  <a:extLst>
                    <a:ext uri="{9D8B030D-6E8A-4147-A177-3AD203B41FA5}">
                      <a16:colId xmlns:a16="http://schemas.microsoft.com/office/drawing/2014/main" val="1934996040"/>
                    </a:ext>
                  </a:extLst>
                </a:gridCol>
                <a:gridCol w="5096199">
                  <a:extLst>
                    <a:ext uri="{9D8B030D-6E8A-4147-A177-3AD203B41FA5}">
                      <a16:colId xmlns:a16="http://schemas.microsoft.com/office/drawing/2014/main" val="897135027"/>
                    </a:ext>
                  </a:extLst>
                </a:gridCol>
              </a:tblGrid>
              <a:tr h="630103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Continuous Integration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Continuous Delivery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54536"/>
                  </a:ext>
                </a:extLst>
              </a:tr>
              <a:tr h="630103">
                <a:tc>
                  <a:txBody>
                    <a:bodyPr/>
                    <a:lstStyle/>
                    <a:p>
                      <a:r>
                        <a:rPr lang="en-US" sz="2800" dirty="0"/>
                        <a:t>Focuses on code quality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Focuses on deployment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460447"/>
                  </a:ext>
                </a:extLst>
              </a:tr>
              <a:tr h="630103">
                <a:tc>
                  <a:txBody>
                    <a:bodyPr/>
                    <a:lstStyle/>
                    <a:p>
                      <a:r>
                        <a:rPr lang="en-US" sz="2800" dirty="0"/>
                        <a:t>Runs after every commit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Runs after successful CI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543375"/>
                  </a:ext>
                </a:extLst>
              </a:tr>
              <a:tr h="630103">
                <a:tc>
                  <a:txBody>
                    <a:bodyPr/>
                    <a:lstStyle/>
                    <a:p>
                      <a:r>
                        <a:rPr lang="en-US" sz="2800" dirty="0"/>
                        <a:t>Executes tests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Deploys applications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02353"/>
                  </a:ext>
                </a:extLst>
              </a:tr>
              <a:tr h="630103">
                <a:tc>
                  <a:txBody>
                    <a:bodyPr/>
                    <a:lstStyle/>
                    <a:p>
                      <a:r>
                        <a:rPr lang="en-US" sz="2800" dirty="0"/>
                        <a:t>Detects bugs early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Delivers software faster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417512"/>
                  </a:ext>
                </a:extLst>
              </a:tr>
              <a:tr h="630103">
                <a:tc>
                  <a:txBody>
                    <a:bodyPr/>
                    <a:lstStyle/>
                    <a:p>
                      <a:r>
                        <a:rPr lang="en-US" sz="2800" dirty="0"/>
                        <a:t>Ensures code stability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Ensures deployment consistency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471447"/>
                  </a:ext>
                </a:extLst>
              </a:tr>
            </a:tbl>
          </a:graphicData>
        </a:graphic>
      </p:graphicFrame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8D8AB42-82F4-42E6-BBA3-7AAA8CB98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9809" y="5526258"/>
            <a:ext cx="10599510" cy="1176851"/>
          </a:xfrm>
        </p:spPr>
        <p:txBody>
          <a:bodyPr>
            <a:normAutofit fontScale="92500"/>
          </a:bodyPr>
          <a:lstStyle/>
          <a:p>
            <a:pPr algn="just">
              <a:buBlip>
                <a:blip r:embed="rId2"/>
              </a:buBlip>
            </a:pPr>
            <a:r>
              <a:rPr lang="en-US" sz="2800" dirty="0"/>
              <a:t> Together, CI &amp; CD create an automated software delivery pipeline that continuously validates &amp; deploys applications with minimal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3528253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25E98-99E1-8A51-B380-DB594693FA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57615" y="1706879"/>
            <a:ext cx="4236720" cy="7144513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sz="2200" b="1" dirty="0"/>
              <a:t> Developer 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Writes Code↓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Push to GitHub↓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Repository↓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Continuous Integration↓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Run Tests↓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Validate Code↓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Build Project↓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Continuous Delivery↓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Deploy to Development↓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Deploy to Staging↓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Deploy to Production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E4BFAB-E635-28BC-DDAE-ACF33B726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CI/CD Workflow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855EDC-A671-6F11-F006-900864F89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1742"/>
            <a:ext cx="8357615" cy="557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03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FB17-FB87-2755-E5AE-DE3B313F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683B-C757-56AF-2DCE-5409918D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Common CI/CD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B312E2-8692-A6B8-536D-3EA2F096B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50267"/>
            <a:ext cx="8284463" cy="552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76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8429-0429-E2AF-C2A8-3B5623D3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GitHub Actions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02598-102D-21F2-579F-EFC063367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331742"/>
            <a:ext cx="10640632" cy="567865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GitHub Actions </a:t>
            </a:r>
            <a:r>
              <a:rPr lang="en-US" dirty="0"/>
              <a:t>is GitHub’s built-in automation platform.</a:t>
            </a:r>
          </a:p>
          <a:p>
            <a:pPr algn="just"/>
            <a:r>
              <a:rPr lang="en-US" dirty="0"/>
              <a:t> It automatically executes workflows whenever events happen in a repository.</a:t>
            </a:r>
          </a:p>
          <a:p>
            <a:pPr marL="0" indent="0">
              <a:buNone/>
            </a:pPr>
            <a:r>
              <a:rPr lang="en-US" b="1" dirty="0"/>
              <a:t>Examples of events</a:t>
            </a:r>
          </a:p>
          <a:p>
            <a:pPr>
              <a:buBlip>
                <a:blip r:embed="rId2"/>
              </a:buBlip>
            </a:pPr>
            <a:r>
              <a:rPr lang="en-US" dirty="0"/>
              <a:t> Push </a:t>
            </a:r>
          </a:p>
          <a:p>
            <a:pPr>
              <a:buBlip>
                <a:blip r:embed="rId2"/>
              </a:buBlip>
            </a:pPr>
            <a:r>
              <a:rPr lang="en-US" dirty="0"/>
              <a:t> Pull Request </a:t>
            </a:r>
          </a:p>
          <a:p>
            <a:pPr>
              <a:buBlip>
                <a:blip r:embed="rId2"/>
              </a:buBlip>
            </a:pPr>
            <a:r>
              <a:rPr lang="en-US" dirty="0"/>
              <a:t> Release </a:t>
            </a:r>
          </a:p>
          <a:p>
            <a:pPr>
              <a:buBlip>
                <a:blip r:embed="rId2"/>
              </a:buBlip>
            </a:pPr>
            <a:r>
              <a:rPr lang="en-US" dirty="0"/>
              <a:t> Schedule </a:t>
            </a:r>
          </a:p>
          <a:p>
            <a:pPr>
              <a:buBlip>
                <a:blip r:embed="rId2"/>
              </a:buBlip>
            </a:pPr>
            <a:r>
              <a:rPr lang="en-US" dirty="0"/>
              <a:t> Manual Trigger </a:t>
            </a:r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pPr>
              <a:buBlip>
                <a:blip r:embed="rId3"/>
              </a:buBlip>
            </a:pPr>
            <a:r>
              <a:rPr lang="en-US" dirty="0"/>
              <a:t> Free for many projects </a:t>
            </a:r>
          </a:p>
          <a:p>
            <a:pPr>
              <a:buBlip>
                <a:blip r:embed="rId3"/>
              </a:buBlip>
            </a:pPr>
            <a:r>
              <a:rPr lang="en-US" dirty="0"/>
              <a:t> Integrated with GitHub </a:t>
            </a:r>
          </a:p>
          <a:p>
            <a:pPr>
              <a:buBlip>
                <a:blip r:embed="rId3"/>
              </a:buBlip>
            </a:pPr>
            <a:r>
              <a:rPr lang="en-US" dirty="0"/>
              <a:t> Supports Linux, Windows, and macOS </a:t>
            </a:r>
          </a:p>
          <a:p>
            <a:pPr>
              <a:buBlip>
                <a:blip r:embed="rId3"/>
              </a:buBlip>
            </a:pPr>
            <a:r>
              <a:rPr lang="en-US" dirty="0"/>
              <a:t> Huge marketplace of reusable actions </a:t>
            </a:r>
          </a:p>
          <a:p>
            <a:pPr>
              <a:buBlip>
                <a:blip r:embed="rId3"/>
              </a:buBlip>
            </a:pPr>
            <a:r>
              <a:rPr lang="en-US" dirty="0"/>
              <a:t> Easy YAML configuration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6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63F36E-190A-4A3B-630D-4C6F318A6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0" y="1331742"/>
            <a:ext cx="8065008" cy="5376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6A6433-0EF3-E6A7-3D23-7F91C93CD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GitHub 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1CC97-801C-F79C-A32D-CBBE4F165A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65007" y="1133856"/>
            <a:ext cx="4315969" cy="6013469"/>
          </a:xfrm>
        </p:spPr>
        <p:txBody>
          <a:bodyPr>
            <a:normAutofit/>
          </a:bodyPr>
          <a:lstStyle/>
          <a:p>
            <a:r>
              <a:rPr lang="en-US" dirty="0"/>
              <a:t> GitHub Actions is an event-driven automation framework.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Automate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Building applications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Running tests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Deploying software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Executing scripts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Sending notifications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Publishing artifacts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Managing releases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Automating infrastructure</a:t>
            </a:r>
          </a:p>
          <a:p>
            <a:r>
              <a:rPr lang="en-US" dirty="0"/>
              <a:t> Everything is defined as code inside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77871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27C310-793C-04D5-0AD2-E032B7AE3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115" y="1368318"/>
            <a:ext cx="7987635" cy="53250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17CEA-9E7D-3D4B-3E01-CEB6C2D9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GitHub Actions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31EEB-F1F7-D348-772E-04919A0297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8614" y="1734078"/>
            <a:ext cx="4145280" cy="5894830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Repository</a:t>
            </a:r>
            <a:r>
              <a:rPr lang="en-US" dirty="0"/>
              <a:t> – Stores source code.</a:t>
            </a:r>
          </a:p>
          <a:p>
            <a:pPr>
              <a:buBlip>
                <a:blip r:embed="rId3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Workflow</a:t>
            </a:r>
            <a:r>
              <a:rPr lang="en-US" dirty="0"/>
              <a:t> – Automation defined in YAML.</a:t>
            </a:r>
          </a:p>
          <a:p>
            <a:pPr>
              <a:buBlip>
                <a:blip r:embed="rId3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Event</a:t>
            </a:r>
            <a:r>
              <a:rPr lang="en-US" dirty="0"/>
              <a:t> – Triggers workflow execution.</a:t>
            </a:r>
          </a:p>
          <a:p>
            <a:pPr>
              <a:buBlip>
                <a:blip r:embed="rId3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Job</a:t>
            </a:r>
            <a:r>
              <a:rPr lang="en-US" dirty="0"/>
              <a:t> – Collection of related steps.</a:t>
            </a:r>
          </a:p>
          <a:p>
            <a:pPr>
              <a:buBlip>
                <a:blip r:embed="rId3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Runner</a:t>
            </a:r>
            <a:r>
              <a:rPr lang="en-US" dirty="0"/>
              <a:t> – Machine that execute workflows.</a:t>
            </a:r>
          </a:p>
          <a:p>
            <a:pPr>
              <a:buBlip>
                <a:blip r:embed="rId3"/>
              </a:buBlip>
            </a:pP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Action</a:t>
            </a:r>
            <a:r>
              <a:rPr lang="en-US" dirty="0"/>
              <a:t> – Reusable automation component.</a:t>
            </a:r>
          </a:p>
        </p:txBody>
      </p:sp>
    </p:spTree>
    <p:extLst>
      <p:ext uri="{BB962C8B-B14F-4D97-AF65-F5344CB8AC3E}">
        <p14:creationId xmlns:p14="http://schemas.microsoft.com/office/powerpoint/2010/main" val="1945614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DF3B4-F60C-0884-B4D0-C51082E5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80D10-9D38-CD3D-8520-DB936BEBFD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57615" y="2456687"/>
            <a:ext cx="4236720" cy="4200145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sz="2200" b="1" dirty="0"/>
              <a:t> Developer Push↓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GitHub Repository↓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Workflow Trigger↓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GitHub Runner↓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Install Dependencies↓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Run Tests↓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Build Project↓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Deploy↓</a:t>
            </a:r>
          </a:p>
          <a:p>
            <a:pPr>
              <a:buBlip>
                <a:blip r:embed="rId2"/>
              </a:buBlip>
            </a:pPr>
            <a:r>
              <a:rPr lang="en-US" sz="2200" b="1" dirty="0"/>
              <a:t> Notifications↓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945B5-95BD-D8F7-121C-1748C83D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CI/CD Workflow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C0D3C-2D37-C5C9-5EB4-556F55B2C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31741"/>
            <a:ext cx="8357615" cy="550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79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27391-F418-EF15-D0AA-21C0CAB3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GitHub Actions Workflow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FC51A-2ABC-BEE2-5EE2-D6248F9441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603716"/>
            <a:ext cx="10275570" cy="5254283"/>
          </a:xfrm>
        </p:spPr>
        <p:txBody>
          <a:bodyPr>
            <a:normAutofit/>
          </a:bodyPr>
          <a:lstStyle/>
          <a:p>
            <a:r>
              <a:rPr lang="en-US" dirty="0"/>
              <a:t> Every workflow is stored inside.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.</a:t>
            </a:r>
            <a:r>
              <a:rPr lang="en-US" b="1" dirty="0" err="1">
                <a:highlight>
                  <a:srgbClr val="C0C0C0"/>
                </a:highlight>
              </a:rPr>
              <a:t>github</a:t>
            </a:r>
            <a:r>
              <a:rPr lang="en-US" b="1" dirty="0">
                <a:highlight>
                  <a:srgbClr val="C0C0C0"/>
                </a:highlight>
              </a:rPr>
              <a:t>/workflows/</a:t>
            </a:r>
          </a:p>
          <a:p>
            <a:r>
              <a:rPr lang="en-US" dirty="0"/>
              <a:t> Example</a:t>
            </a: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.</a:t>
            </a:r>
            <a:r>
              <a:rPr lang="en-US" b="1" dirty="0" err="1">
                <a:highlight>
                  <a:srgbClr val="C0C0C0"/>
                </a:highlight>
              </a:rPr>
              <a:t>github</a:t>
            </a:r>
            <a:r>
              <a:rPr lang="en-US" b="1" dirty="0">
                <a:highlight>
                  <a:srgbClr val="C0C0C0"/>
                </a:highlight>
              </a:rPr>
              <a:t>/</a:t>
            </a: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└── workflows/</a:t>
            </a: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    ├── </a:t>
            </a:r>
            <a:r>
              <a:rPr lang="en-US" b="1" dirty="0" err="1">
                <a:highlight>
                  <a:srgbClr val="C0C0C0"/>
                </a:highlight>
              </a:rPr>
              <a:t>ci.yml</a:t>
            </a:r>
            <a:endParaRPr lang="en-US" b="1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    ├── </a:t>
            </a:r>
            <a:r>
              <a:rPr lang="en-US" b="1" dirty="0" err="1">
                <a:highlight>
                  <a:srgbClr val="C0C0C0"/>
                </a:highlight>
              </a:rPr>
              <a:t>deploy.yml</a:t>
            </a:r>
            <a:endParaRPr lang="en-US" b="1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    ├── </a:t>
            </a:r>
            <a:r>
              <a:rPr lang="en-US" b="1" dirty="0" err="1">
                <a:highlight>
                  <a:srgbClr val="C0C0C0"/>
                </a:highlight>
              </a:rPr>
              <a:t>dbt.yml</a:t>
            </a:r>
            <a:endParaRPr lang="en-US" b="1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    └── </a:t>
            </a:r>
            <a:r>
              <a:rPr lang="en-US" b="1" dirty="0" err="1">
                <a:highlight>
                  <a:srgbClr val="C0C0C0"/>
                </a:highlight>
              </a:rPr>
              <a:t>airflow.yml</a:t>
            </a:r>
            <a:endParaRPr lang="en-US" b="1" dirty="0">
              <a:highlight>
                <a:srgbClr val="C0C0C0"/>
              </a:highlight>
            </a:endParaRPr>
          </a:p>
          <a:p>
            <a:r>
              <a:rPr lang="en-US" dirty="0"/>
              <a:t>Each YAML file defines: Trigger events , Jobs , Steps , Environment variables, Secrets  &amp; Deployment process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282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E7A28-81D7-5977-D03A-83094331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Anatomy of a GitHub Actions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2249E-7C40-7F19-37E5-E751B1DF01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331742"/>
            <a:ext cx="10876583" cy="56327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A workflow typically contains the following sections: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name: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on: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jobs: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  build: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    runs-on: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C0C0C0"/>
                </a:highlight>
              </a:rPr>
              <a:t>    steps:</a:t>
            </a:r>
          </a:p>
          <a:p>
            <a:pPr marL="0" indent="0">
              <a:buNone/>
            </a:pPr>
            <a:r>
              <a:rPr lang="en-US" dirty="0"/>
              <a:t>Explanation: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name</a:t>
            </a:r>
            <a:r>
              <a:rPr lang="en-US" dirty="0"/>
              <a:t> – The workflow name shown in GitHub.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on</a:t>
            </a:r>
            <a:r>
              <a:rPr lang="en-US" dirty="0"/>
              <a:t> – Specifies the events that trigger the workflow, such as a push or pull request.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jobs</a:t>
            </a:r>
            <a:r>
              <a:rPr lang="en-US" dirty="0"/>
              <a:t> – Defines one or more groups of work to execute.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runs-on</a:t>
            </a:r>
            <a:r>
              <a:rPr lang="en-US" dirty="0"/>
              <a:t> – Selects the runner (for example, Ubuntu) that executes the job.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steps</a:t>
            </a:r>
            <a:r>
              <a:rPr lang="en-US" dirty="0"/>
              <a:t> – Lists the individual actions or commands performed in sequence. </a:t>
            </a:r>
          </a:p>
        </p:txBody>
      </p:sp>
    </p:spTree>
    <p:extLst>
      <p:ext uri="{BB962C8B-B14F-4D97-AF65-F5344CB8AC3E}">
        <p14:creationId xmlns:p14="http://schemas.microsoft.com/office/powerpoint/2010/main" val="3795669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19DB-A14A-F5AF-B7BB-AF569ABB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Common Triggers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F63D96-AE4F-59DE-FFD8-2291D2D8D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576627"/>
              </p:ext>
            </p:extLst>
          </p:nvPr>
        </p:nvGraphicFramePr>
        <p:xfrm>
          <a:off x="1156921" y="1508559"/>
          <a:ext cx="10515126" cy="503567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257563">
                  <a:extLst>
                    <a:ext uri="{9D8B030D-6E8A-4147-A177-3AD203B41FA5}">
                      <a16:colId xmlns:a16="http://schemas.microsoft.com/office/drawing/2014/main" val="64414361"/>
                    </a:ext>
                  </a:extLst>
                </a:gridCol>
                <a:gridCol w="5257563">
                  <a:extLst>
                    <a:ext uri="{9D8B030D-6E8A-4147-A177-3AD203B41FA5}">
                      <a16:colId xmlns:a16="http://schemas.microsoft.com/office/drawing/2014/main" val="13127697"/>
                    </a:ext>
                  </a:extLst>
                </a:gridCol>
              </a:tblGrid>
              <a:tr h="839279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Trigger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FFC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Description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025099"/>
                  </a:ext>
                </a:extLst>
              </a:tr>
              <a:tr h="839279">
                <a:tc>
                  <a:txBody>
                    <a:bodyPr/>
                    <a:lstStyle/>
                    <a:p>
                      <a:r>
                        <a:rPr lang="en-US" sz="3200" b="1" dirty="0"/>
                        <a:t>push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Code pushed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336088"/>
                  </a:ext>
                </a:extLst>
              </a:tr>
              <a:tr h="839279">
                <a:tc>
                  <a:txBody>
                    <a:bodyPr/>
                    <a:lstStyle/>
                    <a:p>
                      <a:r>
                        <a:rPr lang="en-US" sz="3200" b="1" dirty="0" err="1"/>
                        <a:t>pull_request</a:t>
                      </a:r>
                      <a:endParaRPr lang="en-US" sz="32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PR created or updated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632979"/>
                  </a:ext>
                </a:extLst>
              </a:tr>
              <a:tr h="839279">
                <a:tc>
                  <a:txBody>
                    <a:bodyPr/>
                    <a:lstStyle/>
                    <a:p>
                      <a:r>
                        <a:rPr lang="en-US" sz="3200" b="1" dirty="0"/>
                        <a:t>schedule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Run on a schedule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493259"/>
                  </a:ext>
                </a:extLst>
              </a:tr>
              <a:tr h="839279">
                <a:tc>
                  <a:txBody>
                    <a:bodyPr/>
                    <a:lstStyle/>
                    <a:p>
                      <a:r>
                        <a:rPr lang="en-US" sz="3200" b="1" dirty="0" err="1"/>
                        <a:t>workflow_dispatch</a:t>
                      </a:r>
                      <a:endParaRPr lang="en-US" sz="32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Manual execution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469709"/>
                  </a:ext>
                </a:extLst>
              </a:tr>
              <a:tr h="839279">
                <a:tc>
                  <a:txBody>
                    <a:bodyPr/>
                    <a:lstStyle/>
                    <a:p>
                      <a:r>
                        <a:rPr lang="en-US" sz="3200" b="1" dirty="0"/>
                        <a:t>release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When a release is published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030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148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B226-02CC-0E0C-A867-AF01BBC0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0C81-ECF3-1109-9DED-EDEC6A136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Code Quality Checks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CDF717-04F7-E7A5-ED8A-F506C7E3C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189" y="1201928"/>
            <a:ext cx="8484108" cy="565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29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3513</TotalTime>
  <Words>945</Words>
  <Application>Microsoft Office PowerPoint</Application>
  <PresentationFormat>Widescreen</PresentationFormat>
  <Paragraphs>152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ADLaM Display</vt:lpstr>
      <vt:lpstr>Calibri</vt:lpstr>
      <vt:lpstr>Wingdings</vt:lpstr>
      <vt:lpstr>YESHUAH</vt:lpstr>
      <vt:lpstr>RetrospectVTI</vt:lpstr>
      <vt:lpstr>CI/CD GitHub Actions</vt:lpstr>
      <vt:lpstr>PowerPoint Presentation</vt:lpstr>
      <vt:lpstr>What is CI/CD? </vt:lpstr>
      <vt:lpstr>Continuous Integration (CI)</vt:lpstr>
      <vt:lpstr>Continuous Integration Activities</vt:lpstr>
      <vt:lpstr>Continuous Delivery (CD)</vt:lpstr>
      <vt:lpstr>Continuous Delivery Activities</vt:lpstr>
      <vt:lpstr>CI Vs. CD</vt:lpstr>
      <vt:lpstr>CI/CD Workflow Overview</vt:lpstr>
      <vt:lpstr>Common CI/CD Tools</vt:lpstr>
      <vt:lpstr>What is GitHub Actions? </vt:lpstr>
      <vt:lpstr>GitHub Actions</vt:lpstr>
      <vt:lpstr>GitHub Actions Components</vt:lpstr>
      <vt:lpstr>CI/CD Workflow Architecture</vt:lpstr>
      <vt:lpstr>GitHub Actions Workflow File</vt:lpstr>
      <vt:lpstr>Anatomy of a GitHub Actions Workflow</vt:lpstr>
      <vt:lpstr>Common Triggers</vt:lpstr>
      <vt:lpstr>Code Quality Checks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479</cp:revision>
  <dcterms:created xsi:type="dcterms:W3CDTF">2020-02-06T00:04:00Z</dcterms:created>
  <dcterms:modified xsi:type="dcterms:W3CDTF">2026-06-30T13:12:03Z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