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411" r:id="rId2"/>
    <p:sldId id="410" r:id="rId3"/>
    <p:sldId id="429" r:id="rId4"/>
    <p:sldId id="430" r:id="rId5"/>
    <p:sldId id="431" r:id="rId6"/>
    <p:sldId id="432" r:id="rId7"/>
    <p:sldId id="433" r:id="rId8"/>
    <p:sldId id="434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E2F5"/>
    <a:srgbClr val="E7F7FE"/>
    <a:srgbClr val="0072C6"/>
    <a:srgbClr val="00A4EF"/>
    <a:srgbClr val="3333FF"/>
    <a:srgbClr val="FFDF00"/>
    <a:srgbClr val="75CDEA"/>
    <a:srgbClr val="002060"/>
    <a:srgbClr val="5A56A1"/>
    <a:srgbClr val="5656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6F72C-57AD-4C0C-B413-44A67FA7CD9B}" v="95" dt="2024-03-18T15:51:55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79" autoAdjust="0"/>
    <p:restoredTop sz="94639" autoAdjust="0"/>
  </p:normalViewPr>
  <p:slideViewPr>
    <p:cSldViewPr snapToGrid="0">
      <p:cViewPr varScale="1">
        <p:scale>
          <a:sx n="36" d="100"/>
          <a:sy n="36" d="100"/>
        </p:scale>
        <p:origin x="80" y="9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1" d="100"/>
          <a:sy n="51" d="100"/>
        </p:scale>
        <p:origin x="2692" y="-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6/20/2026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ECC495-5FEF-4C9C-502D-7281AA9BC4CE}"/>
              </a:ext>
            </a:extLst>
          </p:cNvPr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itle 1"/>
          <p:cNvSpPr txBox="1"/>
          <p:nvPr userDrawn="1"/>
        </p:nvSpPr>
        <p:spPr>
          <a:xfrm>
            <a:off x="-1707114" y="2422578"/>
            <a:ext cx="6145764" cy="11097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sz="2400" dirty="0"/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509750" y="2338493"/>
            <a:ext cx="3531146" cy="14507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baseline="0">
                <a:solidFill>
                  <a:schemeClr val="bg1"/>
                </a:solidFill>
                <a:latin typeface="YESHUAH" panose="02000500000000000000" pitchFamily="2" charset="0"/>
              </a:defRPr>
            </a:lvl1pPr>
          </a:lstStyle>
          <a:p>
            <a:r>
              <a:rPr lang="en-US" dirty="0"/>
              <a:t>{ subject }</a:t>
            </a:r>
          </a:p>
        </p:txBody>
      </p:sp>
      <p:sp>
        <p:nvSpPr>
          <p:cNvPr id="1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7647842" y="6136265"/>
            <a:ext cx="4090199" cy="4531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2400" baseline="0">
                <a:solidFill>
                  <a:srgbClr val="25677D"/>
                </a:solidFill>
                <a:latin typeface="YESHUAH" panose="02000500000000000000" pitchFamily="2" charset="0"/>
              </a:defRPr>
            </a:lvl1pPr>
          </a:lstStyle>
          <a:p>
            <a:pPr lvl="0"/>
            <a:r>
              <a:rPr lang="en-US" dirty="0"/>
              <a:t> { write presenter name }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9" name="Group 18" descr="Info"/>
          <p:cNvGrpSpPr/>
          <p:nvPr userDrawn="1"/>
        </p:nvGrpSpPr>
        <p:grpSpPr>
          <a:xfrm>
            <a:off x="4642801" y="3133724"/>
            <a:ext cx="567374" cy="550865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20" name="Freeform: Shape 19"/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</p:grpSp>
      <p:sp>
        <p:nvSpPr>
          <p:cNvPr id="16" name="Title 1"/>
          <p:cNvSpPr txBox="1"/>
          <p:nvPr userDrawn="1"/>
        </p:nvSpPr>
        <p:spPr>
          <a:xfrm>
            <a:off x="474130" y="2639243"/>
            <a:ext cx="3334512" cy="108011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bg1"/>
                </a:solidFill>
                <a:latin typeface="YESHUAH" panose="02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Objectives</a:t>
            </a:r>
            <a:endParaRPr lang="en-US" sz="3200" b="1" dirty="0">
              <a:solidFill>
                <a:schemeClr val="bg1"/>
              </a:solidFill>
              <a:latin typeface="YESHUAH" panose="02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908431" y="1603717"/>
            <a:ext cx="5524060" cy="3151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32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 { write your objectives}</a:t>
            </a:r>
          </a:p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EF92EB-1689-2416-7533-E53DBC8933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348890"/>
            <a:ext cx="2160220" cy="216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6921" y="618977"/>
            <a:ext cx="9393848" cy="712765"/>
          </a:xfrm>
          <a:prstGeom prst="rect">
            <a:avLst/>
          </a:prstGeom>
        </p:spPr>
        <p:txBody>
          <a:bodyPr/>
          <a:lstStyle>
            <a:lvl1pPr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{ Title }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156921" y="1603717"/>
            <a:ext cx="10275570" cy="47053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{write your bullet point }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 userDrawn="1"/>
        </p:nvSpPr>
        <p:spPr>
          <a:xfrm>
            <a:off x="1325880" y="638175"/>
            <a:ext cx="9942195" cy="6667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2060"/>
                </a:solidFill>
                <a:latin typeface="+mn-lt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325880" y="1524000"/>
            <a:ext cx="9681949" cy="3958659"/>
          </a:xfrm>
          <a:prstGeom prst="rect">
            <a:avLst/>
          </a:prstGeom>
        </p:spPr>
        <p:txBody>
          <a:bodyPr>
            <a:normAutofit/>
          </a:bodyPr>
          <a:lstStyle>
            <a:lvl1pPr marL="91440">
              <a:spcBef>
                <a:spcPts val="0"/>
              </a:spcBef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 link to reference1, example: http://app.icraftsoft.net }</a:t>
            </a:r>
          </a:p>
          <a:p>
            <a:pPr lvl="0"/>
            <a:r>
              <a:rPr lang="en-US" dirty="0"/>
              <a:t>{ link to reference1, example: http://app.icraftsoft.net }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84E36F-A443-7521-D49B-753C50A8A8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25952" y="973836"/>
            <a:ext cx="5116068" cy="511606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8621" y="625480"/>
            <a:ext cx="1036320" cy="6858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610600" y="6181726"/>
            <a:ext cx="2743200" cy="539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36B06-9FB6-4AA1-A097-666DD28834F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73852" y="205990"/>
            <a:ext cx="944645" cy="9446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 spc="-38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10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29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45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61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77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486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472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22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8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CDAC-6AB4-4A7B-90D7-87428ABE7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03621"/>
            <a:ext cx="5378824" cy="1814591"/>
          </a:xfrm>
        </p:spPr>
        <p:txBody>
          <a:bodyPr>
            <a:no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Advanced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SQL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b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Concepts</a:t>
            </a:r>
            <a:endParaRPr lang="en-US" sz="5400" dirty="0">
              <a:solidFill>
                <a:srgbClr val="FFC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905C-A1AA-3986-D28A-042DCEF789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mintesnot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CEBC9E-4311-34A9-0C78-FA3EC3930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0912" y="1523757"/>
            <a:ext cx="6934200" cy="4079938"/>
          </a:xfrm>
          <a:prstGeom prst="rect">
            <a:avLst/>
          </a:prstGeom>
        </p:spPr>
      </p:pic>
      <p:pic>
        <p:nvPicPr>
          <p:cNvPr id="4" name="Picture 3" descr="Join (SQL) - Wikipedia">
            <a:extLst>
              <a:ext uri="{FF2B5EF4-FFF2-40B4-BE49-F238E27FC236}">
                <a16:creationId xmlns:a16="http://schemas.microsoft.com/office/drawing/2014/main" id="{93E3453F-8D92-D22A-3873-DC1F9D6CE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165" y="3651710"/>
            <a:ext cx="3689362" cy="248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13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A5F557-19C5-3E57-5E7C-602DF20CA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81287" y="336797"/>
            <a:ext cx="6810713" cy="6667828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What is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JOIN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Unnormalized Form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First Normal Form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Second Normal Form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Third Normal Form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Boyce-Codd Normal Form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Fourth Normal Form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Fifth Normal Form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Sixth Normal Form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Cardinality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Types of Cardinality</a:t>
            </a:r>
          </a:p>
        </p:txBody>
      </p:sp>
    </p:spTree>
    <p:extLst>
      <p:ext uri="{BB962C8B-B14F-4D97-AF65-F5344CB8AC3E}">
        <p14:creationId xmlns:p14="http://schemas.microsoft.com/office/powerpoint/2010/main" val="166488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DD8C9-B177-F4BE-07D1-B2C80A08D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CBCF4-30B8-2D7F-2EC0-1CFE34B85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0" y="715229"/>
            <a:ext cx="9393848" cy="712765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a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Join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E7169-E0EB-1D4E-4666-77164904D0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0" y="1643147"/>
            <a:ext cx="10794447" cy="6640241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JOIN </a:t>
            </a:r>
            <a:r>
              <a:rPr lang="en-US" sz="2800" dirty="0"/>
              <a:t>is used to combine data from two or more tables based on a related column.</a:t>
            </a:r>
          </a:p>
          <a:p>
            <a:pPr marL="0" indent="0" algn="just">
              <a:buNone/>
            </a:pPr>
            <a:r>
              <a:rPr lang="en-US" sz="2800" dirty="0"/>
              <a:t> They help in:</a:t>
            </a:r>
          </a:p>
          <a:p>
            <a:pPr algn="just">
              <a:buBlip>
                <a:blip r:embed="rId2"/>
              </a:buBlip>
            </a:pPr>
            <a:r>
              <a:rPr lang="en-US" sz="2800" dirty="0"/>
              <a:t> Retrieving connected data stored across multiple tables.</a:t>
            </a:r>
          </a:p>
          <a:p>
            <a:pPr algn="just">
              <a:buBlip>
                <a:blip r:embed="rId2"/>
              </a:buBlip>
            </a:pPr>
            <a:r>
              <a:rPr lang="en-US" sz="2800" dirty="0"/>
              <a:t> Matching records using common columns.</a:t>
            </a:r>
          </a:p>
          <a:p>
            <a:pPr algn="just">
              <a:buBlip>
                <a:blip r:embed="rId2"/>
              </a:buBlip>
            </a:pPr>
            <a:r>
              <a:rPr lang="en-US" sz="2800" dirty="0"/>
              <a:t> Improving data analysis by combining related information.</a:t>
            </a:r>
          </a:p>
          <a:p>
            <a:pPr algn="just">
              <a:buBlip>
                <a:blip r:embed="rId2"/>
              </a:buBlip>
            </a:pPr>
            <a:r>
              <a:rPr lang="en-US" sz="2800" dirty="0"/>
              <a:t> Creating meaningful result sets from separate tables.</a:t>
            </a:r>
          </a:p>
          <a:p>
            <a:pPr algn="just"/>
            <a:r>
              <a:rPr lang="en-US" sz="2800" dirty="0"/>
              <a:t> SQL joins are categorized into different types based on how rows from two tables are matched and combined.</a:t>
            </a:r>
          </a:p>
          <a:p>
            <a:pPr marL="0" indent="0" algn="just">
              <a:buNone/>
            </a:pPr>
            <a:endParaRPr lang="en-US" sz="2800" dirty="0"/>
          </a:p>
          <a:p>
            <a:pPr marL="0" indent="0" algn="just">
              <a:buNone/>
            </a:pPr>
            <a:endParaRPr lang="en-US" sz="2800" dirty="0"/>
          </a:p>
          <a:p>
            <a:pPr algn="just"/>
            <a:endParaRPr lang="en-US" sz="2800" dirty="0"/>
          </a:p>
          <a:p>
            <a:pPr marL="0" indent="0" algn="just">
              <a:buNone/>
            </a:pP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8950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EA12-C392-AFF7-7235-65AAB2DB3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Types of SQL Joins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5C28C-D465-751F-AC95-A92A26AA09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8894" y="1910191"/>
            <a:ext cx="3783106" cy="470535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600" b="1" dirty="0"/>
              <a:t>INNER JOIN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b="1" dirty="0"/>
              <a:t>LEFT JOIN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b="1" dirty="0"/>
              <a:t>RIGHT JOIN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b="1" dirty="0"/>
              <a:t>FULL OUTER JOIN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b="1" dirty="0"/>
              <a:t>CROSS JOIN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b="1" dirty="0"/>
              <a:t>SELF JOIN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7C4C62-0874-16B6-EB90-796481952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82" y="1412443"/>
            <a:ext cx="8137712" cy="542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608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E4463D-0C11-738D-0147-24CC6F844835}"/>
              </a:ext>
            </a:extLst>
          </p:cNvPr>
          <p:cNvSpPr/>
          <p:nvPr/>
        </p:nvSpPr>
        <p:spPr>
          <a:xfrm>
            <a:off x="412657" y="2378527"/>
            <a:ext cx="5522258" cy="247425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/>
            <a:r>
              <a:rPr lang="en-US" sz="2400" b="1" dirty="0"/>
              <a:t>SELECT table1.column1,table1.column2,table2.column1,.... FROM table1  INNER JOIN</a:t>
            </a:r>
          </a:p>
          <a:p>
            <a:pPr fontAlgn="base"/>
            <a:r>
              <a:rPr lang="en-US" sz="2400" b="1" dirty="0"/>
              <a:t> table2 ON  table1.matching_column = table2.matching_column;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1FC6E9-47B6-0E51-0C51-1ED48DAAA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INNER JOIN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D7375-83F0-7703-FCE6-E22C9F7BB8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73035" y="1197271"/>
            <a:ext cx="3639670" cy="5660729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INNER JOIN </a:t>
            </a:r>
            <a:r>
              <a:rPr lang="en-US" dirty="0"/>
              <a:t>is used to retrieve rows where matching values exist in both tables.</a:t>
            </a:r>
          </a:p>
          <a:p>
            <a:pPr marL="0" indent="0" algn="just">
              <a:buNone/>
            </a:pPr>
            <a:r>
              <a:rPr lang="en-US" dirty="0"/>
              <a:t> It helps in:</a:t>
            </a:r>
          </a:p>
          <a:p>
            <a:pPr algn="just"/>
            <a:r>
              <a:rPr lang="en-US" dirty="0"/>
              <a:t> Combining records based on a related column.</a:t>
            </a:r>
          </a:p>
          <a:p>
            <a:pPr algn="just"/>
            <a:r>
              <a:rPr lang="en-US" dirty="0"/>
              <a:t> Returning only matching rows from both tables.</a:t>
            </a:r>
          </a:p>
          <a:p>
            <a:pPr algn="just"/>
            <a:r>
              <a:rPr lang="en-US" dirty="0"/>
              <a:t> Excluding non-matching data from the result set.</a:t>
            </a:r>
          </a:p>
          <a:p>
            <a:pPr algn="just"/>
            <a:r>
              <a:rPr lang="en-US" dirty="0"/>
              <a:t> Ensuring accurate data relationships between tables.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3A2114-08AF-1050-4F88-9982D2747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107" y="1069035"/>
            <a:ext cx="2905125" cy="19240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EC9E25-F8D9-F533-7415-BE8D119D982C}"/>
              </a:ext>
            </a:extLst>
          </p:cNvPr>
          <p:cNvSpPr txBox="1"/>
          <p:nvPr/>
        </p:nvSpPr>
        <p:spPr>
          <a:xfrm>
            <a:off x="430304" y="5253239"/>
            <a:ext cx="75485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Blip>
                <a:blip r:embed="rId3"/>
              </a:buBlip>
            </a:pPr>
            <a:r>
              <a:rPr lang="en-US" b="1" dirty="0">
                <a:solidFill>
                  <a:srgbClr val="FFC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Note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: We can also write JOIN instead of INNER JOIN. JOIN is same as INNER JOIN.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018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78528-FB47-1903-94F8-6A03C73F8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8CF5E10-0ECF-D20B-1D0E-14CE70452708}"/>
              </a:ext>
            </a:extLst>
          </p:cNvPr>
          <p:cNvSpPr/>
          <p:nvPr/>
        </p:nvSpPr>
        <p:spPr>
          <a:xfrm>
            <a:off x="412656" y="2378526"/>
            <a:ext cx="5683343" cy="267756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/>
            <a:r>
              <a:rPr lang="en-US" sz="2400" b="1" dirty="0"/>
              <a:t>SELECT table1.column1,table1.column2,table2.column1,....</a:t>
            </a:r>
          </a:p>
          <a:p>
            <a:pPr fontAlgn="base"/>
            <a:r>
              <a:rPr lang="en-US" sz="2400" b="1" dirty="0"/>
              <a:t>FROM table1 </a:t>
            </a:r>
          </a:p>
          <a:p>
            <a:pPr fontAlgn="base"/>
            <a:r>
              <a:rPr lang="en-US" sz="2400" b="1" dirty="0"/>
              <a:t>LEFT JOIN table2</a:t>
            </a:r>
          </a:p>
          <a:p>
            <a:pPr fontAlgn="base"/>
            <a:r>
              <a:rPr lang="en-US" sz="2400" b="1" dirty="0"/>
              <a:t>ON table1.matching_column = table2.matching_column;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03D772-BD4C-7E5B-7065-6915E8518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LEFT JOIN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4414C-2893-EB73-EE44-3B6511DA12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73035" y="1197271"/>
            <a:ext cx="3639670" cy="566072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LEFT JOIN </a:t>
            </a:r>
            <a:r>
              <a:rPr lang="en-US" dirty="0"/>
              <a:t>is used to retrieve all rows from the left table and matching rows from the right table.</a:t>
            </a:r>
          </a:p>
          <a:p>
            <a:pPr marL="0" indent="0" algn="just">
              <a:buNone/>
            </a:pPr>
            <a:r>
              <a:rPr lang="en-US" dirty="0"/>
              <a:t> It helps in:</a:t>
            </a:r>
          </a:p>
          <a:p>
            <a:pPr algn="just"/>
            <a:r>
              <a:rPr lang="en-US" dirty="0"/>
              <a:t> Returning all records from the left table.</a:t>
            </a:r>
          </a:p>
          <a:p>
            <a:pPr algn="just"/>
            <a:r>
              <a:rPr lang="en-US" dirty="0"/>
              <a:t> Showing matching data from the right table.</a:t>
            </a:r>
          </a:p>
          <a:p>
            <a:pPr algn="just"/>
            <a:r>
              <a:rPr lang="en-US" dirty="0"/>
              <a:t> Displaying NULL values where no match exists in the right table.</a:t>
            </a:r>
          </a:p>
          <a:p>
            <a:pPr algn="just"/>
            <a:r>
              <a:rPr lang="en-US" dirty="0"/>
              <a:t> Performing outer joins, also known as LEFT OUTER JOIN.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AD18F3-F265-A646-CE65-7825FB6F9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3742" y="819775"/>
            <a:ext cx="2905125" cy="19240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E2ACB60-D06E-45F9-6C2D-40D33BE1D541}"/>
              </a:ext>
            </a:extLst>
          </p:cNvPr>
          <p:cNvSpPr txBox="1"/>
          <p:nvPr/>
        </p:nvSpPr>
        <p:spPr>
          <a:xfrm>
            <a:off x="430304" y="5253239"/>
            <a:ext cx="75485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Blip>
                <a:blip r:embed="rId3"/>
              </a:buBlip>
            </a:pPr>
            <a:r>
              <a:rPr lang="en-US" b="1" dirty="0">
                <a:solidFill>
                  <a:srgbClr val="FFC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Note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: </a:t>
            </a:r>
            <a:r>
              <a:rPr lang="en-US" i="1" dirty="0"/>
              <a:t>We can also use LEFT OUTER JOIN instead of LEFT JOIN, both are the same.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121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B347C-0926-4AEB-A96A-ED03D85DE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0AB6F31-6631-5133-0ADA-A56B7F31CDCD}"/>
              </a:ext>
            </a:extLst>
          </p:cNvPr>
          <p:cNvSpPr/>
          <p:nvPr/>
        </p:nvSpPr>
        <p:spPr>
          <a:xfrm>
            <a:off x="412656" y="2378526"/>
            <a:ext cx="5683343" cy="267756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/>
            <a:r>
              <a:rPr lang="en-US" sz="2400" b="1" dirty="0"/>
              <a:t>SELECT table1.column1,table1.column2,table2.column1,....</a:t>
            </a:r>
          </a:p>
          <a:p>
            <a:pPr fontAlgn="base"/>
            <a:r>
              <a:rPr lang="en-US" sz="2400" b="1" dirty="0"/>
              <a:t>FROM table1 </a:t>
            </a:r>
          </a:p>
          <a:p>
            <a:pPr fontAlgn="base"/>
            <a:r>
              <a:rPr lang="en-US" sz="2400" b="1" dirty="0"/>
              <a:t>RIGHT JOIN table2</a:t>
            </a:r>
          </a:p>
          <a:p>
            <a:pPr fontAlgn="base"/>
            <a:r>
              <a:rPr lang="en-US" sz="2400" b="1" dirty="0"/>
              <a:t>ON table1.matching_column = table2.matching_column;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6E12B7-5C8B-1EDC-6F49-DA381E074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RIGHT JOIN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A001B-7A03-5598-FA9B-5B7B60A497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73035" y="1197271"/>
            <a:ext cx="3639670" cy="5660729"/>
          </a:xfrm>
        </p:spPr>
        <p:txBody>
          <a:bodyPr>
            <a:normAutofit fontScale="92500"/>
          </a:bodyPr>
          <a:lstStyle/>
          <a:p>
            <a:pPr algn="just"/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RIGHT JOIN </a:t>
            </a:r>
            <a:r>
              <a:rPr lang="en-US" dirty="0"/>
              <a:t>is used to retrieve all rows from the right table and the matching rows from the left table.</a:t>
            </a:r>
          </a:p>
          <a:p>
            <a:pPr marL="0" indent="0" algn="just">
              <a:buNone/>
            </a:pPr>
            <a:r>
              <a:rPr lang="en-US" dirty="0"/>
              <a:t> It helps in:</a:t>
            </a:r>
          </a:p>
          <a:p>
            <a:pPr algn="just"/>
            <a:r>
              <a:rPr lang="en-US" dirty="0"/>
              <a:t> Returning all records from the right-side table.</a:t>
            </a:r>
          </a:p>
          <a:p>
            <a:pPr algn="just"/>
            <a:r>
              <a:rPr lang="en-US" dirty="0"/>
              <a:t> Showing matching data from the left-side table.</a:t>
            </a:r>
          </a:p>
          <a:p>
            <a:pPr algn="just"/>
            <a:r>
              <a:rPr lang="en-US" dirty="0"/>
              <a:t> Displaying NULL values where no match exists in the left table.</a:t>
            </a:r>
          </a:p>
          <a:p>
            <a:pPr algn="just"/>
            <a:r>
              <a:rPr lang="en-US" dirty="0"/>
              <a:t> Performing outer joins, also known as RIGHT OUTER JOIN.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02F196-57C5-2BE6-649E-E8ECAE142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3742" y="819775"/>
            <a:ext cx="2905125" cy="19240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0569E2-0938-1ED8-BD89-A93D06999770}"/>
              </a:ext>
            </a:extLst>
          </p:cNvPr>
          <p:cNvSpPr txBox="1"/>
          <p:nvPr/>
        </p:nvSpPr>
        <p:spPr>
          <a:xfrm>
            <a:off x="430304" y="5253239"/>
            <a:ext cx="75485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Blip>
                <a:blip r:embed="rId3"/>
              </a:buBlip>
            </a:pPr>
            <a:r>
              <a:rPr lang="en-US" b="1" dirty="0">
                <a:solidFill>
                  <a:srgbClr val="FFC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Note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: </a:t>
            </a:r>
            <a:r>
              <a:rPr lang="en-US" i="1" dirty="0"/>
              <a:t>We can also use RIGHT OUTER JOIN instead of RIGHT JOIN, both are the same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419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7C714-FB1D-F09F-976E-E57963305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45661CD-F757-ED33-8B67-FA0D18D6936A}"/>
              </a:ext>
            </a:extLst>
          </p:cNvPr>
          <p:cNvSpPr/>
          <p:nvPr/>
        </p:nvSpPr>
        <p:spPr>
          <a:xfrm>
            <a:off x="412656" y="2378526"/>
            <a:ext cx="5683343" cy="267756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/>
            <a:r>
              <a:rPr lang="en-US" sz="2400" b="1" dirty="0"/>
              <a:t>SELECT table1.column1,table1.column2,table2.column1,....</a:t>
            </a:r>
          </a:p>
          <a:p>
            <a:pPr fontAlgn="base"/>
            <a:r>
              <a:rPr lang="en-US" sz="2400" b="1" dirty="0"/>
              <a:t>FROM table1 </a:t>
            </a:r>
          </a:p>
          <a:p>
            <a:pPr fontAlgn="base"/>
            <a:r>
              <a:rPr lang="en-US" sz="2400" b="1" dirty="0"/>
              <a:t>FULL JOIN table2</a:t>
            </a:r>
          </a:p>
          <a:p>
            <a:pPr fontAlgn="base"/>
            <a:r>
              <a:rPr lang="en-US" sz="2400" b="1" dirty="0"/>
              <a:t>ON table1.matching_column = table2.matching_column;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198EB7-F244-5E7A-BAD7-F574C45CA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FULL JOIN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7138B-BEF1-FF83-BCFE-6A9A461FB2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73035" y="1197271"/>
            <a:ext cx="3639670" cy="566072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FULL JOIN </a:t>
            </a:r>
            <a:r>
              <a:rPr lang="en-US" dirty="0"/>
              <a:t>is used to combine the results of both LEFT JOIN and RIGHT JOIN.</a:t>
            </a:r>
          </a:p>
          <a:p>
            <a:pPr marL="0" indent="0" algn="just">
              <a:buNone/>
            </a:pPr>
            <a:r>
              <a:rPr lang="en-US" dirty="0"/>
              <a:t> It helps in:</a:t>
            </a:r>
          </a:p>
          <a:p>
            <a:r>
              <a:rPr lang="en-US" dirty="0"/>
              <a:t> Returning all rows from both tables.</a:t>
            </a:r>
          </a:p>
          <a:p>
            <a:r>
              <a:rPr lang="en-US" dirty="0"/>
              <a:t> Showing matching records from each table.</a:t>
            </a:r>
          </a:p>
          <a:p>
            <a:r>
              <a:rPr lang="en-US" dirty="0"/>
              <a:t> Displaying NULL values where no match exists in either table.</a:t>
            </a:r>
          </a:p>
          <a:p>
            <a:r>
              <a:rPr lang="en-US" dirty="0"/>
              <a:t> Providing complete data from both sides of the join.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3F8BB7-39ED-188B-0883-E338A9D76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3742" y="819775"/>
            <a:ext cx="2905125" cy="19240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0CF79C-032F-8AE1-A6D3-3C3161F2C89E}"/>
              </a:ext>
            </a:extLst>
          </p:cNvPr>
          <p:cNvSpPr txBox="1"/>
          <p:nvPr/>
        </p:nvSpPr>
        <p:spPr>
          <a:xfrm>
            <a:off x="824472" y="5456546"/>
            <a:ext cx="75485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Blip>
                <a:blip r:embed="rId3"/>
              </a:buBlip>
            </a:pPr>
            <a:r>
              <a:rPr lang="en-US" b="1" dirty="0">
                <a:solidFill>
                  <a:srgbClr val="FFC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Note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: </a:t>
            </a:r>
            <a:r>
              <a:rPr lang="en-US" i="1" dirty="0"/>
              <a:t>MySQL does not support</a:t>
            </a:r>
            <a:r>
              <a:rPr lang="en-US" b="1" i="1" dirty="0"/>
              <a:t> </a:t>
            </a:r>
            <a:r>
              <a:rPr lang="en-US" i="1" dirty="0"/>
              <a:t>FULL OUTER JOIN directly.</a:t>
            </a:r>
            <a:r>
              <a:rPr lang="en-US" b="1" i="1" dirty="0"/>
              <a:t> </a:t>
            </a:r>
            <a:r>
              <a:rPr lang="en-US" i="1" dirty="0"/>
              <a:t>It cab be simulated using UNION of LEFT JOIN and RIGHT JOIN.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048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2723</TotalTime>
  <Words>616</Words>
  <Application>Microsoft Office PowerPoint</Application>
  <PresentationFormat>Widescreen</PresentationFormat>
  <Paragraphs>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ADLaM Display</vt:lpstr>
      <vt:lpstr>Calibri</vt:lpstr>
      <vt:lpstr>Nunito</vt:lpstr>
      <vt:lpstr>Wingdings</vt:lpstr>
      <vt:lpstr>YESHUAH</vt:lpstr>
      <vt:lpstr>RetrospectVTI</vt:lpstr>
      <vt:lpstr>Advanced SQL  Concepts</vt:lpstr>
      <vt:lpstr>PowerPoint Presentation</vt:lpstr>
      <vt:lpstr>What is a Join?</vt:lpstr>
      <vt:lpstr>Types of SQL Joins</vt:lpstr>
      <vt:lpstr>INNER JOIN</vt:lpstr>
      <vt:lpstr>LEFT JOIN</vt:lpstr>
      <vt:lpstr>RIGHT JOIN</vt:lpstr>
      <vt:lpstr>FULL JOIN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Mintesnot Iwunete</cp:lastModifiedBy>
  <cp:revision>339</cp:revision>
  <dcterms:created xsi:type="dcterms:W3CDTF">2020-02-06T00:04:00Z</dcterms:created>
  <dcterms:modified xsi:type="dcterms:W3CDTF">2026-06-20T21:40:34Z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1033-11.2.0.9937</vt:lpwstr>
  </property>
</Properties>
</file>