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411" r:id="rId2"/>
    <p:sldId id="410" r:id="rId3"/>
    <p:sldId id="429" r:id="rId4"/>
    <p:sldId id="433" r:id="rId5"/>
    <p:sldId id="432" r:id="rId6"/>
    <p:sldId id="434" r:id="rId7"/>
    <p:sldId id="435" r:id="rId8"/>
    <p:sldId id="436" r:id="rId9"/>
    <p:sldId id="437" r:id="rId10"/>
    <p:sldId id="438" r:id="rId11"/>
    <p:sldId id="439" r:id="rId12"/>
    <p:sldId id="431" r:id="rId13"/>
    <p:sldId id="430" r:id="rId14"/>
    <p:sldId id="440" r:id="rId15"/>
    <p:sldId id="441" r:id="rId16"/>
    <p:sldId id="394" r:id="rId17"/>
    <p:sldId id="412" r:id="rId18"/>
    <p:sldId id="413" r:id="rId19"/>
    <p:sldId id="424" r:id="rId20"/>
    <p:sldId id="426" r:id="rId21"/>
    <p:sldId id="427" r:id="rId22"/>
    <p:sldId id="428" r:id="rId23"/>
    <p:sldId id="443" r:id="rId24"/>
    <p:sldId id="445" r:id="rId25"/>
    <p:sldId id="446" r:id="rId26"/>
    <p:sldId id="447" r:id="rId27"/>
    <p:sldId id="444" r:id="rId28"/>
    <p:sldId id="448" r:id="rId29"/>
    <p:sldId id="450" r:id="rId30"/>
    <p:sldId id="449" r:id="rId31"/>
    <p:sldId id="442" r:id="rId32"/>
    <p:sldId id="26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E2F5"/>
    <a:srgbClr val="E7F7FE"/>
    <a:srgbClr val="0072C6"/>
    <a:srgbClr val="00A4EF"/>
    <a:srgbClr val="3333FF"/>
    <a:srgbClr val="FFDF00"/>
    <a:srgbClr val="75CDEA"/>
    <a:srgbClr val="002060"/>
    <a:srgbClr val="5A56A1"/>
    <a:srgbClr val="5656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6F72C-57AD-4C0C-B413-44A67FA7CD9B}" v="95" dt="2024-03-18T15:51:55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79" autoAdjust="0"/>
    <p:restoredTop sz="94639" autoAdjust="0"/>
  </p:normalViewPr>
  <p:slideViewPr>
    <p:cSldViewPr snapToGrid="0">
      <p:cViewPr varScale="1">
        <p:scale>
          <a:sx n="63" d="100"/>
          <a:sy n="63" d="100"/>
        </p:scale>
        <p:origin x="552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1" d="100"/>
          <a:sy n="51" d="100"/>
        </p:scale>
        <p:origin x="2692" y="-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6/28/2026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ECC495-5FEF-4C9C-502D-7281AA9BC4CE}"/>
              </a:ext>
            </a:extLst>
          </p:cNvPr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itle 1"/>
          <p:cNvSpPr txBox="1"/>
          <p:nvPr userDrawn="1"/>
        </p:nvSpPr>
        <p:spPr>
          <a:xfrm>
            <a:off x="-1707114" y="2422578"/>
            <a:ext cx="6145764" cy="11097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sz="2400" dirty="0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509750" y="2338493"/>
            <a:ext cx="3531146" cy="14507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/>
                </a:solidFill>
                <a:latin typeface="YESHUAH" panose="02000500000000000000" pitchFamily="2" charset="0"/>
              </a:defRPr>
            </a:lvl1pPr>
          </a:lstStyle>
          <a:p>
            <a:r>
              <a:rPr lang="en-US" dirty="0"/>
              <a:t>{ subject }</a:t>
            </a:r>
          </a:p>
        </p:txBody>
      </p:sp>
      <p:sp>
        <p:nvSpPr>
          <p:cNvPr id="1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7647842" y="6136265"/>
            <a:ext cx="4090199" cy="4531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2400" baseline="0">
                <a:solidFill>
                  <a:srgbClr val="25677D"/>
                </a:solidFill>
                <a:latin typeface="YESHUAH" panose="02000500000000000000" pitchFamily="2" charset="0"/>
              </a:defRPr>
            </a:lvl1pPr>
          </a:lstStyle>
          <a:p>
            <a:pPr lvl="0"/>
            <a:r>
              <a:rPr lang="en-US" dirty="0"/>
              <a:t> { write presenter name }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9" name="Group 18" descr="Info"/>
          <p:cNvGrpSpPr/>
          <p:nvPr userDrawn="1"/>
        </p:nvGrpSpPr>
        <p:grpSpPr>
          <a:xfrm>
            <a:off x="4642801" y="3133724"/>
            <a:ext cx="567374" cy="550865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20" name="Freeform: Shape 19"/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</p:grpSp>
      <p:sp>
        <p:nvSpPr>
          <p:cNvPr id="16" name="Title 1"/>
          <p:cNvSpPr txBox="1"/>
          <p:nvPr userDrawn="1"/>
        </p:nvSpPr>
        <p:spPr>
          <a:xfrm>
            <a:off x="474130" y="2639243"/>
            <a:ext cx="3334512" cy="108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bg1"/>
                </a:solidFill>
                <a:latin typeface="YESHUAH" panose="02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Objectives</a:t>
            </a:r>
            <a:endParaRPr lang="en-US" sz="3200" b="1" dirty="0">
              <a:solidFill>
                <a:schemeClr val="bg1"/>
              </a:solidFill>
              <a:latin typeface="YESHUAH" panose="02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908431" y="1603717"/>
            <a:ext cx="5524060" cy="3151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2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 { write your objectives}</a:t>
            </a:r>
          </a:p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EF92EB-1689-2416-7533-E53DBC8933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348890"/>
            <a:ext cx="2160220" cy="216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6921" y="618977"/>
            <a:ext cx="9393848" cy="712765"/>
          </a:xfrm>
          <a:prstGeom prst="rect">
            <a:avLst/>
          </a:prstGeom>
        </p:spPr>
        <p:txBody>
          <a:bodyPr/>
          <a:lstStyle>
            <a:lvl1pPr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{ Title }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156921" y="1603717"/>
            <a:ext cx="10275570" cy="47053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{write your bullet point }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 userDrawn="1"/>
        </p:nvSpPr>
        <p:spPr>
          <a:xfrm>
            <a:off x="1325880" y="638175"/>
            <a:ext cx="9942195" cy="6667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2060"/>
                </a:solidFill>
                <a:latin typeface="+mn-lt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325880" y="1524000"/>
            <a:ext cx="9681949" cy="3958659"/>
          </a:xfrm>
          <a:prstGeom prst="rect">
            <a:avLst/>
          </a:prstGeom>
        </p:spPr>
        <p:txBody>
          <a:bodyPr>
            <a:normAutofit/>
          </a:bodyPr>
          <a:lstStyle>
            <a:lvl1pPr marL="91440">
              <a:spcBef>
                <a:spcPts val="0"/>
              </a:spcBef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 link to reference1, example: http://app.icraftsoft.net }</a:t>
            </a:r>
          </a:p>
          <a:p>
            <a:pPr lvl="0"/>
            <a:r>
              <a:rPr lang="en-US" dirty="0"/>
              <a:t>{ link to reference1, example: http://app.icraftsoft.net }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84E36F-A443-7521-D49B-753C50A8A8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25952" y="973836"/>
            <a:ext cx="5116068" cy="511606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8621" y="625480"/>
            <a:ext cx="1036320" cy="6858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610600" y="6181726"/>
            <a:ext cx="2743200" cy="539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36B06-9FB6-4AA1-A097-666DD28834F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73852" y="205990"/>
            <a:ext cx="944645" cy="9446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 spc="-38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10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29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45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61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77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486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472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22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8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CDAC-6AB4-4A7B-90D7-87428ABE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03621"/>
            <a:ext cx="5378824" cy="1814591"/>
          </a:xfrm>
        </p:spPr>
        <p:txBody>
          <a:bodyPr>
            <a:no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Cardinality &amp;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endParaRPr lang="en-US" sz="5400" dirty="0">
              <a:solidFill>
                <a:srgbClr val="FFC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905C-A1AA-3986-D28A-042DCEF789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mintesnot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EBC9E-4311-34A9-0C78-FA3EC3930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0912" y="1523757"/>
            <a:ext cx="6934200" cy="40799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A47D76-DCDC-BA68-E61D-E120C82FC6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0758" y="3554081"/>
            <a:ext cx="2815317" cy="281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13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A5F557-19C5-3E57-5E7C-602DF20CA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81287" y="336797"/>
            <a:ext cx="6810713" cy="6667828"/>
          </a:xfrm>
        </p:spPr>
        <p:txBody>
          <a:bodyPr>
            <a:normAutofit fontScale="92500" lnSpcReduction="10000"/>
          </a:bodyPr>
          <a:lstStyle/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What is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Unnormalized Form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First Normal Form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Second Normal Form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Third Normal Form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Boyce-Codd Normal Form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Fourth Normal Form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Fifth Normal Form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Sixth Normal Form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Cardinality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Types of Cardinality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Index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View</a:t>
            </a:r>
          </a:p>
        </p:txBody>
      </p:sp>
    </p:spTree>
    <p:extLst>
      <p:ext uri="{BB962C8B-B14F-4D97-AF65-F5344CB8AC3E}">
        <p14:creationId xmlns:p14="http://schemas.microsoft.com/office/powerpoint/2010/main" val="166488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DD8C9-B177-F4BE-07D1-B2C80A08D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CBCF4-30B8-2D7F-2EC0-1CFE34B85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0" y="715229"/>
            <a:ext cx="9393848" cy="712765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E7169-E0EB-1D4E-4666-77164904D0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0" y="1643147"/>
            <a:ext cx="10794447" cy="6640241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 </a:t>
            </a:r>
            <a:r>
              <a:rPr lang="en-US" sz="2800" dirty="0"/>
              <a:t>is the process of organizing data within a database to minimize redundancy and improve data integrity.</a:t>
            </a:r>
          </a:p>
          <a:p>
            <a:pPr algn="just"/>
            <a:r>
              <a:rPr lang="en-US" sz="2800" dirty="0"/>
              <a:t> The goal is to divide large tables into smaller related tables while maintaining relationships using primary and foreign keys.</a:t>
            </a:r>
          </a:p>
          <a:p>
            <a:pPr marL="0" indent="0">
              <a:buNone/>
            </a:pPr>
            <a:r>
              <a:rPr lang="en-US" sz="2800" b="1" dirty="0"/>
              <a:t>Normalization helps: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Eliminate duplicate data 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Reduce storage requirements 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Improve consistency 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Simplify maintenance</a:t>
            </a:r>
          </a:p>
          <a:p>
            <a:pPr marL="0" indent="0" algn="just">
              <a:buNone/>
            </a:pPr>
            <a:endParaRPr lang="en-US" sz="2800" dirty="0"/>
          </a:p>
          <a:p>
            <a:pPr marL="0" indent="0" algn="just">
              <a:buNone/>
            </a:pPr>
            <a:endParaRPr lang="en-US" sz="2800" dirty="0"/>
          </a:p>
          <a:p>
            <a:pPr algn="just"/>
            <a:endParaRPr lang="en-US" sz="2800" dirty="0"/>
          </a:p>
          <a:p>
            <a:pPr marL="0" indent="0" algn="just">
              <a:buNone/>
            </a:pP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8950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214DD-9968-6066-CE00-83F48BA6B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B7B4-573D-2C92-1708-98AF78937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Unnormalized Form (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UNF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A8525-30B0-20B5-4268-F5A6F7AD2B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800" dirty="0"/>
              <a:t>An unnormalized table contains repeating groups or multiple values in a single column.</a:t>
            </a:r>
          </a:p>
          <a:p>
            <a:pPr marL="0" indent="0">
              <a:buNone/>
            </a:pPr>
            <a:r>
              <a:rPr lang="en-US" b="1" dirty="0"/>
              <a:t>Characteristics</a:t>
            </a:r>
          </a:p>
          <a:p>
            <a:r>
              <a:rPr lang="en-US" dirty="0"/>
              <a:t>Duplicate data is common. </a:t>
            </a:r>
          </a:p>
          <a:p>
            <a:r>
              <a:rPr lang="en-US" dirty="0"/>
              <a:t>Multiple values may exist in a single field. </a:t>
            </a:r>
          </a:p>
          <a:p>
            <a:r>
              <a:rPr lang="en-US" dirty="0"/>
              <a:t>Difficult to query and maintain. </a:t>
            </a:r>
          </a:p>
          <a:p>
            <a:r>
              <a:rPr lang="en-US" dirty="0"/>
              <a:t>High risk of data inconsistency.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Solution</a:t>
            </a:r>
          </a:p>
          <a:p>
            <a:r>
              <a:rPr lang="en-US" dirty="0"/>
              <a:t>Split repeating values into separate rows to achieve First Normal Form (1NF).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255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A421B-5077-2409-9FA7-C6A75698D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First Normal Form (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1NF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98877-6F75-E0AF-6C18-DFC46189E3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A table is in 1NF when: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Each column contains atomic (single) values.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No repeating groups exist.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Every row is uniquely identifiable.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b="1" dirty="0"/>
              <a:t>Rules</a:t>
            </a:r>
          </a:p>
          <a:p>
            <a:pPr marL="0" indent="0">
              <a:buNone/>
            </a:pPr>
            <a:r>
              <a:rPr lang="en-US" sz="2800" dirty="0"/>
              <a:t>✓ No multiple values in a single column</a:t>
            </a:r>
          </a:p>
          <a:p>
            <a:pPr marL="0" indent="0">
              <a:buNone/>
            </a:pPr>
            <a:r>
              <a:rPr lang="en-US" sz="2800" dirty="0"/>
              <a:t>✓ No arrays or lists in a field</a:t>
            </a:r>
          </a:p>
          <a:p>
            <a:pPr marL="0" indent="0">
              <a:buNone/>
            </a:pPr>
            <a:r>
              <a:rPr lang="en-US" sz="2800" dirty="0"/>
              <a:t>✓ Unique rows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635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10593-7324-672B-6ED5-B68DBA62A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EF990-0E8F-A8BA-E6C0-BF77A3BF6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Second Normal Form (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2NF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80EC9-9D97-FB13-52A9-88DA98C863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800" dirty="0"/>
              <a:t>A table is in 2NF when: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It is already in 1NF.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All non-key attributes depend on the entire primary key. </a:t>
            </a:r>
          </a:p>
          <a:p>
            <a:pPr marL="0" indent="0">
              <a:buNone/>
            </a:pPr>
            <a:r>
              <a:rPr lang="en-US" sz="2800" b="1" dirty="0"/>
              <a:t>Purpose</a:t>
            </a:r>
          </a:p>
          <a:p>
            <a:r>
              <a:rPr lang="en-US" sz="2800" dirty="0"/>
              <a:t> Eliminates partial dependency.</a:t>
            </a:r>
          </a:p>
          <a:p>
            <a:r>
              <a:rPr lang="en-US" sz="2800" dirty="0"/>
              <a:t> Reduces duplication</a:t>
            </a:r>
          </a:p>
          <a:p>
            <a:r>
              <a:rPr lang="en-US" sz="2800" dirty="0"/>
              <a:t> Improves storage efficiency</a:t>
            </a:r>
          </a:p>
        </p:txBody>
      </p:sp>
    </p:spTree>
    <p:extLst>
      <p:ext uri="{BB962C8B-B14F-4D97-AF65-F5344CB8AC3E}">
        <p14:creationId xmlns:p14="http://schemas.microsoft.com/office/powerpoint/2010/main" val="1954426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E475-8A63-1FE2-4A28-0A6B56BDC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415EC-F96C-A113-47EA-178B59BC4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Third Normal Form (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3NF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3CCA1-D0E5-7AB6-2646-8E6CBA5A5C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800" dirty="0"/>
              <a:t>A table is in 3NF when: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It is in 2NF.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No transitive dependencies exist. </a:t>
            </a:r>
          </a:p>
          <a:p>
            <a:pPr marL="0" indent="0">
              <a:buNone/>
            </a:pPr>
            <a:r>
              <a:rPr lang="en-US" sz="2800" b="1" dirty="0"/>
              <a:t>Transitive Dependency</a:t>
            </a:r>
          </a:p>
          <a:p>
            <a:r>
              <a:rPr lang="en-US" sz="2800" dirty="0"/>
              <a:t>A non-key column depends on another non-key column.</a:t>
            </a:r>
          </a:p>
          <a:p>
            <a:pPr marL="0" indent="0">
              <a:buNone/>
            </a:pPr>
            <a:r>
              <a:rPr lang="en-US" sz="2800" b="1" dirty="0"/>
              <a:t>Benefits</a:t>
            </a:r>
          </a:p>
          <a:p>
            <a:r>
              <a:rPr lang="en-US" sz="2800" dirty="0"/>
              <a:t>Eliminates transitive dependency </a:t>
            </a:r>
          </a:p>
          <a:p>
            <a:r>
              <a:rPr lang="en-US" sz="2800" dirty="0"/>
              <a:t>Improves consistency </a:t>
            </a:r>
          </a:p>
          <a:p>
            <a:r>
              <a:rPr lang="en-US" sz="2800" dirty="0"/>
              <a:t>Simplifies updates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5063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35127-CC87-81C9-1F40-998C3D6D6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3BBFB-80F3-ADC3-5338-11B587991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Boyce-Codd Normal Form (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BCNF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17D34-CDE2-E694-5F00-943CE08226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800" dirty="0"/>
              <a:t>BCNF is a stronger version of 3NF.</a:t>
            </a:r>
          </a:p>
          <a:p>
            <a:pPr marL="0" indent="0">
              <a:buNone/>
            </a:pPr>
            <a:r>
              <a:rPr lang="en-US" sz="2800" b="1" dirty="0"/>
              <a:t>Rule</a:t>
            </a:r>
          </a:p>
          <a:p>
            <a:r>
              <a:rPr lang="en-US" sz="2800" dirty="0"/>
              <a:t>For every functional dependency:</a:t>
            </a:r>
          </a:p>
          <a:p>
            <a:pPr marL="0" indent="0">
              <a:buNone/>
            </a:pPr>
            <a:r>
              <a:rPr lang="en-US" dirty="0"/>
              <a:t>X → Y</a:t>
            </a:r>
          </a:p>
          <a:p>
            <a:r>
              <a:rPr lang="en-US" sz="2800" dirty="0"/>
              <a:t>X must be a candidate key.</a:t>
            </a:r>
          </a:p>
          <a:p>
            <a:pPr marL="0" indent="0">
              <a:buNone/>
            </a:pPr>
            <a:r>
              <a:rPr lang="en-US" sz="2800" b="1" dirty="0"/>
              <a:t>Benefits</a:t>
            </a:r>
          </a:p>
          <a:p>
            <a:r>
              <a:rPr lang="en-US" sz="2800" dirty="0"/>
              <a:t>Removes additional redundancy </a:t>
            </a:r>
          </a:p>
          <a:p>
            <a:r>
              <a:rPr lang="en-US" sz="2800" dirty="0"/>
              <a:t>Eliminates complex anomalies </a:t>
            </a:r>
          </a:p>
          <a:p>
            <a:r>
              <a:rPr lang="en-US" sz="2800" dirty="0"/>
              <a:t>Provides stronger data integrity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50234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C4770-46E6-9F99-6D8A-28D45CFD7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730AC-45E2-14A8-F712-29CCD425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Fourth Normal Form (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4NF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960B1-3BCE-072B-09A0-085E47A17A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A table is in 4NF when: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It is in BCNF.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It contains no multivalued dependencies.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Benefits</a:t>
            </a:r>
          </a:p>
          <a:p>
            <a:r>
              <a:rPr lang="en-US" sz="2800" dirty="0"/>
              <a:t>Removes unnecessary combinations </a:t>
            </a:r>
          </a:p>
          <a:p>
            <a:r>
              <a:rPr lang="en-US" sz="2800" dirty="0"/>
              <a:t>Reduces redundancy </a:t>
            </a:r>
          </a:p>
          <a:p>
            <a:r>
              <a:rPr lang="en-US" sz="2800" dirty="0"/>
              <a:t>Improves data management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64209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551E-9E06-691B-3206-08A2604E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22793-1ACA-895D-812E-89D4246C8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Fifth Normal Form (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5NF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570BE-875A-297C-A1DA-8AE2EA373E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A table is in 5NF when: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It is already in 4NF.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Join dependencies are eliminated. </a:t>
            </a:r>
          </a:p>
          <a:p>
            <a:pPr marL="0" indent="0">
              <a:buNone/>
            </a:pPr>
            <a:r>
              <a:rPr lang="en-US" sz="2800" b="1" dirty="0"/>
              <a:t>Purpose</a:t>
            </a:r>
          </a:p>
          <a:p>
            <a:r>
              <a:rPr lang="en-US" sz="2800" dirty="0"/>
              <a:t>Ensure that information cannot be decomposed further without losing data.</a:t>
            </a:r>
          </a:p>
          <a:p>
            <a:pPr marL="0" indent="0">
              <a:buNone/>
            </a:pPr>
            <a:r>
              <a:rPr lang="en-US" sz="2800" b="1" dirty="0"/>
              <a:t>Benefits</a:t>
            </a:r>
          </a:p>
          <a:p>
            <a:r>
              <a:rPr lang="en-US" sz="2800" dirty="0"/>
              <a:t>Eliminates join anomalies </a:t>
            </a:r>
          </a:p>
          <a:p>
            <a:r>
              <a:rPr lang="en-US" sz="2800" dirty="0"/>
              <a:t>Maximizes database consistency </a:t>
            </a:r>
          </a:p>
          <a:p>
            <a:r>
              <a:rPr lang="en-US" sz="2800" dirty="0"/>
              <a:t>Used in highly complex systems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72565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E9532-AD9D-A6A6-BBFC-C41EA89B9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09D26-9ADC-692D-2DB0-D435BFE21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Sixth Normal Form (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6NF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E7FA2-29A8-8D64-0255-C3BCF44241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546895"/>
            <a:ext cx="10275570" cy="55262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/>
              <a:t>6NF is an advanced normalization level mainly used in:</a:t>
            </a:r>
          </a:p>
          <a:p>
            <a:r>
              <a:rPr lang="en-US" sz="2800" dirty="0"/>
              <a:t>Temporal databases </a:t>
            </a:r>
          </a:p>
          <a:p>
            <a:r>
              <a:rPr lang="en-US" sz="2800" dirty="0"/>
              <a:t>Data warehouses </a:t>
            </a:r>
          </a:p>
          <a:p>
            <a:r>
              <a:rPr lang="en-US" sz="2800" dirty="0"/>
              <a:t>Historical tracking systems </a:t>
            </a:r>
          </a:p>
          <a:p>
            <a:pPr marL="0" indent="0">
              <a:buNone/>
            </a:pPr>
            <a:r>
              <a:rPr lang="en-US" sz="2800" b="1" dirty="0"/>
              <a:t>Characteristics</a:t>
            </a:r>
          </a:p>
          <a:p>
            <a:r>
              <a:rPr lang="en-US" sz="2800" dirty="0"/>
              <a:t>Tables contain only key and one non-key attribute. </a:t>
            </a:r>
          </a:p>
          <a:p>
            <a:r>
              <a:rPr lang="en-US" sz="2800" dirty="0"/>
              <a:t>Eliminates all remaining redundancies.</a:t>
            </a:r>
          </a:p>
          <a:p>
            <a:pPr marL="0" indent="0">
              <a:buNone/>
            </a:pPr>
            <a:r>
              <a:rPr lang="en-US" sz="2800" b="1" dirty="0"/>
              <a:t>Benefits</a:t>
            </a:r>
          </a:p>
          <a:p>
            <a:r>
              <a:rPr lang="en-US" sz="2800" dirty="0"/>
              <a:t>Excellent historical data tracking </a:t>
            </a:r>
          </a:p>
          <a:p>
            <a:r>
              <a:rPr lang="en-US" sz="2800" dirty="0"/>
              <a:t>Simplifies temporal analysis </a:t>
            </a:r>
          </a:p>
          <a:p>
            <a:r>
              <a:rPr lang="en-US" sz="2800" dirty="0"/>
              <a:t>Supports highly granular data storage</a:t>
            </a:r>
          </a:p>
          <a:p>
            <a:pPr marL="0" indent="0">
              <a:buNone/>
            </a:pPr>
            <a:r>
              <a:rPr lang="en-US" sz="2800" b="1" dirty="0"/>
              <a:t>Limitation</a:t>
            </a:r>
          </a:p>
          <a:p>
            <a:r>
              <a:rPr lang="en-US" sz="2800" dirty="0"/>
              <a:t>Creates many tables and complex joins.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54346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91E5A-DF90-0282-F4C0-F5DB06F01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 Types Comparison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707D6A-E78A-89B6-87EF-42BC52DEE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39147"/>
              </p:ext>
            </p:extLst>
          </p:nvPr>
        </p:nvGraphicFramePr>
        <p:xfrm>
          <a:off x="1156921" y="1280160"/>
          <a:ext cx="10712350" cy="5577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732614">
                  <a:extLst>
                    <a:ext uri="{9D8B030D-6E8A-4147-A177-3AD203B41FA5}">
                      <a16:colId xmlns:a16="http://schemas.microsoft.com/office/drawing/2014/main" val="2577758380"/>
                    </a:ext>
                  </a:extLst>
                </a:gridCol>
                <a:gridCol w="2552326">
                  <a:extLst>
                    <a:ext uri="{9D8B030D-6E8A-4147-A177-3AD203B41FA5}">
                      <a16:colId xmlns:a16="http://schemas.microsoft.com/office/drawing/2014/main" val="283579263"/>
                    </a:ext>
                  </a:extLst>
                </a:gridCol>
                <a:gridCol w="2142470">
                  <a:extLst>
                    <a:ext uri="{9D8B030D-6E8A-4147-A177-3AD203B41FA5}">
                      <a16:colId xmlns:a16="http://schemas.microsoft.com/office/drawing/2014/main" val="1789283136"/>
                    </a:ext>
                  </a:extLst>
                </a:gridCol>
                <a:gridCol w="2142470">
                  <a:extLst>
                    <a:ext uri="{9D8B030D-6E8A-4147-A177-3AD203B41FA5}">
                      <a16:colId xmlns:a16="http://schemas.microsoft.com/office/drawing/2014/main" val="3976187199"/>
                    </a:ext>
                  </a:extLst>
                </a:gridCol>
                <a:gridCol w="2142470">
                  <a:extLst>
                    <a:ext uri="{9D8B030D-6E8A-4147-A177-3AD203B41FA5}">
                      <a16:colId xmlns:a16="http://schemas.microsoft.com/office/drawing/2014/main" val="2855848740"/>
                    </a:ext>
                  </a:extLst>
                </a:gridCol>
              </a:tblGrid>
              <a:tr h="34165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Normal Form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Full Name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Main Object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Rule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Removes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185979"/>
                  </a:ext>
                </a:extLst>
              </a:tr>
              <a:tr h="93956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UNF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Unnormalized Form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Raw data storage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Data may contain repeating groups and multiple values in a column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None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536997"/>
                  </a:ext>
                </a:extLst>
              </a:tr>
              <a:tr h="726024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1NF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First Normal Form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Create atomic values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Each column contains a single value; no repeating groups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Repeating groups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140733"/>
                  </a:ext>
                </a:extLst>
              </a:tr>
              <a:tr h="726024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2NF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Second Normal Form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Remove partial dependencies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Must be in 1NF; all non-key attributes depend on the entire primary key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Partial dependencies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942483"/>
                  </a:ext>
                </a:extLst>
              </a:tr>
              <a:tr h="726024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3NF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Third Normal Form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Remove transitive dependencies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Must in 2NF; non-key attributes depend only on the primary key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Transitive dependencies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458354"/>
                  </a:ext>
                </a:extLst>
              </a:tr>
              <a:tr h="512487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BCNF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Boyce-Codd Norm Form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Stronger version of 3NF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Every determinant must be a candidate key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Remaining dependency anomalies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354994"/>
                  </a:ext>
                </a:extLst>
              </a:tr>
              <a:tr h="726024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4NF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Fourth Normal Form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Remove multivalued dependencies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Must be in BCNF; no independent multivalued attributes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Multivalued dependencies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656118"/>
                  </a:ext>
                </a:extLst>
              </a:tr>
              <a:tr h="512487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5NF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Fifth Normal Form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Remove join dependencies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Must be in 4NF; avoid redundant joins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Join dependencies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765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2532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C794A-F72F-8D9B-A1A5-E9C4CF48A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Normalization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5D0C8-4B15-4942-1980-08D6ADC25E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781" y="618977"/>
            <a:ext cx="3685219" cy="639142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/>
              <a:t>UNNORMALIZED DATA</a:t>
            </a:r>
          </a:p>
          <a:p>
            <a:pPr marL="0" indent="0">
              <a:buNone/>
            </a:pPr>
            <a:r>
              <a:rPr lang="en-US" sz="2000" b="1" dirty="0"/>
              <a:t>        ↓</a:t>
            </a:r>
          </a:p>
          <a:p>
            <a:pPr marL="0" indent="0">
              <a:buNone/>
            </a:pPr>
            <a:r>
              <a:rPr lang="en-US" sz="2000" b="1" dirty="0"/>
              <a:t>      1NF</a:t>
            </a:r>
          </a:p>
          <a:p>
            <a:pPr marL="0" indent="0">
              <a:buNone/>
            </a:pPr>
            <a:r>
              <a:rPr lang="en-US" sz="2000" b="1" dirty="0"/>
              <a:t>(Remove repeating groups)</a:t>
            </a:r>
          </a:p>
          <a:p>
            <a:pPr marL="0" indent="0">
              <a:buNone/>
            </a:pPr>
            <a:r>
              <a:rPr lang="en-US" sz="2000" b="1" dirty="0"/>
              <a:t>        ↓</a:t>
            </a:r>
          </a:p>
          <a:p>
            <a:pPr marL="0" indent="0">
              <a:buNone/>
            </a:pPr>
            <a:r>
              <a:rPr lang="en-US" sz="2000" b="1" dirty="0"/>
              <a:t>      2NF</a:t>
            </a:r>
          </a:p>
          <a:p>
            <a:pPr marL="0" indent="0">
              <a:buNone/>
            </a:pPr>
            <a:r>
              <a:rPr lang="en-US" sz="2000" b="1" dirty="0"/>
              <a:t>(Remove partial dependencies)</a:t>
            </a:r>
          </a:p>
          <a:p>
            <a:pPr marL="0" indent="0">
              <a:buNone/>
            </a:pPr>
            <a:r>
              <a:rPr lang="en-US" sz="2000" b="1" dirty="0"/>
              <a:t>        ↓</a:t>
            </a:r>
          </a:p>
          <a:p>
            <a:pPr marL="0" indent="0">
              <a:buNone/>
            </a:pPr>
            <a:r>
              <a:rPr lang="en-US" sz="2000" b="1" dirty="0"/>
              <a:t>      3NF</a:t>
            </a:r>
          </a:p>
          <a:p>
            <a:pPr marL="0" indent="0">
              <a:buNone/>
            </a:pPr>
            <a:r>
              <a:rPr lang="en-US" sz="2000" b="1" dirty="0"/>
              <a:t>(Remove transitive dependencies)</a:t>
            </a:r>
          </a:p>
          <a:p>
            <a:pPr marL="0" indent="0">
              <a:buNone/>
            </a:pPr>
            <a:r>
              <a:rPr lang="en-US" sz="2000" b="1" dirty="0"/>
              <a:t>        ↓</a:t>
            </a:r>
          </a:p>
          <a:p>
            <a:pPr marL="0" indent="0">
              <a:buNone/>
            </a:pPr>
            <a:r>
              <a:rPr lang="en-US" sz="2000" b="1" dirty="0"/>
              <a:t>      BCNF</a:t>
            </a:r>
          </a:p>
          <a:p>
            <a:pPr marL="0" indent="0">
              <a:buNone/>
            </a:pPr>
            <a:r>
              <a:rPr lang="en-US" sz="2000" b="1" dirty="0"/>
              <a:t>(Stronger dependency rules)</a:t>
            </a:r>
          </a:p>
          <a:p>
            <a:pPr marL="0" indent="0">
              <a:buNone/>
            </a:pPr>
            <a:r>
              <a:rPr lang="en-US" sz="2000" b="1" dirty="0"/>
              <a:t>        ↓</a:t>
            </a:r>
          </a:p>
          <a:p>
            <a:pPr marL="0" indent="0">
              <a:buNone/>
            </a:pPr>
            <a:r>
              <a:rPr lang="en-US" sz="2000" b="1" dirty="0"/>
              <a:t>      4NF</a:t>
            </a:r>
          </a:p>
          <a:p>
            <a:pPr marL="0" indent="0">
              <a:buNone/>
            </a:pPr>
            <a:r>
              <a:rPr lang="en-US" sz="2000" b="1" dirty="0"/>
              <a:t>(Remove multivalued dependencies)</a:t>
            </a:r>
          </a:p>
          <a:p>
            <a:pPr marL="0" indent="0">
              <a:buNone/>
            </a:pPr>
            <a:r>
              <a:rPr lang="en-US" sz="2000" b="1" dirty="0"/>
              <a:t>        ↓</a:t>
            </a:r>
          </a:p>
          <a:p>
            <a:pPr marL="0" indent="0">
              <a:buNone/>
            </a:pPr>
            <a:r>
              <a:rPr lang="en-US" sz="2000" b="1" dirty="0"/>
              <a:t>      5NF</a:t>
            </a:r>
          </a:p>
          <a:p>
            <a:pPr marL="0" indent="0">
              <a:buNone/>
            </a:pPr>
            <a:r>
              <a:rPr lang="en-US" sz="2000" b="1" dirty="0"/>
              <a:t>(Remove join dependencies)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9DA8EE-DBB3-FDFB-4E20-94F648D3C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94" y="1331742"/>
            <a:ext cx="8289387" cy="552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788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BD342-6325-E3A5-5C29-614B13F2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When to </a:t>
            </a:r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Denormalize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1733E-701B-41DA-C18D-882FDF37D8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Denormalization</a:t>
            </a:r>
          </a:p>
          <a:p>
            <a:r>
              <a:rPr lang="en-US" dirty="0"/>
              <a:t>Sometimes databases intentionally violate normalization rules to improve performance.</a:t>
            </a:r>
          </a:p>
          <a:p>
            <a:pPr marL="0" indent="0">
              <a:buNone/>
            </a:pPr>
            <a:r>
              <a:rPr lang="en-US" b="1" dirty="0"/>
              <a:t>Common Scenarios</a:t>
            </a:r>
          </a:p>
          <a:p>
            <a:r>
              <a:rPr lang="en-US" dirty="0"/>
              <a:t>Data Warehousing </a:t>
            </a:r>
          </a:p>
          <a:p>
            <a:r>
              <a:rPr lang="en-US" dirty="0"/>
              <a:t>Reporting Systems </a:t>
            </a:r>
          </a:p>
          <a:p>
            <a:r>
              <a:rPr lang="en-US" dirty="0"/>
              <a:t>Business Intelligence </a:t>
            </a:r>
          </a:p>
          <a:p>
            <a:r>
              <a:rPr lang="en-US" dirty="0"/>
              <a:t>Analytics Dashboards </a:t>
            </a:r>
          </a:p>
          <a:p>
            <a:r>
              <a:rPr lang="en-US" dirty="0"/>
              <a:t>High-Speed Read Operations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918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6307A-BE45-E202-E100-B686670BD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Trade-Off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37FF28-899A-9ED1-B2AF-93B81AE69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038871"/>
              </p:ext>
            </p:extLst>
          </p:nvPr>
        </p:nvGraphicFramePr>
        <p:xfrm>
          <a:off x="1156921" y="1705783"/>
          <a:ext cx="10282044" cy="30275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141022">
                  <a:extLst>
                    <a:ext uri="{9D8B030D-6E8A-4147-A177-3AD203B41FA5}">
                      <a16:colId xmlns:a16="http://schemas.microsoft.com/office/drawing/2014/main" val="2735962607"/>
                    </a:ext>
                  </a:extLst>
                </a:gridCol>
                <a:gridCol w="5141022">
                  <a:extLst>
                    <a:ext uri="{9D8B030D-6E8A-4147-A177-3AD203B41FA5}">
                      <a16:colId xmlns:a16="http://schemas.microsoft.com/office/drawing/2014/main" val="1339170062"/>
                    </a:ext>
                  </a:extLst>
                </a:gridCol>
              </a:tblGrid>
              <a:tr h="60551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Normalization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Denormalization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036807"/>
                  </a:ext>
                </a:extLst>
              </a:tr>
              <a:tr h="605516">
                <a:tc>
                  <a:txBody>
                    <a:bodyPr/>
                    <a:lstStyle/>
                    <a:p>
                      <a:r>
                        <a:rPr lang="en-US" sz="2400" dirty="0"/>
                        <a:t>Less redundancy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More redundancy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560992"/>
                  </a:ext>
                </a:extLst>
              </a:tr>
              <a:tr h="605516">
                <a:tc>
                  <a:txBody>
                    <a:bodyPr/>
                    <a:lstStyle/>
                    <a:p>
                      <a:r>
                        <a:rPr lang="en-US" sz="2400" dirty="0"/>
                        <a:t>Better integrity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Faster reads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615546"/>
                  </a:ext>
                </a:extLst>
              </a:tr>
              <a:tr h="605516">
                <a:tc>
                  <a:txBody>
                    <a:bodyPr/>
                    <a:lstStyle/>
                    <a:p>
                      <a:r>
                        <a:rPr lang="en-US" sz="2400" dirty="0"/>
                        <a:t>More joins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Fewer joins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38067"/>
                  </a:ext>
                </a:extLst>
              </a:tr>
              <a:tr h="605516">
                <a:tc>
                  <a:txBody>
                    <a:bodyPr/>
                    <a:lstStyle/>
                    <a:p>
                      <a:r>
                        <a:rPr lang="en-US" sz="2400" dirty="0"/>
                        <a:t>Easier maintenance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Better reporting performance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6069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E695D65-0D8F-FBC9-592D-62AA65AF8A0A}"/>
              </a:ext>
            </a:extLst>
          </p:cNvPr>
          <p:cNvSpPr txBox="1"/>
          <p:nvPr/>
        </p:nvSpPr>
        <p:spPr>
          <a:xfrm>
            <a:off x="932330" y="4918065"/>
            <a:ext cx="108472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/>
              <a:t>Conclusion</a:t>
            </a:r>
          </a:p>
          <a:p>
            <a:pPr algn="just">
              <a:buNone/>
            </a:pPr>
            <a:r>
              <a:rPr lang="en-US" sz="2400" dirty="0"/>
              <a:t>Normalization is essential for designing efficient, consistent, and maintainable relational databases. Most OLTP systems are designed up to </a:t>
            </a:r>
            <a:r>
              <a:rPr lang="en-US" sz="2400" b="1" dirty="0"/>
              <a:t>3NF or BCNF</a:t>
            </a:r>
            <a:r>
              <a:rPr lang="en-US" sz="2400" dirty="0"/>
              <a:t>, while higher normal forms are used for specialized database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62112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9F17C-4686-579A-ADCE-818576D43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0" y="715229"/>
            <a:ext cx="9393848" cy="712765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Cardinality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D0B1B-B130-8E70-136A-D0F6E5E12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0" y="1643147"/>
            <a:ext cx="10794447" cy="5602941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Cardinality </a:t>
            </a:r>
            <a:r>
              <a:rPr lang="en-US" dirty="0"/>
              <a:t>defines the relationship between tables in a relational database.</a:t>
            </a:r>
          </a:p>
          <a:p>
            <a:pPr algn="just"/>
            <a:r>
              <a:rPr lang="en-US" dirty="0"/>
              <a:t>It specifies how many instances of one entity can be associated with instances of another entity.</a:t>
            </a:r>
          </a:p>
          <a:p>
            <a:pPr algn="just"/>
            <a:r>
              <a:rPr lang="en-US" dirty="0"/>
              <a:t> It helps determine how tables should be structured and connected using primary and foreign keys.</a:t>
            </a:r>
          </a:p>
          <a:p>
            <a:pPr marL="0" indent="0">
              <a:buNone/>
            </a:pPr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Proper cardinality ensures:</a:t>
            </a:r>
          </a:p>
          <a:p>
            <a:pPr>
              <a:buBlip>
                <a:blip r:embed="rId2"/>
              </a:buBlip>
            </a:pPr>
            <a:r>
              <a:rPr lang="en-US" dirty="0"/>
              <a:t> Data consistency </a:t>
            </a:r>
          </a:p>
          <a:p>
            <a:pPr>
              <a:buBlip>
                <a:blip r:embed="rId2"/>
              </a:buBlip>
            </a:pPr>
            <a:r>
              <a:rPr lang="en-US" dirty="0"/>
              <a:t> Efficient querying </a:t>
            </a:r>
          </a:p>
          <a:p>
            <a:pPr>
              <a:buBlip>
                <a:blip r:embed="rId2"/>
              </a:buBlip>
            </a:pPr>
            <a:r>
              <a:rPr lang="en-US" dirty="0"/>
              <a:t> Reduced redundancy </a:t>
            </a:r>
          </a:p>
          <a:p>
            <a:pPr>
              <a:buBlip>
                <a:blip r:embed="rId2"/>
              </a:buBlip>
            </a:pPr>
            <a:r>
              <a:rPr lang="en-US" dirty="0"/>
              <a:t> Accurate representation of real-world business rules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7428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8CDA-8A57-31EF-89D5-687E816E8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Why Cardinality is important?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04DEB-ACB2-1CCA-E595-009379CBE3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Cardinality helps database designers: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Define relationships between entities. 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Determine where foreign keys should be placed. 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Prevent duplicate or inconsistent data. 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Improve database integrity. 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Create efficient and scalable database structures. </a:t>
            </a:r>
          </a:p>
          <a:p>
            <a:r>
              <a:rPr lang="en-US" sz="2800" dirty="0"/>
              <a:t> Without proper cardinality, databases may contain redundant data, inconsistent records, and complex queries.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63250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87C59-076E-D840-5CB8-F9A13902E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Cardinality Types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FB2E60-E783-37D6-9AB5-D0399C17B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71824"/>
              </p:ext>
            </p:extLst>
          </p:nvPr>
        </p:nvGraphicFramePr>
        <p:xfrm>
          <a:off x="577516" y="1842613"/>
          <a:ext cx="11112459" cy="477333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704153">
                  <a:extLst>
                    <a:ext uri="{9D8B030D-6E8A-4147-A177-3AD203B41FA5}">
                      <a16:colId xmlns:a16="http://schemas.microsoft.com/office/drawing/2014/main" val="2154514332"/>
                    </a:ext>
                  </a:extLst>
                </a:gridCol>
                <a:gridCol w="3704153">
                  <a:extLst>
                    <a:ext uri="{9D8B030D-6E8A-4147-A177-3AD203B41FA5}">
                      <a16:colId xmlns:a16="http://schemas.microsoft.com/office/drawing/2014/main" val="1168874537"/>
                    </a:ext>
                  </a:extLst>
                </a:gridCol>
                <a:gridCol w="3704153">
                  <a:extLst>
                    <a:ext uri="{9D8B030D-6E8A-4147-A177-3AD203B41FA5}">
                      <a16:colId xmlns:a16="http://schemas.microsoft.com/office/drawing/2014/main" val="3944158157"/>
                    </a:ext>
                  </a:extLst>
                </a:gridCol>
              </a:tblGrid>
              <a:tr h="72945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Cardinality Type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Description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Example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735024"/>
                  </a:ext>
                </a:extLst>
              </a:tr>
              <a:tr h="989254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One-to-One (1:1)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Each row in Table A matches one row in Table B.</a:t>
                      </a:r>
                      <a:endParaRPr lang="en-US" sz="20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One employee record linked to one employee profile.</a:t>
                      </a:r>
                      <a:endParaRPr lang="en-US" sz="20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016145"/>
                  </a:ext>
                </a:extLst>
              </a:tr>
              <a:tr h="989254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One-to-Many (1:N)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One row in Table A can match multiple rows in Table B.</a:t>
                      </a:r>
                      <a:endParaRPr lang="en-US" sz="20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One customer placing multiple orders.</a:t>
                      </a:r>
                      <a:endParaRPr lang="en-US" sz="20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673593"/>
                  </a:ext>
                </a:extLst>
              </a:tr>
              <a:tr h="989254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Many-to-One (N:1)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Multiple rows in Table A match one row in Table B.</a:t>
                      </a:r>
                      <a:endParaRPr lang="en-US" sz="20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Many transactions linked to one branch.</a:t>
                      </a:r>
                      <a:endParaRPr lang="en-US" sz="20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832053"/>
                  </a:ext>
                </a:extLst>
              </a:tr>
              <a:tr h="1076127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Many-to-Many (M:N)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Multiple rows in both tables can match multiple rows in the other.</a:t>
                      </a:r>
                      <a:endParaRPr lang="en-US" sz="20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Products sold in multiple stores with varying suppliers.</a:t>
                      </a:r>
                      <a:endParaRPr lang="en-US" sz="20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611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3228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6F8C3-EC87-DD3A-3D2F-79818116F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62D85-D9A7-5BAB-62E2-AAE231D3B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 </a:t>
            </a:r>
            <a:r>
              <a:rPr lang="en-US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One-to-One (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1:1</a:t>
            </a:r>
            <a:r>
              <a:rPr lang="en-US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 Relationship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1B17D-6999-F2D9-4C76-9F74C45FE2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4546" y="1163300"/>
            <a:ext cx="6096000" cy="56947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0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One-to-One (1:1)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000" dirty="0"/>
              <a:t> </a:t>
            </a:r>
            <a:r>
              <a:rPr lang="en-US" sz="3000" b="1" dirty="0"/>
              <a:t>Definition</a:t>
            </a:r>
            <a:r>
              <a:rPr lang="en-US" sz="3000" dirty="0"/>
              <a:t>: A single record in Table A is related to a single record in Table B.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000" dirty="0"/>
              <a:t> </a:t>
            </a:r>
            <a:r>
              <a:rPr lang="en-US" sz="3000" b="1" dirty="0"/>
              <a:t>Example</a:t>
            </a:r>
            <a:r>
              <a:rPr lang="en-US" sz="3000" dirty="0"/>
              <a:t>: Each employee in an organization has on designated parking sport.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000" dirty="0"/>
              <a:t> </a:t>
            </a:r>
            <a:r>
              <a:rPr lang="en-US" sz="3000" b="1" dirty="0"/>
              <a:t>Representation</a:t>
            </a:r>
            <a:r>
              <a:rPr lang="en-US" sz="3000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000" dirty="0"/>
              <a:t> </a:t>
            </a:r>
            <a:r>
              <a:rPr lang="en-US" sz="3000" b="1" dirty="0"/>
              <a:t>Table A</a:t>
            </a:r>
            <a:r>
              <a:rPr lang="en-US" sz="3000" dirty="0"/>
              <a:t>: Employees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000" dirty="0"/>
              <a:t> </a:t>
            </a:r>
            <a:r>
              <a:rPr lang="en-US" sz="3000" b="1" dirty="0"/>
              <a:t>Table B</a:t>
            </a:r>
            <a:r>
              <a:rPr lang="en-US" sz="3000" dirty="0"/>
              <a:t>: Parking Spots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8981F0-49EC-646D-B000-5F42BF3F9A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43" y="1748590"/>
            <a:ext cx="6352674" cy="423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403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1CE80-6687-DE4D-EE40-01F8159DA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85D4E-2D2E-8676-3B7A-C1798C065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 </a:t>
            </a:r>
            <a:r>
              <a:rPr lang="en-US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One-to-Many (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1:N</a:t>
            </a:r>
            <a:r>
              <a:rPr lang="en-US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 Relationship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85830-4C29-4D71-E880-995346D51A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9769" y="1211674"/>
            <a:ext cx="5422231" cy="5694700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30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One-to-Many (1:N)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000" dirty="0"/>
              <a:t> </a:t>
            </a:r>
            <a:r>
              <a:rPr lang="en-US" sz="3000" b="1" dirty="0"/>
              <a:t>Definition</a:t>
            </a:r>
            <a:r>
              <a:rPr lang="en-US" sz="3000" dirty="0"/>
              <a:t>: A single record in Table A can be associated with multiple records in Table B, but each record in Table B is linked to only one record in Table A.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000" dirty="0"/>
              <a:t> </a:t>
            </a:r>
            <a:r>
              <a:rPr lang="en-US" sz="3000" b="1" dirty="0"/>
              <a:t>Example</a:t>
            </a:r>
            <a:r>
              <a:rPr lang="en-US" sz="3000" dirty="0"/>
              <a:t>: A customer can place multiple order, but each order is linked to only one customer.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000" dirty="0"/>
              <a:t> </a:t>
            </a:r>
            <a:r>
              <a:rPr lang="en-US" sz="3000" b="1" dirty="0"/>
              <a:t>Representation</a:t>
            </a:r>
            <a:r>
              <a:rPr lang="en-US" sz="3000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000" dirty="0"/>
              <a:t> </a:t>
            </a:r>
            <a:r>
              <a:rPr lang="en-US" sz="3000" b="1" dirty="0"/>
              <a:t>Table A</a:t>
            </a:r>
            <a:r>
              <a:rPr lang="en-US" sz="3000" dirty="0"/>
              <a:t>: Customers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000" dirty="0"/>
              <a:t> </a:t>
            </a:r>
            <a:r>
              <a:rPr lang="en-US" sz="3000" b="1" dirty="0"/>
              <a:t>Table B</a:t>
            </a:r>
            <a:r>
              <a:rPr lang="en-US" sz="3000" dirty="0"/>
              <a:t>: Orders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8201C9-B7F1-D666-3736-C7F6E7EBD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06" y="1778841"/>
            <a:ext cx="6577264" cy="438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171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7EC14-494F-BCE2-BC87-4506888C2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5D618-6723-2336-A4A9-9518B442E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 </a:t>
            </a:r>
            <a:r>
              <a:rPr lang="en-US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Many-to-One (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N:1)</a:t>
            </a:r>
            <a:r>
              <a:rPr lang="en-US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Relationship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15463-82FE-609C-11B8-278BDF39C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9769" y="1163300"/>
            <a:ext cx="5422231" cy="56947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30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Many-to-One (N:1)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000" dirty="0"/>
              <a:t> </a:t>
            </a:r>
            <a:r>
              <a:rPr lang="en-US" sz="3000" b="1" dirty="0"/>
              <a:t>Definition</a:t>
            </a:r>
            <a:r>
              <a:rPr lang="en-US" sz="3000" dirty="0"/>
              <a:t>: This is essentially the inverse of a one-to-many relationship, where multiple records in Table B can relate to a single record in Table A.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000" dirty="0"/>
              <a:t> </a:t>
            </a:r>
            <a:r>
              <a:rPr lang="en-US" sz="3000" b="1" dirty="0"/>
              <a:t>Example</a:t>
            </a:r>
            <a:r>
              <a:rPr lang="en-US" sz="3000" dirty="0"/>
              <a:t>: Multiple employees belong to one department.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000" dirty="0"/>
              <a:t> </a:t>
            </a:r>
            <a:r>
              <a:rPr lang="en-US" sz="3000" b="1" dirty="0"/>
              <a:t>Representation</a:t>
            </a:r>
            <a:r>
              <a:rPr lang="en-US" sz="3000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000" dirty="0"/>
              <a:t> </a:t>
            </a:r>
            <a:r>
              <a:rPr lang="en-US" sz="3000" b="1" dirty="0"/>
              <a:t>Table A</a:t>
            </a:r>
            <a:r>
              <a:rPr lang="en-US" sz="3000" dirty="0"/>
              <a:t>: Departments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000" dirty="0"/>
              <a:t> </a:t>
            </a:r>
            <a:r>
              <a:rPr lang="en-US" sz="3000" b="1" dirty="0"/>
              <a:t>Table B</a:t>
            </a:r>
            <a:r>
              <a:rPr lang="en-US" sz="3000" dirty="0"/>
              <a:t>: Employees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3C88BC-3109-967D-7B8C-9A42CB1EC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3" y="1989344"/>
            <a:ext cx="6737686" cy="449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16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19400-AE76-3D48-6B37-A59432A17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C9878-6173-B72E-8322-17317756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 </a:t>
            </a:r>
            <a:r>
              <a:rPr lang="en-US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Many-to-Many (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M:N</a:t>
            </a:r>
            <a:r>
              <a:rPr lang="en-US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 Relationship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4FBD-69FE-FE86-1C1D-E6DBC7FD3D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1163300"/>
            <a:ext cx="6096000" cy="56947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30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Many-to-One (M:N)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000" dirty="0"/>
              <a:t> </a:t>
            </a:r>
            <a:r>
              <a:rPr lang="en-US" sz="3000" b="1" dirty="0"/>
              <a:t>Definition</a:t>
            </a:r>
            <a:r>
              <a:rPr lang="en-US" sz="3000" dirty="0"/>
              <a:t>: Records in Table A can relate to multiple records in Table B, and records Table B can relate to multiple records in Table A. This relationship often requires a junction table to manage the associations.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000" dirty="0"/>
              <a:t> </a:t>
            </a:r>
            <a:r>
              <a:rPr lang="en-US" sz="3000" b="1" dirty="0"/>
              <a:t>Example</a:t>
            </a:r>
            <a:r>
              <a:rPr lang="en-US" sz="3000" dirty="0"/>
              <a:t>: Students and courses; a student can enroll in multiple courses; each course can have multiple students.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000" dirty="0"/>
              <a:t> </a:t>
            </a:r>
            <a:r>
              <a:rPr lang="en-US" sz="3000" b="1" dirty="0"/>
              <a:t>Representation</a:t>
            </a:r>
            <a:r>
              <a:rPr lang="en-US" sz="3000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000" dirty="0"/>
              <a:t> </a:t>
            </a:r>
            <a:r>
              <a:rPr lang="en-US" sz="3000" b="1" dirty="0"/>
              <a:t>Table A</a:t>
            </a:r>
            <a:r>
              <a:rPr lang="en-US" sz="3000" dirty="0"/>
              <a:t>: Departments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000" dirty="0"/>
              <a:t> </a:t>
            </a:r>
            <a:r>
              <a:rPr lang="en-US" sz="3000" b="1" dirty="0"/>
              <a:t>Table B</a:t>
            </a:r>
            <a:r>
              <a:rPr lang="en-US" sz="3000" dirty="0"/>
              <a:t>: Employees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EC4E43-53D4-9111-DB3F-EEC0AA7AD6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13" y="1876065"/>
            <a:ext cx="6095999" cy="406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606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B9A3A-1898-FA8F-2DEC-9E4ABCB8B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an Index?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E2C4F-934C-8C9B-2EF8-3A9A835ACF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Index</a:t>
            </a:r>
            <a:r>
              <a:rPr lang="en-US" dirty="0"/>
              <a:t> is a database object that improves the speed of data retrieval operations by creating a fast lookup structure for one or more columns.</a:t>
            </a:r>
          </a:p>
          <a:p>
            <a:r>
              <a:rPr lang="en-US" dirty="0"/>
              <a:t>Think of an index like the </a:t>
            </a:r>
            <a:r>
              <a:rPr lang="en-US" b="1" dirty="0"/>
              <a:t>index at the back of a textbook</a:t>
            </a:r>
            <a:r>
              <a:rPr lang="en-US" dirty="0"/>
              <a:t>—instead of reading every page, you quickly locate the information you need.</a:t>
            </a:r>
          </a:p>
          <a:p>
            <a:pPr marL="0" indent="0">
              <a:buNone/>
            </a:pPr>
            <a:r>
              <a:rPr lang="en-US" b="1" dirty="0"/>
              <a:t>Benefits</a:t>
            </a:r>
          </a:p>
          <a:p>
            <a:pPr marL="0" indent="0">
              <a:buNone/>
            </a:pPr>
            <a:r>
              <a:rPr lang="en-US" dirty="0"/>
              <a:t>⚡ Faster SELECT queries </a:t>
            </a:r>
          </a:p>
          <a:p>
            <a:pPr marL="0" indent="0">
              <a:buNone/>
            </a:pPr>
            <a:r>
              <a:rPr lang="en-US" dirty="0"/>
              <a:t>📈 Improved search performance </a:t>
            </a:r>
          </a:p>
          <a:p>
            <a:pPr marL="0" indent="0">
              <a:buNone/>
            </a:pPr>
            <a:r>
              <a:rPr lang="en-US" dirty="0"/>
              <a:t>🔍 Faster sorting (ORDER BY) </a:t>
            </a:r>
          </a:p>
          <a:p>
            <a:pPr marL="0" indent="0">
              <a:buNone/>
            </a:pPr>
            <a:r>
              <a:rPr lang="en-US" dirty="0"/>
              <a:t>🔗 Faster joins </a:t>
            </a:r>
          </a:p>
          <a:p>
            <a:pPr marL="0" indent="0">
              <a:buNone/>
            </a:pPr>
            <a:r>
              <a:rPr lang="en-US" dirty="0"/>
              <a:t>🎯 Efficient filtering with WHERE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543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A4E48-4D03-4BB6-ACB6-3B1A3A663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Create index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F9C4D-5F6B-AF26-ACD3-FB0631113C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38161" y="1603716"/>
            <a:ext cx="3982720" cy="5061243"/>
          </a:xfrm>
        </p:spPr>
        <p:txBody>
          <a:bodyPr>
            <a:normAutofit/>
          </a:bodyPr>
          <a:lstStyle/>
          <a:p>
            <a:r>
              <a:rPr lang="en-US" dirty="0"/>
              <a:t>Creates a non-unique index on one or more columns.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Syntax</a:t>
            </a:r>
          </a:p>
          <a:p>
            <a:r>
              <a:rPr lang="en-US" dirty="0"/>
              <a:t>CREATE INDEX </a:t>
            </a:r>
            <a:r>
              <a:rPr lang="en-US" dirty="0" err="1"/>
              <a:t>index_name</a:t>
            </a:r>
            <a:br>
              <a:rPr lang="en-US" dirty="0"/>
            </a:br>
            <a:r>
              <a:rPr lang="en-US" dirty="0"/>
              <a:t>ON </a:t>
            </a:r>
            <a:r>
              <a:rPr lang="en-US" dirty="0" err="1"/>
              <a:t>table_name</a:t>
            </a:r>
            <a:r>
              <a:rPr lang="en-US" dirty="0"/>
              <a:t>(</a:t>
            </a:r>
            <a:r>
              <a:rPr lang="en-US" dirty="0" err="1"/>
              <a:t>column_name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CREATE INDEX </a:t>
            </a:r>
            <a:r>
              <a:rPr lang="en-US" dirty="0" err="1"/>
              <a:t>idx_employee_name</a:t>
            </a:r>
            <a:br>
              <a:rPr lang="en-US" dirty="0"/>
            </a:br>
            <a:r>
              <a:rPr lang="en-US" dirty="0"/>
              <a:t>ON employees(</a:t>
            </a:r>
            <a:r>
              <a:rPr lang="en-US" dirty="0" err="1"/>
              <a:t>employee_name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44F890-2468-870B-C9BE-BADA97F83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" y="1429237"/>
            <a:ext cx="8115301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298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3D52A-C10A-3F43-8FA7-A67D63DEE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A95F7-C52F-D7A9-D1AB-FB5A9B70A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Create unique index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086AC-0E2D-196D-09AB-5EC44D954F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9" y="1430996"/>
            <a:ext cx="3810001" cy="506124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Ensures indexed values are unique while improving search speed.</a:t>
            </a:r>
          </a:p>
          <a:p>
            <a:pPr marL="0" indent="0">
              <a:buNone/>
            </a:pPr>
            <a:r>
              <a:rPr lang="en-US" b="1" dirty="0"/>
              <a:t>Benefits</a:t>
            </a:r>
          </a:p>
          <a:p>
            <a:r>
              <a:rPr lang="en-US" dirty="0"/>
              <a:t>Prevents duplicate values </a:t>
            </a:r>
          </a:p>
          <a:p>
            <a:r>
              <a:rPr lang="en-US" dirty="0"/>
              <a:t>Improves lookup performance </a:t>
            </a:r>
          </a:p>
          <a:p>
            <a:r>
              <a:rPr lang="en-US" dirty="0"/>
              <a:t>Enforces data integrity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Syntax</a:t>
            </a:r>
          </a:p>
          <a:p>
            <a:r>
              <a:rPr lang="en-US" dirty="0"/>
              <a:t>CREATE UNIQUE INDEX </a:t>
            </a:r>
            <a:r>
              <a:rPr lang="en-US" dirty="0" err="1"/>
              <a:t>index_name</a:t>
            </a:r>
            <a:br>
              <a:rPr lang="en-US" dirty="0"/>
            </a:br>
            <a:r>
              <a:rPr lang="en-US" dirty="0"/>
              <a:t>ON </a:t>
            </a:r>
            <a:r>
              <a:rPr lang="en-US" dirty="0" err="1"/>
              <a:t>table_name</a:t>
            </a:r>
            <a:r>
              <a:rPr lang="en-US" dirty="0"/>
              <a:t>(</a:t>
            </a:r>
            <a:r>
              <a:rPr lang="en-US" dirty="0" err="1"/>
              <a:t>column_name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CREATE UNIQUE INDEX </a:t>
            </a:r>
            <a:r>
              <a:rPr lang="en-US" dirty="0" err="1"/>
              <a:t>idx_email</a:t>
            </a:r>
            <a:br>
              <a:rPr lang="en-US" dirty="0"/>
            </a:br>
            <a:r>
              <a:rPr lang="en-US" dirty="0"/>
              <a:t>ON employees(email);</a:t>
            </a:r>
          </a:p>
          <a:p>
            <a:r>
              <a:rPr lang="en-US" dirty="0"/>
              <a:t>No two employees can have the same email.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786E22-73CF-45F0-A358-EA96AFE9E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59" y="1331741"/>
            <a:ext cx="8130539" cy="542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620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531AF-E7B5-EFBF-98B2-9EB1E801A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C0066-FA58-49D1-688A-C23C1DCA4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Drop index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99805-0511-9F70-A4E0-B6E77613EC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9" y="1430996"/>
            <a:ext cx="3810001" cy="5061243"/>
          </a:xfrm>
        </p:spPr>
        <p:txBody>
          <a:bodyPr>
            <a:normAutofit/>
          </a:bodyPr>
          <a:lstStyle/>
          <a:p>
            <a:r>
              <a:rPr lang="en-US" dirty="0"/>
              <a:t>Removes an existing index.</a:t>
            </a:r>
          </a:p>
          <a:p>
            <a:pPr marL="0" indent="0">
              <a:buNone/>
            </a:pPr>
            <a:r>
              <a:rPr lang="en-US" b="1" dirty="0"/>
              <a:t>SQL Server</a:t>
            </a:r>
          </a:p>
          <a:p>
            <a:r>
              <a:rPr lang="en-US" dirty="0"/>
              <a:t>DROP INDEX </a:t>
            </a:r>
            <a:r>
              <a:rPr lang="en-US" dirty="0" err="1"/>
              <a:t>index_name</a:t>
            </a:r>
            <a:br>
              <a:rPr lang="en-US" dirty="0"/>
            </a:br>
            <a:r>
              <a:rPr lang="en-US" dirty="0"/>
              <a:t>ON employees;</a:t>
            </a:r>
          </a:p>
          <a:p>
            <a:pPr marL="0" indent="0">
              <a:buNone/>
            </a:pPr>
            <a:r>
              <a:rPr lang="en-US" b="1" dirty="0"/>
              <a:t>PostgreSQL</a:t>
            </a:r>
          </a:p>
          <a:p>
            <a:r>
              <a:rPr lang="en-US" dirty="0"/>
              <a:t>DROP INDEX </a:t>
            </a:r>
            <a:r>
              <a:rPr lang="en-US" dirty="0" err="1"/>
              <a:t>idx_employee_name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b="1" dirty="0"/>
              <a:t>MySQL</a:t>
            </a:r>
          </a:p>
          <a:p>
            <a:r>
              <a:rPr lang="en-US" dirty="0"/>
              <a:t>DROP INDEX </a:t>
            </a:r>
            <a:r>
              <a:rPr lang="en-US" dirty="0" err="1"/>
              <a:t>idx_employee_name</a:t>
            </a:r>
            <a:br>
              <a:rPr lang="en-US" dirty="0"/>
            </a:br>
            <a:r>
              <a:rPr lang="en-US" dirty="0"/>
              <a:t>ON employees;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976E96-5F11-3E9B-0042-0AE366419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459" y="1331741"/>
            <a:ext cx="8130538" cy="542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282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959A6-918B-7AB3-1A48-044B66720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42034-4254-24D7-E46C-5BA813256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a View?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9780F-C655-0ABF-4069-CDFB948978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View</a:t>
            </a:r>
            <a:r>
              <a:rPr lang="en-US" dirty="0"/>
              <a:t> is a virtual table created from one or more SQL queries.</a:t>
            </a:r>
          </a:p>
          <a:p>
            <a:r>
              <a:rPr lang="en-US" dirty="0"/>
              <a:t>It stores the SQL query—not the actual data (except for materialized views).</a:t>
            </a:r>
          </a:p>
          <a:p>
            <a:pPr marL="0" indent="0">
              <a:buNone/>
            </a:pPr>
            <a:r>
              <a:rPr lang="en-US" b="1" dirty="0"/>
              <a:t>Benefits</a:t>
            </a:r>
          </a:p>
          <a:p>
            <a:r>
              <a:rPr lang="en-US" dirty="0"/>
              <a:t> Simplifies complex queries </a:t>
            </a:r>
          </a:p>
          <a:p>
            <a:r>
              <a:rPr lang="en-US" dirty="0"/>
              <a:t> Improves security </a:t>
            </a:r>
          </a:p>
          <a:p>
            <a:r>
              <a:rPr lang="en-US" dirty="0"/>
              <a:t> Reuses SQL code </a:t>
            </a:r>
          </a:p>
          <a:p>
            <a:r>
              <a:rPr lang="en-US" dirty="0"/>
              <a:t> Hides sensitive columns </a:t>
            </a:r>
          </a:p>
          <a:p>
            <a:r>
              <a:rPr lang="en-US" dirty="0"/>
              <a:t> Easier reporting </a:t>
            </a:r>
          </a:p>
        </p:txBody>
      </p:sp>
    </p:spTree>
    <p:extLst>
      <p:ext uri="{BB962C8B-B14F-4D97-AF65-F5344CB8AC3E}">
        <p14:creationId xmlns:p14="http://schemas.microsoft.com/office/powerpoint/2010/main" val="4471564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0262E-D17A-808A-3A0F-9A66715C1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97021-C12C-C6CB-8D31-E6718D5E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Create 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85CEC-EE02-E122-417E-8634E64C47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38161" y="1603716"/>
            <a:ext cx="3982720" cy="506124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Syntax</a:t>
            </a:r>
          </a:p>
          <a:p>
            <a:r>
              <a:rPr lang="en-US" dirty="0"/>
              <a:t>CREATE VIEW </a:t>
            </a:r>
            <a:r>
              <a:rPr lang="en-US" dirty="0" err="1"/>
              <a:t>view_name</a:t>
            </a:r>
            <a:r>
              <a:rPr lang="en-US" dirty="0"/>
              <a:t> AS</a:t>
            </a:r>
            <a:br>
              <a:rPr lang="en-US" dirty="0"/>
            </a:br>
            <a:r>
              <a:rPr lang="en-US" dirty="0"/>
              <a:t>SELECT columns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 err="1"/>
              <a:t>table_name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CREATE VIEW </a:t>
            </a:r>
            <a:r>
              <a:rPr lang="en-US" dirty="0" err="1"/>
              <a:t>employee_info</a:t>
            </a:r>
            <a:r>
              <a:rPr lang="en-US" dirty="0"/>
              <a:t> AS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SELECT</a:t>
            </a:r>
            <a:br>
              <a:rPr lang="en-US" dirty="0"/>
            </a:br>
            <a:r>
              <a:rPr lang="en-US" dirty="0" err="1"/>
              <a:t>employee_name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department,</a:t>
            </a:r>
            <a:br>
              <a:rPr lang="en-US" dirty="0"/>
            </a:br>
            <a:r>
              <a:rPr lang="en-US" dirty="0"/>
              <a:t>salary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FROM employees;</a:t>
            </a:r>
          </a:p>
          <a:p>
            <a:r>
              <a:rPr lang="en-US" dirty="0"/>
              <a:t>Using the view</a:t>
            </a:r>
          </a:p>
          <a:p>
            <a:r>
              <a:rPr lang="en-US" dirty="0"/>
              <a:t>SELECT *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 err="1"/>
              <a:t>employee_info</a:t>
            </a:r>
            <a:r>
              <a:rPr lang="en-US" dirty="0"/>
              <a:t>;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E6B3D3-9F48-DD93-E157-16974B836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60" y="1429237"/>
            <a:ext cx="81153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4823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29D07-7BAE-F49B-EE2B-93BDC7DD3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6E25-9D68-1478-C07A-301414F01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Replace or Alter 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5C2CE-DD60-B108-827B-2596CCF1B7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38161" y="1603716"/>
            <a:ext cx="3982720" cy="506124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PostgreSQL</a:t>
            </a:r>
          </a:p>
          <a:p>
            <a:r>
              <a:rPr lang="en-US" dirty="0"/>
              <a:t>CREATE OR REPLACE VIEW </a:t>
            </a:r>
            <a:r>
              <a:rPr lang="en-US" dirty="0" err="1"/>
              <a:t>employee_info</a:t>
            </a:r>
            <a:r>
              <a:rPr lang="en-US" dirty="0"/>
              <a:t> AS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SELECT</a:t>
            </a:r>
            <a:br>
              <a:rPr lang="en-US" dirty="0"/>
            </a:br>
            <a:r>
              <a:rPr lang="en-US" dirty="0" err="1"/>
              <a:t>employee_name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department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FROM employees;</a:t>
            </a:r>
          </a:p>
          <a:p>
            <a:pPr marL="0" indent="0">
              <a:buNone/>
            </a:pPr>
            <a:r>
              <a:rPr lang="en-US" b="1" dirty="0"/>
              <a:t>SQL Server</a:t>
            </a:r>
          </a:p>
          <a:p>
            <a:r>
              <a:rPr lang="en-US" dirty="0"/>
              <a:t>ALTER VIEW </a:t>
            </a:r>
            <a:r>
              <a:rPr lang="en-US" dirty="0" err="1"/>
              <a:t>employee_info</a:t>
            </a:r>
            <a:r>
              <a:rPr lang="en-US" dirty="0"/>
              <a:t> AS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SELECT</a:t>
            </a:r>
            <a:br>
              <a:rPr lang="en-US" dirty="0"/>
            </a:br>
            <a:r>
              <a:rPr lang="en-US" dirty="0" err="1"/>
              <a:t>employee_name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department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FROM employees;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5CBFBE-5B64-BA40-76C4-8C15059ED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60" y="1429237"/>
            <a:ext cx="81153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3869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EADB5-AC1A-FDFC-F64F-EE603D1CA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1398-1368-BA45-A793-B3EE12F2B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Drop 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89907-907C-2683-5272-20130B8FD1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38161" y="1603716"/>
            <a:ext cx="3982720" cy="5061243"/>
          </a:xfrm>
        </p:spPr>
        <p:txBody>
          <a:bodyPr>
            <a:normAutofit/>
          </a:bodyPr>
          <a:lstStyle/>
          <a:p>
            <a:r>
              <a:rPr lang="en-US" dirty="0"/>
              <a:t>Deletes a view.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Syntax</a:t>
            </a:r>
          </a:p>
          <a:p>
            <a:r>
              <a:rPr lang="en-US" dirty="0"/>
              <a:t>DROP VIEW </a:t>
            </a:r>
            <a:r>
              <a:rPr lang="en-US" dirty="0" err="1"/>
              <a:t>employee_info</a:t>
            </a:r>
            <a:r>
              <a:rPr lang="en-US" dirty="0"/>
              <a:t>;</a:t>
            </a:r>
          </a:p>
          <a:p>
            <a:r>
              <a:rPr lang="en-US" dirty="0"/>
              <a:t>Only the view is removed.</a:t>
            </a:r>
          </a:p>
          <a:p>
            <a:r>
              <a:rPr lang="en-US" dirty="0"/>
              <a:t>The original table remains unchanged.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127DB1-764A-613A-4690-C3E7AA36A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60" y="1429237"/>
            <a:ext cx="81153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4134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373CA-7958-4DD8-9461-FFB8EE5C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View Vs.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CC2B74-E286-700A-E83E-D525B82DA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914959"/>
              </p:ext>
            </p:extLst>
          </p:nvPr>
        </p:nvGraphicFramePr>
        <p:xfrm>
          <a:off x="873760" y="1603586"/>
          <a:ext cx="10830561" cy="514265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610187">
                  <a:extLst>
                    <a:ext uri="{9D8B030D-6E8A-4147-A177-3AD203B41FA5}">
                      <a16:colId xmlns:a16="http://schemas.microsoft.com/office/drawing/2014/main" val="2327749919"/>
                    </a:ext>
                  </a:extLst>
                </a:gridCol>
                <a:gridCol w="3610187">
                  <a:extLst>
                    <a:ext uri="{9D8B030D-6E8A-4147-A177-3AD203B41FA5}">
                      <a16:colId xmlns:a16="http://schemas.microsoft.com/office/drawing/2014/main" val="2903664559"/>
                    </a:ext>
                  </a:extLst>
                </a:gridCol>
                <a:gridCol w="3610187">
                  <a:extLst>
                    <a:ext uri="{9D8B030D-6E8A-4147-A177-3AD203B41FA5}">
                      <a16:colId xmlns:a16="http://schemas.microsoft.com/office/drawing/2014/main" val="3683287121"/>
                    </a:ext>
                  </a:extLst>
                </a:gridCol>
              </a:tblGrid>
              <a:tr h="734665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Feature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View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36097"/>
                  </a:ext>
                </a:extLst>
              </a:tr>
              <a:tr h="734665">
                <a:tc>
                  <a:txBody>
                    <a:bodyPr/>
                    <a:lstStyle/>
                    <a:p>
                      <a:r>
                        <a:rPr lang="en-US" sz="2400" dirty="0"/>
                        <a:t>Store data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❌ Usually 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✅ 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048406"/>
                  </a:ext>
                </a:extLst>
              </a:tr>
              <a:tr h="734665">
                <a:tc>
                  <a:txBody>
                    <a:bodyPr/>
                    <a:lstStyle/>
                    <a:p>
                      <a:r>
                        <a:rPr lang="en-US" sz="2400" dirty="0"/>
                        <a:t>Virtual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✅ 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❌ 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109750"/>
                  </a:ext>
                </a:extLst>
              </a:tr>
              <a:tr h="734665">
                <a:tc>
                  <a:txBody>
                    <a:bodyPr/>
                    <a:lstStyle/>
                    <a:p>
                      <a:r>
                        <a:rPr lang="en-US" sz="2400" dirty="0"/>
                        <a:t>Can join multiple tables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✅ 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❌ 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355326"/>
                  </a:ext>
                </a:extLst>
              </a:tr>
              <a:tr h="734665">
                <a:tc>
                  <a:txBody>
                    <a:bodyPr/>
                    <a:lstStyle/>
                    <a:p>
                      <a:r>
                        <a:rPr lang="en-US" sz="2400" dirty="0"/>
                        <a:t>Takes storage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Very little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60384"/>
                  </a:ext>
                </a:extLst>
              </a:tr>
              <a:tr h="734665">
                <a:tc>
                  <a:txBody>
                    <a:bodyPr/>
                    <a:lstStyle/>
                    <a:p>
                      <a:r>
                        <a:rPr lang="en-US" sz="2400" dirty="0"/>
                        <a:t>Used for reporting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✅ 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Sometimes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040356"/>
                  </a:ext>
                </a:extLst>
              </a:tr>
              <a:tr h="734665">
                <a:tc>
                  <a:txBody>
                    <a:bodyPr/>
                    <a:lstStyle/>
                    <a:p>
                      <a:r>
                        <a:rPr lang="en-US" sz="2400" dirty="0"/>
                        <a:t>Supports security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✅ 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Limited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43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2172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2722</TotalTime>
  <Words>1777</Words>
  <Application>Microsoft Office PowerPoint</Application>
  <PresentationFormat>Widescreen</PresentationFormat>
  <Paragraphs>338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ADLaM Display</vt:lpstr>
      <vt:lpstr>Calibri</vt:lpstr>
      <vt:lpstr>Courier New</vt:lpstr>
      <vt:lpstr>Wingdings</vt:lpstr>
      <vt:lpstr>YESHUAH</vt:lpstr>
      <vt:lpstr>RetrospectVTI</vt:lpstr>
      <vt:lpstr>Cardinality &amp; Normalization</vt:lpstr>
      <vt:lpstr>PowerPoint Presentation</vt:lpstr>
      <vt:lpstr>What is Normalization?</vt:lpstr>
      <vt:lpstr>Unnormalized Form (UNF)</vt:lpstr>
      <vt:lpstr>First Normal Form (1NF)</vt:lpstr>
      <vt:lpstr>Second Normal Form (2NF)</vt:lpstr>
      <vt:lpstr>Third Normal Form (3NF)</vt:lpstr>
      <vt:lpstr>Boyce-Codd Normal Form (BCNF)</vt:lpstr>
      <vt:lpstr>Fourth Normal Form (4NF)</vt:lpstr>
      <vt:lpstr>Fifth Normal Form (5NF)</vt:lpstr>
      <vt:lpstr>Sixth Normal Form (6NF)</vt:lpstr>
      <vt:lpstr>Normalization Types Comparison Table</vt:lpstr>
      <vt:lpstr>Normalization Flow</vt:lpstr>
      <vt:lpstr>When to Denormalize?</vt:lpstr>
      <vt:lpstr>Trade-Off</vt:lpstr>
      <vt:lpstr>What is Cardinality?</vt:lpstr>
      <vt:lpstr>Why Cardinality is important?</vt:lpstr>
      <vt:lpstr>Cardinality Types</vt:lpstr>
      <vt:lpstr>… One-to-One (1:1) Relationship</vt:lpstr>
      <vt:lpstr>… One-to-Many (1:N) Relationship</vt:lpstr>
      <vt:lpstr>… Many-to-One (N:1) Relationship</vt:lpstr>
      <vt:lpstr>… Many-to-Many (M:N) Relationship</vt:lpstr>
      <vt:lpstr>What is an Index?</vt:lpstr>
      <vt:lpstr>Create index</vt:lpstr>
      <vt:lpstr>Create unique index</vt:lpstr>
      <vt:lpstr>Drop index</vt:lpstr>
      <vt:lpstr>What is a View?</vt:lpstr>
      <vt:lpstr>Create view</vt:lpstr>
      <vt:lpstr>Replace or Alter view</vt:lpstr>
      <vt:lpstr>Drop view</vt:lpstr>
      <vt:lpstr>View Vs. Table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Mintesnot Iwunete</cp:lastModifiedBy>
  <cp:revision>346</cp:revision>
  <dcterms:created xsi:type="dcterms:W3CDTF">2020-02-06T00:04:00Z</dcterms:created>
  <dcterms:modified xsi:type="dcterms:W3CDTF">2026-06-28T18:57:43Z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1033-11.2.0.9937</vt:lpwstr>
  </property>
</Properties>
</file>