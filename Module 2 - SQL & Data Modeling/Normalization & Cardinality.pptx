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411" r:id="rId2"/>
    <p:sldId id="410" r:id="rId3"/>
    <p:sldId id="429" r:id="rId4"/>
    <p:sldId id="433" r:id="rId5"/>
    <p:sldId id="432" r:id="rId6"/>
    <p:sldId id="434" r:id="rId7"/>
    <p:sldId id="435" r:id="rId8"/>
    <p:sldId id="436" r:id="rId9"/>
    <p:sldId id="437" r:id="rId10"/>
    <p:sldId id="438" r:id="rId11"/>
    <p:sldId id="439" r:id="rId12"/>
    <p:sldId id="431" r:id="rId13"/>
    <p:sldId id="430" r:id="rId14"/>
    <p:sldId id="440" r:id="rId15"/>
    <p:sldId id="441" r:id="rId16"/>
    <p:sldId id="394" r:id="rId17"/>
    <p:sldId id="412" r:id="rId18"/>
    <p:sldId id="413" r:id="rId19"/>
    <p:sldId id="424" r:id="rId20"/>
    <p:sldId id="426" r:id="rId21"/>
    <p:sldId id="427" r:id="rId22"/>
    <p:sldId id="428" r:id="rId23"/>
    <p:sldId id="26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E2F5"/>
    <a:srgbClr val="E7F7FE"/>
    <a:srgbClr val="0072C6"/>
    <a:srgbClr val="00A4EF"/>
    <a:srgbClr val="3333FF"/>
    <a:srgbClr val="FFDF00"/>
    <a:srgbClr val="75CDEA"/>
    <a:srgbClr val="002060"/>
    <a:srgbClr val="5A56A1"/>
    <a:srgbClr val="5656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736F72C-57AD-4C0C-B413-44A67FA7CD9B}" v="95" dt="2024-03-18T15:51:55.6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579" autoAdjust="0"/>
    <p:restoredTop sz="94639" autoAdjust="0"/>
  </p:normalViewPr>
  <p:slideViewPr>
    <p:cSldViewPr snapToGrid="0">
      <p:cViewPr varScale="1">
        <p:scale>
          <a:sx n="75" d="100"/>
          <a:sy n="75" d="100"/>
        </p:scale>
        <p:origin x="68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1" d="100"/>
          <a:sy n="51" d="100"/>
        </p:scale>
        <p:origin x="2692" y="-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8E1AF-6343-46AA-8AEF-4C12F4118850}" type="datetimeFigureOut">
              <a:rPr lang="en-US" smtClean="0"/>
              <a:t>6/20/2026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8E0-3D38-47B7-97D4-4FE08D90D3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D2517-63AA-420A-887D-BE60360A8F4D}" type="datetimeFigureOut">
              <a:rPr lang="en-US" noProof="0" smtClean="0"/>
              <a:t>6/20/2026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ECAD9-32EE-4091-BDA5-6BD15ACC5E58}" type="slidenum">
              <a:rPr lang="en-US" noProof="0" smtClean="0"/>
              <a:t>‹#›</a:t>
            </a:fld>
            <a:endParaRPr lang="en-US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ECC495-5FEF-4C9C-502D-7281AA9BC4CE}"/>
              </a:ext>
            </a:extLst>
          </p:cNvPr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Title 1"/>
          <p:cNvSpPr txBox="1"/>
          <p:nvPr userDrawn="1"/>
        </p:nvSpPr>
        <p:spPr>
          <a:xfrm>
            <a:off x="-1707114" y="2422578"/>
            <a:ext cx="6145764" cy="110975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endParaRPr lang="en-US" sz="2400" dirty="0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509750" y="2338493"/>
            <a:ext cx="3531146" cy="145075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400" b="1" baseline="0">
                <a:solidFill>
                  <a:schemeClr val="bg1"/>
                </a:solidFill>
                <a:latin typeface="YESHUAH" panose="02000500000000000000" pitchFamily="2" charset="0"/>
              </a:defRPr>
            </a:lvl1pPr>
          </a:lstStyle>
          <a:p>
            <a:r>
              <a:rPr lang="en-US" dirty="0"/>
              <a:t>{ subject }</a:t>
            </a:r>
          </a:p>
        </p:txBody>
      </p:sp>
      <p:sp>
        <p:nvSpPr>
          <p:cNvPr id="19" name="Content Placeholder 8"/>
          <p:cNvSpPr>
            <a:spLocks noGrp="1"/>
          </p:cNvSpPr>
          <p:nvPr>
            <p:ph sz="quarter" idx="13" hasCustomPrompt="1"/>
          </p:nvPr>
        </p:nvSpPr>
        <p:spPr>
          <a:xfrm>
            <a:off x="7647842" y="6136265"/>
            <a:ext cx="4090199" cy="45313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2400" baseline="0">
                <a:solidFill>
                  <a:srgbClr val="25677D"/>
                </a:solidFill>
                <a:latin typeface="YESHUAH" panose="02000500000000000000" pitchFamily="2" charset="0"/>
              </a:defRPr>
            </a:lvl1pPr>
          </a:lstStyle>
          <a:p>
            <a:pPr lvl="0"/>
            <a:r>
              <a:rPr lang="en-US" dirty="0"/>
              <a:t> { write presenter name 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 userDrawn="1"/>
        </p:nvSpPr>
        <p:spPr>
          <a:xfrm>
            <a:off x="-64008" y="0"/>
            <a:ext cx="4723782" cy="68580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9" name="Group 18" descr="Info"/>
          <p:cNvGrpSpPr/>
          <p:nvPr userDrawn="1"/>
        </p:nvGrpSpPr>
        <p:grpSpPr>
          <a:xfrm>
            <a:off x="4642801" y="3133724"/>
            <a:ext cx="567374" cy="550865"/>
            <a:chOff x="4914764" y="3319462"/>
            <a:chExt cx="619125" cy="619125"/>
          </a:xfrm>
          <a:solidFill>
            <a:schemeClr val="bg1"/>
          </a:solidFill>
        </p:grpSpPr>
        <p:sp>
          <p:nvSpPr>
            <p:cNvPr id="20" name="Freeform: Shape 19"/>
            <p:cNvSpPr/>
            <p:nvPr/>
          </p:nvSpPr>
          <p:spPr>
            <a:xfrm>
              <a:off x="4914764" y="3319462"/>
              <a:ext cx="619125" cy="619125"/>
            </a:xfrm>
            <a:custGeom>
              <a:avLst/>
              <a:gdLst>
                <a:gd name="connsiteX0" fmla="*/ 309563 w 619125"/>
                <a:gd name="connsiteY0" fmla="*/ 0 h 619125"/>
                <a:gd name="connsiteX1" fmla="*/ 0 w 619125"/>
                <a:gd name="connsiteY1" fmla="*/ 309563 h 619125"/>
                <a:gd name="connsiteX2" fmla="*/ 309563 w 619125"/>
                <a:gd name="connsiteY2" fmla="*/ 619125 h 619125"/>
                <a:gd name="connsiteX3" fmla="*/ 619125 w 619125"/>
                <a:gd name="connsiteY3" fmla="*/ 309563 h 619125"/>
                <a:gd name="connsiteX4" fmla="*/ 309563 w 619125"/>
                <a:gd name="connsiteY4" fmla="*/ 0 h 619125"/>
                <a:gd name="connsiteX5" fmla="*/ 309563 w 619125"/>
                <a:gd name="connsiteY5" fmla="*/ 581025 h 619125"/>
                <a:gd name="connsiteX6" fmla="*/ 38100 w 619125"/>
                <a:gd name="connsiteY6" fmla="*/ 309563 h 619125"/>
                <a:gd name="connsiteX7" fmla="*/ 309563 w 619125"/>
                <a:gd name="connsiteY7" fmla="*/ 38100 h 619125"/>
                <a:gd name="connsiteX8" fmla="*/ 581025 w 619125"/>
                <a:gd name="connsiteY8" fmla="*/ 309563 h 619125"/>
                <a:gd name="connsiteX9" fmla="*/ 309563 w 619125"/>
                <a:gd name="connsiteY9" fmla="*/ 581025 h 619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125" h="619125">
                  <a:moveTo>
                    <a:pt x="309563" y="0"/>
                  </a:moveTo>
                  <a:cubicBezTo>
                    <a:pt x="138875" y="0"/>
                    <a:pt x="0" y="138865"/>
                    <a:pt x="0" y="309563"/>
                  </a:cubicBezTo>
                  <a:cubicBezTo>
                    <a:pt x="0" y="480260"/>
                    <a:pt x="138875" y="619125"/>
                    <a:pt x="309563" y="619125"/>
                  </a:cubicBezTo>
                  <a:cubicBezTo>
                    <a:pt x="480250" y="619125"/>
                    <a:pt x="619125" y="480260"/>
                    <a:pt x="619125" y="309563"/>
                  </a:cubicBezTo>
                  <a:cubicBezTo>
                    <a:pt x="619125" y="138865"/>
                    <a:pt x="480250" y="0"/>
                    <a:pt x="309563" y="0"/>
                  </a:cubicBezTo>
                  <a:close/>
                  <a:moveTo>
                    <a:pt x="309563" y="581025"/>
                  </a:moveTo>
                  <a:cubicBezTo>
                    <a:pt x="159877" y="581025"/>
                    <a:pt x="38100" y="459248"/>
                    <a:pt x="38100" y="309563"/>
                  </a:cubicBezTo>
                  <a:cubicBezTo>
                    <a:pt x="38100" y="159877"/>
                    <a:pt x="159877" y="38100"/>
                    <a:pt x="309563" y="38100"/>
                  </a:cubicBezTo>
                  <a:cubicBezTo>
                    <a:pt x="459248" y="38100"/>
                    <a:pt x="581025" y="159877"/>
                    <a:pt x="581025" y="309563"/>
                  </a:cubicBezTo>
                  <a:cubicBezTo>
                    <a:pt x="581025" y="459248"/>
                    <a:pt x="459248" y="581025"/>
                    <a:pt x="309563" y="5810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1" name="Freeform: Shape 20"/>
            <p:cNvSpPr/>
            <p:nvPr/>
          </p:nvSpPr>
          <p:spPr>
            <a:xfrm>
              <a:off x="5195751" y="3473729"/>
              <a:ext cx="57150" cy="57150"/>
            </a:xfrm>
            <a:custGeom>
              <a:avLst/>
              <a:gdLst>
                <a:gd name="connsiteX0" fmla="*/ 63722 w 57150"/>
                <a:gd name="connsiteY0" fmla="*/ 31861 h 57150"/>
                <a:gd name="connsiteX1" fmla="*/ 31861 w 57150"/>
                <a:gd name="connsiteY1" fmla="*/ 63722 h 57150"/>
                <a:gd name="connsiteX2" fmla="*/ 0 w 57150"/>
                <a:gd name="connsiteY2" fmla="*/ 31861 h 57150"/>
                <a:gd name="connsiteX3" fmla="*/ 31861 w 57150"/>
                <a:gd name="connsiteY3" fmla="*/ 0 h 57150"/>
                <a:gd name="connsiteX4" fmla="*/ 63722 w 57150"/>
                <a:gd name="connsiteY4" fmla="*/ 31861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150" h="57150">
                  <a:moveTo>
                    <a:pt x="63722" y="31861"/>
                  </a:moveTo>
                  <a:cubicBezTo>
                    <a:pt x="63722" y="49458"/>
                    <a:pt x="49458" y="63722"/>
                    <a:pt x="31861" y="63722"/>
                  </a:cubicBezTo>
                  <a:cubicBezTo>
                    <a:pt x="14265" y="63722"/>
                    <a:pt x="0" y="49458"/>
                    <a:pt x="0" y="31861"/>
                  </a:cubicBezTo>
                  <a:cubicBezTo>
                    <a:pt x="0" y="14265"/>
                    <a:pt x="14265" y="0"/>
                    <a:pt x="31861" y="0"/>
                  </a:cubicBezTo>
                  <a:cubicBezTo>
                    <a:pt x="49458" y="0"/>
                    <a:pt x="63722" y="14265"/>
                    <a:pt x="63722" y="3186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  <p:sp>
          <p:nvSpPr>
            <p:cNvPr id="22" name="Freeform: Shape 21"/>
            <p:cNvSpPr/>
            <p:nvPr/>
          </p:nvSpPr>
          <p:spPr>
            <a:xfrm>
              <a:off x="5205276" y="3589420"/>
              <a:ext cx="38100" cy="200025"/>
            </a:xfrm>
            <a:custGeom>
              <a:avLst/>
              <a:gdLst>
                <a:gd name="connsiteX0" fmla="*/ 19050 w 38100"/>
                <a:gd name="connsiteY0" fmla="*/ 0 h 200025"/>
                <a:gd name="connsiteX1" fmla="*/ 0 w 38100"/>
                <a:gd name="connsiteY1" fmla="*/ 19050 h 200025"/>
                <a:gd name="connsiteX2" fmla="*/ 0 w 38100"/>
                <a:gd name="connsiteY2" fmla="*/ 180975 h 200025"/>
                <a:gd name="connsiteX3" fmla="*/ 19050 w 38100"/>
                <a:gd name="connsiteY3" fmla="*/ 200025 h 200025"/>
                <a:gd name="connsiteX4" fmla="*/ 38100 w 38100"/>
                <a:gd name="connsiteY4" fmla="*/ 180975 h 200025"/>
                <a:gd name="connsiteX5" fmla="*/ 38100 w 38100"/>
                <a:gd name="connsiteY5" fmla="*/ 19050 h 200025"/>
                <a:gd name="connsiteX6" fmla="*/ 19050 w 38100"/>
                <a:gd name="connsiteY6" fmla="*/ 0 h 200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00" h="200025">
                  <a:moveTo>
                    <a:pt x="19050" y="0"/>
                  </a:moveTo>
                  <a:cubicBezTo>
                    <a:pt x="8534" y="0"/>
                    <a:pt x="0" y="8534"/>
                    <a:pt x="0" y="19050"/>
                  </a:cubicBezTo>
                  <a:lnTo>
                    <a:pt x="0" y="180975"/>
                  </a:lnTo>
                  <a:cubicBezTo>
                    <a:pt x="0" y="191491"/>
                    <a:pt x="8534" y="200025"/>
                    <a:pt x="19050" y="200025"/>
                  </a:cubicBezTo>
                  <a:cubicBezTo>
                    <a:pt x="29566" y="200025"/>
                    <a:pt x="38100" y="191491"/>
                    <a:pt x="38100" y="180975"/>
                  </a:cubicBezTo>
                  <a:lnTo>
                    <a:pt x="38100" y="19050"/>
                  </a:lnTo>
                  <a:cubicBezTo>
                    <a:pt x="38100" y="8525"/>
                    <a:pt x="29566" y="0"/>
                    <a:pt x="1905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350" dirty="0"/>
            </a:p>
          </p:txBody>
        </p:sp>
      </p:grpSp>
      <p:sp>
        <p:nvSpPr>
          <p:cNvPr id="16" name="Title 1"/>
          <p:cNvSpPr txBox="1"/>
          <p:nvPr userDrawn="1"/>
        </p:nvSpPr>
        <p:spPr>
          <a:xfrm>
            <a:off x="474130" y="2639243"/>
            <a:ext cx="3334512" cy="108011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6000" b="1" dirty="0">
                <a:solidFill>
                  <a:schemeClr val="bg1"/>
                </a:solidFill>
                <a:latin typeface="YESHUAH" panose="020005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Objectives</a:t>
            </a:r>
            <a:endParaRPr lang="en-US" sz="3200" b="1" dirty="0">
              <a:solidFill>
                <a:schemeClr val="bg1"/>
              </a:solidFill>
              <a:latin typeface="YESHUAH" panose="020005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5908431" y="1603717"/>
            <a:ext cx="5524060" cy="31511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32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 { write your objectives}</a:t>
            </a:r>
          </a:p>
          <a:p>
            <a:pPr lvl="0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3EF92EB-1689-2416-7533-E53DBC8933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348890"/>
            <a:ext cx="2160220" cy="21602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6921" y="618977"/>
            <a:ext cx="9393848" cy="712765"/>
          </a:xfrm>
          <a:prstGeom prst="rect">
            <a:avLst/>
          </a:prstGeom>
        </p:spPr>
        <p:txBody>
          <a:bodyPr/>
          <a:lstStyle>
            <a:lvl1pPr>
              <a:defRPr lang="en-US" sz="3600" b="1" kern="1200" spc="-38" baseline="0" dirty="0">
                <a:solidFill>
                  <a:srgbClr val="002060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{ Title }</a:t>
            </a:r>
          </a:p>
        </p:txBody>
      </p:sp>
      <p:sp>
        <p:nvSpPr>
          <p:cNvPr id="6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156921" y="1603717"/>
            <a:ext cx="10275570" cy="470535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600"/>
              </a:spcAft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{write your bullet point }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 txBox="1"/>
          <p:nvPr userDrawn="1"/>
        </p:nvSpPr>
        <p:spPr>
          <a:xfrm>
            <a:off x="1325880" y="638175"/>
            <a:ext cx="9942195" cy="6667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spc="-38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sz="3200" b="1" dirty="0">
                <a:solidFill>
                  <a:srgbClr val="002060"/>
                </a:solidFill>
                <a:latin typeface="+mn-lt"/>
                <a:ea typeface="Cambria" panose="02040503050406030204" pitchFamily="18" charset="0"/>
              </a:rPr>
              <a:t>References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1325880" y="1524000"/>
            <a:ext cx="9681949" cy="3958659"/>
          </a:xfrm>
          <a:prstGeom prst="rect">
            <a:avLst/>
          </a:prstGeom>
        </p:spPr>
        <p:txBody>
          <a:bodyPr>
            <a:normAutofit/>
          </a:bodyPr>
          <a:lstStyle>
            <a:lvl1pPr marL="91440">
              <a:spcBef>
                <a:spcPts val="0"/>
              </a:spcBef>
              <a:defRPr sz="2400">
                <a:solidFill>
                  <a:srgbClr val="002060"/>
                </a:solidFill>
              </a:defRPr>
            </a:lvl1pPr>
          </a:lstStyle>
          <a:p>
            <a:pPr lvl="0"/>
            <a:r>
              <a:rPr lang="en-US" dirty="0"/>
              <a:t>{ link to reference1, example: http://app.icraftsoft.net }</a:t>
            </a:r>
          </a:p>
          <a:p>
            <a:pPr lvl="0"/>
            <a:r>
              <a:rPr lang="en-US" dirty="0"/>
              <a:t>{ link to reference1, example: http://app.icraftsoft.net }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84E36F-A443-7521-D49B-753C50A8A88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25952" y="973836"/>
            <a:ext cx="5116068" cy="51160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-8621" y="625480"/>
            <a:ext cx="1036320" cy="685800"/>
          </a:xfrm>
          <a:prstGeom prst="rect">
            <a:avLst/>
          </a:prstGeom>
          <a:solidFill>
            <a:srgbClr val="25677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>
          <a:xfrm>
            <a:off x="8610600" y="6181726"/>
            <a:ext cx="2743200" cy="5397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836B06-9FB6-4AA1-A097-666DD28834F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073852" y="205990"/>
            <a:ext cx="944645" cy="94464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b="1" kern="1200" spc="-38" baseline="0">
          <a:solidFill>
            <a:schemeClr val="tx1">
              <a:lumMod val="75000"/>
              <a:lumOff val="25000"/>
            </a:schemeClr>
          </a:solidFill>
          <a:latin typeface="+mn-lt"/>
          <a:ea typeface="+mj-ea"/>
          <a:cs typeface="+mj-cs"/>
        </a:defRPr>
      </a:lvl1pPr>
    </p:titleStyle>
    <p:bodyStyle>
      <a:lvl1pPr marL="200025" indent="-200025" algn="l" defTabSz="685800" rtl="0" eaLnBrk="1" latinLnBrk="0" hangingPunct="1">
        <a:lnSpc>
          <a:spcPct val="10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Wingdings" panose="05000000000000000000" pitchFamily="2" charset="2"/>
        <a:buChar char="§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29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45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61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770" indent="-137160" algn="l" defTabSz="685800" rtl="0" eaLnBrk="1" latinLnBrk="0" hangingPunct="1">
        <a:lnSpc>
          <a:spcPct val="10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" panose="05000000000000000000" pitchFamily="2" charset="2"/>
        <a:buChar char="§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486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4725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22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8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anose="020F0502020204030204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ECDAC-6AB4-4A7B-90D7-87428ABE7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03621"/>
            <a:ext cx="5378824" cy="1814591"/>
          </a:xfrm>
        </p:spPr>
        <p:txBody>
          <a:bodyPr>
            <a:noAutofit/>
          </a:bodyPr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Cardinality &amp;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</a:t>
            </a:r>
            <a:endParaRPr lang="en-US" sz="5400" dirty="0">
              <a:solidFill>
                <a:srgbClr val="FFC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0905C-A1AA-3986-D28A-042DCEF7892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mintesnot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CEBC9E-4311-34A9-0C78-FA3EC39303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10912" y="1523757"/>
            <a:ext cx="6934200" cy="40799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A47D76-DCDC-BA68-E61D-E120C82FC6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00758" y="3554081"/>
            <a:ext cx="2815317" cy="2815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913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DA5F557-19C5-3E57-5E7C-602DF20CA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81287" y="336797"/>
            <a:ext cx="6810713" cy="6667828"/>
          </a:xfrm>
        </p:spPr>
        <p:txBody>
          <a:bodyPr>
            <a:normAutofit/>
          </a:bodyPr>
          <a:lstStyle/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What is </a:t>
            </a:r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Unnormalized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First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Second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Third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Boyce-Codd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Fourth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Fifth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Sixth Normal Form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Cardinality</a:t>
            </a:r>
          </a:p>
          <a:p>
            <a:pPr>
              <a:buBlip>
                <a:blip r:embed="rId2"/>
              </a:buBlip>
            </a:pP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Types of Cardinality</a:t>
            </a:r>
          </a:p>
        </p:txBody>
      </p:sp>
    </p:spTree>
    <p:extLst>
      <p:ext uri="{BB962C8B-B14F-4D97-AF65-F5344CB8AC3E}">
        <p14:creationId xmlns:p14="http://schemas.microsoft.com/office/powerpoint/2010/main" val="1664880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DD8C9-B177-F4BE-07D1-B2C80A08D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CBCF4-30B8-2D7F-2EC0-1CFE34B85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715229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4E7169-E0EB-1D4E-4666-77164904D0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0" y="1643147"/>
            <a:ext cx="10794447" cy="6640241"/>
          </a:xfrm>
        </p:spPr>
        <p:txBody>
          <a:bodyPr>
            <a:normAutofit/>
          </a:bodyPr>
          <a:lstStyle/>
          <a:p>
            <a:pPr algn="just"/>
            <a:r>
              <a:rPr lang="en-US" sz="28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 </a:t>
            </a:r>
            <a:r>
              <a:rPr lang="en-US" sz="2800" dirty="0"/>
              <a:t>is the process of organizing data within a database to minimize redundancy and improve data integrity.</a:t>
            </a:r>
          </a:p>
          <a:p>
            <a:pPr algn="just"/>
            <a:r>
              <a:rPr lang="en-US" sz="2800" dirty="0"/>
              <a:t> The goal is to divide large tables into smaller related tables while maintaining relationships using primary and foreign keys.</a:t>
            </a:r>
          </a:p>
          <a:p>
            <a:pPr marL="0" indent="0">
              <a:buNone/>
            </a:pPr>
            <a:r>
              <a:rPr lang="en-US" sz="2800" b="1" dirty="0"/>
              <a:t>Normalization helps: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Eliminate duplicate data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Reduce storage requirements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Improve consistency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Simplify maintenance</a:t>
            </a:r>
          </a:p>
          <a:p>
            <a:pPr marL="0" indent="0" algn="just">
              <a:buNone/>
            </a:pPr>
            <a:endParaRPr lang="en-US" sz="2800" dirty="0"/>
          </a:p>
          <a:p>
            <a:pPr marL="0" indent="0" algn="just">
              <a:buNone/>
            </a:pPr>
            <a:endParaRPr lang="en-US" sz="2800" dirty="0"/>
          </a:p>
          <a:p>
            <a:pPr algn="just"/>
            <a:endParaRPr lang="en-US" sz="2800" dirty="0"/>
          </a:p>
          <a:p>
            <a:pPr marL="0" indent="0" algn="just">
              <a:buNone/>
            </a:pP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289504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214DD-9968-6066-CE00-83F48BA6B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1B7B4-573D-2C92-1708-98AF78937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Unnormalized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UNF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A8525-30B0-20B5-4268-F5A6F7AD2B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800" dirty="0"/>
              <a:t>An unnormalized table contains repeating groups or multiple values in a single column.</a:t>
            </a:r>
          </a:p>
          <a:p>
            <a:pPr marL="0" indent="0">
              <a:buNone/>
            </a:pPr>
            <a:r>
              <a:rPr lang="en-US" b="1" dirty="0"/>
              <a:t>Characteristics</a:t>
            </a:r>
          </a:p>
          <a:p>
            <a:r>
              <a:rPr lang="en-US" dirty="0"/>
              <a:t>Duplicate data is common. </a:t>
            </a:r>
          </a:p>
          <a:p>
            <a:r>
              <a:rPr lang="en-US" dirty="0"/>
              <a:t>Multiple values may exist in a single field. </a:t>
            </a:r>
          </a:p>
          <a:p>
            <a:r>
              <a:rPr lang="en-US" dirty="0"/>
              <a:t>Difficult to query and maintain. </a:t>
            </a:r>
          </a:p>
          <a:p>
            <a:r>
              <a:rPr lang="en-US" dirty="0"/>
              <a:t>High risk of data inconsistency.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Solution</a:t>
            </a:r>
          </a:p>
          <a:p>
            <a:r>
              <a:rPr lang="en-US" dirty="0"/>
              <a:t>Split repeating values into separate rows to achieve First Normal Form (1NF).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02555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A421B-5077-2409-9FA7-C6A75698D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First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98877-6F75-E0AF-6C18-DFC46189E3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A table is in 1NF when: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Each column contains atomic (single) values.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No repeating groups exist.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Every row is uniquely identifiable.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b="1" dirty="0"/>
              <a:t>Rules</a:t>
            </a:r>
          </a:p>
          <a:p>
            <a:pPr marL="0" indent="0">
              <a:buNone/>
            </a:pPr>
            <a:r>
              <a:rPr lang="en-US" sz="2800" dirty="0"/>
              <a:t>✓ No multiple values in a single column</a:t>
            </a:r>
          </a:p>
          <a:p>
            <a:pPr marL="0" indent="0">
              <a:buNone/>
            </a:pPr>
            <a:r>
              <a:rPr lang="en-US" sz="2800" dirty="0"/>
              <a:t>✓ No arrays or lists in a field</a:t>
            </a:r>
          </a:p>
          <a:p>
            <a:pPr marL="0" indent="0">
              <a:buNone/>
            </a:pPr>
            <a:r>
              <a:rPr lang="en-US" sz="2800" dirty="0"/>
              <a:t>✓ Unique rows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963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10593-7324-672B-6ED5-B68DBA62A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EF990-0E8F-A8BA-E6C0-BF77A3BF6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Second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F80EC9-9D97-FB13-52A9-88DA98C8634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800" dirty="0"/>
              <a:t>A table is in 2NF when: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It is already in 1NF.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All non-key attributes depend on the entire primary key. </a:t>
            </a:r>
          </a:p>
          <a:p>
            <a:pPr marL="0" indent="0">
              <a:buNone/>
            </a:pPr>
            <a:r>
              <a:rPr lang="en-US" sz="2800" b="1" dirty="0"/>
              <a:t>Purpose</a:t>
            </a:r>
          </a:p>
          <a:p>
            <a:r>
              <a:rPr lang="en-US" sz="2800" dirty="0"/>
              <a:t> Eliminates partial dependency.</a:t>
            </a:r>
          </a:p>
          <a:p>
            <a:r>
              <a:rPr lang="en-US" sz="2800" dirty="0"/>
              <a:t> Reduces duplication</a:t>
            </a:r>
          </a:p>
          <a:p>
            <a:r>
              <a:rPr lang="en-US" sz="2800" dirty="0"/>
              <a:t> Improves storage efficiency</a:t>
            </a:r>
          </a:p>
        </p:txBody>
      </p:sp>
    </p:spTree>
    <p:extLst>
      <p:ext uri="{BB962C8B-B14F-4D97-AF65-F5344CB8AC3E}">
        <p14:creationId xmlns:p14="http://schemas.microsoft.com/office/powerpoint/2010/main" val="1954426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2E475-8A63-1FE2-4A28-0A6B56BDC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415EC-F96C-A113-47EA-178B59BC4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Third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3CCA1-D0E5-7AB6-2646-8E6CBA5A5C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800" dirty="0"/>
              <a:t>A table is in 3NF when: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It is in 2NF.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No transitive dependencies exist. </a:t>
            </a:r>
          </a:p>
          <a:p>
            <a:pPr marL="0" indent="0">
              <a:buNone/>
            </a:pPr>
            <a:r>
              <a:rPr lang="en-US" sz="2800" b="1" dirty="0"/>
              <a:t>Transitive Dependency</a:t>
            </a:r>
          </a:p>
          <a:p>
            <a:r>
              <a:rPr lang="en-US" sz="2800" dirty="0"/>
              <a:t>A non-key column depends on another non-key column.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Eliminates transitive dependency </a:t>
            </a:r>
          </a:p>
          <a:p>
            <a:r>
              <a:rPr lang="en-US" sz="2800" dirty="0"/>
              <a:t>Improves consistency </a:t>
            </a:r>
          </a:p>
          <a:p>
            <a:r>
              <a:rPr lang="en-US" sz="2800" dirty="0"/>
              <a:t>Simplifies updates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85063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35127-CC87-81C9-1F40-998C3D6D6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3BBFB-80F3-ADC3-5338-11B587991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Boyce-Codd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BCNF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717D34-CDE2-E694-5F00-943CE08226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sz="2800" dirty="0"/>
              <a:t>BCNF is a stronger version of 3NF.</a:t>
            </a:r>
          </a:p>
          <a:p>
            <a:pPr marL="0" indent="0">
              <a:buNone/>
            </a:pPr>
            <a:r>
              <a:rPr lang="en-US" sz="2800" b="1" dirty="0"/>
              <a:t>Rule</a:t>
            </a:r>
          </a:p>
          <a:p>
            <a:r>
              <a:rPr lang="en-US" sz="2800" dirty="0"/>
              <a:t>For every functional dependency:</a:t>
            </a:r>
          </a:p>
          <a:p>
            <a:pPr marL="0" indent="0">
              <a:buNone/>
            </a:pPr>
            <a:r>
              <a:rPr lang="en-US" dirty="0"/>
              <a:t>X → Y</a:t>
            </a:r>
          </a:p>
          <a:p>
            <a:r>
              <a:rPr lang="en-US" sz="2800" dirty="0"/>
              <a:t>X must be a candidate key.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Removes additional redundancy </a:t>
            </a:r>
          </a:p>
          <a:p>
            <a:r>
              <a:rPr lang="en-US" sz="2800" dirty="0"/>
              <a:t>Eliminates complex anomalies </a:t>
            </a:r>
          </a:p>
          <a:p>
            <a:r>
              <a:rPr lang="en-US" sz="2800" dirty="0"/>
              <a:t>Provides stronger data integrity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250234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C4770-46E6-9F99-6D8A-28D45CFD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730AC-45E2-14A8-F712-29CCD425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Fourth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960B1-3BCE-072B-09A0-085E47A17A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/>
              <a:t>A table is in 4NF when: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It is in BCNF.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It contains no multivalued dependencies. </a:t>
            </a:r>
          </a:p>
          <a:p>
            <a:pPr marL="514350" indent="-514350">
              <a:buFont typeface="+mj-lt"/>
              <a:buAutoNum type="arabicPeriod"/>
            </a:pPr>
            <a:endParaRPr lang="en-US" sz="2800" dirty="0"/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Removes unnecessary combinations </a:t>
            </a:r>
          </a:p>
          <a:p>
            <a:r>
              <a:rPr lang="en-US" sz="2800" dirty="0"/>
              <a:t>Reduces redundancy </a:t>
            </a:r>
          </a:p>
          <a:p>
            <a:r>
              <a:rPr lang="en-US" sz="2800" dirty="0"/>
              <a:t>Improves data management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64209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0551E-9E06-691B-3206-08A2604E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2793-1ACA-895D-812E-89D4246C8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Fifth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570BE-875A-297C-A1DA-8AE2EA373E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A table is in 5NF when: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It is already in 4NF.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Join dependencies are eliminated. </a:t>
            </a:r>
          </a:p>
          <a:p>
            <a:pPr marL="0" indent="0">
              <a:buNone/>
            </a:pPr>
            <a:r>
              <a:rPr lang="en-US" sz="2800" b="1" dirty="0"/>
              <a:t>Purpose</a:t>
            </a:r>
          </a:p>
          <a:p>
            <a:r>
              <a:rPr lang="en-US" sz="2800" dirty="0"/>
              <a:t>Ensure that information cannot be decomposed further without losing data.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Eliminates join anomalies </a:t>
            </a:r>
          </a:p>
          <a:p>
            <a:r>
              <a:rPr lang="en-US" sz="2800" dirty="0"/>
              <a:t>Maximizes database consistency </a:t>
            </a:r>
          </a:p>
          <a:p>
            <a:r>
              <a:rPr lang="en-US" sz="2800" dirty="0"/>
              <a:t>Used in highly complex systems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72565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E9532-AD9D-A6A6-BBFC-C41EA89B9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09D26-9ADC-692D-2DB0-D435BFE21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Sixth Normal Form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6NF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E7FA2-29A8-8D64-0255-C3BCF44241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1" y="1546895"/>
            <a:ext cx="10275570" cy="552625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dirty="0"/>
              <a:t>6NF is an advanced normalization level mainly used in:</a:t>
            </a:r>
          </a:p>
          <a:p>
            <a:r>
              <a:rPr lang="en-US" sz="2800" dirty="0"/>
              <a:t>Temporal databases </a:t>
            </a:r>
          </a:p>
          <a:p>
            <a:r>
              <a:rPr lang="en-US" sz="2800" dirty="0"/>
              <a:t>Data warehouses </a:t>
            </a:r>
          </a:p>
          <a:p>
            <a:r>
              <a:rPr lang="en-US" sz="2800" dirty="0"/>
              <a:t>Historical tracking systems </a:t>
            </a:r>
          </a:p>
          <a:p>
            <a:pPr marL="0" indent="0">
              <a:buNone/>
            </a:pPr>
            <a:r>
              <a:rPr lang="en-US" sz="2800" b="1" dirty="0"/>
              <a:t>Characteristics</a:t>
            </a:r>
          </a:p>
          <a:p>
            <a:r>
              <a:rPr lang="en-US" sz="2800" dirty="0"/>
              <a:t>Tables contain only key and one non-key attribute. </a:t>
            </a:r>
          </a:p>
          <a:p>
            <a:r>
              <a:rPr lang="en-US" sz="2800" dirty="0"/>
              <a:t>Eliminates all remaining redundancies.</a:t>
            </a:r>
          </a:p>
          <a:p>
            <a:pPr marL="0" indent="0">
              <a:buNone/>
            </a:pPr>
            <a:r>
              <a:rPr lang="en-US" sz="2800" b="1" dirty="0"/>
              <a:t>Benefits</a:t>
            </a:r>
          </a:p>
          <a:p>
            <a:r>
              <a:rPr lang="en-US" sz="2800" dirty="0"/>
              <a:t>Excellent historical data tracking </a:t>
            </a:r>
          </a:p>
          <a:p>
            <a:r>
              <a:rPr lang="en-US" sz="2800" dirty="0"/>
              <a:t>Simplifies temporal analysis </a:t>
            </a:r>
          </a:p>
          <a:p>
            <a:r>
              <a:rPr lang="en-US" sz="2800" dirty="0"/>
              <a:t>Supports highly granular data storage</a:t>
            </a:r>
          </a:p>
          <a:p>
            <a:pPr marL="0" indent="0">
              <a:buNone/>
            </a:pPr>
            <a:r>
              <a:rPr lang="en-US" sz="2800" b="1" dirty="0"/>
              <a:t>Limitation</a:t>
            </a:r>
          </a:p>
          <a:p>
            <a:r>
              <a:rPr lang="en-US" sz="2800" dirty="0"/>
              <a:t>Creates many tables and complex joins.</a:t>
            </a:r>
          </a:p>
          <a:p>
            <a:pPr marL="0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1543462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91E5A-DF90-0282-F4C0-F5DB06F01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 Types Comparison Table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707D6A-E78A-89B6-87EF-42BC52DEE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39147"/>
              </p:ext>
            </p:extLst>
          </p:nvPr>
        </p:nvGraphicFramePr>
        <p:xfrm>
          <a:off x="1156921" y="1280160"/>
          <a:ext cx="10712350" cy="55778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32614">
                  <a:extLst>
                    <a:ext uri="{9D8B030D-6E8A-4147-A177-3AD203B41FA5}">
                      <a16:colId xmlns:a16="http://schemas.microsoft.com/office/drawing/2014/main" val="2577758380"/>
                    </a:ext>
                  </a:extLst>
                </a:gridCol>
                <a:gridCol w="2552326">
                  <a:extLst>
                    <a:ext uri="{9D8B030D-6E8A-4147-A177-3AD203B41FA5}">
                      <a16:colId xmlns:a16="http://schemas.microsoft.com/office/drawing/2014/main" val="283579263"/>
                    </a:ext>
                  </a:extLst>
                </a:gridCol>
                <a:gridCol w="2142470">
                  <a:extLst>
                    <a:ext uri="{9D8B030D-6E8A-4147-A177-3AD203B41FA5}">
                      <a16:colId xmlns:a16="http://schemas.microsoft.com/office/drawing/2014/main" val="1789283136"/>
                    </a:ext>
                  </a:extLst>
                </a:gridCol>
                <a:gridCol w="2142470">
                  <a:extLst>
                    <a:ext uri="{9D8B030D-6E8A-4147-A177-3AD203B41FA5}">
                      <a16:colId xmlns:a16="http://schemas.microsoft.com/office/drawing/2014/main" val="3976187199"/>
                    </a:ext>
                  </a:extLst>
                </a:gridCol>
                <a:gridCol w="2142470">
                  <a:extLst>
                    <a:ext uri="{9D8B030D-6E8A-4147-A177-3AD203B41FA5}">
                      <a16:colId xmlns:a16="http://schemas.microsoft.com/office/drawing/2014/main" val="2855848740"/>
                    </a:ext>
                  </a:extLst>
                </a:gridCol>
              </a:tblGrid>
              <a:tr h="341658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Full Name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Main Object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Rule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Removes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5185979"/>
                  </a:ext>
                </a:extLst>
              </a:tr>
              <a:tr h="93956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UNF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Unnormalized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Raw data storage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Data may contain repeating groups and multiple values in a column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None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536997"/>
                  </a:ext>
                </a:extLst>
              </a:tr>
              <a:tr h="726024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First 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Create atomic values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Each column contains a single value; no repeating groups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Repeating groups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140733"/>
                  </a:ext>
                </a:extLst>
              </a:tr>
              <a:tr h="726024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Second 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Remove partial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Must be in 1NF; all non-key attributes depend on the entire primary key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Partial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8942483"/>
                  </a:ext>
                </a:extLst>
              </a:tr>
              <a:tr h="726024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Third 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Remove transitive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Must in 2NF; non-key attributes depend only on the primary key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Transitive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0458354"/>
                  </a:ext>
                </a:extLst>
              </a:tr>
              <a:tr h="512487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BCNF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Boyce-Codd Norm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Stronger version of 3NF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Every determinant must be a candidate key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Remaining dependency anomalies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7354994"/>
                  </a:ext>
                </a:extLst>
              </a:tr>
              <a:tr h="726024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4NF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Fourth 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Remove multivalued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Must be in BCNF; no independent multivalued attributes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Multivalued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656118"/>
                  </a:ext>
                </a:extLst>
              </a:tr>
              <a:tr h="512487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5NF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Fifth Normal Form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Remove join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Must be in 4NF; avoid redundant joins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Join dependencies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7657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2532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C794A-F72F-8D9B-A1A5-E9C4CF48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Normalization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D0C8-4B15-4942-1980-08D6ADC25E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06781" y="618977"/>
            <a:ext cx="3685219" cy="639142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/>
              <a:t>UNNORMALIZED DATA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1NF</a:t>
            </a:r>
          </a:p>
          <a:p>
            <a:pPr marL="0" indent="0">
              <a:buNone/>
            </a:pPr>
            <a:r>
              <a:rPr lang="en-US" sz="2000" b="1" dirty="0"/>
              <a:t>(Remove repeating groups)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2NF</a:t>
            </a:r>
          </a:p>
          <a:p>
            <a:pPr marL="0" indent="0">
              <a:buNone/>
            </a:pPr>
            <a:r>
              <a:rPr lang="en-US" sz="2000" b="1" dirty="0"/>
              <a:t>(Remove partial dependencies)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3NF</a:t>
            </a:r>
          </a:p>
          <a:p>
            <a:pPr marL="0" indent="0">
              <a:buNone/>
            </a:pPr>
            <a:r>
              <a:rPr lang="en-US" sz="2000" b="1" dirty="0"/>
              <a:t>(Remove transitive dependencies)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BCNF</a:t>
            </a:r>
          </a:p>
          <a:p>
            <a:pPr marL="0" indent="0">
              <a:buNone/>
            </a:pPr>
            <a:r>
              <a:rPr lang="en-US" sz="2000" b="1" dirty="0"/>
              <a:t>(Stronger dependency rules)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4NF</a:t>
            </a:r>
          </a:p>
          <a:p>
            <a:pPr marL="0" indent="0">
              <a:buNone/>
            </a:pPr>
            <a:r>
              <a:rPr lang="en-US" sz="2000" b="1" dirty="0"/>
              <a:t>(Remove multivalued dependencies)</a:t>
            </a:r>
          </a:p>
          <a:p>
            <a:pPr marL="0" indent="0">
              <a:buNone/>
            </a:pPr>
            <a:r>
              <a:rPr lang="en-US" sz="2000" b="1" dirty="0"/>
              <a:t>        ↓</a:t>
            </a:r>
          </a:p>
          <a:p>
            <a:pPr marL="0" indent="0">
              <a:buNone/>
            </a:pPr>
            <a:r>
              <a:rPr lang="en-US" sz="2000" b="1" dirty="0"/>
              <a:t>      5NF</a:t>
            </a:r>
          </a:p>
          <a:p>
            <a:pPr marL="0" indent="0">
              <a:buNone/>
            </a:pPr>
            <a:r>
              <a:rPr lang="en-US" sz="2000" b="1" dirty="0"/>
              <a:t>(Remove join dependencies)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9DA8EE-DBB3-FDFB-4E20-94F648D3C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94" y="1331742"/>
            <a:ext cx="8289387" cy="5526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788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BD342-6325-E3A5-5C29-614B13F23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When to </a:t>
            </a:r>
            <a:r>
              <a:rPr lang="en-US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Denormalize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E1733E-701B-41DA-C18D-882FDF37D8D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Denormalization</a:t>
            </a:r>
          </a:p>
          <a:p>
            <a:r>
              <a:rPr lang="en-US" dirty="0"/>
              <a:t>Sometimes databases intentionally violate normalization rules to improve performance.</a:t>
            </a:r>
          </a:p>
          <a:p>
            <a:pPr marL="0" indent="0">
              <a:buNone/>
            </a:pPr>
            <a:r>
              <a:rPr lang="en-US" b="1" dirty="0"/>
              <a:t>Common Scenarios</a:t>
            </a:r>
          </a:p>
          <a:p>
            <a:r>
              <a:rPr lang="en-US" dirty="0"/>
              <a:t>Data Warehousing </a:t>
            </a:r>
          </a:p>
          <a:p>
            <a:r>
              <a:rPr lang="en-US" dirty="0"/>
              <a:t>Reporting Systems </a:t>
            </a:r>
          </a:p>
          <a:p>
            <a:r>
              <a:rPr lang="en-US" dirty="0"/>
              <a:t>Business Intelligence </a:t>
            </a:r>
          </a:p>
          <a:p>
            <a:r>
              <a:rPr lang="en-US" dirty="0"/>
              <a:t>Analytics Dashboards </a:t>
            </a:r>
          </a:p>
          <a:p>
            <a:r>
              <a:rPr lang="en-US" dirty="0"/>
              <a:t>High-Speed Read Operations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918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6307A-BE45-E202-E100-B686670BD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Trade-Off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37FF28-899A-9ED1-B2AF-93B81AE697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038871"/>
              </p:ext>
            </p:extLst>
          </p:nvPr>
        </p:nvGraphicFramePr>
        <p:xfrm>
          <a:off x="1156921" y="1705783"/>
          <a:ext cx="10282044" cy="30275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141022">
                  <a:extLst>
                    <a:ext uri="{9D8B030D-6E8A-4147-A177-3AD203B41FA5}">
                      <a16:colId xmlns:a16="http://schemas.microsoft.com/office/drawing/2014/main" val="2735962607"/>
                    </a:ext>
                  </a:extLst>
                </a:gridCol>
                <a:gridCol w="5141022">
                  <a:extLst>
                    <a:ext uri="{9D8B030D-6E8A-4147-A177-3AD203B41FA5}">
                      <a16:colId xmlns:a16="http://schemas.microsoft.com/office/drawing/2014/main" val="1339170062"/>
                    </a:ext>
                  </a:extLst>
                </a:gridCol>
              </a:tblGrid>
              <a:tr h="605516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Normalization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Denormalization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3036807"/>
                  </a:ext>
                </a:extLst>
              </a:tr>
              <a:tr h="605516">
                <a:tc>
                  <a:txBody>
                    <a:bodyPr/>
                    <a:lstStyle/>
                    <a:p>
                      <a:r>
                        <a:rPr lang="en-US" sz="2400" dirty="0"/>
                        <a:t>Less redundancy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More redundancy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60992"/>
                  </a:ext>
                </a:extLst>
              </a:tr>
              <a:tr h="605516">
                <a:tc>
                  <a:txBody>
                    <a:bodyPr/>
                    <a:lstStyle/>
                    <a:p>
                      <a:r>
                        <a:rPr lang="en-US" sz="2400" dirty="0"/>
                        <a:t>Better integrity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Faster reads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615546"/>
                  </a:ext>
                </a:extLst>
              </a:tr>
              <a:tr h="605516">
                <a:tc>
                  <a:txBody>
                    <a:bodyPr/>
                    <a:lstStyle/>
                    <a:p>
                      <a:r>
                        <a:rPr lang="en-US" sz="2400" dirty="0"/>
                        <a:t>More joins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Fewer joins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938067"/>
                  </a:ext>
                </a:extLst>
              </a:tr>
              <a:tr h="605516">
                <a:tc>
                  <a:txBody>
                    <a:bodyPr/>
                    <a:lstStyle/>
                    <a:p>
                      <a:r>
                        <a:rPr lang="en-US" sz="2400" dirty="0"/>
                        <a:t>Easier maintenance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Better reporting performance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6069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E695D65-0D8F-FBC9-592D-62AA65AF8A0A}"/>
              </a:ext>
            </a:extLst>
          </p:cNvPr>
          <p:cNvSpPr txBox="1"/>
          <p:nvPr/>
        </p:nvSpPr>
        <p:spPr>
          <a:xfrm>
            <a:off x="932330" y="4918065"/>
            <a:ext cx="1084729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sz="2400" b="1" dirty="0"/>
              <a:t>Conclusion</a:t>
            </a:r>
          </a:p>
          <a:p>
            <a:pPr algn="just">
              <a:buNone/>
            </a:pPr>
            <a:r>
              <a:rPr lang="en-US" sz="2400" dirty="0"/>
              <a:t>Normalization is essential for designing efficient, consistent, and maintainable relational databases. Most OLTP systems are designed up to </a:t>
            </a:r>
            <a:r>
              <a:rPr lang="en-US" sz="2400" b="1" dirty="0"/>
              <a:t>3NF or BCNF</a:t>
            </a:r>
            <a:r>
              <a:rPr lang="en-US" sz="2400" dirty="0"/>
              <a:t>, while higher normal forms are used for specialized database applications.</a:t>
            </a:r>
          </a:p>
        </p:txBody>
      </p:sp>
    </p:spTree>
    <p:extLst>
      <p:ext uri="{BB962C8B-B14F-4D97-AF65-F5344CB8AC3E}">
        <p14:creationId xmlns:p14="http://schemas.microsoft.com/office/powerpoint/2010/main" val="62112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9F17C-4686-579A-ADCE-818576D43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920" y="715229"/>
            <a:ext cx="9393848" cy="712765"/>
          </a:xfrm>
        </p:spPr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What is 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Cardinality</a:t>
            </a:r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DD0B1B-B130-8E70-136A-D0F6E5E125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56920" y="1643147"/>
            <a:ext cx="10794447" cy="5602941"/>
          </a:xfrm>
        </p:spPr>
        <p:txBody>
          <a:bodyPr>
            <a:normAutofit/>
          </a:bodyPr>
          <a:lstStyle/>
          <a:p>
            <a:pPr algn="just"/>
            <a:r>
              <a:rPr lang="en-US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Cardinality </a:t>
            </a:r>
            <a:r>
              <a:rPr lang="en-US" dirty="0"/>
              <a:t>defines the relationship between tables in a relational database.</a:t>
            </a:r>
          </a:p>
          <a:p>
            <a:pPr algn="just"/>
            <a:r>
              <a:rPr lang="en-US" dirty="0"/>
              <a:t>It specifies how many instances of one entity can be associated with instances of another entity.</a:t>
            </a:r>
          </a:p>
          <a:p>
            <a:pPr algn="just"/>
            <a:r>
              <a:rPr lang="en-US" dirty="0"/>
              <a:t> It helps determine how tables should be structured and connected using primary and foreign keys.</a:t>
            </a:r>
          </a:p>
          <a:p>
            <a:pPr marL="0" indent="0">
              <a:buNone/>
            </a:pPr>
            <a:r>
              <a:rPr lang="en-US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Proper cardinality ensures:</a:t>
            </a:r>
          </a:p>
          <a:p>
            <a:pPr>
              <a:buBlip>
                <a:blip r:embed="rId2"/>
              </a:buBlip>
            </a:pPr>
            <a:r>
              <a:rPr lang="en-US" dirty="0"/>
              <a:t> Data consistency </a:t>
            </a:r>
          </a:p>
          <a:p>
            <a:pPr>
              <a:buBlip>
                <a:blip r:embed="rId2"/>
              </a:buBlip>
            </a:pPr>
            <a:r>
              <a:rPr lang="en-US" dirty="0"/>
              <a:t> Efficient querying </a:t>
            </a:r>
          </a:p>
          <a:p>
            <a:pPr>
              <a:buBlip>
                <a:blip r:embed="rId2"/>
              </a:buBlip>
            </a:pPr>
            <a:r>
              <a:rPr lang="en-US" dirty="0"/>
              <a:t> Reduced redundancy </a:t>
            </a:r>
          </a:p>
          <a:p>
            <a:pPr>
              <a:buBlip>
                <a:blip r:embed="rId2"/>
              </a:buBlip>
            </a:pPr>
            <a:r>
              <a:rPr lang="en-US" dirty="0"/>
              <a:t> Accurate representation of real-world business rules</a:t>
            </a:r>
          </a:p>
          <a:p>
            <a:pPr marL="0" indent="0" algn="just">
              <a:buNone/>
            </a:pPr>
            <a:endParaRPr lang="en-US" dirty="0"/>
          </a:p>
          <a:p>
            <a:pPr algn="just"/>
            <a:endParaRPr lang="en-US" dirty="0"/>
          </a:p>
          <a:p>
            <a:pPr marL="0" indent="0" algn="just">
              <a:buNone/>
            </a:pPr>
            <a:r>
              <a:rPr lang="en-US" sz="1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7428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8CDA-8A57-31EF-89D5-687E816E8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Why Cardinality is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04DEB-ACB2-1CCA-E595-009379CBE3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/>
              <a:t>Cardinality helps database designers: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Define relationships between entities.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Determine where foreign keys should be placed.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Prevent duplicate or inconsistent data.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Improve database integrity. </a:t>
            </a:r>
          </a:p>
          <a:p>
            <a:pPr>
              <a:buBlip>
                <a:blip r:embed="rId2"/>
              </a:buBlip>
            </a:pPr>
            <a:r>
              <a:rPr lang="en-US" sz="2800" dirty="0"/>
              <a:t> Create efficient and scalable database structures. </a:t>
            </a:r>
          </a:p>
          <a:p>
            <a:r>
              <a:rPr lang="en-US" sz="2800" dirty="0"/>
              <a:t> Without proper cardinality, databases may contain redundant data, inconsistent records, and complex queries.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63250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87C59-076E-D840-5CB8-F9A13902E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Cardinality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FB2E60-E783-37D6-9AB5-D0399C17B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871824"/>
              </p:ext>
            </p:extLst>
          </p:nvPr>
        </p:nvGraphicFramePr>
        <p:xfrm>
          <a:off x="577516" y="1842613"/>
          <a:ext cx="11112459" cy="477333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3704153">
                  <a:extLst>
                    <a:ext uri="{9D8B030D-6E8A-4147-A177-3AD203B41FA5}">
                      <a16:colId xmlns:a16="http://schemas.microsoft.com/office/drawing/2014/main" val="2154514332"/>
                    </a:ext>
                  </a:extLst>
                </a:gridCol>
                <a:gridCol w="3704153">
                  <a:extLst>
                    <a:ext uri="{9D8B030D-6E8A-4147-A177-3AD203B41FA5}">
                      <a16:colId xmlns:a16="http://schemas.microsoft.com/office/drawing/2014/main" val="1168874537"/>
                    </a:ext>
                  </a:extLst>
                </a:gridCol>
                <a:gridCol w="3704153">
                  <a:extLst>
                    <a:ext uri="{9D8B030D-6E8A-4147-A177-3AD203B41FA5}">
                      <a16:colId xmlns:a16="http://schemas.microsoft.com/office/drawing/2014/main" val="3944158157"/>
                    </a:ext>
                  </a:extLst>
                </a:gridCol>
              </a:tblGrid>
              <a:tr h="72945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Cardinality Type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Description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rgbClr val="FFC000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Example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2735024"/>
                  </a:ext>
                </a:extLst>
              </a:tr>
              <a:tr h="989254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One-to-One (1:1)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Each row in Table A matches one row in Table B.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One employee record linked to one employee profile.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016145"/>
                  </a:ext>
                </a:extLst>
              </a:tr>
              <a:tr h="989254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One-to-Many (1:N)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One row in Table A can match multiple rows in Table B.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One customer placing multiple orders.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673593"/>
                  </a:ext>
                </a:extLst>
              </a:tr>
              <a:tr h="989254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Many-to-One (N:1)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Multiple rows in Table A match one row in Table B.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Many transactions linked to one branch.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32053"/>
                  </a:ext>
                </a:extLst>
              </a:tr>
              <a:tr h="1076127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Many-to-Many (M:N)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Multiple rows in both tables can match multiple rows in the other.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Products sold in multiple stores with varying suppliers.</a:t>
                      </a:r>
                      <a:endParaRPr lang="en-US" sz="2000" dirty="0">
                        <a:latin typeface="ADLaM Display" panose="02010000000000000000" pitchFamily="2" charset="0"/>
                        <a:ea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61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32286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F8C3-EC87-DD3A-3D2F-79818116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62D85-D9A7-5BAB-62E2-AAE231D3B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 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One-to-One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1:1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Relationship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91B17D-6999-F2D9-4C76-9F74C45FE2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04546" y="1163300"/>
            <a:ext cx="6096000" cy="56947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0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One-to-One (1:1)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Definition</a:t>
            </a:r>
            <a:r>
              <a:rPr lang="en-US" sz="3000" dirty="0"/>
              <a:t>: A single record in Table A is related to a single record in Table B.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Example</a:t>
            </a:r>
            <a:r>
              <a:rPr lang="en-US" sz="3000" dirty="0"/>
              <a:t>: Each employee in an organization has on designated parking sport.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Representation</a:t>
            </a:r>
            <a:r>
              <a:rPr lang="en-US" sz="3000" dirty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A</a:t>
            </a:r>
            <a:r>
              <a:rPr lang="en-US" sz="3000" dirty="0"/>
              <a:t>: Employees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B</a:t>
            </a:r>
            <a:r>
              <a:rPr lang="en-US" sz="3000" dirty="0"/>
              <a:t>: Parking Spots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8981F0-49EC-646D-B000-5F42BF3F9AD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043" y="1748590"/>
            <a:ext cx="6352674" cy="423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403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1CE80-6687-DE4D-EE40-01F8159DA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85D4E-2D2E-8676-3B7A-C1798C06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 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One-to-Many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1:N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Relationship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85830-4C29-4D71-E880-995346D51A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9769" y="1211674"/>
            <a:ext cx="5422231" cy="56947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US" sz="30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One-to-Many (1:N)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Definition</a:t>
            </a:r>
            <a:r>
              <a:rPr lang="en-US" sz="3000" dirty="0"/>
              <a:t>: A single record in Table A can be associated with multiple records in Table B, but each record in Table B is linked to only one record in Table A.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Example</a:t>
            </a:r>
            <a:r>
              <a:rPr lang="en-US" sz="3000" dirty="0"/>
              <a:t>: A customer can place multiple order, but each order is linked to only one customer.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Representation</a:t>
            </a:r>
            <a:r>
              <a:rPr lang="en-US" sz="3000" dirty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A</a:t>
            </a:r>
            <a:r>
              <a:rPr lang="en-US" sz="3000" dirty="0"/>
              <a:t>: Customers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B</a:t>
            </a:r>
            <a:r>
              <a:rPr lang="en-US" sz="3000" dirty="0"/>
              <a:t>: Orders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8201C9-B7F1-D666-3736-C7F6E7EBD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506" y="1778841"/>
            <a:ext cx="6577264" cy="438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17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7EC14-494F-BCE2-BC87-4506888C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5D618-6723-2336-A4A9-9518B442E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 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Many-to-One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N:1)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Relationship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15463-82FE-609C-11B8-278BDF39C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9769" y="1163300"/>
            <a:ext cx="5422231" cy="5694700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en-US" sz="30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Many-to-One (N:1)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Definition</a:t>
            </a:r>
            <a:r>
              <a:rPr lang="en-US" sz="3000" dirty="0"/>
              <a:t>: This is essentially the inverse of a one-to-many relationship, where multiple records in Table B can relate to a single record in Table A.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Example</a:t>
            </a:r>
            <a:r>
              <a:rPr lang="en-US" sz="3000" dirty="0"/>
              <a:t>: Multiple employees belong to one department.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Representation</a:t>
            </a:r>
            <a:r>
              <a:rPr lang="en-US" sz="3000" dirty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A</a:t>
            </a:r>
            <a:r>
              <a:rPr lang="en-US" sz="3000" dirty="0"/>
              <a:t>: Departments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B</a:t>
            </a:r>
            <a:r>
              <a:rPr lang="en-US" sz="3000" dirty="0"/>
              <a:t>: Employees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3C88BC-3109-967D-7B8C-9A42CB1EC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3" y="1989344"/>
            <a:ext cx="6737686" cy="4491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016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19400-AE76-3D48-6B37-A59432A17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C9878-6173-B72E-8322-17317756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 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Many-to-Many (</a:t>
            </a:r>
            <a:r>
              <a:rPr lang="en-US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M:N</a:t>
            </a:r>
            <a:r>
              <a:rPr lang="en-US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Relationship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564FBD-69FE-FE86-1C1D-E6DBC7FD3D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1163300"/>
            <a:ext cx="6096000" cy="5694700"/>
          </a:xfrm>
        </p:spPr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sz="3000" b="1" dirty="0">
                <a:solidFill>
                  <a:srgbClr val="FFC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Many-to-One (M:N)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Definition</a:t>
            </a:r>
            <a:r>
              <a:rPr lang="en-US" sz="3000" dirty="0"/>
              <a:t>: Records in Table A can relate to multiple records in Table B, and records Table B can relate to multiple records in Table A. This relationship often requires a junction table to manage the associations.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Example</a:t>
            </a:r>
            <a:r>
              <a:rPr lang="en-US" sz="3000" dirty="0"/>
              <a:t>: Students and courses; a student can enroll in multiple courses; each course can have multiple students.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3000" dirty="0"/>
              <a:t> </a:t>
            </a:r>
            <a:r>
              <a:rPr lang="en-US" sz="3000" b="1" dirty="0"/>
              <a:t>Representation</a:t>
            </a:r>
            <a:r>
              <a:rPr lang="en-US" sz="3000" dirty="0"/>
              <a:t>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A</a:t>
            </a:r>
            <a:r>
              <a:rPr lang="en-US" sz="3000" dirty="0"/>
              <a:t>: Departments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3000" dirty="0"/>
              <a:t> </a:t>
            </a:r>
            <a:r>
              <a:rPr lang="en-US" sz="3000" b="1" dirty="0"/>
              <a:t>Table B</a:t>
            </a:r>
            <a:r>
              <a:rPr lang="en-US" sz="3000" dirty="0"/>
              <a:t>: Employees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C4E43-53D4-9111-DB3F-EEC0AA7AD6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13" y="1876065"/>
            <a:ext cx="6095999" cy="4063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6062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2664</TotalTime>
  <Words>1315</Words>
  <Application>Microsoft Office PowerPoint</Application>
  <PresentationFormat>Widescreen</PresentationFormat>
  <Paragraphs>253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ADLaM Display</vt:lpstr>
      <vt:lpstr>Calibri</vt:lpstr>
      <vt:lpstr>Courier New</vt:lpstr>
      <vt:lpstr>Wingdings</vt:lpstr>
      <vt:lpstr>YESHUAH</vt:lpstr>
      <vt:lpstr>RetrospectVTI</vt:lpstr>
      <vt:lpstr>Cardinality &amp; Normalization</vt:lpstr>
      <vt:lpstr>PowerPoint Presentation</vt:lpstr>
      <vt:lpstr>What is Normalization?</vt:lpstr>
      <vt:lpstr>Unnormalized Form (UNF)</vt:lpstr>
      <vt:lpstr>First Normal Form (1NF)</vt:lpstr>
      <vt:lpstr>Second Normal Form (2NF)</vt:lpstr>
      <vt:lpstr>Third Normal Form (3NF)</vt:lpstr>
      <vt:lpstr>Boyce-Codd Normal Form (BCNF)</vt:lpstr>
      <vt:lpstr>Fourth Normal Form (4NF)</vt:lpstr>
      <vt:lpstr>Fifth Normal Form (5NF)</vt:lpstr>
      <vt:lpstr>Sixth Normal Form (6NF)</vt:lpstr>
      <vt:lpstr>Normalization Types Comparison Table</vt:lpstr>
      <vt:lpstr>Normalization Flow</vt:lpstr>
      <vt:lpstr>When to Denormalize?</vt:lpstr>
      <vt:lpstr>Trade-Off</vt:lpstr>
      <vt:lpstr>What is Cardinality?</vt:lpstr>
      <vt:lpstr>Why Cardinality is important?</vt:lpstr>
      <vt:lpstr>Cardinality Types</vt:lpstr>
      <vt:lpstr>… One-to-One (1:1) Relationship</vt:lpstr>
      <vt:lpstr>… One-to-Many (1:N) Relationship</vt:lpstr>
      <vt:lpstr>… Many-to-One (N:1) Relationship</vt:lpstr>
      <vt:lpstr>… Many-to-Many (M:N) Relationship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Mintesnot Iwunete</cp:lastModifiedBy>
  <cp:revision>325</cp:revision>
  <dcterms:created xsi:type="dcterms:W3CDTF">2020-02-06T00:04:00Z</dcterms:created>
  <dcterms:modified xsi:type="dcterms:W3CDTF">2026-06-20T20:39:25Z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1033-11.2.0.9937</vt:lpwstr>
  </property>
</Properties>
</file>