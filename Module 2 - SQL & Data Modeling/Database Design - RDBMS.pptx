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handoutMasterIdLst>
    <p:handoutMasterId r:id="rId31"/>
  </p:handoutMasterIdLst>
  <p:sldIdLst>
    <p:sldId id="411" r:id="rId2"/>
    <p:sldId id="410" r:id="rId3"/>
    <p:sldId id="394" r:id="rId4"/>
    <p:sldId id="414" r:id="rId5"/>
    <p:sldId id="413" r:id="rId6"/>
    <p:sldId id="412" r:id="rId7"/>
    <p:sldId id="416" r:id="rId8"/>
    <p:sldId id="415" r:id="rId9"/>
    <p:sldId id="417" r:id="rId10"/>
    <p:sldId id="418" r:id="rId11"/>
    <p:sldId id="426" r:id="rId12"/>
    <p:sldId id="427" r:id="rId13"/>
    <p:sldId id="428" r:id="rId14"/>
    <p:sldId id="429" r:id="rId15"/>
    <p:sldId id="430" r:id="rId16"/>
    <p:sldId id="431" r:id="rId17"/>
    <p:sldId id="420" r:id="rId18"/>
    <p:sldId id="421" r:id="rId19"/>
    <p:sldId id="422" r:id="rId20"/>
    <p:sldId id="423" r:id="rId21"/>
    <p:sldId id="424" r:id="rId22"/>
    <p:sldId id="419" r:id="rId23"/>
    <p:sldId id="425" r:id="rId24"/>
    <p:sldId id="435" r:id="rId25"/>
    <p:sldId id="432" r:id="rId26"/>
    <p:sldId id="433" r:id="rId27"/>
    <p:sldId id="434" r:id="rId28"/>
    <p:sldId id="260"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BE2F5"/>
    <a:srgbClr val="E7F7FE"/>
    <a:srgbClr val="0072C6"/>
    <a:srgbClr val="00A4EF"/>
    <a:srgbClr val="3333FF"/>
    <a:srgbClr val="FFDF00"/>
    <a:srgbClr val="75CDEA"/>
    <a:srgbClr val="002060"/>
    <a:srgbClr val="5A56A1"/>
    <a:srgbClr val="5656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36F72C-57AD-4C0C-B413-44A67FA7CD9B}" v="95" dt="2024-03-18T15:51:55.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579" autoAdjust="0"/>
    <p:restoredTop sz="94639" autoAdjust="0"/>
  </p:normalViewPr>
  <p:slideViewPr>
    <p:cSldViewPr snapToGrid="0">
      <p:cViewPr varScale="1">
        <p:scale>
          <a:sx n="36" d="100"/>
          <a:sy n="36" d="100"/>
        </p:scale>
        <p:origin x="80" y="632"/>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51" d="100"/>
          <a:sy n="51" d="100"/>
        </p:scale>
        <p:origin x="269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8E1AF-6343-46AA-8AEF-4C12F4118850}" type="datetimeFigureOut">
              <a:rPr lang="en-US" smtClean="0"/>
              <a:t>6/21/2026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2858E0-3D38-47B7-97D4-4FE08D90D359}"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9D2517-63AA-420A-887D-BE60360A8F4D}" type="datetimeFigureOut">
              <a:rPr lang="en-US" noProof="0" smtClean="0"/>
              <a:t>6/21/2026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CAD9-32EE-4091-BDA5-6BD15ACC5E58}"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4_Content with Captio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CC495-5FEF-4C9C-502D-7281AA9BC4CE}"/>
              </a:ext>
            </a:extLst>
          </p:cNvPr>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Title 1"/>
          <p:cNvSpPr txBox="1"/>
          <p:nvPr userDrawn="1"/>
        </p:nvSpPr>
        <p:spPr>
          <a:xfrm>
            <a:off x="-1707114" y="2422578"/>
            <a:ext cx="6145764" cy="1109758"/>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endParaRPr lang="en-US" sz="2400" dirty="0"/>
          </a:p>
        </p:txBody>
      </p:sp>
      <p:sp>
        <p:nvSpPr>
          <p:cNvPr id="18" name="Title 1"/>
          <p:cNvSpPr>
            <a:spLocks noGrp="1"/>
          </p:cNvSpPr>
          <p:nvPr>
            <p:ph type="title" hasCustomPrompt="1"/>
          </p:nvPr>
        </p:nvSpPr>
        <p:spPr>
          <a:xfrm>
            <a:off x="509750" y="2338493"/>
            <a:ext cx="3531146" cy="1450757"/>
          </a:xfrm>
          <a:prstGeom prst="rect">
            <a:avLst/>
          </a:prstGeom>
        </p:spPr>
        <p:txBody>
          <a:bodyPr>
            <a:normAutofit/>
          </a:bodyPr>
          <a:lstStyle>
            <a:lvl1pPr>
              <a:defRPr sz="4400" b="1" baseline="0">
                <a:solidFill>
                  <a:schemeClr val="bg1"/>
                </a:solidFill>
                <a:latin typeface="YESHUAH" panose="02000500000000000000" pitchFamily="2" charset="0"/>
              </a:defRPr>
            </a:lvl1pPr>
          </a:lstStyle>
          <a:p>
            <a:r>
              <a:rPr lang="en-US" dirty="0"/>
              <a:t>{ subject }</a:t>
            </a:r>
          </a:p>
        </p:txBody>
      </p:sp>
      <p:sp>
        <p:nvSpPr>
          <p:cNvPr id="19" name="Content Placeholder 8"/>
          <p:cNvSpPr>
            <a:spLocks noGrp="1"/>
          </p:cNvSpPr>
          <p:nvPr>
            <p:ph sz="quarter" idx="13" hasCustomPrompt="1"/>
          </p:nvPr>
        </p:nvSpPr>
        <p:spPr>
          <a:xfrm>
            <a:off x="7647842" y="6136265"/>
            <a:ext cx="4090199" cy="453130"/>
          </a:xfrm>
          <a:prstGeom prst="rect">
            <a:avLst/>
          </a:prstGeom>
        </p:spPr>
        <p:txBody>
          <a:bodyPr>
            <a:normAutofit/>
          </a:bodyPr>
          <a:lstStyle>
            <a:lvl1pPr marL="0" indent="0" algn="r">
              <a:buNone/>
              <a:defRPr sz="2400" baseline="0">
                <a:solidFill>
                  <a:srgbClr val="25677D"/>
                </a:solidFill>
                <a:latin typeface="YESHUAH" panose="02000500000000000000" pitchFamily="2" charset="0"/>
              </a:defRPr>
            </a:lvl1pPr>
          </a:lstStyle>
          <a:p>
            <a:pPr lvl="0"/>
            <a:r>
              <a:rPr lang="en-US" dirty="0"/>
              <a:t> { write presenter name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Content with Caption">
    <p:spTree>
      <p:nvGrpSpPr>
        <p:cNvPr id="1" name=""/>
        <p:cNvGrpSpPr/>
        <p:nvPr/>
      </p:nvGrpSpPr>
      <p:grpSpPr>
        <a:xfrm>
          <a:off x="0" y="0"/>
          <a:ext cx="0" cy="0"/>
          <a:chOff x="0" y="0"/>
          <a:chExt cx="0" cy="0"/>
        </a:xfrm>
      </p:grpSpPr>
      <p:sp>
        <p:nvSpPr>
          <p:cNvPr id="23" name="Rectangle 22"/>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9" name="Group 18" descr="Info"/>
          <p:cNvGrpSpPr/>
          <p:nvPr userDrawn="1"/>
        </p:nvGrpSpPr>
        <p:grpSpPr>
          <a:xfrm>
            <a:off x="4642801" y="3133724"/>
            <a:ext cx="567374" cy="550865"/>
            <a:chOff x="4914764" y="3319462"/>
            <a:chExt cx="619125" cy="619125"/>
          </a:xfrm>
          <a:solidFill>
            <a:schemeClr val="bg1"/>
          </a:solidFill>
        </p:grpSpPr>
        <p:sp>
          <p:nvSpPr>
            <p:cNvPr id="20" name="Freeform: Shape 19"/>
            <p:cNvSpPr/>
            <p:nvPr/>
          </p:nvSpPr>
          <p:spPr>
            <a:xfrm>
              <a:off x="4914764" y="3319462"/>
              <a:ext cx="619125" cy="619125"/>
            </a:xfrm>
            <a:custGeom>
              <a:avLst/>
              <a:gdLst>
                <a:gd name="connsiteX0" fmla="*/ 309563 w 619125"/>
                <a:gd name="connsiteY0" fmla="*/ 0 h 619125"/>
                <a:gd name="connsiteX1" fmla="*/ 0 w 619125"/>
                <a:gd name="connsiteY1" fmla="*/ 309563 h 619125"/>
                <a:gd name="connsiteX2" fmla="*/ 309563 w 619125"/>
                <a:gd name="connsiteY2" fmla="*/ 619125 h 619125"/>
                <a:gd name="connsiteX3" fmla="*/ 619125 w 619125"/>
                <a:gd name="connsiteY3" fmla="*/ 309563 h 619125"/>
                <a:gd name="connsiteX4" fmla="*/ 309563 w 619125"/>
                <a:gd name="connsiteY4" fmla="*/ 0 h 619125"/>
                <a:gd name="connsiteX5" fmla="*/ 309563 w 619125"/>
                <a:gd name="connsiteY5" fmla="*/ 581025 h 619125"/>
                <a:gd name="connsiteX6" fmla="*/ 38100 w 619125"/>
                <a:gd name="connsiteY6" fmla="*/ 309563 h 619125"/>
                <a:gd name="connsiteX7" fmla="*/ 309563 w 619125"/>
                <a:gd name="connsiteY7" fmla="*/ 38100 h 619125"/>
                <a:gd name="connsiteX8" fmla="*/ 581025 w 619125"/>
                <a:gd name="connsiteY8" fmla="*/ 309563 h 619125"/>
                <a:gd name="connsiteX9" fmla="*/ 309563 w 619125"/>
                <a:gd name="connsiteY9" fmla="*/ 581025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125" h="619125">
                  <a:moveTo>
                    <a:pt x="309563" y="0"/>
                  </a:moveTo>
                  <a:cubicBezTo>
                    <a:pt x="138875" y="0"/>
                    <a:pt x="0" y="138865"/>
                    <a:pt x="0" y="309563"/>
                  </a:cubicBezTo>
                  <a:cubicBezTo>
                    <a:pt x="0" y="480260"/>
                    <a:pt x="138875" y="619125"/>
                    <a:pt x="309563" y="619125"/>
                  </a:cubicBezTo>
                  <a:cubicBezTo>
                    <a:pt x="480250" y="619125"/>
                    <a:pt x="619125" y="480260"/>
                    <a:pt x="619125" y="309563"/>
                  </a:cubicBezTo>
                  <a:cubicBezTo>
                    <a:pt x="619125" y="138865"/>
                    <a:pt x="480250" y="0"/>
                    <a:pt x="309563" y="0"/>
                  </a:cubicBezTo>
                  <a:close/>
                  <a:moveTo>
                    <a:pt x="309563" y="581025"/>
                  </a:moveTo>
                  <a:cubicBezTo>
                    <a:pt x="159877" y="581025"/>
                    <a:pt x="38100" y="459248"/>
                    <a:pt x="38100" y="309563"/>
                  </a:cubicBezTo>
                  <a:cubicBezTo>
                    <a:pt x="38100" y="159877"/>
                    <a:pt x="159877" y="38100"/>
                    <a:pt x="309563" y="38100"/>
                  </a:cubicBezTo>
                  <a:cubicBezTo>
                    <a:pt x="459248" y="38100"/>
                    <a:pt x="581025" y="159877"/>
                    <a:pt x="581025" y="309563"/>
                  </a:cubicBezTo>
                  <a:cubicBezTo>
                    <a:pt x="581025" y="459248"/>
                    <a:pt x="459248" y="581025"/>
                    <a:pt x="309563" y="581025"/>
                  </a:cubicBezTo>
                  <a:close/>
                </a:path>
              </a:pathLst>
            </a:custGeom>
            <a:grpFill/>
            <a:ln w="9525" cap="flat">
              <a:noFill/>
              <a:prstDash val="solid"/>
              <a:miter/>
            </a:ln>
          </p:spPr>
          <p:txBody>
            <a:bodyPr rtlCol="0" anchor="ctr"/>
            <a:lstStyle/>
            <a:p>
              <a:endParaRPr lang="en-US" sz="1350" dirty="0"/>
            </a:p>
          </p:txBody>
        </p:sp>
        <p:sp>
          <p:nvSpPr>
            <p:cNvPr id="21" name="Freeform: Shape 20"/>
            <p:cNvSpPr/>
            <p:nvPr/>
          </p:nvSpPr>
          <p:spPr>
            <a:xfrm>
              <a:off x="5195751" y="3473729"/>
              <a:ext cx="57150" cy="57150"/>
            </a:xfrm>
            <a:custGeom>
              <a:avLst/>
              <a:gdLst>
                <a:gd name="connsiteX0" fmla="*/ 63722 w 57150"/>
                <a:gd name="connsiteY0" fmla="*/ 31861 h 57150"/>
                <a:gd name="connsiteX1" fmla="*/ 31861 w 57150"/>
                <a:gd name="connsiteY1" fmla="*/ 63722 h 57150"/>
                <a:gd name="connsiteX2" fmla="*/ 0 w 57150"/>
                <a:gd name="connsiteY2" fmla="*/ 31861 h 57150"/>
                <a:gd name="connsiteX3" fmla="*/ 31861 w 57150"/>
                <a:gd name="connsiteY3" fmla="*/ 0 h 57150"/>
                <a:gd name="connsiteX4" fmla="*/ 63722 w 57150"/>
                <a:gd name="connsiteY4" fmla="*/ 31861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3722" y="31861"/>
                  </a:moveTo>
                  <a:cubicBezTo>
                    <a:pt x="63722" y="49458"/>
                    <a:pt x="49458" y="63722"/>
                    <a:pt x="31861" y="63722"/>
                  </a:cubicBezTo>
                  <a:cubicBezTo>
                    <a:pt x="14265" y="63722"/>
                    <a:pt x="0" y="49458"/>
                    <a:pt x="0" y="31861"/>
                  </a:cubicBezTo>
                  <a:cubicBezTo>
                    <a:pt x="0" y="14265"/>
                    <a:pt x="14265" y="0"/>
                    <a:pt x="31861" y="0"/>
                  </a:cubicBezTo>
                  <a:cubicBezTo>
                    <a:pt x="49458" y="0"/>
                    <a:pt x="63722" y="14265"/>
                    <a:pt x="63722" y="31861"/>
                  </a:cubicBezTo>
                  <a:close/>
                </a:path>
              </a:pathLst>
            </a:custGeom>
            <a:grpFill/>
            <a:ln w="9525" cap="flat">
              <a:noFill/>
              <a:prstDash val="solid"/>
              <a:miter/>
            </a:ln>
          </p:spPr>
          <p:txBody>
            <a:bodyPr rtlCol="0" anchor="ctr"/>
            <a:lstStyle/>
            <a:p>
              <a:endParaRPr lang="en-US" sz="1350" dirty="0"/>
            </a:p>
          </p:txBody>
        </p:sp>
        <p:sp>
          <p:nvSpPr>
            <p:cNvPr id="22" name="Freeform: Shape 21"/>
            <p:cNvSpPr/>
            <p:nvPr/>
          </p:nvSpPr>
          <p:spPr>
            <a:xfrm>
              <a:off x="5205276" y="3589420"/>
              <a:ext cx="38100" cy="200025"/>
            </a:xfrm>
            <a:custGeom>
              <a:avLst/>
              <a:gdLst>
                <a:gd name="connsiteX0" fmla="*/ 19050 w 38100"/>
                <a:gd name="connsiteY0" fmla="*/ 0 h 200025"/>
                <a:gd name="connsiteX1" fmla="*/ 0 w 38100"/>
                <a:gd name="connsiteY1" fmla="*/ 19050 h 200025"/>
                <a:gd name="connsiteX2" fmla="*/ 0 w 38100"/>
                <a:gd name="connsiteY2" fmla="*/ 180975 h 200025"/>
                <a:gd name="connsiteX3" fmla="*/ 19050 w 38100"/>
                <a:gd name="connsiteY3" fmla="*/ 200025 h 200025"/>
                <a:gd name="connsiteX4" fmla="*/ 38100 w 38100"/>
                <a:gd name="connsiteY4" fmla="*/ 180975 h 200025"/>
                <a:gd name="connsiteX5" fmla="*/ 38100 w 38100"/>
                <a:gd name="connsiteY5" fmla="*/ 19050 h 200025"/>
                <a:gd name="connsiteX6" fmla="*/ 19050 w 38100"/>
                <a:gd name="connsiteY6" fmla="*/ 0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100" h="200025">
                  <a:moveTo>
                    <a:pt x="19050" y="0"/>
                  </a:moveTo>
                  <a:cubicBezTo>
                    <a:pt x="8534" y="0"/>
                    <a:pt x="0" y="8534"/>
                    <a:pt x="0" y="19050"/>
                  </a:cubicBezTo>
                  <a:lnTo>
                    <a:pt x="0" y="180975"/>
                  </a:lnTo>
                  <a:cubicBezTo>
                    <a:pt x="0" y="191491"/>
                    <a:pt x="8534" y="200025"/>
                    <a:pt x="19050" y="200025"/>
                  </a:cubicBezTo>
                  <a:cubicBezTo>
                    <a:pt x="29566" y="200025"/>
                    <a:pt x="38100" y="191491"/>
                    <a:pt x="38100" y="180975"/>
                  </a:cubicBezTo>
                  <a:lnTo>
                    <a:pt x="38100" y="19050"/>
                  </a:lnTo>
                  <a:cubicBezTo>
                    <a:pt x="38100" y="8525"/>
                    <a:pt x="29566" y="0"/>
                    <a:pt x="19050" y="0"/>
                  </a:cubicBezTo>
                  <a:close/>
                </a:path>
              </a:pathLst>
            </a:custGeom>
            <a:grpFill/>
            <a:ln w="9525" cap="flat">
              <a:noFill/>
              <a:prstDash val="solid"/>
              <a:miter/>
            </a:ln>
          </p:spPr>
          <p:txBody>
            <a:bodyPr rtlCol="0" anchor="ctr"/>
            <a:lstStyle/>
            <a:p>
              <a:endParaRPr lang="en-US" sz="1350" dirty="0"/>
            </a:p>
          </p:txBody>
        </p:sp>
      </p:grpSp>
      <p:sp>
        <p:nvSpPr>
          <p:cNvPr id="16" name="Title 1"/>
          <p:cNvSpPr txBox="1"/>
          <p:nvPr userDrawn="1"/>
        </p:nvSpPr>
        <p:spPr>
          <a:xfrm>
            <a:off x="474130" y="2639243"/>
            <a:ext cx="3334512" cy="1080110"/>
          </a:xfrm>
          <a:prstGeom prst="rect">
            <a:avLst/>
          </a:prstGeom>
        </p:spPr>
        <p:txBody>
          <a:bodyPr vert="horz" lIns="91440" tIns="45720" rIns="91440" bIns="45720" rtlCol="0" anchor="b">
            <a:normAutofit fontScale="92500"/>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6000" b="1" dirty="0">
                <a:solidFill>
                  <a:schemeClr val="bg1"/>
                </a:solidFill>
                <a:latin typeface="YESHUAH" panose="02000500000000000000" pitchFamily="2" charset="0"/>
                <a:ea typeface="ADLaM Display" panose="02010000000000000000" pitchFamily="2" charset="0"/>
                <a:cs typeface="ADLaM Display" panose="02010000000000000000" pitchFamily="2" charset="0"/>
              </a:rPr>
              <a:t>Objectives</a:t>
            </a:r>
            <a:endParaRPr lang="en-US" sz="3200" b="1" dirty="0">
              <a:solidFill>
                <a:schemeClr val="bg1"/>
              </a:solidFill>
              <a:latin typeface="YESHUAH" panose="02000500000000000000" pitchFamily="2" charset="0"/>
              <a:ea typeface="ADLaM Display" panose="02010000000000000000" pitchFamily="2" charset="0"/>
              <a:cs typeface="ADLaM Display" panose="02010000000000000000" pitchFamily="2" charset="0"/>
            </a:endParaRPr>
          </a:p>
        </p:txBody>
      </p:sp>
      <p:sp>
        <p:nvSpPr>
          <p:cNvPr id="11" name="Text Placeholder 10"/>
          <p:cNvSpPr>
            <a:spLocks noGrp="1"/>
          </p:cNvSpPr>
          <p:nvPr>
            <p:ph type="body" sz="quarter" idx="14" hasCustomPrompt="1"/>
          </p:nvPr>
        </p:nvSpPr>
        <p:spPr>
          <a:xfrm>
            <a:off x="5908431" y="1603717"/>
            <a:ext cx="5524060" cy="3151163"/>
          </a:xfrm>
          <a:prstGeom prst="rect">
            <a:avLst/>
          </a:prstGeom>
        </p:spPr>
        <p:txBody>
          <a:bodyPr>
            <a:normAutofit/>
          </a:bodyPr>
          <a:lstStyle>
            <a:lvl1pPr>
              <a:spcBef>
                <a:spcPts val="0"/>
              </a:spcBef>
              <a:spcAft>
                <a:spcPts val="600"/>
              </a:spcAft>
              <a:defRPr sz="3200">
                <a:solidFill>
                  <a:srgbClr val="002060"/>
                </a:solidFill>
              </a:defRPr>
            </a:lvl1pPr>
          </a:lstStyle>
          <a:p>
            <a:pPr lvl="0"/>
            <a:r>
              <a:rPr lang="en-US" dirty="0"/>
              <a:t> { write your objectives}</a:t>
            </a:r>
          </a:p>
          <a:p>
            <a:pPr lvl="0"/>
            <a:endParaRPr lang="en-US" dirty="0"/>
          </a:p>
        </p:txBody>
      </p:sp>
      <p:pic>
        <p:nvPicPr>
          <p:cNvPr id="3" name="Picture 2">
            <a:extLst>
              <a:ext uri="{FF2B5EF4-FFF2-40B4-BE49-F238E27FC236}">
                <a16:creationId xmlns:a16="http://schemas.microsoft.com/office/drawing/2014/main" id="{43EF92EB-1689-2416-7533-E53DBC8933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3581400" y="2348890"/>
            <a:ext cx="2160220" cy="216022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156921" y="618977"/>
            <a:ext cx="9393848" cy="712765"/>
          </a:xfrm>
          <a:prstGeom prst="rect">
            <a:avLst/>
          </a:prstGeom>
        </p:spPr>
        <p:txBody>
          <a:bodyPr/>
          <a:lstStyle>
            <a:lvl1pPr>
              <a:defRPr lang="en-US" sz="3600" b="1" kern="1200" spc="-38" baseline="0" dirty="0">
                <a:solidFill>
                  <a:srgbClr val="002060"/>
                </a:solidFill>
                <a:latin typeface="+mn-lt"/>
                <a:ea typeface="+mj-ea"/>
                <a:cs typeface="+mj-cs"/>
              </a:defRPr>
            </a:lvl1pPr>
          </a:lstStyle>
          <a:p>
            <a:r>
              <a:rPr lang="en-US" dirty="0"/>
              <a:t>{ Title }</a:t>
            </a:r>
          </a:p>
        </p:txBody>
      </p:sp>
      <p:sp>
        <p:nvSpPr>
          <p:cNvPr id="6" name="Text Placeholder 10"/>
          <p:cNvSpPr>
            <a:spLocks noGrp="1"/>
          </p:cNvSpPr>
          <p:nvPr>
            <p:ph type="body" sz="quarter" idx="14" hasCustomPrompt="1"/>
          </p:nvPr>
        </p:nvSpPr>
        <p:spPr>
          <a:xfrm>
            <a:off x="1156921" y="1603717"/>
            <a:ext cx="10275570" cy="4705350"/>
          </a:xfrm>
          <a:prstGeom prst="rect">
            <a:avLst/>
          </a:prstGeom>
        </p:spPr>
        <p:txBody>
          <a:bodyPr>
            <a:normAutofit/>
          </a:bodyPr>
          <a:lstStyle>
            <a:lvl1pPr>
              <a:spcBef>
                <a:spcPts val="0"/>
              </a:spcBef>
              <a:spcAft>
                <a:spcPts val="600"/>
              </a:spcAft>
              <a:defRPr sz="2400">
                <a:solidFill>
                  <a:srgbClr val="002060"/>
                </a:solidFill>
              </a:defRPr>
            </a:lvl1pPr>
          </a:lstStyle>
          <a:p>
            <a:pPr lvl="0"/>
            <a:r>
              <a:rPr lang="en-US" dirty="0"/>
              <a:t>{write your bullet point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1" name="Title 1"/>
          <p:cNvSpPr txBox="1"/>
          <p:nvPr userDrawn="1"/>
        </p:nvSpPr>
        <p:spPr>
          <a:xfrm>
            <a:off x="1325880" y="638175"/>
            <a:ext cx="9942195" cy="666750"/>
          </a:xfrm>
          <a:prstGeom prst="rect">
            <a:avLst/>
          </a:prstGeom>
        </p:spPr>
        <p:txBody>
          <a:bodyPr vert="horz" lIns="91440" tIns="45720" rIns="91440" bIns="45720" rtlCol="0" anchor="b">
            <a:no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3200" b="1" dirty="0">
                <a:solidFill>
                  <a:srgbClr val="002060"/>
                </a:solidFill>
                <a:latin typeface="+mn-lt"/>
                <a:ea typeface="Cambria" panose="02040503050406030204" pitchFamily="18" charset="0"/>
              </a:rPr>
              <a:t>References</a:t>
            </a:r>
          </a:p>
        </p:txBody>
      </p:sp>
      <p:sp>
        <p:nvSpPr>
          <p:cNvPr id="15" name="Text Placeholder 10"/>
          <p:cNvSpPr>
            <a:spLocks noGrp="1"/>
          </p:cNvSpPr>
          <p:nvPr>
            <p:ph type="body" sz="quarter" idx="14" hasCustomPrompt="1"/>
          </p:nvPr>
        </p:nvSpPr>
        <p:spPr>
          <a:xfrm>
            <a:off x="1325880" y="1524000"/>
            <a:ext cx="9681949" cy="3958659"/>
          </a:xfrm>
          <a:prstGeom prst="rect">
            <a:avLst/>
          </a:prstGeom>
        </p:spPr>
        <p:txBody>
          <a:bodyPr>
            <a:normAutofit/>
          </a:bodyPr>
          <a:lstStyle>
            <a:lvl1pPr marL="91440">
              <a:spcBef>
                <a:spcPts val="0"/>
              </a:spcBef>
              <a:defRPr sz="2400">
                <a:solidFill>
                  <a:srgbClr val="002060"/>
                </a:solidFill>
              </a:defRPr>
            </a:lvl1pPr>
          </a:lstStyle>
          <a:p>
            <a:pPr lvl="0"/>
            <a:r>
              <a:rPr lang="en-US" dirty="0"/>
              <a:t>{ link to reference1, example: http://app.icraftsoft.net }</a:t>
            </a:r>
          </a:p>
          <a:p>
            <a:pPr lvl="0"/>
            <a:r>
              <a:rPr lang="en-US" dirty="0"/>
              <a:t>{ link to reference1, example: http://app.icraftsoft.net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4E36F-A443-7521-D49B-753C50A8A887}"/>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425952" y="973836"/>
            <a:ext cx="5116068" cy="511606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8621" y="625480"/>
            <a:ext cx="1036320" cy="6858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noProof="0" dirty="0"/>
          </a:p>
        </p:txBody>
      </p:sp>
      <p:sp>
        <p:nvSpPr>
          <p:cNvPr id="5" name="Slide Number Placeholder 4"/>
          <p:cNvSpPr>
            <a:spLocks noGrp="1"/>
          </p:cNvSpPr>
          <p:nvPr>
            <p:ph type="sldNum" sz="quarter" idx="4"/>
          </p:nvPr>
        </p:nvSpPr>
        <p:spPr>
          <a:xfrm>
            <a:off x="8610600" y="6181726"/>
            <a:ext cx="2743200" cy="539750"/>
          </a:xfrm>
          <a:prstGeom prst="rect">
            <a:avLst/>
          </a:prstGeom>
        </p:spPr>
        <p:txBody>
          <a:bodyPr vert="horz" lIns="91440" tIns="45720" rIns="91440" bIns="45720" rtlCol="0" anchor="ctr"/>
          <a:lstStyle>
            <a:lvl1pPr algn="r">
              <a:defRPr sz="1200">
                <a:solidFill>
                  <a:schemeClr val="tx1">
                    <a:tint val="75000"/>
                  </a:schemeClr>
                </a:solidFill>
              </a:defRPr>
            </a:lvl1pPr>
          </a:lstStyle>
          <a:p>
            <a:fld id="{2D836B06-9FB6-4AA1-A097-666DD28834F7}" type="slidenum">
              <a:rPr lang="en-US" smtClean="0"/>
              <a:t>‹#›</a:t>
            </a:fld>
            <a:endParaRPr lang="en-US" dirty="0"/>
          </a:p>
        </p:txBody>
      </p:sp>
      <p:pic>
        <p:nvPicPr>
          <p:cNvPr id="3" name="Picture 2"/>
          <p:cNvPicPr>
            <a:picLocks noChangeAspect="1"/>
          </p:cNvPicPr>
          <p:nvPr userDrawn="1"/>
        </p:nvPicPr>
        <p:blipFill>
          <a:blip r:embed="rId7" cstate="print">
            <a:extLst>
              <a:ext uri="{28A0092B-C50C-407E-A947-70E740481C1C}">
                <a14:useLocalDpi xmlns:a14="http://schemas.microsoft.com/office/drawing/2010/main" val="0"/>
              </a:ext>
            </a:extLst>
          </a:blip>
          <a:srcRect/>
          <a:stretch/>
        </p:blipFill>
        <p:spPr>
          <a:xfrm>
            <a:off x="11073852" y="205990"/>
            <a:ext cx="944645" cy="94464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p:titleStyle>
    <p:bodyStyle>
      <a:lvl1pPr marL="200025" indent="-200025" algn="l" defTabSz="685800" rtl="0" eaLnBrk="1" latinLnBrk="0" hangingPunct="1">
        <a:lnSpc>
          <a:spcPct val="100000"/>
        </a:lnSpc>
        <a:spcBef>
          <a:spcPts val="900"/>
        </a:spcBef>
        <a:spcAft>
          <a:spcPts val="150"/>
        </a:spcAft>
        <a:buClr>
          <a:schemeClr val="accent1"/>
        </a:buClr>
        <a:buSzPct val="100000"/>
        <a:buFont typeface="Wingdings" panose="05000000000000000000" pitchFamily="2" charset="2"/>
        <a:buChar char="§"/>
        <a:defRPr sz="1500" kern="1200">
          <a:solidFill>
            <a:schemeClr val="tx1">
              <a:lumMod val="75000"/>
              <a:lumOff val="25000"/>
            </a:schemeClr>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21" Type="http://schemas.openxmlformats.org/officeDocument/2006/relationships/image" Target="../media/image27.pn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5" Type="http://schemas.openxmlformats.org/officeDocument/2006/relationships/image" Target="../media/image31.png"/><Relationship Id="rId2" Type="http://schemas.openxmlformats.org/officeDocument/2006/relationships/image" Target="../media/image8.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3.xml"/><Relationship Id="rId6" Type="http://schemas.openxmlformats.org/officeDocument/2006/relationships/image" Target="../media/image12.png"/><Relationship Id="rId11" Type="http://schemas.openxmlformats.org/officeDocument/2006/relationships/image" Target="../media/image17.png"/><Relationship Id="rId24" Type="http://schemas.openxmlformats.org/officeDocument/2006/relationships/image" Target="../media/image30.jpeg"/><Relationship Id="rId5" Type="http://schemas.openxmlformats.org/officeDocument/2006/relationships/image" Target="../media/image11.png"/><Relationship Id="rId15" Type="http://schemas.openxmlformats.org/officeDocument/2006/relationships/image" Target="../media/image21.png"/><Relationship Id="rId23" Type="http://schemas.openxmlformats.org/officeDocument/2006/relationships/image" Target="../media/image29.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 Id="rId22" Type="http://schemas.openxmlformats.org/officeDocument/2006/relationships/image" Target="../media/image28.png"/></Relationships>
</file>

<file path=ppt/slides/_rels/slide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ECDAC-6AB4-4A7B-90D7-87428ABE7A96}"/>
              </a:ext>
            </a:extLst>
          </p:cNvPr>
          <p:cNvSpPr>
            <a:spLocks noGrp="1"/>
          </p:cNvSpPr>
          <p:nvPr>
            <p:ph type="title"/>
          </p:nvPr>
        </p:nvSpPr>
        <p:spPr>
          <a:xfrm>
            <a:off x="0" y="2703621"/>
            <a:ext cx="5378824" cy="1814591"/>
          </a:xfrm>
        </p:spPr>
        <p:txBody>
          <a:bodyPr>
            <a:noAutofit/>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Database Design </a:t>
            </a:r>
            <a:br>
              <a:rPr lang="en-US" dirty="0">
                <a:latin typeface="ADLaM Display" panose="02010000000000000000" pitchFamily="2" charset="0"/>
                <a:ea typeface="ADLaM Display" panose="02010000000000000000" pitchFamily="2" charset="0"/>
                <a:cs typeface="ADLaM Display" panose="02010000000000000000" pitchFamily="2" charset="0"/>
              </a:rPr>
            </a:br>
            <a:r>
              <a:rPr lang="en-US" dirty="0">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endParaRPr lang="en-US" sz="54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Content Placeholder 2">
            <a:extLst>
              <a:ext uri="{FF2B5EF4-FFF2-40B4-BE49-F238E27FC236}">
                <a16:creationId xmlns:a16="http://schemas.microsoft.com/office/drawing/2014/main" id="{28E0905C-A1AA-3986-D28A-042DCEF7892F}"/>
              </a:ext>
            </a:extLst>
          </p:cNvPr>
          <p:cNvSpPr>
            <a:spLocks noGrp="1"/>
          </p:cNvSpPr>
          <p:nvPr>
            <p:ph sz="quarter" idx="13"/>
          </p:nvPr>
        </p:nvSpPr>
        <p:spPr/>
        <p:txBody>
          <a:bodyPr>
            <a:normAutofit lnSpcReduction="10000"/>
          </a:bodyPr>
          <a:lstStyle/>
          <a:p>
            <a:r>
              <a:rPr lang="en-US" dirty="0"/>
              <a:t>mintesnot</a:t>
            </a:r>
          </a:p>
        </p:txBody>
      </p:sp>
      <p:pic>
        <p:nvPicPr>
          <p:cNvPr id="6" name="Picture 5">
            <a:extLst>
              <a:ext uri="{FF2B5EF4-FFF2-40B4-BE49-F238E27FC236}">
                <a16:creationId xmlns:a16="http://schemas.microsoft.com/office/drawing/2014/main" id="{29CEBC9E-4311-34A9-0C78-FA3EC39303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010912" y="1523757"/>
            <a:ext cx="6934200" cy="4079938"/>
          </a:xfrm>
          <a:prstGeom prst="rect">
            <a:avLst/>
          </a:prstGeom>
        </p:spPr>
      </p:pic>
      <p:pic>
        <p:nvPicPr>
          <p:cNvPr id="11" name="Picture 10">
            <a:extLst>
              <a:ext uri="{FF2B5EF4-FFF2-40B4-BE49-F238E27FC236}">
                <a16:creationId xmlns:a16="http://schemas.microsoft.com/office/drawing/2014/main" id="{52A47D76-DCDC-BA68-E61D-E120C82FC6D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689412" y="3429000"/>
            <a:ext cx="3026664" cy="3026664"/>
          </a:xfrm>
          <a:prstGeom prst="rect">
            <a:avLst/>
          </a:prstGeom>
        </p:spPr>
      </p:pic>
    </p:spTree>
    <p:extLst>
      <p:ext uri="{BB962C8B-B14F-4D97-AF65-F5344CB8AC3E}">
        <p14:creationId xmlns:p14="http://schemas.microsoft.com/office/powerpoint/2010/main" val="1919913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A5F557-19C5-3E57-5E7C-602DF20CAEE8}"/>
              </a:ext>
            </a:extLst>
          </p:cNvPr>
          <p:cNvSpPr>
            <a:spLocks noGrp="1"/>
          </p:cNvSpPr>
          <p:nvPr>
            <p:ph type="body" sz="quarter" idx="14"/>
          </p:nvPr>
        </p:nvSpPr>
        <p:spPr>
          <a:xfrm>
            <a:off x="5381287" y="498163"/>
            <a:ext cx="6810713" cy="6667828"/>
          </a:xfrm>
        </p:spPr>
        <p:txBody>
          <a:bodyPr>
            <a:normAutofit/>
          </a:bodyPr>
          <a:lstStyle/>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What is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r>
              <a:rPr lang="en-US" dirty="0">
                <a:latin typeface="ADLaM Display" panose="02010000000000000000" pitchFamily="2" charset="0"/>
                <a:ea typeface="ADLaM Display" panose="02010000000000000000" pitchFamily="2" charset="0"/>
                <a:cs typeface="ADLaM Display" panose="02010000000000000000" pitchFamily="2" charset="0"/>
              </a:rPr>
              <a:t>?</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Databases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DDL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DML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DQL Statements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Constraints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Primary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Foreign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Composite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SQL Alternative Keys</a:t>
            </a:r>
          </a:p>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Data Integrity</a:t>
            </a:r>
          </a:p>
        </p:txBody>
      </p:sp>
    </p:spTree>
    <p:extLst>
      <p:ext uri="{BB962C8B-B14F-4D97-AF65-F5344CB8AC3E}">
        <p14:creationId xmlns:p14="http://schemas.microsoft.com/office/powerpoint/2010/main" val="1664880165"/>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9F17C-4686-579A-ADCE-818576D43A3A}"/>
              </a:ext>
            </a:extLst>
          </p:cNvPr>
          <p:cNvSpPr>
            <a:spLocks noGrp="1"/>
          </p:cNvSpPr>
          <p:nvPr>
            <p:ph type="title"/>
          </p:nvPr>
        </p:nvSpPr>
        <p:spPr>
          <a:xfrm>
            <a:off x="1156920" y="715229"/>
            <a:ext cx="9393848" cy="712765"/>
          </a:xfrm>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What is </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a:t>
            </a:r>
            <a:r>
              <a:rPr lang="en-US" dirty="0">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25DD0B1B-B130-8E70-136A-D0F6E5E125D3}"/>
              </a:ext>
            </a:extLst>
          </p:cNvPr>
          <p:cNvSpPr>
            <a:spLocks noGrp="1"/>
          </p:cNvSpPr>
          <p:nvPr>
            <p:ph type="body" sz="quarter" idx="14"/>
          </p:nvPr>
        </p:nvSpPr>
        <p:spPr>
          <a:xfrm>
            <a:off x="1156920" y="1643147"/>
            <a:ext cx="10794447" cy="5602941"/>
          </a:xfrm>
        </p:spPr>
        <p:txBody>
          <a:bodyPr>
            <a:normAutofit/>
          </a:bodyPr>
          <a:lstStyle/>
          <a:p>
            <a:pPr algn="just"/>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RDBMS </a:t>
            </a:r>
            <a:r>
              <a:rPr lang="en-US" dirty="0"/>
              <a:t>stands for Relational Database Management System. RDBMS is the basis for SQL, and for all modern database systems like MS SQL Server, IBM DB2, Oracle, MySQL, and Microsoft Access.</a:t>
            </a:r>
          </a:p>
          <a:p>
            <a:pPr algn="just"/>
            <a:r>
              <a:rPr lang="en-US" dirty="0"/>
              <a:t> A Relational Database stores data in tables that are related to one another.</a:t>
            </a:r>
          </a:p>
          <a:p>
            <a:pPr algn="just"/>
            <a:r>
              <a:rPr lang="en-US" dirty="0"/>
              <a:t> Instead of storing student information multiple times, we store it once and reference it when needed.</a:t>
            </a:r>
          </a:p>
          <a:p>
            <a:pPr marL="0" indent="0">
              <a:buNone/>
            </a:pPr>
            <a:r>
              <a:rPr lang="en-US" sz="2800" b="1" dirty="0">
                <a:latin typeface="ADLaM Display" panose="02010000000000000000" pitchFamily="2" charset="0"/>
                <a:ea typeface="ADLaM Display" panose="02010000000000000000" pitchFamily="2" charset="0"/>
                <a:cs typeface="ADLaM Display" panose="02010000000000000000" pitchFamily="2" charset="0"/>
              </a:rPr>
              <a:t>Key Characteristics</a:t>
            </a:r>
          </a:p>
          <a:p>
            <a:pPr>
              <a:buBlip>
                <a:blip r:embed="rId2"/>
              </a:buBlip>
            </a:pPr>
            <a:r>
              <a:rPr lang="en-US" dirty="0"/>
              <a:t> Data stored in rows and columns </a:t>
            </a:r>
          </a:p>
          <a:p>
            <a:pPr>
              <a:buBlip>
                <a:blip r:embed="rId2"/>
              </a:buBlip>
            </a:pPr>
            <a:r>
              <a:rPr lang="en-US" dirty="0"/>
              <a:t> Tables can be connected through relationships </a:t>
            </a:r>
          </a:p>
          <a:p>
            <a:pPr>
              <a:buBlip>
                <a:blip r:embed="rId2"/>
              </a:buBlip>
            </a:pPr>
            <a:r>
              <a:rPr lang="en-US" dirty="0"/>
              <a:t> Uses SQL (Structured Query Language) </a:t>
            </a:r>
          </a:p>
          <a:p>
            <a:pPr>
              <a:buBlip>
                <a:blip r:embed="rId2"/>
              </a:buBlip>
            </a:pPr>
            <a:r>
              <a:rPr lang="en-US" dirty="0"/>
              <a:t> Reduces duplicate data</a:t>
            </a:r>
          </a:p>
          <a:p>
            <a:pPr algn="just"/>
            <a:endParaRPr lang="en-US" dirty="0"/>
          </a:p>
          <a:p>
            <a:pPr marL="0" indent="0" algn="just">
              <a:buNone/>
            </a:pPr>
            <a:r>
              <a:rPr lang="en-US" sz="1800" dirty="0"/>
              <a:t> </a:t>
            </a:r>
          </a:p>
        </p:txBody>
      </p:sp>
    </p:spTree>
    <p:extLst>
      <p:ext uri="{BB962C8B-B14F-4D97-AF65-F5344CB8AC3E}">
        <p14:creationId xmlns:p14="http://schemas.microsoft.com/office/powerpoint/2010/main" val="1037428834"/>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E3D0C9-91B1-31A8-5BA9-7DBF858F9E8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Databases</a:t>
            </a:r>
          </a:p>
        </p:txBody>
      </p:sp>
      <p:grpSp>
        <p:nvGrpSpPr>
          <p:cNvPr id="58" name="Group 57">
            <a:extLst>
              <a:ext uri="{FF2B5EF4-FFF2-40B4-BE49-F238E27FC236}">
                <a16:creationId xmlns:a16="http://schemas.microsoft.com/office/drawing/2014/main" id="{3004F375-E3CF-42A4-DE58-B8B14C15A2C2}"/>
              </a:ext>
            </a:extLst>
          </p:cNvPr>
          <p:cNvGrpSpPr/>
          <p:nvPr/>
        </p:nvGrpSpPr>
        <p:grpSpPr>
          <a:xfrm>
            <a:off x="399264" y="1192237"/>
            <a:ext cx="11792736" cy="5595536"/>
            <a:chOff x="399264" y="1192237"/>
            <a:chExt cx="11792736" cy="5595536"/>
          </a:xfrm>
        </p:grpSpPr>
        <p:pic>
          <p:nvPicPr>
            <p:cNvPr id="4" name="Picture 3" descr="MySQL :: MySQL Logo Downloads">
              <a:extLst>
                <a:ext uri="{FF2B5EF4-FFF2-40B4-BE49-F238E27FC236}">
                  <a16:creationId xmlns:a16="http://schemas.microsoft.com/office/drawing/2014/main" id="{E2926AA4-506A-7A1D-8923-5C8AF6E43D7D}"/>
                </a:ext>
              </a:extLst>
            </p:cNvPr>
            <p:cNvPicPr>
              <a:picLocks noChangeAspect="1"/>
            </p:cNvPicPr>
            <p:nvPr/>
          </p:nvPicPr>
          <p:blipFill>
            <a:blip r:embed="rId2"/>
            <a:stretch>
              <a:fillRect/>
            </a:stretch>
          </p:blipFill>
          <p:spPr>
            <a:xfrm>
              <a:off x="493047" y="1638662"/>
              <a:ext cx="1124199" cy="760112"/>
            </a:xfrm>
            <a:prstGeom prst="rect">
              <a:avLst/>
            </a:prstGeom>
          </p:spPr>
        </p:pic>
        <p:pic>
          <p:nvPicPr>
            <p:cNvPr id="8" name="Picture 7">
              <a:extLst>
                <a:ext uri="{FF2B5EF4-FFF2-40B4-BE49-F238E27FC236}">
                  <a16:creationId xmlns:a16="http://schemas.microsoft.com/office/drawing/2014/main" id="{E807F816-1735-7535-05F1-01FA7C44BE38}"/>
                </a:ext>
              </a:extLst>
            </p:cNvPr>
            <p:cNvPicPr>
              <a:picLocks noChangeAspect="1"/>
            </p:cNvPicPr>
            <p:nvPr/>
          </p:nvPicPr>
          <p:blipFill>
            <a:blip r:embed="rId3"/>
            <a:stretch>
              <a:fillRect/>
            </a:stretch>
          </p:blipFill>
          <p:spPr>
            <a:xfrm>
              <a:off x="2187971" y="1592236"/>
              <a:ext cx="966180" cy="996373"/>
            </a:xfrm>
            <a:prstGeom prst="rect">
              <a:avLst/>
            </a:prstGeom>
          </p:spPr>
        </p:pic>
        <p:pic>
          <p:nvPicPr>
            <p:cNvPr id="9" name="Picture 8" descr="Sql server - Free logo icons">
              <a:extLst>
                <a:ext uri="{FF2B5EF4-FFF2-40B4-BE49-F238E27FC236}">
                  <a16:creationId xmlns:a16="http://schemas.microsoft.com/office/drawing/2014/main" id="{EDB05BF3-3673-6A82-69F1-DADE4B2BF1AF}"/>
                </a:ext>
              </a:extLst>
            </p:cNvPr>
            <p:cNvPicPr>
              <a:picLocks noChangeAspect="1"/>
            </p:cNvPicPr>
            <p:nvPr/>
          </p:nvPicPr>
          <p:blipFill>
            <a:blip r:embed="rId4"/>
            <a:stretch>
              <a:fillRect/>
            </a:stretch>
          </p:blipFill>
          <p:spPr>
            <a:xfrm>
              <a:off x="3985806" y="1300160"/>
              <a:ext cx="1288449" cy="1288449"/>
            </a:xfrm>
            <a:prstGeom prst="rect">
              <a:avLst/>
            </a:prstGeom>
          </p:spPr>
        </p:pic>
        <p:pic>
          <p:nvPicPr>
            <p:cNvPr id="10" name="Picture 9" descr="What is Oracle? | Webopedia">
              <a:extLst>
                <a:ext uri="{FF2B5EF4-FFF2-40B4-BE49-F238E27FC236}">
                  <a16:creationId xmlns:a16="http://schemas.microsoft.com/office/drawing/2014/main" id="{FE803EBF-758D-7E1E-2D88-6CFEBB6D2A37}"/>
                </a:ext>
              </a:extLst>
            </p:cNvPr>
            <p:cNvPicPr>
              <a:picLocks noChangeAspect="1"/>
            </p:cNvPicPr>
            <p:nvPr/>
          </p:nvPicPr>
          <p:blipFill>
            <a:blip r:embed="rId5"/>
            <a:stretch>
              <a:fillRect/>
            </a:stretch>
          </p:blipFill>
          <p:spPr>
            <a:xfrm>
              <a:off x="5853845" y="1192237"/>
              <a:ext cx="1504294" cy="1504294"/>
            </a:xfrm>
            <a:prstGeom prst="rect">
              <a:avLst/>
            </a:prstGeom>
          </p:spPr>
        </p:pic>
        <p:pic>
          <p:nvPicPr>
            <p:cNvPr id="11" name="Picture 10" descr="File:SQLite370.svg - Wikimedia Commons">
              <a:extLst>
                <a:ext uri="{FF2B5EF4-FFF2-40B4-BE49-F238E27FC236}">
                  <a16:creationId xmlns:a16="http://schemas.microsoft.com/office/drawing/2014/main" id="{CD796036-DDA1-ADD0-9328-B51A4422FAED}"/>
                </a:ext>
              </a:extLst>
            </p:cNvPr>
            <p:cNvPicPr>
              <a:picLocks noChangeAspect="1"/>
            </p:cNvPicPr>
            <p:nvPr/>
          </p:nvPicPr>
          <p:blipFill>
            <a:blip r:embed="rId6"/>
            <a:stretch>
              <a:fillRect/>
            </a:stretch>
          </p:blipFill>
          <p:spPr>
            <a:xfrm>
              <a:off x="7850486" y="1470434"/>
              <a:ext cx="2105708" cy="996373"/>
            </a:xfrm>
            <a:prstGeom prst="rect">
              <a:avLst/>
            </a:prstGeom>
          </p:spPr>
        </p:pic>
        <p:pic>
          <p:nvPicPr>
            <p:cNvPr id="12" name="Picture 11" descr="Official MariaDB Logos | MariaDB">
              <a:extLst>
                <a:ext uri="{FF2B5EF4-FFF2-40B4-BE49-F238E27FC236}">
                  <a16:creationId xmlns:a16="http://schemas.microsoft.com/office/drawing/2014/main" id="{C844FC1F-765F-7860-50EA-E1193448AC7A}"/>
                </a:ext>
              </a:extLst>
            </p:cNvPr>
            <p:cNvPicPr>
              <a:picLocks noChangeAspect="1"/>
            </p:cNvPicPr>
            <p:nvPr/>
          </p:nvPicPr>
          <p:blipFill>
            <a:blip r:embed="rId7"/>
            <a:stretch>
              <a:fillRect/>
            </a:stretch>
          </p:blipFill>
          <p:spPr>
            <a:xfrm>
              <a:off x="2024816" y="2843208"/>
              <a:ext cx="1220605" cy="995112"/>
            </a:xfrm>
            <a:prstGeom prst="rect">
              <a:avLst/>
            </a:prstGeom>
          </p:spPr>
        </p:pic>
        <p:pic>
          <p:nvPicPr>
            <p:cNvPr id="18" name="Picture 17">
              <a:extLst>
                <a:ext uri="{FF2B5EF4-FFF2-40B4-BE49-F238E27FC236}">
                  <a16:creationId xmlns:a16="http://schemas.microsoft.com/office/drawing/2014/main" id="{F106DB85-147C-70DC-016A-2FE8E94D2AAF}"/>
                </a:ext>
              </a:extLst>
            </p:cNvPr>
            <p:cNvPicPr>
              <a:picLocks noChangeAspect="1"/>
            </p:cNvPicPr>
            <p:nvPr/>
          </p:nvPicPr>
          <p:blipFill>
            <a:blip r:embed="rId8"/>
            <a:stretch>
              <a:fillRect/>
            </a:stretch>
          </p:blipFill>
          <p:spPr>
            <a:xfrm>
              <a:off x="3766029" y="2829947"/>
              <a:ext cx="1492177" cy="1133194"/>
            </a:xfrm>
            <a:prstGeom prst="rect">
              <a:avLst/>
            </a:prstGeom>
          </p:spPr>
        </p:pic>
        <p:pic>
          <p:nvPicPr>
            <p:cNvPr id="22" name="Picture 21">
              <a:extLst>
                <a:ext uri="{FF2B5EF4-FFF2-40B4-BE49-F238E27FC236}">
                  <a16:creationId xmlns:a16="http://schemas.microsoft.com/office/drawing/2014/main" id="{0D3F1498-DA45-8548-4C6F-350CFA66520A}"/>
                </a:ext>
              </a:extLst>
            </p:cNvPr>
            <p:cNvPicPr>
              <a:picLocks noChangeAspect="1"/>
            </p:cNvPicPr>
            <p:nvPr/>
          </p:nvPicPr>
          <p:blipFill>
            <a:blip r:embed="rId9"/>
            <a:stretch>
              <a:fillRect/>
            </a:stretch>
          </p:blipFill>
          <p:spPr>
            <a:xfrm>
              <a:off x="10448541" y="1470434"/>
              <a:ext cx="980387" cy="980387"/>
            </a:xfrm>
            <a:prstGeom prst="rect">
              <a:avLst/>
            </a:prstGeom>
          </p:spPr>
        </p:pic>
        <p:pic>
          <p:nvPicPr>
            <p:cNvPr id="23" name="Picture 22" descr="Firebird: Logos">
              <a:extLst>
                <a:ext uri="{FF2B5EF4-FFF2-40B4-BE49-F238E27FC236}">
                  <a16:creationId xmlns:a16="http://schemas.microsoft.com/office/drawing/2014/main" id="{D17530DB-28CE-5F62-4FD4-755D606BE95F}"/>
                </a:ext>
              </a:extLst>
            </p:cNvPr>
            <p:cNvPicPr>
              <a:picLocks noChangeAspect="1"/>
            </p:cNvPicPr>
            <p:nvPr/>
          </p:nvPicPr>
          <p:blipFill>
            <a:blip r:embed="rId10"/>
            <a:stretch>
              <a:fillRect/>
            </a:stretch>
          </p:blipFill>
          <p:spPr>
            <a:xfrm>
              <a:off x="5805144" y="2746222"/>
              <a:ext cx="1300643" cy="1300643"/>
            </a:xfrm>
            <a:prstGeom prst="rect">
              <a:avLst/>
            </a:prstGeom>
          </p:spPr>
        </p:pic>
        <p:pic>
          <p:nvPicPr>
            <p:cNvPr id="24" name="Picture 23" descr="IBM-DB2-Logo - SimpleIndex">
              <a:extLst>
                <a:ext uri="{FF2B5EF4-FFF2-40B4-BE49-F238E27FC236}">
                  <a16:creationId xmlns:a16="http://schemas.microsoft.com/office/drawing/2014/main" id="{17F6C013-0B27-CCF2-8D5D-5D5E61865063}"/>
                </a:ext>
              </a:extLst>
            </p:cNvPr>
            <p:cNvPicPr>
              <a:picLocks noChangeAspect="1"/>
            </p:cNvPicPr>
            <p:nvPr/>
          </p:nvPicPr>
          <p:blipFill>
            <a:blip r:embed="rId11"/>
            <a:stretch>
              <a:fillRect/>
            </a:stretch>
          </p:blipFill>
          <p:spPr>
            <a:xfrm>
              <a:off x="529964" y="2871723"/>
              <a:ext cx="995112" cy="995112"/>
            </a:xfrm>
            <a:prstGeom prst="rect">
              <a:avLst/>
            </a:prstGeom>
          </p:spPr>
        </p:pic>
        <p:pic>
          <p:nvPicPr>
            <p:cNvPr id="25" name="Picture 24" descr="Snowflake Logo, symbol, meaning, history, PNG, brand">
              <a:extLst>
                <a:ext uri="{FF2B5EF4-FFF2-40B4-BE49-F238E27FC236}">
                  <a16:creationId xmlns:a16="http://schemas.microsoft.com/office/drawing/2014/main" id="{92B14EED-323A-6D19-8883-68ED549F50F7}"/>
                </a:ext>
              </a:extLst>
            </p:cNvPr>
            <p:cNvPicPr>
              <a:picLocks noChangeAspect="1"/>
            </p:cNvPicPr>
            <p:nvPr/>
          </p:nvPicPr>
          <p:blipFill>
            <a:blip r:embed="rId12"/>
            <a:stretch>
              <a:fillRect/>
            </a:stretch>
          </p:blipFill>
          <p:spPr>
            <a:xfrm>
              <a:off x="7105787" y="2760609"/>
              <a:ext cx="2261097" cy="1271867"/>
            </a:xfrm>
            <a:prstGeom prst="rect">
              <a:avLst/>
            </a:prstGeom>
          </p:spPr>
        </p:pic>
        <p:pic>
          <p:nvPicPr>
            <p:cNvPr id="26" name="Picture 25" descr="File:Databricks Logo.png - Wikimedia Commons">
              <a:extLst>
                <a:ext uri="{FF2B5EF4-FFF2-40B4-BE49-F238E27FC236}">
                  <a16:creationId xmlns:a16="http://schemas.microsoft.com/office/drawing/2014/main" id="{0BCDE463-5D64-2806-7AE4-207B3B4B890D}"/>
                </a:ext>
              </a:extLst>
            </p:cNvPr>
            <p:cNvPicPr>
              <a:picLocks noChangeAspect="1"/>
            </p:cNvPicPr>
            <p:nvPr/>
          </p:nvPicPr>
          <p:blipFill>
            <a:blip r:embed="rId13"/>
            <a:stretch>
              <a:fillRect/>
            </a:stretch>
          </p:blipFill>
          <p:spPr>
            <a:xfrm>
              <a:off x="9396956" y="2565078"/>
              <a:ext cx="2795044" cy="1467398"/>
            </a:xfrm>
            <a:prstGeom prst="rect">
              <a:avLst/>
            </a:prstGeom>
          </p:spPr>
        </p:pic>
        <p:pic>
          <p:nvPicPr>
            <p:cNvPr id="32" name="Picture 31">
              <a:extLst>
                <a:ext uri="{FF2B5EF4-FFF2-40B4-BE49-F238E27FC236}">
                  <a16:creationId xmlns:a16="http://schemas.microsoft.com/office/drawing/2014/main" id="{374D6AD6-7AC5-7D6A-1B1A-5891E49040F6}"/>
                </a:ext>
              </a:extLst>
            </p:cNvPr>
            <p:cNvPicPr>
              <a:picLocks noChangeAspect="1"/>
            </p:cNvPicPr>
            <p:nvPr/>
          </p:nvPicPr>
          <p:blipFill>
            <a:blip r:embed="rId14"/>
            <a:stretch>
              <a:fillRect/>
            </a:stretch>
          </p:blipFill>
          <p:spPr>
            <a:xfrm>
              <a:off x="399264" y="4106260"/>
              <a:ext cx="1256512" cy="1256512"/>
            </a:xfrm>
            <a:prstGeom prst="rect">
              <a:avLst/>
            </a:prstGeom>
          </p:spPr>
        </p:pic>
        <p:pic>
          <p:nvPicPr>
            <p:cNvPr id="34" name="Picture 33" descr="Beginners Guide To Google Cloud SQL Database Service">
              <a:extLst>
                <a:ext uri="{FF2B5EF4-FFF2-40B4-BE49-F238E27FC236}">
                  <a16:creationId xmlns:a16="http://schemas.microsoft.com/office/drawing/2014/main" id="{50C35B0E-E6D5-7EDB-2681-88EBCD76C651}"/>
                </a:ext>
              </a:extLst>
            </p:cNvPr>
            <p:cNvPicPr>
              <a:picLocks noChangeAspect="1"/>
            </p:cNvPicPr>
            <p:nvPr/>
          </p:nvPicPr>
          <p:blipFill>
            <a:blip r:embed="rId15"/>
            <a:stretch>
              <a:fillRect/>
            </a:stretch>
          </p:blipFill>
          <p:spPr>
            <a:xfrm>
              <a:off x="2187971" y="4106260"/>
              <a:ext cx="1256512" cy="1256512"/>
            </a:xfrm>
            <a:prstGeom prst="rect">
              <a:avLst/>
            </a:prstGeom>
          </p:spPr>
        </p:pic>
        <p:pic>
          <p:nvPicPr>
            <p:cNvPr id="38" name="Picture 37">
              <a:extLst>
                <a:ext uri="{FF2B5EF4-FFF2-40B4-BE49-F238E27FC236}">
                  <a16:creationId xmlns:a16="http://schemas.microsoft.com/office/drawing/2014/main" id="{E50811F8-0F27-F894-DBA1-293ED4FDD7CE}"/>
                </a:ext>
              </a:extLst>
            </p:cNvPr>
            <p:cNvPicPr>
              <a:picLocks noChangeAspect="1"/>
            </p:cNvPicPr>
            <p:nvPr/>
          </p:nvPicPr>
          <p:blipFill>
            <a:blip r:embed="rId16"/>
            <a:stretch>
              <a:fillRect/>
            </a:stretch>
          </p:blipFill>
          <p:spPr>
            <a:xfrm>
              <a:off x="3919577" y="4086814"/>
              <a:ext cx="1420906" cy="1420906"/>
            </a:xfrm>
            <a:prstGeom prst="rect">
              <a:avLst/>
            </a:prstGeom>
          </p:spPr>
        </p:pic>
        <p:pic>
          <p:nvPicPr>
            <p:cNvPr id="39" name="Picture 38" descr="Apache Derby: Logo">
              <a:extLst>
                <a:ext uri="{FF2B5EF4-FFF2-40B4-BE49-F238E27FC236}">
                  <a16:creationId xmlns:a16="http://schemas.microsoft.com/office/drawing/2014/main" id="{E71F5A20-CF61-82BB-136E-428A3A2F248F}"/>
                </a:ext>
              </a:extLst>
            </p:cNvPr>
            <p:cNvPicPr>
              <a:picLocks noChangeAspect="1"/>
            </p:cNvPicPr>
            <p:nvPr/>
          </p:nvPicPr>
          <p:blipFill>
            <a:blip r:embed="rId17"/>
            <a:stretch>
              <a:fillRect/>
            </a:stretch>
          </p:blipFill>
          <p:spPr>
            <a:xfrm>
              <a:off x="5708284" y="4179337"/>
              <a:ext cx="1581900" cy="1235859"/>
            </a:xfrm>
            <a:prstGeom prst="rect">
              <a:avLst/>
            </a:prstGeom>
          </p:spPr>
        </p:pic>
        <p:pic>
          <p:nvPicPr>
            <p:cNvPr id="43" name="Picture 42">
              <a:extLst>
                <a:ext uri="{FF2B5EF4-FFF2-40B4-BE49-F238E27FC236}">
                  <a16:creationId xmlns:a16="http://schemas.microsoft.com/office/drawing/2014/main" id="{19ECEBEF-B2BF-419A-BBB2-39C54E940CD3}"/>
                </a:ext>
              </a:extLst>
            </p:cNvPr>
            <p:cNvPicPr>
              <a:picLocks noChangeAspect="1"/>
            </p:cNvPicPr>
            <p:nvPr/>
          </p:nvPicPr>
          <p:blipFill>
            <a:blip r:embed="rId18"/>
            <a:stretch>
              <a:fillRect/>
            </a:stretch>
          </p:blipFill>
          <p:spPr>
            <a:xfrm>
              <a:off x="7724802" y="4326278"/>
              <a:ext cx="953034" cy="1048337"/>
            </a:xfrm>
            <a:prstGeom prst="rect">
              <a:avLst/>
            </a:prstGeom>
          </p:spPr>
        </p:pic>
        <p:pic>
          <p:nvPicPr>
            <p:cNvPr id="44" name="Picture 43" descr="Google Big Query Logo PNG (Transparent) SVG AI – Free Download">
              <a:extLst>
                <a:ext uri="{FF2B5EF4-FFF2-40B4-BE49-F238E27FC236}">
                  <a16:creationId xmlns:a16="http://schemas.microsoft.com/office/drawing/2014/main" id="{949894BF-09E1-F31B-1F39-4B077ED9E125}"/>
                </a:ext>
              </a:extLst>
            </p:cNvPr>
            <p:cNvPicPr>
              <a:picLocks noChangeAspect="1"/>
            </p:cNvPicPr>
            <p:nvPr/>
          </p:nvPicPr>
          <p:blipFill>
            <a:blip r:embed="rId19"/>
            <a:stretch>
              <a:fillRect/>
            </a:stretch>
          </p:blipFill>
          <p:spPr>
            <a:xfrm>
              <a:off x="9069560" y="4391195"/>
              <a:ext cx="2844894" cy="971578"/>
            </a:xfrm>
            <a:prstGeom prst="rect">
              <a:avLst/>
            </a:prstGeom>
          </p:spPr>
        </p:pic>
        <p:pic>
          <p:nvPicPr>
            <p:cNvPr id="46" name="Picture 45" descr="HVR Azure SQL Database Integration | Basedash">
              <a:extLst>
                <a:ext uri="{FF2B5EF4-FFF2-40B4-BE49-F238E27FC236}">
                  <a16:creationId xmlns:a16="http://schemas.microsoft.com/office/drawing/2014/main" id="{FFFA9458-FCCA-4ED1-5EAC-A73F67DCF179}"/>
                </a:ext>
              </a:extLst>
            </p:cNvPr>
            <p:cNvPicPr>
              <a:picLocks noChangeAspect="1"/>
            </p:cNvPicPr>
            <p:nvPr/>
          </p:nvPicPr>
          <p:blipFill>
            <a:blip r:embed="rId20"/>
            <a:stretch>
              <a:fillRect/>
            </a:stretch>
          </p:blipFill>
          <p:spPr>
            <a:xfrm>
              <a:off x="470200" y="5531260"/>
              <a:ext cx="1185575" cy="1185575"/>
            </a:xfrm>
            <a:prstGeom prst="rect">
              <a:avLst/>
            </a:prstGeom>
          </p:spPr>
        </p:pic>
        <p:pic>
          <p:nvPicPr>
            <p:cNvPr id="47" name="Picture 46" descr="SAP Business One HANA | Vision33 - Vision33">
              <a:extLst>
                <a:ext uri="{FF2B5EF4-FFF2-40B4-BE49-F238E27FC236}">
                  <a16:creationId xmlns:a16="http://schemas.microsoft.com/office/drawing/2014/main" id="{84D71E76-D52D-010E-3FC6-FEE5C3D2CB83}"/>
                </a:ext>
              </a:extLst>
            </p:cNvPr>
            <p:cNvPicPr>
              <a:picLocks noChangeAspect="1"/>
            </p:cNvPicPr>
            <p:nvPr/>
          </p:nvPicPr>
          <p:blipFill>
            <a:blip r:embed="rId21"/>
            <a:stretch>
              <a:fillRect/>
            </a:stretch>
          </p:blipFill>
          <p:spPr>
            <a:xfrm>
              <a:off x="9366884" y="5865120"/>
              <a:ext cx="2563906" cy="747806"/>
            </a:xfrm>
            <a:prstGeom prst="rect">
              <a:avLst/>
            </a:prstGeom>
          </p:spPr>
        </p:pic>
        <p:pic>
          <p:nvPicPr>
            <p:cNvPr id="48" name="Picture 47" descr="TiDB, Powered by PingCAP | Sunnyvale CA">
              <a:extLst>
                <a:ext uri="{FF2B5EF4-FFF2-40B4-BE49-F238E27FC236}">
                  <a16:creationId xmlns:a16="http://schemas.microsoft.com/office/drawing/2014/main" id="{881C27B9-E2B2-06F0-F79B-D8DD8609B431}"/>
                </a:ext>
              </a:extLst>
            </p:cNvPr>
            <p:cNvPicPr>
              <a:picLocks noChangeAspect="1"/>
            </p:cNvPicPr>
            <p:nvPr/>
          </p:nvPicPr>
          <p:blipFill>
            <a:blip r:embed="rId22"/>
            <a:stretch>
              <a:fillRect/>
            </a:stretch>
          </p:blipFill>
          <p:spPr>
            <a:xfrm>
              <a:off x="2162384" y="5507720"/>
              <a:ext cx="1256513" cy="1256513"/>
            </a:xfrm>
            <a:prstGeom prst="rect">
              <a:avLst/>
            </a:prstGeom>
          </p:spPr>
        </p:pic>
        <p:pic>
          <p:nvPicPr>
            <p:cNvPr id="52" name="Picture 51">
              <a:extLst>
                <a:ext uri="{FF2B5EF4-FFF2-40B4-BE49-F238E27FC236}">
                  <a16:creationId xmlns:a16="http://schemas.microsoft.com/office/drawing/2014/main" id="{9F78E40C-1B49-619A-7C60-58373BE2F38F}"/>
                </a:ext>
              </a:extLst>
            </p:cNvPr>
            <p:cNvPicPr>
              <a:picLocks noChangeAspect="1"/>
            </p:cNvPicPr>
            <p:nvPr/>
          </p:nvPicPr>
          <p:blipFill>
            <a:blip r:embed="rId23"/>
            <a:stretch>
              <a:fillRect/>
            </a:stretch>
          </p:blipFill>
          <p:spPr>
            <a:xfrm>
              <a:off x="4127611" y="5557840"/>
              <a:ext cx="1212872" cy="1212872"/>
            </a:xfrm>
            <a:prstGeom prst="rect">
              <a:avLst/>
            </a:prstGeom>
          </p:spPr>
        </p:pic>
        <p:pic>
          <p:nvPicPr>
            <p:cNvPr id="53" name="Picture 52" descr="Teradata color icon in PNG, SVG">
              <a:extLst>
                <a:ext uri="{FF2B5EF4-FFF2-40B4-BE49-F238E27FC236}">
                  <a16:creationId xmlns:a16="http://schemas.microsoft.com/office/drawing/2014/main" id="{86AF2CA4-1256-2F20-32DE-14BD5705603C}"/>
                </a:ext>
              </a:extLst>
            </p:cNvPr>
            <p:cNvPicPr>
              <a:picLocks noChangeAspect="1"/>
            </p:cNvPicPr>
            <p:nvPr/>
          </p:nvPicPr>
          <p:blipFill>
            <a:blip r:embed="rId24"/>
            <a:stretch>
              <a:fillRect/>
            </a:stretch>
          </p:blipFill>
          <p:spPr>
            <a:xfrm>
              <a:off x="5870977" y="5531260"/>
              <a:ext cx="1256513" cy="1256513"/>
            </a:xfrm>
            <a:prstGeom prst="rect">
              <a:avLst/>
            </a:prstGeom>
          </p:spPr>
        </p:pic>
        <p:pic>
          <p:nvPicPr>
            <p:cNvPr id="57" name="Picture 56">
              <a:extLst>
                <a:ext uri="{FF2B5EF4-FFF2-40B4-BE49-F238E27FC236}">
                  <a16:creationId xmlns:a16="http://schemas.microsoft.com/office/drawing/2014/main" id="{C337732B-3975-4E6D-A955-898CC522E432}"/>
                </a:ext>
              </a:extLst>
            </p:cNvPr>
            <p:cNvPicPr>
              <a:picLocks noChangeAspect="1"/>
            </p:cNvPicPr>
            <p:nvPr/>
          </p:nvPicPr>
          <p:blipFill>
            <a:blip r:embed="rId25"/>
            <a:stretch>
              <a:fillRect/>
            </a:stretch>
          </p:blipFill>
          <p:spPr>
            <a:xfrm>
              <a:off x="7724802" y="5534853"/>
              <a:ext cx="1235859" cy="1235859"/>
            </a:xfrm>
            <a:prstGeom prst="rect">
              <a:avLst/>
            </a:prstGeom>
          </p:spPr>
        </p:pic>
      </p:grpSp>
    </p:spTree>
    <p:extLst>
      <p:ext uri="{BB962C8B-B14F-4D97-AF65-F5344CB8AC3E}">
        <p14:creationId xmlns:p14="http://schemas.microsoft.com/office/powerpoint/2010/main" val="343484914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6B3CC-C093-6318-65B0-8E254202E963}"/>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Popular SQL Databases</a:t>
            </a:r>
          </a:p>
        </p:txBody>
      </p:sp>
      <p:sp>
        <p:nvSpPr>
          <p:cNvPr id="3" name="Text Placeholder 2">
            <a:extLst>
              <a:ext uri="{FF2B5EF4-FFF2-40B4-BE49-F238E27FC236}">
                <a16:creationId xmlns:a16="http://schemas.microsoft.com/office/drawing/2014/main" id="{C934D690-6C36-4249-846B-9C953CB3A698}"/>
              </a:ext>
            </a:extLst>
          </p:cNvPr>
          <p:cNvSpPr>
            <a:spLocks noGrp="1"/>
          </p:cNvSpPr>
          <p:nvPr>
            <p:ph type="body" sz="quarter" idx="14"/>
          </p:nvPr>
        </p:nvSpPr>
        <p:spPr>
          <a:xfrm>
            <a:off x="1156921" y="1603716"/>
            <a:ext cx="10275570" cy="5048095"/>
          </a:xfrm>
        </p:spPr>
        <p:txBody>
          <a:bodyPr/>
          <a:lstStyle/>
          <a:p>
            <a:pPr algn="just"/>
            <a:r>
              <a:rPr lang="en-US" dirty="0"/>
              <a:t> There are several types of SQL-based relational databases, each with its own features and uses.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MySQL</a:t>
            </a:r>
            <a:r>
              <a:rPr lang="en-US" dirty="0"/>
              <a:t>: Free and open-source, commonly used for websites and small to medium applications.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PostgreSQL</a:t>
            </a:r>
            <a:r>
              <a:rPr lang="en-US" dirty="0"/>
              <a:t>: Advanced open-source database that supports complex queries and additional features.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Oracle Database</a:t>
            </a:r>
            <a:r>
              <a:rPr lang="en-US" dirty="0"/>
              <a:t>: A commercial database often used by large enterprises, known for reliability and advanced tools.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Microsoft SQL Server</a:t>
            </a:r>
            <a:r>
              <a:rPr lang="en-US" dirty="0"/>
              <a:t>: Widely used in corporate environments, integrates well with other Microsoft products.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SQLite</a:t>
            </a:r>
            <a:r>
              <a:rPr lang="en-US" dirty="0"/>
              <a:t>: A lightweight database embedded directly into applications, often used in mobile or desktop apps.</a:t>
            </a:r>
          </a:p>
        </p:txBody>
      </p:sp>
    </p:spTree>
    <p:extLst>
      <p:ext uri="{BB962C8B-B14F-4D97-AF65-F5344CB8AC3E}">
        <p14:creationId xmlns:p14="http://schemas.microsoft.com/office/powerpoint/2010/main" val="22567699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9C7EF-3300-2EAF-7AD3-B0DC1CF68457}"/>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Terminology</a:t>
            </a:r>
          </a:p>
        </p:txBody>
      </p:sp>
      <p:graphicFrame>
        <p:nvGraphicFramePr>
          <p:cNvPr id="4" name="Table 3">
            <a:extLst>
              <a:ext uri="{FF2B5EF4-FFF2-40B4-BE49-F238E27FC236}">
                <a16:creationId xmlns:a16="http://schemas.microsoft.com/office/drawing/2014/main" id="{C59978DA-DD00-DBDE-616F-7227513B94EF}"/>
              </a:ext>
            </a:extLst>
          </p:cNvPr>
          <p:cNvGraphicFramePr>
            <a:graphicFrameLocks noGrp="1"/>
          </p:cNvGraphicFramePr>
          <p:nvPr>
            <p:extLst>
              <p:ext uri="{D42A27DB-BD31-4B8C-83A1-F6EECF244321}">
                <p14:modId xmlns:p14="http://schemas.microsoft.com/office/powerpoint/2010/main" val="3140493685"/>
              </p:ext>
            </p:extLst>
          </p:nvPr>
        </p:nvGraphicFramePr>
        <p:xfrm>
          <a:off x="1156921" y="1651995"/>
          <a:ext cx="10425480" cy="4981890"/>
        </p:xfrm>
        <a:graphic>
          <a:graphicData uri="http://schemas.openxmlformats.org/drawingml/2006/table">
            <a:tbl>
              <a:tblPr firstRow="1" bandRow="1">
                <a:tableStyleId>{3B4B98B0-60AC-42C2-AFA5-B58CD77FA1E5}</a:tableStyleId>
              </a:tblPr>
              <a:tblGrid>
                <a:gridCol w="5212740">
                  <a:extLst>
                    <a:ext uri="{9D8B030D-6E8A-4147-A177-3AD203B41FA5}">
                      <a16:colId xmlns:a16="http://schemas.microsoft.com/office/drawing/2014/main" val="3169839058"/>
                    </a:ext>
                  </a:extLst>
                </a:gridCol>
                <a:gridCol w="5212740">
                  <a:extLst>
                    <a:ext uri="{9D8B030D-6E8A-4147-A177-3AD203B41FA5}">
                      <a16:colId xmlns:a16="http://schemas.microsoft.com/office/drawing/2014/main" val="2195953278"/>
                    </a:ext>
                  </a:extLst>
                </a:gridCol>
              </a:tblGrid>
              <a:tr h="830315">
                <a:tc>
                  <a:txBody>
                    <a:bodyPr/>
                    <a:lstStyle/>
                    <a:p>
                      <a:r>
                        <a:rPr lang="en-US" sz="32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Term</a:t>
                      </a:r>
                    </a:p>
                  </a:txBody>
                  <a:tcPr>
                    <a:solidFill>
                      <a:schemeClr val="bg1"/>
                    </a:solidFill>
                  </a:tcPr>
                </a:tc>
                <a:tc>
                  <a:txBody>
                    <a:bodyPr/>
                    <a:lstStyle/>
                    <a:p>
                      <a:r>
                        <a:rPr lang="en-US" sz="32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Meaning</a:t>
                      </a:r>
                    </a:p>
                  </a:txBody>
                  <a:tcPr>
                    <a:solidFill>
                      <a:schemeClr val="bg1"/>
                    </a:solidFill>
                  </a:tcPr>
                </a:tc>
                <a:extLst>
                  <a:ext uri="{0D108BD9-81ED-4DB2-BD59-A6C34878D82A}">
                    <a16:rowId xmlns:a16="http://schemas.microsoft.com/office/drawing/2014/main" val="1661899361"/>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Table</a:t>
                      </a:r>
                    </a:p>
                  </a:txBody>
                  <a:tcPr>
                    <a:solidFill>
                      <a:schemeClr val="bg1"/>
                    </a:solidFill>
                  </a:tcPr>
                </a:tc>
                <a:tc>
                  <a:txBody>
                    <a:bodyPr/>
                    <a:lstStyle/>
                    <a:p>
                      <a:r>
                        <a:rPr lang="en-US" sz="3200" dirty="0"/>
                        <a:t>Collection of related data</a:t>
                      </a:r>
                    </a:p>
                  </a:txBody>
                  <a:tcPr>
                    <a:solidFill>
                      <a:schemeClr val="bg1"/>
                    </a:solidFill>
                  </a:tcPr>
                </a:tc>
                <a:extLst>
                  <a:ext uri="{0D108BD9-81ED-4DB2-BD59-A6C34878D82A}">
                    <a16:rowId xmlns:a16="http://schemas.microsoft.com/office/drawing/2014/main" val="2405609407"/>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Row</a:t>
                      </a:r>
                    </a:p>
                  </a:txBody>
                  <a:tcPr>
                    <a:solidFill>
                      <a:schemeClr val="bg1"/>
                    </a:solidFill>
                  </a:tcPr>
                </a:tc>
                <a:tc>
                  <a:txBody>
                    <a:bodyPr/>
                    <a:lstStyle/>
                    <a:p>
                      <a:r>
                        <a:rPr lang="en-US" sz="3200" dirty="0"/>
                        <a:t>Single Record</a:t>
                      </a:r>
                    </a:p>
                  </a:txBody>
                  <a:tcPr>
                    <a:solidFill>
                      <a:schemeClr val="bg1"/>
                    </a:solidFill>
                  </a:tcPr>
                </a:tc>
                <a:extLst>
                  <a:ext uri="{0D108BD9-81ED-4DB2-BD59-A6C34878D82A}">
                    <a16:rowId xmlns:a16="http://schemas.microsoft.com/office/drawing/2014/main" val="1496776831"/>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Column</a:t>
                      </a:r>
                    </a:p>
                  </a:txBody>
                  <a:tcPr>
                    <a:solidFill>
                      <a:schemeClr val="bg1"/>
                    </a:solidFill>
                  </a:tcPr>
                </a:tc>
                <a:tc>
                  <a:txBody>
                    <a:bodyPr/>
                    <a:lstStyle/>
                    <a:p>
                      <a:r>
                        <a:rPr lang="en-US" sz="3200" dirty="0"/>
                        <a:t>Data field</a:t>
                      </a:r>
                    </a:p>
                  </a:txBody>
                  <a:tcPr>
                    <a:solidFill>
                      <a:schemeClr val="bg1"/>
                    </a:solidFill>
                  </a:tcPr>
                </a:tc>
                <a:extLst>
                  <a:ext uri="{0D108BD9-81ED-4DB2-BD59-A6C34878D82A}">
                    <a16:rowId xmlns:a16="http://schemas.microsoft.com/office/drawing/2014/main" val="4091140876"/>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Record</a:t>
                      </a:r>
                    </a:p>
                  </a:txBody>
                  <a:tcPr>
                    <a:solidFill>
                      <a:schemeClr val="bg1"/>
                    </a:solidFill>
                  </a:tcPr>
                </a:tc>
                <a:tc>
                  <a:txBody>
                    <a:bodyPr/>
                    <a:lstStyle/>
                    <a:p>
                      <a:r>
                        <a:rPr lang="en-US" sz="3200" dirty="0"/>
                        <a:t>One row in a table</a:t>
                      </a:r>
                    </a:p>
                  </a:txBody>
                  <a:tcPr>
                    <a:solidFill>
                      <a:schemeClr val="bg1"/>
                    </a:solidFill>
                  </a:tcPr>
                </a:tc>
                <a:extLst>
                  <a:ext uri="{0D108BD9-81ED-4DB2-BD59-A6C34878D82A}">
                    <a16:rowId xmlns:a16="http://schemas.microsoft.com/office/drawing/2014/main" val="3843065707"/>
                  </a:ext>
                </a:extLst>
              </a:tr>
              <a:tr h="830315">
                <a:tc>
                  <a:txBody>
                    <a:bodyPr/>
                    <a:lstStyle/>
                    <a:p>
                      <a:r>
                        <a:rPr lang="en-US" sz="3200" b="1" dirty="0">
                          <a:latin typeface="ADLaM Display" panose="02010000000000000000" pitchFamily="2" charset="0"/>
                          <a:ea typeface="ADLaM Display" panose="02010000000000000000" pitchFamily="2" charset="0"/>
                          <a:cs typeface="ADLaM Display" panose="02010000000000000000" pitchFamily="2" charset="0"/>
                        </a:rPr>
                        <a:t>Field</a:t>
                      </a:r>
                    </a:p>
                  </a:txBody>
                  <a:tcPr>
                    <a:solidFill>
                      <a:schemeClr val="bg1"/>
                    </a:solidFill>
                  </a:tcPr>
                </a:tc>
                <a:tc>
                  <a:txBody>
                    <a:bodyPr/>
                    <a:lstStyle/>
                    <a:p>
                      <a:r>
                        <a:rPr lang="en-US" sz="3200" dirty="0"/>
                        <a:t>Individual piece of data</a:t>
                      </a:r>
                    </a:p>
                  </a:txBody>
                  <a:tcPr>
                    <a:solidFill>
                      <a:schemeClr val="bg1"/>
                    </a:solidFill>
                  </a:tcPr>
                </a:tc>
                <a:extLst>
                  <a:ext uri="{0D108BD9-81ED-4DB2-BD59-A6C34878D82A}">
                    <a16:rowId xmlns:a16="http://schemas.microsoft.com/office/drawing/2014/main" val="2234671211"/>
                  </a:ext>
                </a:extLst>
              </a:tr>
            </a:tbl>
          </a:graphicData>
        </a:graphic>
      </p:graphicFrame>
    </p:spTree>
    <p:extLst>
      <p:ext uri="{BB962C8B-B14F-4D97-AF65-F5344CB8AC3E}">
        <p14:creationId xmlns:p14="http://schemas.microsoft.com/office/powerpoint/2010/main" val="2889824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F2C7F69-C9A2-F3FA-473C-A9A48452FE33}"/>
              </a:ext>
            </a:extLst>
          </p:cNvPr>
          <p:cNvPicPr>
            <a:picLocks noChangeAspect="1"/>
          </p:cNvPicPr>
          <p:nvPr/>
        </p:nvPicPr>
        <p:blipFill>
          <a:blip r:embed="rId2"/>
          <a:stretch>
            <a:fillRect/>
          </a:stretch>
        </p:blipFill>
        <p:spPr>
          <a:xfrm>
            <a:off x="1039549" y="1225296"/>
            <a:ext cx="10789919" cy="5394960"/>
          </a:xfrm>
          <a:prstGeom prst="rect">
            <a:avLst/>
          </a:prstGeom>
        </p:spPr>
      </p:pic>
    </p:spTree>
    <p:extLst>
      <p:ext uri="{BB962C8B-B14F-4D97-AF65-F5344CB8AC3E}">
        <p14:creationId xmlns:p14="http://schemas.microsoft.com/office/powerpoint/2010/main" val="15552583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03ED02-08FD-8F3B-C88A-616B4C8D774F}"/>
              </a:ext>
            </a:extLst>
          </p:cNvPr>
          <p:cNvPicPr>
            <a:picLocks noChangeAspect="1"/>
          </p:cNvPicPr>
          <p:nvPr/>
        </p:nvPicPr>
        <p:blipFill>
          <a:blip r:embed="rId2"/>
          <a:stretch>
            <a:fillRect/>
          </a:stretch>
        </p:blipFill>
        <p:spPr>
          <a:xfrm>
            <a:off x="1131795" y="358588"/>
            <a:ext cx="9769287" cy="6512858"/>
          </a:xfrm>
          <a:prstGeom prst="rect">
            <a:avLst/>
          </a:prstGeom>
        </p:spPr>
      </p:pic>
    </p:spTree>
    <p:extLst>
      <p:ext uri="{BB962C8B-B14F-4D97-AF65-F5344CB8AC3E}">
        <p14:creationId xmlns:p14="http://schemas.microsoft.com/office/powerpoint/2010/main" val="36465201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E1E73-3607-0ED9-8B97-ECFAEAEB648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4E6113B4-F367-6C64-0D83-AC96B8B0C15D}"/>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78008" y="197224"/>
            <a:ext cx="10011333" cy="6674222"/>
          </a:xfrm>
          <a:prstGeom prst="rect">
            <a:avLst/>
          </a:prstGeom>
        </p:spPr>
      </p:pic>
    </p:spTree>
    <p:extLst>
      <p:ext uri="{BB962C8B-B14F-4D97-AF65-F5344CB8AC3E}">
        <p14:creationId xmlns:p14="http://schemas.microsoft.com/office/powerpoint/2010/main" val="622139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39478-1D79-003E-58F3-70F7847D6D2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01B8833-E0D1-4A84-E37D-82FA10A2CA5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078008" y="197224"/>
            <a:ext cx="10011333" cy="6674222"/>
          </a:xfrm>
          <a:prstGeom prst="rect">
            <a:avLst/>
          </a:prstGeom>
        </p:spPr>
      </p:pic>
    </p:spTree>
    <p:extLst>
      <p:ext uri="{BB962C8B-B14F-4D97-AF65-F5344CB8AC3E}">
        <p14:creationId xmlns:p14="http://schemas.microsoft.com/office/powerpoint/2010/main" val="4207002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738E9-A904-3A66-52EA-5C32549BFD7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Types</a:t>
            </a:r>
          </a:p>
        </p:txBody>
      </p:sp>
      <p:sp>
        <p:nvSpPr>
          <p:cNvPr id="3" name="Text Placeholder 2">
            <a:extLst>
              <a:ext uri="{FF2B5EF4-FFF2-40B4-BE49-F238E27FC236}">
                <a16:creationId xmlns:a16="http://schemas.microsoft.com/office/drawing/2014/main" id="{F29C0F9E-50CA-3B4F-B095-B4C5F303C0E4}"/>
              </a:ext>
            </a:extLst>
          </p:cNvPr>
          <p:cNvSpPr>
            <a:spLocks noGrp="1"/>
          </p:cNvSpPr>
          <p:nvPr>
            <p:ph type="body" sz="quarter" idx="14"/>
          </p:nvPr>
        </p:nvSpPr>
        <p:spPr>
          <a:xfrm>
            <a:off x="1156921" y="1642638"/>
            <a:ext cx="10275570" cy="5526258"/>
          </a:xfrm>
        </p:spPr>
        <p:txBody>
          <a:bodyPr>
            <a:normAutofit/>
          </a:bodyPr>
          <a:lstStyle/>
          <a:p>
            <a:pPr algn="just"/>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 </a:t>
            </a:r>
            <a:r>
              <a:rPr lang="en-US" dirty="0"/>
              <a:t>specifies the kind of data that can be stored in a table column.</a:t>
            </a:r>
          </a:p>
          <a:p>
            <a:pPr algn="just"/>
            <a:r>
              <a:rPr lang="en-US" dirty="0"/>
              <a:t> Choosing the correct data type improves storage efficiency, data integrity, and query performance.</a:t>
            </a:r>
          </a:p>
          <a:p>
            <a:pPr algn="just"/>
            <a:r>
              <a:rPr lang="en-US" dirty="0"/>
              <a:t> While creating a database table in a database, we need to specify following two attributes to define a table column:</a:t>
            </a:r>
          </a:p>
          <a:p>
            <a:pPr algn="just">
              <a:buFont typeface="Wingdings" panose="05000000000000000000" pitchFamily="2" charset="2"/>
              <a:buChar char="Ø"/>
            </a:pPr>
            <a:r>
              <a:rPr lang="en-US" dirty="0"/>
              <a:t>  Name of the column</a:t>
            </a:r>
          </a:p>
          <a:p>
            <a:pPr algn="just">
              <a:buFont typeface="Wingdings" panose="05000000000000000000" pitchFamily="2" charset="2"/>
              <a:buChar char="Ø"/>
            </a:pPr>
            <a:r>
              <a:rPr lang="en-US" dirty="0"/>
              <a:t>  Data type of the column</a:t>
            </a:r>
          </a:p>
          <a:p>
            <a:pPr marL="0" indent="0">
              <a:buNone/>
            </a:pPr>
            <a:r>
              <a:rPr lang="en-US" b="1" dirty="0"/>
              <a:t>Why Are Data Types Important?</a:t>
            </a:r>
          </a:p>
          <a:p>
            <a:pPr marL="0" indent="0">
              <a:buNone/>
            </a:pPr>
            <a:r>
              <a:rPr lang="en-US" dirty="0"/>
              <a:t>✅ Ensure data accuracy</a:t>
            </a:r>
            <a:br>
              <a:rPr lang="en-US" dirty="0"/>
            </a:br>
            <a:r>
              <a:rPr lang="en-US" dirty="0"/>
              <a:t>✅ Reduce storage usage</a:t>
            </a:r>
            <a:br>
              <a:rPr lang="en-US" dirty="0"/>
            </a:br>
            <a:r>
              <a:rPr lang="en-US" dirty="0"/>
              <a:t>✅ Improve database performance</a:t>
            </a:r>
            <a:br>
              <a:rPr lang="en-US" dirty="0"/>
            </a:br>
            <a:r>
              <a:rPr lang="en-US" dirty="0"/>
              <a:t>✅ Prevent invalid data entry</a:t>
            </a:r>
          </a:p>
          <a:p>
            <a:pPr marL="0" indent="0" algn="just">
              <a:buNone/>
            </a:pPr>
            <a:endParaRPr lang="en-US" dirty="0"/>
          </a:p>
        </p:txBody>
      </p:sp>
      <p:sp>
        <p:nvSpPr>
          <p:cNvPr id="4" name="Rectangle: Rounded Corners 3">
            <a:extLst>
              <a:ext uri="{FF2B5EF4-FFF2-40B4-BE49-F238E27FC236}">
                <a16:creationId xmlns:a16="http://schemas.microsoft.com/office/drawing/2014/main" id="{DD1190FA-50D5-87E7-2D58-7D48F26681D0}"/>
              </a:ext>
            </a:extLst>
          </p:cNvPr>
          <p:cNvSpPr/>
          <p:nvPr/>
        </p:nvSpPr>
        <p:spPr>
          <a:xfrm>
            <a:off x="5853845" y="4041648"/>
            <a:ext cx="5681472" cy="1883664"/>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a:latin typeface="ADLaM Display" panose="02010000000000000000" pitchFamily="2" charset="0"/>
                <a:ea typeface="ADLaM Display" panose="02010000000000000000" pitchFamily="2" charset="0"/>
                <a:cs typeface="ADLaM Display" panose="02010000000000000000" pitchFamily="2" charset="0"/>
              </a:rPr>
              <a:t>CREATE TABLE table_name(column1 datatype, column2 datatype....)</a:t>
            </a:r>
          </a:p>
        </p:txBody>
      </p:sp>
    </p:spTree>
    <p:extLst>
      <p:ext uri="{BB962C8B-B14F-4D97-AF65-F5344CB8AC3E}">
        <p14:creationId xmlns:p14="http://schemas.microsoft.com/office/powerpoint/2010/main" val="41236425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65A60-5D84-2D2E-8B4F-18BAEA70DB5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Types (in PostgreSQL)</a:t>
            </a:r>
          </a:p>
        </p:txBody>
      </p:sp>
      <p:graphicFrame>
        <p:nvGraphicFramePr>
          <p:cNvPr id="4" name="Table 3">
            <a:extLst>
              <a:ext uri="{FF2B5EF4-FFF2-40B4-BE49-F238E27FC236}">
                <a16:creationId xmlns:a16="http://schemas.microsoft.com/office/drawing/2014/main" id="{2987168F-CD5B-0097-BA22-EEA6E2CE5D03}"/>
              </a:ext>
            </a:extLst>
          </p:cNvPr>
          <p:cNvGraphicFramePr>
            <a:graphicFrameLocks noGrp="1"/>
          </p:cNvGraphicFramePr>
          <p:nvPr>
            <p:extLst>
              <p:ext uri="{D42A27DB-BD31-4B8C-83A1-F6EECF244321}">
                <p14:modId xmlns:p14="http://schemas.microsoft.com/office/powerpoint/2010/main" val="1196236997"/>
              </p:ext>
            </p:extLst>
          </p:nvPr>
        </p:nvGraphicFramePr>
        <p:xfrm>
          <a:off x="585216" y="1688930"/>
          <a:ext cx="10881360" cy="4913038"/>
        </p:xfrm>
        <a:graphic>
          <a:graphicData uri="http://schemas.openxmlformats.org/drawingml/2006/table">
            <a:tbl>
              <a:tblPr firstRow="1" bandRow="1">
                <a:tableStyleId>{3B4B98B0-60AC-42C2-AFA5-B58CD77FA1E5}</a:tableStyleId>
              </a:tblPr>
              <a:tblGrid>
                <a:gridCol w="2114301">
                  <a:extLst>
                    <a:ext uri="{9D8B030D-6E8A-4147-A177-3AD203B41FA5}">
                      <a16:colId xmlns:a16="http://schemas.microsoft.com/office/drawing/2014/main" val="493943816"/>
                    </a:ext>
                  </a:extLst>
                </a:gridCol>
                <a:gridCol w="5139939">
                  <a:extLst>
                    <a:ext uri="{9D8B030D-6E8A-4147-A177-3AD203B41FA5}">
                      <a16:colId xmlns:a16="http://schemas.microsoft.com/office/drawing/2014/main" val="1690815102"/>
                    </a:ext>
                  </a:extLst>
                </a:gridCol>
                <a:gridCol w="3627120">
                  <a:extLst>
                    <a:ext uri="{9D8B030D-6E8A-4147-A177-3AD203B41FA5}">
                      <a16:colId xmlns:a16="http://schemas.microsoft.com/office/drawing/2014/main" val="2508269243"/>
                    </a:ext>
                  </a:extLst>
                </a:gridCol>
              </a:tblGrid>
              <a:tr h="458634">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Category</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Types</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1893691491"/>
                  </a:ext>
                </a:extLst>
              </a:tr>
              <a:tr h="621983">
                <a:tc>
                  <a:txBody>
                    <a:bodyPr/>
                    <a:lstStyle/>
                    <a:p>
                      <a:r>
                        <a:rPr lang="en-US" b="1" dirty="0"/>
                        <a:t>Numeric Types</a:t>
                      </a:r>
                    </a:p>
                  </a:txBody>
                  <a:tcPr>
                    <a:solidFill>
                      <a:schemeClr val="bg1"/>
                    </a:solidFill>
                  </a:tcPr>
                </a:tc>
                <a:tc>
                  <a:txBody>
                    <a:bodyPr/>
                    <a:lstStyle/>
                    <a:p>
                      <a:r>
                        <a:rPr lang="en-US" dirty="0"/>
                        <a:t>SMALLINT, INTEGER (INT), BIGINT, DECIMAL, NUMERIC, REAL, DOUBLE PRECISION, SMALLSERIAL, SERIAL, BIGSERIAL</a:t>
                      </a:r>
                    </a:p>
                  </a:txBody>
                  <a:tcPr>
                    <a:solidFill>
                      <a:schemeClr val="bg1"/>
                    </a:solidFill>
                  </a:tcPr>
                </a:tc>
                <a:tc>
                  <a:txBody>
                    <a:bodyPr/>
                    <a:lstStyle/>
                    <a:p>
                      <a:r>
                        <a:rPr lang="en-US" dirty="0"/>
                        <a:t>12345, 123.45, 3.14159</a:t>
                      </a:r>
                    </a:p>
                  </a:txBody>
                  <a:tcPr>
                    <a:solidFill>
                      <a:schemeClr val="bg1"/>
                    </a:solidFill>
                  </a:tcPr>
                </a:tc>
                <a:extLst>
                  <a:ext uri="{0D108BD9-81ED-4DB2-BD59-A6C34878D82A}">
                    <a16:rowId xmlns:a16="http://schemas.microsoft.com/office/drawing/2014/main" val="2935505108"/>
                  </a:ext>
                </a:extLst>
              </a:tr>
              <a:tr h="458634">
                <a:tc>
                  <a:txBody>
                    <a:bodyPr/>
                    <a:lstStyle/>
                    <a:p>
                      <a:r>
                        <a:rPr lang="en-US" b="1" dirty="0"/>
                        <a:t>Character/String Types</a:t>
                      </a:r>
                    </a:p>
                  </a:txBody>
                  <a:tcPr>
                    <a:solidFill>
                      <a:schemeClr val="bg1"/>
                    </a:solidFill>
                  </a:tcPr>
                </a:tc>
                <a:tc>
                  <a:txBody>
                    <a:bodyPr/>
                    <a:lstStyle/>
                    <a:p>
                      <a:r>
                        <a:rPr lang="en-US" dirty="0"/>
                        <a:t>CHAR(n), VARCHAR(n), TEXT</a:t>
                      </a:r>
                    </a:p>
                  </a:txBody>
                  <a:tcPr>
                    <a:solidFill>
                      <a:schemeClr val="bg1"/>
                    </a:solidFill>
                  </a:tcPr>
                </a:tc>
                <a:tc>
                  <a:txBody>
                    <a:bodyPr/>
                    <a:lstStyle/>
                    <a:p>
                      <a:r>
                        <a:rPr lang="en-US" dirty="0"/>
                        <a:t>“John”</a:t>
                      </a:r>
                    </a:p>
                  </a:txBody>
                  <a:tcPr>
                    <a:solidFill>
                      <a:schemeClr val="bg1"/>
                    </a:solidFill>
                  </a:tcPr>
                </a:tc>
                <a:extLst>
                  <a:ext uri="{0D108BD9-81ED-4DB2-BD59-A6C34878D82A}">
                    <a16:rowId xmlns:a16="http://schemas.microsoft.com/office/drawing/2014/main" val="340041588"/>
                  </a:ext>
                </a:extLst>
              </a:tr>
              <a:tr h="458634">
                <a:tc>
                  <a:txBody>
                    <a:bodyPr/>
                    <a:lstStyle/>
                    <a:p>
                      <a:r>
                        <a:rPr lang="en-US" b="1" dirty="0"/>
                        <a:t>Boolean Type</a:t>
                      </a:r>
                    </a:p>
                  </a:txBody>
                  <a:tcPr>
                    <a:solidFill>
                      <a:schemeClr val="bg1"/>
                    </a:solidFill>
                  </a:tcPr>
                </a:tc>
                <a:tc>
                  <a:txBody>
                    <a:bodyPr/>
                    <a:lstStyle/>
                    <a:p>
                      <a:r>
                        <a:rPr lang="en-US" dirty="0"/>
                        <a:t>BOOLEAN</a:t>
                      </a:r>
                    </a:p>
                  </a:txBody>
                  <a:tcPr>
                    <a:solidFill>
                      <a:schemeClr val="bg1"/>
                    </a:solidFill>
                  </a:tcPr>
                </a:tc>
                <a:tc>
                  <a:txBody>
                    <a:bodyPr/>
                    <a:lstStyle/>
                    <a:p>
                      <a:r>
                        <a:rPr lang="en-US" dirty="0"/>
                        <a:t>TRUE, FALSE</a:t>
                      </a:r>
                    </a:p>
                  </a:txBody>
                  <a:tcPr>
                    <a:solidFill>
                      <a:schemeClr val="bg1"/>
                    </a:solidFill>
                  </a:tcPr>
                </a:tc>
                <a:extLst>
                  <a:ext uri="{0D108BD9-81ED-4DB2-BD59-A6C34878D82A}">
                    <a16:rowId xmlns:a16="http://schemas.microsoft.com/office/drawing/2014/main" val="1281788752"/>
                  </a:ext>
                </a:extLst>
              </a:tr>
              <a:tr h="621983">
                <a:tc>
                  <a:txBody>
                    <a:bodyPr/>
                    <a:lstStyle/>
                    <a:p>
                      <a:r>
                        <a:rPr lang="en-US" b="1" dirty="0"/>
                        <a:t>Date and Time Types</a:t>
                      </a:r>
                    </a:p>
                  </a:txBody>
                  <a:tcPr>
                    <a:solidFill>
                      <a:schemeClr val="bg1"/>
                    </a:solidFill>
                  </a:tcPr>
                </a:tc>
                <a:tc>
                  <a:txBody>
                    <a:bodyPr/>
                    <a:lstStyle/>
                    <a:p>
                      <a:r>
                        <a:rPr lang="en-US" dirty="0"/>
                        <a:t>DATE, TIME, TIME WITH TIME ZONE, TIMESTAMP, TIMESTAMP WITH TIME ZONE, INTERVAL</a:t>
                      </a:r>
                    </a:p>
                  </a:txBody>
                  <a:tcPr>
                    <a:solidFill>
                      <a:schemeClr val="bg1"/>
                    </a:solidFill>
                  </a:tcPr>
                </a:tc>
                <a:tc>
                  <a:txBody>
                    <a:bodyPr/>
                    <a:lstStyle/>
                    <a:p>
                      <a:r>
                        <a:rPr lang="en-US" dirty="0"/>
                        <a:t>'2026-06-20', '14:30:00'</a:t>
                      </a:r>
                    </a:p>
                  </a:txBody>
                  <a:tcPr>
                    <a:solidFill>
                      <a:schemeClr val="bg1"/>
                    </a:solidFill>
                  </a:tcPr>
                </a:tc>
                <a:extLst>
                  <a:ext uri="{0D108BD9-81ED-4DB2-BD59-A6C34878D82A}">
                    <a16:rowId xmlns:a16="http://schemas.microsoft.com/office/drawing/2014/main" val="2294347405"/>
                  </a:ext>
                </a:extLst>
              </a:tr>
              <a:tr h="458634">
                <a:tc>
                  <a:txBody>
                    <a:bodyPr/>
                    <a:lstStyle/>
                    <a:p>
                      <a:r>
                        <a:rPr lang="en-US" b="1" dirty="0"/>
                        <a:t>Monetary Type</a:t>
                      </a:r>
                    </a:p>
                  </a:txBody>
                  <a:tcPr>
                    <a:solidFill>
                      <a:schemeClr val="bg1"/>
                    </a:solidFill>
                  </a:tcPr>
                </a:tc>
                <a:tc>
                  <a:txBody>
                    <a:bodyPr/>
                    <a:lstStyle/>
                    <a:p>
                      <a:r>
                        <a:rPr lang="en-US" dirty="0"/>
                        <a:t>MONEY</a:t>
                      </a:r>
                    </a:p>
                  </a:txBody>
                  <a:tcPr>
                    <a:solidFill>
                      <a:schemeClr val="bg1"/>
                    </a:solidFill>
                  </a:tcPr>
                </a:tc>
                <a:tc>
                  <a:txBody>
                    <a:bodyPr/>
                    <a:lstStyle/>
                    <a:p>
                      <a:r>
                        <a:rPr lang="en-US" dirty="0"/>
                        <a:t>$1,500.75</a:t>
                      </a:r>
                    </a:p>
                  </a:txBody>
                  <a:tcPr>
                    <a:solidFill>
                      <a:schemeClr val="bg1"/>
                    </a:solidFill>
                  </a:tcPr>
                </a:tc>
                <a:extLst>
                  <a:ext uri="{0D108BD9-81ED-4DB2-BD59-A6C34878D82A}">
                    <a16:rowId xmlns:a16="http://schemas.microsoft.com/office/drawing/2014/main" val="4206924311"/>
                  </a:ext>
                </a:extLst>
              </a:tr>
              <a:tr h="458634">
                <a:tc>
                  <a:txBody>
                    <a:bodyPr/>
                    <a:lstStyle/>
                    <a:p>
                      <a:r>
                        <a:rPr lang="en-US" b="1" dirty="0"/>
                        <a:t>Binary Data Type</a:t>
                      </a:r>
                    </a:p>
                  </a:txBody>
                  <a:tcPr>
                    <a:solidFill>
                      <a:schemeClr val="bg1"/>
                    </a:solidFill>
                  </a:tcPr>
                </a:tc>
                <a:tc>
                  <a:txBody>
                    <a:bodyPr/>
                    <a:lstStyle/>
                    <a:p>
                      <a:r>
                        <a:rPr lang="en-US" dirty="0"/>
                        <a:t>BYTEA</a:t>
                      </a:r>
                    </a:p>
                  </a:txBody>
                  <a:tcPr>
                    <a:solidFill>
                      <a:schemeClr val="bg1"/>
                    </a:solidFill>
                  </a:tcPr>
                </a:tc>
                <a:tc>
                  <a:txBody>
                    <a:bodyPr/>
                    <a:lstStyle/>
                    <a:p>
                      <a:r>
                        <a:rPr lang="en-US" dirty="0"/>
                        <a:t>'\</a:t>
                      </a:r>
                      <a:r>
                        <a:rPr lang="en-US" dirty="0" err="1"/>
                        <a:t>xDEADBEEF</a:t>
                      </a:r>
                      <a:r>
                        <a:rPr lang="en-US" dirty="0"/>
                        <a:t>'</a:t>
                      </a:r>
                    </a:p>
                  </a:txBody>
                  <a:tcPr>
                    <a:solidFill>
                      <a:schemeClr val="bg1"/>
                    </a:solidFill>
                  </a:tcPr>
                </a:tc>
                <a:extLst>
                  <a:ext uri="{0D108BD9-81ED-4DB2-BD59-A6C34878D82A}">
                    <a16:rowId xmlns:a16="http://schemas.microsoft.com/office/drawing/2014/main" val="3551411636"/>
                  </a:ext>
                </a:extLst>
              </a:tr>
              <a:tr h="458634">
                <a:tc>
                  <a:txBody>
                    <a:bodyPr/>
                    <a:lstStyle/>
                    <a:p>
                      <a:r>
                        <a:rPr lang="en-US" b="1" dirty="0"/>
                        <a:t>UUID Type</a:t>
                      </a:r>
                    </a:p>
                  </a:txBody>
                  <a:tcPr>
                    <a:solidFill>
                      <a:schemeClr val="bg1"/>
                    </a:solidFill>
                  </a:tcPr>
                </a:tc>
                <a:tc>
                  <a:txBody>
                    <a:bodyPr/>
                    <a:lstStyle/>
                    <a:p>
                      <a:r>
                        <a:rPr lang="en-US" dirty="0"/>
                        <a:t>UUID</a:t>
                      </a:r>
                    </a:p>
                  </a:txBody>
                  <a:tcPr>
                    <a:solidFill>
                      <a:schemeClr val="bg1"/>
                    </a:solidFill>
                  </a:tcPr>
                </a:tc>
                <a:tc>
                  <a:txBody>
                    <a:bodyPr/>
                    <a:lstStyle/>
                    <a:p>
                      <a:r>
                        <a:rPr lang="en-US" dirty="0"/>
                        <a:t>'550e8400-e29b-41d4-a716-446655440000'</a:t>
                      </a:r>
                    </a:p>
                  </a:txBody>
                  <a:tcPr>
                    <a:solidFill>
                      <a:schemeClr val="bg1"/>
                    </a:solidFill>
                  </a:tcPr>
                </a:tc>
                <a:extLst>
                  <a:ext uri="{0D108BD9-81ED-4DB2-BD59-A6C34878D82A}">
                    <a16:rowId xmlns:a16="http://schemas.microsoft.com/office/drawing/2014/main" val="1851650906"/>
                  </a:ext>
                </a:extLst>
              </a:tr>
              <a:tr h="458634">
                <a:tc>
                  <a:txBody>
                    <a:bodyPr/>
                    <a:lstStyle/>
                    <a:p>
                      <a:r>
                        <a:rPr lang="en-US" b="1" dirty="0"/>
                        <a:t>JSON Types</a:t>
                      </a:r>
                    </a:p>
                  </a:txBody>
                  <a:tcPr>
                    <a:solidFill>
                      <a:schemeClr val="bg1"/>
                    </a:solidFill>
                  </a:tcPr>
                </a:tc>
                <a:tc>
                  <a:txBody>
                    <a:bodyPr/>
                    <a:lstStyle/>
                    <a:p>
                      <a:r>
                        <a:rPr lang="en-US" dirty="0"/>
                        <a:t>JSON, JSONB</a:t>
                      </a:r>
                    </a:p>
                  </a:txBody>
                  <a:tcPr>
                    <a:solidFill>
                      <a:schemeClr val="bg1"/>
                    </a:solidFill>
                  </a:tcPr>
                </a:tc>
                <a:tc>
                  <a:txBody>
                    <a:bodyPr/>
                    <a:lstStyle/>
                    <a:p>
                      <a:r>
                        <a:rPr lang="en-US" dirty="0"/>
                        <a:t>'{"</a:t>
                      </a:r>
                      <a:r>
                        <a:rPr lang="en-US" dirty="0" err="1"/>
                        <a:t>name":"John</a:t>
                      </a:r>
                      <a:r>
                        <a:rPr lang="en-US" dirty="0"/>
                        <a:t>"}'</a:t>
                      </a:r>
                    </a:p>
                  </a:txBody>
                  <a:tcPr>
                    <a:solidFill>
                      <a:schemeClr val="bg1"/>
                    </a:solidFill>
                  </a:tcPr>
                </a:tc>
                <a:extLst>
                  <a:ext uri="{0D108BD9-81ED-4DB2-BD59-A6C34878D82A}">
                    <a16:rowId xmlns:a16="http://schemas.microsoft.com/office/drawing/2014/main" val="1139109836"/>
                  </a:ext>
                </a:extLst>
              </a:tr>
              <a:tr h="458634">
                <a:tc>
                  <a:txBody>
                    <a:bodyPr/>
                    <a:lstStyle/>
                    <a:p>
                      <a:r>
                        <a:rPr lang="en-US" b="1" dirty="0"/>
                        <a:t>XML Type</a:t>
                      </a:r>
                    </a:p>
                  </a:txBody>
                  <a:tcPr>
                    <a:solidFill>
                      <a:schemeClr val="bg1"/>
                    </a:solidFill>
                  </a:tcPr>
                </a:tc>
                <a:tc>
                  <a:txBody>
                    <a:bodyPr/>
                    <a:lstStyle/>
                    <a:p>
                      <a:r>
                        <a:rPr lang="en-US" dirty="0"/>
                        <a:t>XML</a:t>
                      </a:r>
                    </a:p>
                  </a:txBody>
                  <a:tcPr>
                    <a:solidFill>
                      <a:schemeClr val="bg1"/>
                    </a:solidFill>
                  </a:tcPr>
                </a:tc>
                <a:tc>
                  <a:txBody>
                    <a:bodyPr/>
                    <a:lstStyle/>
                    <a:p>
                      <a:r>
                        <a:rPr lang="en-US" dirty="0"/>
                        <a:t>'&lt;employee&gt;&lt;name&gt;John&lt;/name&gt;&lt;/employee&gt;'</a:t>
                      </a:r>
                    </a:p>
                  </a:txBody>
                  <a:tcPr>
                    <a:solidFill>
                      <a:schemeClr val="bg1"/>
                    </a:solidFill>
                  </a:tcPr>
                </a:tc>
                <a:extLst>
                  <a:ext uri="{0D108BD9-81ED-4DB2-BD59-A6C34878D82A}">
                    <a16:rowId xmlns:a16="http://schemas.microsoft.com/office/drawing/2014/main" val="2645027708"/>
                  </a:ext>
                </a:extLst>
              </a:tr>
            </a:tbl>
          </a:graphicData>
        </a:graphic>
      </p:graphicFrame>
    </p:spTree>
    <p:extLst>
      <p:ext uri="{BB962C8B-B14F-4D97-AF65-F5344CB8AC3E}">
        <p14:creationId xmlns:p14="http://schemas.microsoft.com/office/powerpoint/2010/main" val="6009058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78D61-9266-95EE-171E-5E083653A4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127FDE-D31A-B7B2-C9EF-D844F3598233}"/>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p>
        </p:txBody>
      </p:sp>
      <p:graphicFrame>
        <p:nvGraphicFramePr>
          <p:cNvPr id="4" name="Table 3">
            <a:extLst>
              <a:ext uri="{FF2B5EF4-FFF2-40B4-BE49-F238E27FC236}">
                <a16:creationId xmlns:a16="http://schemas.microsoft.com/office/drawing/2014/main" id="{58F79E95-CE24-BA52-EB64-3908421D4F08}"/>
              </a:ext>
            </a:extLst>
          </p:cNvPr>
          <p:cNvGraphicFramePr>
            <a:graphicFrameLocks noGrp="1"/>
          </p:cNvGraphicFramePr>
          <p:nvPr>
            <p:extLst>
              <p:ext uri="{D42A27DB-BD31-4B8C-83A1-F6EECF244321}">
                <p14:modId xmlns:p14="http://schemas.microsoft.com/office/powerpoint/2010/main" val="4145284575"/>
              </p:ext>
            </p:extLst>
          </p:nvPr>
        </p:nvGraphicFramePr>
        <p:xfrm>
          <a:off x="585216" y="1688930"/>
          <a:ext cx="10881360" cy="4813539"/>
        </p:xfrm>
        <a:graphic>
          <a:graphicData uri="http://schemas.openxmlformats.org/drawingml/2006/table">
            <a:tbl>
              <a:tblPr firstRow="1" bandRow="1">
                <a:tableStyleId>{3B4B98B0-60AC-42C2-AFA5-B58CD77FA1E5}</a:tableStyleId>
              </a:tblPr>
              <a:tblGrid>
                <a:gridCol w="2114301">
                  <a:extLst>
                    <a:ext uri="{9D8B030D-6E8A-4147-A177-3AD203B41FA5}">
                      <a16:colId xmlns:a16="http://schemas.microsoft.com/office/drawing/2014/main" val="493943816"/>
                    </a:ext>
                  </a:extLst>
                </a:gridCol>
                <a:gridCol w="5139939">
                  <a:extLst>
                    <a:ext uri="{9D8B030D-6E8A-4147-A177-3AD203B41FA5}">
                      <a16:colId xmlns:a16="http://schemas.microsoft.com/office/drawing/2014/main" val="1690815102"/>
                    </a:ext>
                  </a:extLst>
                </a:gridCol>
                <a:gridCol w="3627120">
                  <a:extLst>
                    <a:ext uri="{9D8B030D-6E8A-4147-A177-3AD203B41FA5}">
                      <a16:colId xmlns:a16="http://schemas.microsoft.com/office/drawing/2014/main" val="2508269243"/>
                    </a:ext>
                  </a:extLst>
                </a:gridCol>
              </a:tblGrid>
              <a:tr h="458634">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Category</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Data Types</a:t>
                      </a:r>
                    </a:p>
                  </a:txBody>
                  <a:tcPr>
                    <a:solidFill>
                      <a:schemeClr val="bg1"/>
                    </a:solidFill>
                  </a:tcPr>
                </a:tc>
                <a:tc>
                  <a: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1893691491"/>
                  </a:ext>
                </a:extLst>
              </a:tr>
              <a:tr h="522484">
                <a:tc>
                  <a:txBody>
                    <a:bodyPr/>
                    <a:lstStyle/>
                    <a:p>
                      <a:r>
                        <a:rPr lang="en-US" b="1" dirty="0"/>
                        <a:t>Array Types</a:t>
                      </a:r>
                    </a:p>
                  </a:txBody>
                  <a:tcPr>
                    <a:solidFill>
                      <a:schemeClr val="bg1"/>
                    </a:solidFill>
                  </a:tcPr>
                </a:tc>
                <a:tc>
                  <a:txBody>
                    <a:bodyPr/>
                    <a:lstStyle/>
                    <a:p>
                      <a:r>
                        <a:rPr lang="en-US" dirty="0"/>
                        <a:t>INTEGER[], TEXT[], VARCHAR[]</a:t>
                      </a:r>
                    </a:p>
                  </a:txBody>
                  <a:tcPr>
                    <a:solidFill>
                      <a:schemeClr val="bg1"/>
                    </a:solidFill>
                  </a:tcPr>
                </a:tc>
                <a:tc>
                  <a:txBody>
                    <a:bodyPr/>
                    <a:lstStyle/>
                    <a:p>
                      <a:r>
                        <a:rPr lang="en-US" dirty="0"/>
                        <a:t>'{1,2,3,4}', '{"</a:t>
                      </a:r>
                      <a:r>
                        <a:rPr lang="en-US" dirty="0" err="1"/>
                        <a:t>Apple","Banana</a:t>
                      </a:r>
                      <a:r>
                        <a:rPr lang="en-US" dirty="0"/>
                        <a:t>"}'</a:t>
                      </a:r>
                    </a:p>
                  </a:txBody>
                  <a:tcPr>
                    <a:solidFill>
                      <a:schemeClr val="bg1"/>
                    </a:solidFill>
                  </a:tcPr>
                </a:tc>
                <a:extLst>
                  <a:ext uri="{0D108BD9-81ED-4DB2-BD59-A6C34878D82A}">
                    <a16:rowId xmlns:a16="http://schemas.microsoft.com/office/drawing/2014/main" val="2935505108"/>
                  </a:ext>
                </a:extLst>
              </a:tr>
              <a:tr h="458634">
                <a:tc>
                  <a:txBody>
                    <a:bodyPr/>
                    <a:lstStyle/>
                    <a:p>
                      <a:r>
                        <a:rPr lang="en-US" b="1" dirty="0"/>
                        <a:t>Enumerated Types</a:t>
                      </a:r>
                    </a:p>
                  </a:txBody>
                  <a:tcPr>
                    <a:solidFill>
                      <a:schemeClr val="bg1"/>
                    </a:solidFill>
                  </a:tcPr>
                </a:tc>
                <a:tc>
                  <a:txBody>
                    <a:bodyPr/>
                    <a:lstStyle/>
                    <a:p>
                      <a:r>
                        <a:rPr lang="en-US" dirty="0"/>
                        <a:t>ENUM</a:t>
                      </a:r>
                    </a:p>
                  </a:txBody>
                  <a:tcPr>
                    <a:solidFill>
                      <a:schemeClr val="bg1"/>
                    </a:solidFill>
                  </a:tcPr>
                </a:tc>
                <a:tc>
                  <a:txBody>
                    <a:bodyPr/>
                    <a:lstStyle/>
                    <a:p>
                      <a:r>
                        <a:rPr lang="en-US" dirty="0"/>
                        <a:t>'Pending', 'Approved'</a:t>
                      </a:r>
                    </a:p>
                  </a:txBody>
                  <a:tcPr>
                    <a:solidFill>
                      <a:schemeClr val="bg1"/>
                    </a:solidFill>
                  </a:tcPr>
                </a:tc>
                <a:extLst>
                  <a:ext uri="{0D108BD9-81ED-4DB2-BD59-A6C34878D82A}">
                    <a16:rowId xmlns:a16="http://schemas.microsoft.com/office/drawing/2014/main" val="340041588"/>
                  </a:ext>
                </a:extLst>
              </a:tr>
              <a:tr h="458634">
                <a:tc>
                  <a:txBody>
                    <a:bodyPr/>
                    <a:lstStyle/>
                    <a:p>
                      <a:r>
                        <a:rPr lang="en-US" b="1" dirty="0"/>
                        <a:t>Composite Types</a:t>
                      </a:r>
                    </a:p>
                  </a:txBody>
                  <a:tcPr>
                    <a:solidFill>
                      <a:schemeClr val="bg1"/>
                    </a:solidFill>
                  </a:tcPr>
                </a:tc>
                <a:tc>
                  <a:txBody>
                    <a:bodyPr/>
                    <a:lstStyle/>
                    <a:p>
                      <a:r>
                        <a:rPr lang="en-US" dirty="0"/>
                        <a:t>User-defined Composite Types</a:t>
                      </a:r>
                    </a:p>
                  </a:txBody>
                  <a:tcPr>
                    <a:solidFill>
                      <a:schemeClr val="bg1"/>
                    </a:solidFill>
                  </a:tcPr>
                </a:tc>
                <a:tc>
                  <a:txBody>
                    <a:bodyPr/>
                    <a:lstStyle/>
                    <a:p>
                      <a:r>
                        <a:rPr lang="en-US" dirty="0"/>
                        <a:t>'(John,25,Developer)'</a:t>
                      </a:r>
                    </a:p>
                  </a:txBody>
                  <a:tcPr>
                    <a:solidFill>
                      <a:schemeClr val="bg1"/>
                    </a:solidFill>
                  </a:tcPr>
                </a:tc>
                <a:extLst>
                  <a:ext uri="{0D108BD9-81ED-4DB2-BD59-A6C34878D82A}">
                    <a16:rowId xmlns:a16="http://schemas.microsoft.com/office/drawing/2014/main" val="1281788752"/>
                  </a:ext>
                </a:extLst>
              </a:tr>
              <a:tr h="621983">
                <a:tc>
                  <a:txBody>
                    <a:bodyPr/>
                    <a:lstStyle/>
                    <a:p>
                      <a:r>
                        <a:rPr lang="en-US" b="1" dirty="0"/>
                        <a:t>Range Types</a:t>
                      </a:r>
                    </a:p>
                  </a:txBody>
                  <a:tcPr>
                    <a:solidFill>
                      <a:schemeClr val="bg1"/>
                    </a:solidFill>
                  </a:tcPr>
                </a:tc>
                <a:tc>
                  <a:txBody>
                    <a:bodyPr/>
                    <a:lstStyle/>
                    <a:p>
                      <a:r>
                        <a:rPr lang="en-US" dirty="0"/>
                        <a:t>INT4RANGE, INT8RANGE, NUMRANGE, TSRANGE, TSTZRANGE, DATERANGE</a:t>
                      </a:r>
                    </a:p>
                  </a:txBody>
                  <a:tcPr>
                    <a:solidFill>
                      <a:schemeClr val="bg1"/>
                    </a:solidFill>
                  </a:tcPr>
                </a:tc>
                <a:tc>
                  <a:txBody>
                    <a:bodyPr/>
                    <a:lstStyle/>
                    <a:p>
                      <a:r>
                        <a:rPr lang="en-US" dirty="0"/>
                        <a:t>'[1,10)', '[2026-01-01,2026-12-31]'</a:t>
                      </a:r>
                    </a:p>
                  </a:txBody>
                  <a:tcPr>
                    <a:solidFill>
                      <a:schemeClr val="bg1"/>
                    </a:solidFill>
                  </a:tcPr>
                </a:tc>
                <a:extLst>
                  <a:ext uri="{0D108BD9-81ED-4DB2-BD59-A6C34878D82A}">
                    <a16:rowId xmlns:a16="http://schemas.microsoft.com/office/drawing/2014/main" val="2294347405"/>
                  </a:ext>
                </a:extLst>
              </a:tr>
              <a:tr h="458634">
                <a:tc>
                  <a:txBody>
                    <a:bodyPr/>
                    <a:lstStyle/>
                    <a:p>
                      <a:r>
                        <a:rPr lang="en-US" b="1" dirty="0"/>
                        <a:t>Geometric Types</a:t>
                      </a:r>
                    </a:p>
                  </a:txBody>
                  <a:tcPr>
                    <a:solidFill>
                      <a:schemeClr val="bg1"/>
                    </a:solidFill>
                  </a:tcPr>
                </a:tc>
                <a:tc>
                  <a:txBody>
                    <a:bodyPr/>
                    <a:lstStyle/>
                    <a:p>
                      <a:r>
                        <a:rPr lang="en-US" dirty="0"/>
                        <a:t>POINT, LINE, LSEG, BOX, PATH, POLYGON, CIRCLE</a:t>
                      </a:r>
                    </a:p>
                  </a:txBody>
                  <a:tcPr>
                    <a:solidFill>
                      <a:schemeClr val="bg1"/>
                    </a:solidFill>
                  </a:tcPr>
                </a:tc>
                <a:tc>
                  <a:txBody>
                    <a:bodyPr/>
                    <a:lstStyle/>
                    <a:p>
                      <a:r>
                        <a:rPr lang="en-US" dirty="0"/>
                        <a:t>'(10,20)', '((0,0),(10,10))'</a:t>
                      </a:r>
                    </a:p>
                  </a:txBody>
                  <a:tcPr>
                    <a:solidFill>
                      <a:schemeClr val="bg1"/>
                    </a:solidFill>
                  </a:tcPr>
                </a:tc>
                <a:extLst>
                  <a:ext uri="{0D108BD9-81ED-4DB2-BD59-A6C34878D82A}">
                    <a16:rowId xmlns:a16="http://schemas.microsoft.com/office/drawing/2014/main" val="4206924311"/>
                  </a:ext>
                </a:extLst>
              </a:tr>
              <a:tr h="458634">
                <a:tc>
                  <a:txBody>
                    <a:bodyPr/>
                    <a:lstStyle/>
                    <a:p>
                      <a:r>
                        <a:rPr lang="en-US" b="1" dirty="0"/>
                        <a:t>Network Address Types</a:t>
                      </a:r>
                    </a:p>
                  </a:txBody>
                  <a:tcPr>
                    <a:solidFill>
                      <a:schemeClr val="bg1"/>
                    </a:solidFill>
                  </a:tcPr>
                </a:tc>
                <a:tc>
                  <a:txBody>
                    <a:bodyPr/>
                    <a:lstStyle/>
                    <a:p>
                      <a:r>
                        <a:rPr lang="en-US" dirty="0"/>
                        <a:t>CIDR, INET, MACADDR, MACADDR8</a:t>
                      </a:r>
                    </a:p>
                  </a:txBody>
                  <a:tcPr>
                    <a:solidFill>
                      <a:schemeClr val="bg1"/>
                    </a:solidFill>
                  </a:tcPr>
                </a:tc>
                <a:tc>
                  <a:txBody>
                    <a:bodyPr/>
                    <a:lstStyle/>
                    <a:p>
                      <a:r>
                        <a:rPr lang="en-US" dirty="0"/>
                        <a:t>'192.168.1.100', '08:00:2b:01:02:03'</a:t>
                      </a:r>
                    </a:p>
                  </a:txBody>
                  <a:tcPr>
                    <a:solidFill>
                      <a:schemeClr val="bg1"/>
                    </a:solidFill>
                  </a:tcPr>
                </a:tc>
                <a:extLst>
                  <a:ext uri="{0D108BD9-81ED-4DB2-BD59-A6C34878D82A}">
                    <a16:rowId xmlns:a16="http://schemas.microsoft.com/office/drawing/2014/main" val="3551411636"/>
                  </a:ext>
                </a:extLst>
              </a:tr>
              <a:tr h="458634">
                <a:tc>
                  <a:txBody>
                    <a:bodyPr/>
                    <a:lstStyle/>
                    <a:p>
                      <a:r>
                        <a:rPr lang="en-US" b="1" dirty="0"/>
                        <a:t>Bit String Types</a:t>
                      </a:r>
                    </a:p>
                  </a:txBody>
                  <a:tcPr>
                    <a:solidFill>
                      <a:schemeClr val="bg1"/>
                    </a:solidFill>
                  </a:tcPr>
                </a:tc>
                <a:tc>
                  <a:txBody>
                    <a:bodyPr/>
                    <a:lstStyle/>
                    <a:p>
                      <a:r>
                        <a:rPr lang="en-US" dirty="0"/>
                        <a:t>BIT, BIT VARYING</a:t>
                      </a:r>
                    </a:p>
                  </a:txBody>
                  <a:tcPr>
                    <a:solidFill>
                      <a:schemeClr val="bg1"/>
                    </a:solidFill>
                  </a:tcPr>
                </a:tc>
                <a:tc>
                  <a:txBody>
                    <a:bodyPr/>
                    <a:lstStyle/>
                    <a:p>
                      <a:r>
                        <a:rPr lang="en-US" dirty="0"/>
                        <a:t>B'10101010'</a:t>
                      </a:r>
                    </a:p>
                  </a:txBody>
                  <a:tcPr>
                    <a:solidFill>
                      <a:schemeClr val="bg1"/>
                    </a:solidFill>
                  </a:tcPr>
                </a:tc>
                <a:extLst>
                  <a:ext uri="{0D108BD9-81ED-4DB2-BD59-A6C34878D82A}">
                    <a16:rowId xmlns:a16="http://schemas.microsoft.com/office/drawing/2014/main" val="1851650906"/>
                  </a:ext>
                </a:extLst>
              </a:tr>
              <a:tr h="458634">
                <a:tc>
                  <a:txBody>
                    <a:bodyPr/>
                    <a:lstStyle/>
                    <a:p>
                      <a:r>
                        <a:rPr lang="en-US" b="1" dirty="0"/>
                        <a:t>Text Search Types</a:t>
                      </a:r>
                    </a:p>
                  </a:txBody>
                  <a:tcPr>
                    <a:solidFill>
                      <a:schemeClr val="bg1"/>
                    </a:solidFill>
                  </a:tcPr>
                </a:tc>
                <a:tc>
                  <a:txBody>
                    <a:bodyPr/>
                    <a:lstStyle/>
                    <a:p>
                      <a:r>
                        <a:rPr lang="en-US" dirty="0"/>
                        <a:t>TSVECTOR, TSQUERY</a:t>
                      </a:r>
                    </a:p>
                  </a:txBody>
                  <a:tcPr>
                    <a:solidFill>
                      <a:schemeClr val="bg1"/>
                    </a:solidFill>
                  </a:tcPr>
                </a:tc>
                <a:tc>
                  <a:txBody>
                    <a:bodyPr/>
                    <a:lstStyle/>
                    <a:p>
                      <a:r>
                        <a:rPr lang="en-US" dirty="0"/>
                        <a:t>'</a:t>
                      </a:r>
                      <a:r>
                        <a:rPr lang="en-US" dirty="0" err="1"/>
                        <a:t>postgresql</a:t>
                      </a:r>
                      <a:r>
                        <a:rPr lang="en-US" dirty="0"/>
                        <a:t> &amp; database'</a:t>
                      </a:r>
                    </a:p>
                  </a:txBody>
                  <a:tcPr>
                    <a:solidFill>
                      <a:schemeClr val="bg1"/>
                    </a:solidFill>
                  </a:tcPr>
                </a:tc>
                <a:extLst>
                  <a:ext uri="{0D108BD9-81ED-4DB2-BD59-A6C34878D82A}">
                    <a16:rowId xmlns:a16="http://schemas.microsoft.com/office/drawing/2014/main" val="1139109836"/>
                  </a:ext>
                </a:extLst>
              </a:tr>
              <a:tr h="458634">
                <a:tc>
                  <a:txBody>
                    <a:bodyPr/>
                    <a:lstStyle/>
                    <a:p>
                      <a:r>
                        <a:rPr lang="en-US" b="1" dirty="0"/>
                        <a:t>Object Identifier Types</a:t>
                      </a:r>
                    </a:p>
                  </a:txBody>
                  <a:tcPr>
                    <a:solidFill>
                      <a:schemeClr val="bg1"/>
                    </a:solidFill>
                  </a:tcPr>
                </a:tc>
                <a:tc>
                  <a:txBody>
                    <a:bodyPr/>
                    <a:lstStyle/>
                    <a:p>
                      <a:r>
                        <a:rPr lang="en-US" dirty="0"/>
                        <a:t>OID, REGPROC, REGCLASS, REGTYPE</a:t>
                      </a:r>
                    </a:p>
                  </a:txBody>
                  <a:tcPr>
                    <a:solidFill>
                      <a:schemeClr val="bg1"/>
                    </a:solidFill>
                  </a:tcPr>
                </a:tc>
                <a:tc>
                  <a:txBody>
                    <a:bodyPr/>
                    <a:lstStyle/>
                    <a:p>
                      <a:r>
                        <a:rPr lang="en-US" dirty="0"/>
                        <a:t>16384, 'employees'</a:t>
                      </a:r>
                    </a:p>
                  </a:txBody>
                  <a:tcPr>
                    <a:solidFill>
                      <a:schemeClr val="bg1"/>
                    </a:solidFill>
                  </a:tcPr>
                </a:tc>
                <a:extLst>
                  <a:ext uri="{0D108BD9-81ED-4DB2-BD59-A6C34878D82A}">
                    <a16:rowId xmlns:a16="http://schemas.microsoft.com/office/drawing/2014/main" val="2645027708"/>
                  </a:ext>
                </a:extLst>
              </a:tr>
            </a:tbl>
          </a:graphicData>
        </a:graphic>
      </p:graphicFrame>
    </p:spTree>
    <p:extLst>
      <p:ext uri="{BB962C8B-B14F-4D97-AF65-F5344CB8AC3E}">
        <p14:creationId xmlns:p14="http://schemas.microsoft.com/office/powerpoint/2010/main" val="2009122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A01A84-D865-0578-6AD1-5E4E26226C3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Constraints</a:t>
            </a:r>
          </a:p>
        </p:txBody>
      </p:sp>
      <p:sp>
        <p:nvSpPr>
          <p:cNvPr id="3" name="Text Placeholder 2">
            <a:extLst>
              <a:ext uri="{FF2B5EF4-FFF2-40B4-BE49-F238E27FC236}">
                <a16:creationId xmlns:a16="http://schemas.microsoft.com/office/drawing/2014/main" id="{B4222DE6-516B-E119-5574-4DFDCFC0E6C7}"/>
              </a:ext>
            </a:extLst>
          </p:cNvPr>
          <p:cNvSpPr>
            <a:spLocks noGrp="1"/>
          </p:cNvSpPr>
          <p:nvPr>
            <p:ph type="body" sz="quarter" idx="14"/>
          </p:nvPr>
        </p:nvSpPr>
        <p:spPr>
          <a:xfrm>
            <a:off x="1399075" y="1533672"/>
            <a:ext cx="10158941" cy="5123159"/>
          </a:xfrm>
        </p:spPr>
        <p:txBody>
          <a:bodyPr/>
          <a:lstStyle/>
          <a:p>
            <a:pPr algn="just"/>
            <a:r>
              <a:rPr lang="en-US" dirty="0"/>
              <a:t> SQL Constraints are rules applied to table columns to enforce data integrity, accuracy, and consistency in a database.</a:t>
            </a:r>
          </a:p>
          <a:p>
            <a:pPr algn="just"/>
            <a:r>
              <a:rPr lang="en-US" dirty="0"/>
              <a:t> They prevent invalid data from being inserted, updated, or deleted and help maintain reliable relationships between tables.</a:t>
            </a:r>
          </a:p>
          <a:p>
            <a:pPr algn="just"/>
            <a:r>
              <a:rPr lang="en-US" dirty="0"/>
              <a:t> SQL Constraints act as data validation rules that ensure only accurate and meaningful data is stored in the database.</a:t>
            </a:r>
          </a:p>
          <a:p>
            <a:pPr marL="0" indent="0" algn="just">
              <a:buNone/>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Benefits of Constraints</a:t>
            </a:r>
          </a:p>
          <a:p>
            <a:pPr algn="just">
              <a:buBlip>
                <a:blip r:embed="rId2"/>
              </a:buBlip>
            </a:pPr>
            <a:r>
              <a:rPr lang="en-US" dirty="0"/>
              <a:t> It improves data quality and consistency.</a:t>
            </a:r>
          </a:p>
          <a:p>
            <a:pPr algn="just">
              <a:buBlip>
                <a:blip r:embed="rId2"/>
              </a:buBlip>
            </a:pPr>
            <a:r>
              <a:rPr lang="en-US" dirty="0"/>
              <a:t> Prevent invalid or duplicate data.</a:t>
            </a:r>
          </a:p>
          <a:p>
            <a:pPr algn="just">
              <a:buBlip>
                <a:blip r:embed="rId2"/>
              </a:buBlip>
            </a:pPr>
            <a:r>
              <a:rPr lang="en-US" dirty="0"/>
              <a:t> Enforce business rules automatically.</a:t>
            </a:r>
          </a:p>
          <a:p>
            <a:pPr algn="just">
              <a:buBlip>
                <a:blip r:embed="rId2"/>
              </a:buBlip>
            </a:pPr>
            <a:r>
              <a:rPr lang="en-US" dirty="0"/>
              <a:t> Main relationships between tables.</a:t>
            </a:r>
          </a:p>
          <a:p>
            <a:pPr algn="just">
              <a:buBlip>
                <a:blip r:embed="rId2"/>
              </a:buBlip>
            </a:pPr>
            <a:r>
              <a:rPr lang="en-US" dirty="0"/>
              <a:t> Enhance database reliability and integrity.</a:t>
            </a:r>
          </a:p>
        </p:txBody>
      </p:sp>
    </p:spTree>
    <p:extLst>
      <p:ext uri="{BB962C8B-B14F-4D97-AF65-F5344CB8AC3E}">
        <p14:creationId xmlns:p14="http://schemas.microsoft.com/office/powerpoint/2010/main" val="37816738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B25B1-BCE4-7E9C-06FD-06CF96ADE23A}"/>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p>
        </p:txBody>
      </p:sp>
      <p:graphicFrame>
        <p:nvGraphicFramePr>
          <p:cNvPr id="4" name="Table 3">
            <a:extLst>
              <a:ext uri="{FF2B5EF4-FFF2-40B4-BE49-F238E27FC236}">
                <a16:creationId xmlns:a16="http://schemas.microsoft.com/office/drawing/2014/main" id="{4F9CD73D-E7CD-F650-634A-ACD505AFEFB8}"/>
              </a:ext>
            </a:extLst>
          </p:cNvPr>
          <p:cNvGraphicFramePr>
            <a:graphicFrameLocks noGrp="1"/>
          </p:cNvGraphicFramePr>
          <p:nvPr>
            <p:extLst>
              <p:ext uri="{D42A27DB-BD31-4B8C-83A1-F6EECF244321}">
                <p14:modId xmlns:p14="http://schemas.microsoft.com/office/powerpoint/2010/main" val="3242322229"/>
              </p:ext>
            </p:extLst>
          </p:nvPr>
        </p:nvGraphicFramePr>
        <p:xfrm>
          <a:off x="1156920" y="1469474"/>
          <a:ext cx="10711992" cy="5077629"/>
        </p:xfrm>
        <a:graphic>
          <a:graphicData uri="http://schemas.openxmlformats.org/drawingml/2006/table">
            <a:tbl>
              <a:tblPr firstRow="1" bandRow="1">
                <a:tableStyleId>{3B4B98B0-60AC-42C2-AFA5-B58CD77FA1E5}</a:tableStyleId>
              </a:tblPr>
              <a:tblGrid>
                <a:gridCol w="2161064">
                  <a:extLst>
                    <a:ext uri="{9D8B030D-6E8A-4147-A177-3AD203B41FA5}">
                      <a16:colId xmlns:a16="http://schemas.microsoft.com/office/drawing/2014/main" val="1749165179"/>
                    </a:ext>
                  </a:extLst>
                </a:gridCol>
                <a:gridCol w="4980264">
                  <a:extLst>
                    <a:ext uri="{9D8B030D-6E8A-4147-A177-3AD203B41FA5}">
                      <a16:colId xmlns:a16="http://schemas.microsoft.com/office/drawing/2014/main" val="590905286"/>
                    </a:ext>
                  </a:extLst>
                </a:gridCol>
                <a:gridCol w="3570664">
                  <a:extLst>
                    <a:ext uri="{9D8B030D-6E8A-4147-A177-3AD203B41FA5}">
                      <a16:colId xmlns:a16="http://schemas.microsoft.com/office/drawing/2014/main" val="746165646"/>
                    </a:ext>
                  </a:extLst>
                </a:gridCol>
              </a:tblGrid>
              <a:tr h="468150">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Constraint</a:t>
                      </a:r>
                    </a:p>
                  </a:txBody>
                  <a:tcPr>
                    <a:solidFill>
                      <a:schemeClr val="bg1"/>
                    </a:solidFill>
                  </a:tcPr>
                </a:tc>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solidFill>
                      <a:schemeClr val="bg1"/>
                    </a:solidFill>
                  </a:tcPr>
                </a:tc>
                <a:tc>
                  <a:txBody>
                    <a:bodyPr/>
                    <a:lstStyle/>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Example</a:t>
                      </a:r>
                    </a:p>
                  </a:txBody>
                  <a:tcPr>
                    <a:solidFill>
                      <a:schemeClr val="bg1"/>
                    </a:solidFill>
                  </a:tcPr>
                </a:tc>
                <a:extLst>
                  <a:ext uri="{0D108BD9-81ED-4DB2-BD59-A6C34878D82A}">
                    <a16:rowId xmlns:a16="http://schemas.microsoft.com/office/drawing/2014/main" val="3992183745"/>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NOT NULL</a:t>
                      </a:r>
                    </a:p>
                  </a:txBody>
                  <a:tcPr>
                    <a:solidFill>
                      <a:schemeClr val="bg1"/>
                    </a:solidFill>
                  </a:tcPr>
                </a:tc>
                <a:tc>
                  <a:txBody>
                    <a:bodyPr/>
                    <a:lstStyle/>
                    <a:p>
                      <a:r>
                        <a:rPr lang="en-US" sz="2000" dirty="0"/>
                        <a:t>Ensures a column cannot contain NULL values.</a:t>
                      </a:r>
                    </a:p>
                  </a:txBody>
                  <a:tcPr>
                    <a:solidFill>
                      <a:schemeClr val="bg1"/>
                    </a:solidFill>
                  </a:tcPr>
                </a:tc>
                <a:tc>
                  <a:txBody>
                    <a:bodyPr/>
                    <a:lstStyle/>
                    <a:p>
                      <a:r>
                        <a:rPr lang="en-US" sz="2000" dirty="0"/>
                        <a:t>A  customer’s name must always be provided.</a:t>
                      </a:r>
                    </a:p>
                  </a:txBody>
                  <a:tcPr>
                    <a:solidFill>
                      <a:schemeClr val="bg1"/>
                    </a:solidFill>
                  </a:tcPr>
                </a:tc>
                <a:extLst>
                  <a:ext uri="{0D108BD9-81ED-4DB2-BD59-A6C34878D82A}">
                    <a16:rowId xmlns:a16="http://schemas.microsoft.com/office/drawing/2014/main" val="3189235545"/>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UNIQUE</a:t>
                      </a:r>
                    </a:p>
                  </a:txBody>
                  <a:tcPr>
                    <a:solidFill>
                      <a:schemeClr val="bg1"/>
                    </a:solidFill>
                  </a:tcPr>
                </a:tc>
                <a:tc>
                  <a:txBody>
                    <a:bodyPr/>
                    <a:lstStyle/>
                    <a:p>
                      <a:r>
                        <a:rPr lang="en-US" sz="2000" dirty="0"/>
                        <a:t>Ensures all values in a column are different</a:t>
                      </a:r>
                    </a:p>
                  </a:txBody>
                  <a:tcPr>
                    <a:solidFill>
                      <a:schemeClr val="bg1"/>
                    </a:solidFill>
                  </a:tcPr>
                </a:tc>
                <a:tc>
                  <a:txBody>
                    <a:bodyPr/>
                    <a:lstStyle/>
                    <a:p>
                      <a:r>
                        <a:rPr lang="en-US" sz="2000" dirty="0"/>
                        <a:t>No two users can have the same email address.</a:t>
                      </a:r>
                    </a:p>
                  </a:txBody>
                  <a:tcPr>
                    <a:solidFill>
                      <a:schemeClr val="bg1"/>
                    </a:solidFill>
                  </a:tcPr>
                </a:tc>
                <a:extLst>
                  <a:ext uri="{0D108BD9-81ED-4DB2-BD59-A6C34878D82A}">
                    <a16:rowId xmlns:a16="http://schemas.microsoft.com/office/drawing/2014/main" val="707014809"/>
                  </a:ext>
                </a:extLst>
              </a:tr>
              <a:tr h="828266">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PRIMARY KEY</a:t>
                      </a:r>
                    </a:p>
                  </a:txBody>
                  <a:tcPr>
                    <a:solidFill>
                      <a:schemeClr val="bg1"/>
                    </a:solidFill>
                  </a:tcPr>
                </a:tc>
                <a:tc>
                  <a:txBody>
                    <a:bodyPr/>
                    <a:lstStyle/>
                    <a:p>
                      <a:r>
                        <a:rPr lang="en-US" sz="2000" dirty="0"/>
                        <a:t>Uniquely identifies each record in a table. Combines UNIQUE and NOT NULL.</a:t>
                      </a:r>
                    </a:p>
                  </a:txBody>
                  <a:tcPr>
                    <a:solidFill>
                      <a:schemeClr val="bg1"/>
                    </a:solidFill>
                  </a:tcPr>
                </a:tc>
                <a:tc>
                  <a:txBody>
                    <a:bodyPr/>
                    <a:lstStyle/>
                    <a:p>
                      <a:r>
                        <a:rPr lang="en-US" sz="2000" dirty="0"/>
                        <a:t>StudentID uniquely identifies each student.</a:t>
                      </a:r>
                    </a:p>
                  </a:txBody>
                  <a:tcPr>
                    <a:solidFill>
                      <a:schemeClr val="bg1"/>
                    </a:solidFill>
                  </a:tcPr>
                </a:tc>
                <a:extLst>
                  <a:ext uri="{0D108BD9-81ED-4DB2-BD59-A6C34878D82A}">
                    <a16:rowId xmlns:a16="http://schemas.microsoft.com/office/drawing/2014/main" val="1452665516"/>
                  </a:ext>
                </a:extLst>
              </a:tr>
              <a:tr h="1188381">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FOREIGN KEY</a:t>
                      </a:r>
                    </a:p>
                  </a:txBody>
                  <a:tcPr>
                    <a:solidFill>
                      <a:schemeClr val="bg1"/>
                    </a:solidFill>
                  </a:tcPr>
                </a:tc>
                <a:tc>
                  <a:txBody>
                    <a:bodyPr/>
                    <a:lstStyle/>
                    <a:p>
                      <a:r>
                        <a:rPr lang="en-US" sz="2000" dirty="0"/>
                        <a:t>Maintains referential integrity between tables.</a:t>
                      </a:r>
                    </a:p>
                  </a:txBody>
                  <a:tcPr>
                    <a:solidFill>
                      <a:schemeClr val="bg1"/>
                    </a:solidFill>
                  </a:tcPr>
                </a:tc>
                <a:tc>
                  <a:txBody>
                    <a:bodyPr/>
                    <a:lstStyle/>
                    <a:p>
                      <a:r>
                        <a:rPr lang="en-US" sz="2000" dirty="0" err="1"/>
                        <a:t>DepartmentID</a:t>
                      </a:r>
                      <a:r>
                        <a:rPr lang="en-US" sz="2000" dirty="0"/>
                        <a:t> in Employee table references Department table.</a:t>
                      </a:r>
                    </a:p>
                  </a:txBody>
                  <a:tcPr>
                    <a:solidFill>
                      <a:schemeClr val="bg1"/>
                    </a:solidFill>
                  </a:tcPr>
                </a:tc>
                <a:extLst>
                  <a:ext uri="{0D108BD9-81ED-4DB2-BD59-A6C34878D82A}">
                    <a16:rowId xmlns:a16="http://schemas.microsoft.com/office/drawing/2014/main" val="3969144555"/>
                  </a:ext>
                </a:extLst>
              </a:tr>
              <a:tr h="468150">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CHECK</a:t>
                      </a:r>
                    </a:p>
                  </a:txBody>
                  <a:tcPr>
                    <a:solidFill>
                      <a:schemeClr val="bg1"/>
                    </a:solidFill>
                  </a:tcPr>
                </a:tc>
                <a:tc>
                  <a:txBody>
                    <a:bodyPr/>
                    <a:lstStyle/>
                    <a:p>
                      <a:r>
                        <a:rPr lang="en-US" sz="2000" dirty="0"/>
                        <a:t>Restricts values based on a condition</a:t>
                      </a:r>
                    </a:p>
                  </a:txBody>
                  <a:tcPr>
                    <a:solidFill>
                      <a:schemeClr val="bg1"/>
                    </a:solidFill>
                  </a:tcPr>
                </a:tc>
                <a:tc>
                  <a:txBody>
                    <a:bodyPr/>
                    <a:lstStyle/>
                    <a:p>
                      <a:r>
                        <a:rPr lang="en-US" sz="2000" dirty="0"/>
                        <a:t>Age must be greater than 18.</a:t>
                      </a:r>
                    </a:p>
                  </a:txBody>
                  <a:tcPr>
                    <a:solidFill>
                      <a:schemeClr val="bg1"/>
                    </a:solidFill>
                  </a:tcPr>
                </a:tc>
                <a:extLst>
                  <a:ext uri="{0D108BD9-81ED-4DB2-BD59-A6C34878D82A}">
                    <a16:rowId xmlns:a16="http://schemas.microsoft.com/office/drawing/2014/main" val="3593055485"/>
                  </a:ext>
                </a:extLst>
              </a:tr>
              <a:tr h="468150">
                <a:tc>
                  <a:txBody>
                    <a:bodyPr/>
                    <a:lstStyle/>
                    <a:p>
                      <a:r>
                        <a:rPr lang="en-US" sz="2000" b="1" dirty="0">
                          <a:latin typeface="ADLaM Display" panose="02010000000000000000" pitchFamily="2" charset="0"/>
                          <a:ea typeface="ADLaM Display" panose="02010000000000000000" pitchFamily="2" charset="0"/>
                          <a:cs typeface="ADLaM Display" panose="02010000000000000000" pitchFamily="2" charset="0"/>
                        </a:rPr>
                        <a:t>DEFAULT</a:t>
                      </a:r>
                    </a:p>
                  </a:txBody>
                  <a:tcPr>
                    <a:solidFill>
                      <a:schemeClr val="bg1"/>
                    </a:solidFill>
                  </a:tcPr>
                </a:tc>
                <a:tc>
                  <a:txBody>
                    <a:bodyPr/>
                    <a:lstStyle/>
                    <a:p>
                      <a:r>
                        <a:rPr lang="en-US" sz="2000" dirty="0"/>
                        <a:t>Assigns a default value if none is provided.</a:t>
                      </a:r>
                    </a:p>
                  </a:txBody>
                  <a:tcPr>
                    <a:solidFill>
                      <a:schemeClr val="bg1"/>
                    </a:solidFill>
                  </a:tcPr>
                </a:tc>
                <a:tc>
                  <a:txBody>
                    <a:bodyPr/>
                    <a:lstStyle/>
                    <a:p>
                      <a:r>
                        <a:rPr lang="en-US" sz="2000" dirty="0"/>
                        <a:t>Status defaults to ‘Active’.</a:t>
                      </a:r>
                    </a:p>
                  </a:txBody>
                  <a:tcPr>
                    <a:solidFill>
                      <a:schemeClr val="bg1"/>
                    </a:solidFill>
                  </a:tcPr>
                </a:tc>
                <a:extLst>
                  <a:ext uri="{0D108BD9-81ED-4DB2-BD59-A6C34878D82A}">
                    <a16:rowId xmlns:a16="http://schemas.microsoft.com/office/drawing/2014/main" val="3386620906"/>
                  </a:ext>
                </a:extLst>
              </a:tr>
            </a:tbl>
          </a:graphicData>
        </a:graphic>
      </p:graphicFrame>
    </p:spTree>
    <p:extLst>
      <p:ext uri="{BB962C8B-B14F-4D97-AF65-F5344CB8AC3E}">
        <p14:creationId xmlns:p14="http://schemas.microsoft.com/office/powerpoint/2010/main" val="18240932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B9239F1-032F-0D42-7069-4AEF5839214E}"/>
              </a:ext>
            </a:extLst>
          </p:cNvPr>
          <p:cNvPicPr>
            <a:picLocks noChangeAspect="1"/>
          </p:cNvPicPr>
          <p:nvPr/>
        </p:nvPicPr>
        <p:blipFill>
          <a:blip r:embed="rId2"/>
          <a:stretch>
            <a:fillRect/>
          </a:stretch>
        </p:blipFill>
        <p:spPr>
          <a:xfrm>
            <a:off x="1144524" y="128016"/>
            <a:ext cx="9974580" cy="6649720"/>
          </a:xfrm>
          <a:prstGeom prst="rect">
            <a:avLst/>
          </a:prstGeom>
        </p:spPr>
      </p:pic>
    </p:spTree>
    <p:extLst>
      <p:ext uri="{BB962C8B-B14F-4D97-AF65-F5344CB8AC3E}">
        <p14:creationId xmlns:p14="http://schemas.microsoft.com/office/powerpoint/2010/main" val="965113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277FBF-F83A-72F1-C4E8-E04F01AB649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Primary Key (PK)</a:t>
            </a:r>
          </a:p>
        </p:txBody>
      </p:sp>
      <p:sp>
        <p:nvSpPr>
          <p:cNvPr id="3" name="Text Placeholder 2">
            <a:extLst>
              <a:ext uri="{FF2B5EF4-FFF2-40B4-BE49-F238E27FC236}">
                <a16:creationId xmlns:a16="http://schemas.microsoft.com/office/drawing/2014/main" id="{6BBCBEDD-30F2-0C82-2856-CD99A89AA43F}"/>
              </a:ext>
            </a:extLst>
          </p:cNvPr>
          <p:cNvSpPr>
            <a:spLocks noGrp="1"/>
          </p:cNvSpPr>
          <p:nvPr>
            <p:ph type="body" sz="quarter" idx="14"/>
          </p:nvPr>
        </p:nvSpPr>
        <p:spPr>
          <a:xfrm>
            <a:off x="1156921" y="1603716"/>
            <a:ext cx="10275570" cy="5254283"/>
          </a:xfrm>
        </p:spPr>
        <p:txBody>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Primary Key </a:t>
            </a:r>
            <a:r>
              <a:rPr lang="en-US" dirty="0"/>
              <a:t>is a column (or set of columns) that uniquely identifies every second in a table.</a:t>
            </a:r>
          </a:p>
          <a:p>
            <a:pPr algn="just">
              <a:buBlip>
                <a:blip r:embed="rId2"/>
              </a:buBlip>
            </a:pPr>
            <a:r>
              <a:rPr lang="en-US" dirty="0"/>
              <a:t> It ensures each row  can be uniquely identifies every record in a table.</a:t>
            </a:r>
          </a:p>
          <a:p>
            <a:pPr algn="just">
              <a:buBlip>
                <a:blip r:embed="rId2"/>
              </a:buBlip>
            </a:pPr>
            <a:r>
              <a:rPr lang="en-US" dirty="0"/>
              <a:t> A table can have only one Primary Key, and its values must always be unique and NOT NULL.</a:t>
            </a:r>
          </a:p>
          <a:p>
            <a:pPr algn="just">
              <a:buBlip>
                <a:blip r:embed="rId2"/>
              </a:buBlip>
            </a:pPr>
            <a:r>
              <a:rPr lang="en-US" dirty="0"/>
              <a:t> Every table should have a Primary Key to ensure that each row can be uniquely accessed.</a:t>
            </a:r>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a:t>    </a:t>
            </a:r>
            <a:r>
              <a:rPr lang="en-US" dirty="0" err="1"/>
              <a:t>column_name</a:t>
            </a:r>
            <a:r>
              <a:rPr lang="en-US" dirty="0"/>
              <a:t> datatype PRIMARY KEY</a:t>
            </a:r>
            <a:br>
              <a:rPr lang="en-US" dirty="0"/>
            </a:br>
            <a:r>
              <a:rPr lang="en-US" dirty="0"/>
              <a:t>);</a:t>
            </a:r>
          </a:p>
          <a:p>
            <a:pPr marL="0" indent="0" algn="just">
              <a:buNone/>
            </a:pPr>
            <a:endParaRPr lang="en-US" dirty="0"/>
          </a:p>
        </p:txBody>
      </p:sp>
    </p:spTree>
    <p:extLst>
      <p:ext uri="{BB962C8B-B14F-4D97-AF65-F5344CB8AC3E}">
        <p14:creationId xmlns:p14="http://schemas.microsoft.com/office/powerpoint/2010/main" val="11501358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24D34-CDD4-8411-0465-37BFC6E47F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DEDED7-1E72-0208-A841-E19DD8BB0F0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Unique Key (UK)</a:t>
            </a:r>
          </a:p>
        </p:txBody>
      </p:sp>
      <p:sp>
        <p:nvSpPr>
          <p:cNvPr id="3" name="Text Placeholder 2">
            <a:extLst>
              <a:ext uri="{FF2B5EF4-FFF2-40B4-BE49-F238E27FC236}">
                <a16:creationId xmlns:a16="http://schemas.microsoft.com/office/drawing/2014/main" id="{4EBCF00D-2113-FD44-37EF-C6BBE459837B}"/>
              </a:ext>
            </a:extLst>
          </p:cNvPr>
          <p:cNvSpPr>
            <a:spLocks noGrp="1"/>
          </p:cNvSpPr>
          <p:nvPr>
            <p:ph type="body" sz="quarter" idx="14"/>
          </p:nvPr>
        </p:nvSpPr>
        <p:spPr>
          <a:xfrm>
            <a:off x="1156921" y="1603716"/>
            <a:ext cx="10275570" cy="5254283"/>
          </a:xfrm>
        </p:spPr>
        <p:txBody>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Unique Key </a:t>
            </a:r>
            <a:r>
              <a:rPr lang="en-US" dirty="0"/>
              <a:t>ensures that all values in a column are unique.</a:t>
            </a:r>
          </a:p>
          <a:p>
            <a:pPr algn="just">
              <a:buBlip>
                <a:blip r:embed="rId2"/>
              </a:buBlip>
            </a:pPr>
            <a:r>
              <a:rPr lang="en-US" dirty="0"/>
              <a:t> Unlike a Primary Key, a table can have multiple Unique Keys.</a:t>
            </a:r>
          </a:p>
          <a:p>
            <a:pPr algn="just">
              <a:buBlip>
                <a:blip r:embed="rId2"/>
              </a:buBlip>
            </a:pPr>
            <a:r>
              <a:rPr lang="en-US" dirty="0"/>
              <a:t> It prevents duplicate values.</a:t>
            </a:r>
          </a:p>
          <a:p>
            <a:pPr algn="just">
              <a:buBlip>
                <a:blip r:embed="rId2"/>
              </a:buBlip>
            </a:pPr>
            <a:r>
              <a:rPr lang="en-US" dirty="0"/>
              <a:t> Can contain NULL values (database-dependent).</a:t>
            </a:r>
          </a:p>
          <a:p>
            <a:pPr algn="just">
              <a:buBlip>
                <a:blip r:embed="rId2"/>
              </a:buBlip>
            </a:pPr>
            <a:r>
              <a:rPr lang="en-US" dirty="0"/>
              <a:t> Can be referenced by a Foreign Key.</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a:t>    </a:t>
            </a:r>
            <a:r>
              <a:rPr lang="en-US" dirty="0" err="1"/>
              <a:t>column_name</a:t>
            </a:r>
            <a:r>
              <a:rPr lang="en-US" dirty="0"/>
              <a:t> datatype UNIQUE</a:t>
            </a:r>
            <a:br>
              <a:rPr lang="en-US" dirty="0"/>
            </a:br>
            <a:r>
              <a:rPr lang="en-US" dirty="0"/>
              <a:t>);</a:t>
            </a:r>
          </a:p>
          <a:p>
            <a:pPr marL="0" indent="0" algn="just">
              <a:buNone/>
            </a:pPr>
            <a:endParaRPr lang="en-US" dirty="0"/>
          </a:p>
        </p:txBody>
      </p:sp>
    </p:spTree>
    <p:extLst>
      <p:ext uri="{BB962C8B-B14F-4D97-AF65-F5344CB8AC3E}">
        <p14:creationId xmlns:p14="http://schemas.microsoft.com/office/powerpoint/2010/main" val="4196686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5AB0B-A18D-9DE8-D20B-C85B6B2B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DFE1DE-FC8B-87F2-521A-E7DC6DFF00DF}"/>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Foreign Key (FK)</a:t>
            </a:r>
          </a:p>
        </p:txBody>
      </p:sp>
      <p:sp>
        <p:nvSpPr>
          <p:cNvPr id="3" name="Text Placeholder 2">
            <a:extLst>
              <a:ext uri="{FF2B5EF4-FFF2-40B4-BE49-F238E27FC236}">
                <a16:creationId xmlns:a16="http://schemas.microsoft.com/office/drawing/2014/main" id="{0900E8E0-B4EB-8A5A-3C23-246E57DE4893}"/>
              </a:ext>
            </a:extLst>
          </p:cNvPr>
          <p:cNvSpPr>
            <a:spLocks noGrp="1"/>
          </p:cNvSpPr>
          <p:nvPr>
            <p:ph type="body" sz="quarter" idx="14"/>
          </p:nvPr>
        </p:nvSpPr>
        <p:spPr>
          <a:xfrm>
            <a:off x="1156921" y="1517904"/>
            <a:ext cx="10275570" cy="5705856"/>
          </a:xfrm>
        </p:spPr>
        <p:txBody>
          <a:bodyPr>
            <a:normAutofit lnSpcReduction="10000"/>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Foreign Key </a:t>
            </a:r>
            <a:r>
              <a:rPr lang="en-US" dirty="0"/>
              <a:t>is a column that references the Primary Key (or Unique Key) of another table.</a:t>
            </a:r>
          </a:p>
          <a:p>
            <a:pPr algn="just">
              <a:buBlip>
                <a:blip r:embed="rId2"/>
              </a:buBlip>
            </a:pPr>
            <a:r>
              <a:rPr lang="en-US" dirty="0"/>
              <a:t> It creates a relationship between tables and ensures referential integrity.</a:t>
            </a:r>
          </a:p>
          <a:p>
            <a:pPr algn="just">
              <a:buBlip>
                <a:blip r:embed="rId2"/>
              </a:buBlip>
            </a:pPr>
            <a:r>
              <a:rPr lang="en-US" dirty="0"/>
              <a:t> It links two table together.</a:t>
            </a:r>
          </a:p>
          <a:p>
            <a:pPr algn="just">
              <a:buBlip>
                <a:blip r:embed="rId2"/>
              </a:buBlip>
            </a:pPr>
            <a:r>
              <a:rPr lang="en-US" dirty="0"/>
              <a:t> It maintains data consistency. </a:t>
            </a:r>
          </a:p>
          <a:p>
            <a:pPr algn="just">
              <a:buBlip>
                <a:blip r:embed="rId2"/>
              </a:buBlip>
            </a:pPr>
            <a:r>
              <a:rPr lang="en-US" dirty="0"/>
              <a:t> Prevents invalid references.</a:t>
            </a:r>
          </a:p>
          <a:p>
            <a:pPr algn="just">
              <a:buBlip>
                <a:blip r:embed="rId2"/>
              </a:buBlip>
            </a:pPr>
            <a:r>
              <a:rPr lang="en-US" dirty="0"/>
              <a:t>  It creates Parent-Child relationships.</a:t>
            </a:r>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child_table</a:t>
            </a:r>
            <a:r>
              <a:rPr lang="en-US" dirty="0"/>
              <a:t> (</a:t>
            </a:r>
          </a:p>
          <a:p>
            <a:pPr marL="0" indent="0">
              <a:buNone/>
            </a:pPr>
            <a:r>
              <a:rPr lang="en-US" dirty="0"/>
              <a:t>    </a:t>
            </a:r>
            <a:r>
              <a:rPr lang="en-US" dirty="0" err="1"/>
              <a:t>column_name</a:t>
            </a:r>
            <a:r>
              <a:rPr lang="en-US" dirty="0"/>
              <a:t> datatype,</a:t>
            </a:r>
          </a:p>
          <a:p>
            <a:pPr marL="0" indent="0">
              <a:buNone/>
            </a:pPr>
            <a:r>
              <a:rPr lang="en-US" dirty="0"/>
              <a:t>    FOREIGN KEY (</a:t>
            </a:r>
            <a:r>
              <a:rPr lang="en-US" dirty="0" err="1"/>
              <a:t>column_name</a:t>
            </a:r>
            <a:r>
              <a:rPr lang="en-US" dirty="0"/>
              <a:t>)</a:t>
            </a:r>
          </a:p>
          <a:p>
            <a:pPr marL="0" indent="0">
              <a:buNone/>
            </a:pPr>
            <a:r>
              <a:rPr lang="en-US" dirty="0"/>
              <a:t>    REFERENCES </a:t>
            </a:r>
            <a:r>
              <a:rPr lang="en-US" dirty="0" err="1"/>
              <a:t>parent_table</a:t>
            </a:r>
            <a:r>
              <a:rPr lang="en-US" dirty="0"/>
              <a:t>(</a:t>
            </a:r>
            <a:r>
              <a:rPr lang="en-US" dirty="0" err="1"/>
              <a:t>parent_column</a:t>
            </a:r>
            <a:r>
              <a:rPr lang="en-US" dirty="0"/>
              <a:t>)</a:t>
            </a:r>
          </a:p>
          <a:p>
            <a:pPr marL="0" indent="0">
              <a:buNone/>
            </a:pPr>
            <a:r>
              <a:rPr lang="en-US" dirty="0"/>
              <a:t>);</a:t>
            </a:r>
          </a:p>
        </p:txBody>
      </p:sp>
    </p:spTree>
    <p:extLst>
      <p:ext uri="{BB962C8B-B14F-4D97-AF65-F5344CB8AC3E}">
        <p14:creationId xmlns:p14="http://schemas.microsoft.com/office/powerpoint/2010/main" val="33474752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8B2EF-64CD-6A53-8EA1-602D1F1F8A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1A4D5-E79D-B3AA-B6D0-5C17261ED0E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Composite Key</a:t>
            </a:r>
          </a:p>
        </p:txBody>
      </p:sp>
      <p:sp>
        <p:nvSpPr>
          <p:cNvPr id="3" name="Text Placeholder 2">
            <a:extLst>
              <a:ext uri="{FF2B5EF4-FFF2-40B4-BE49-F238E27FC236}">
                <a16:creationId xmlns:a16="http://schemas.microsoft.com/office/drawing/2014/main" id="{22FAF503-5918-7396-8C66-6FA38E7F8AA7}"/>
              </a:ext>
            </a:extLst>
          </p:cNvPr>
          <p:cNvSpPr>
            <a:spLocks noGrp="1"/>
          </p:cNvSpPr>
          <p:nvPr>
            <p:ph type="body" sz="quarter" idx="14"/>
          </p:nvPr>
        </p:nvSpPr>
        <p:spPr>
          <a:xfrm>
            <a:off x="1156921" y="1517904"/>
            <a:ext cx="10275570" cy="5705856"/>
          </a:xfrm>
        </p:spPr>
        <p:txBody>
          <a:bodyPr>
            <a:normAutofit/>
          </a:bodyPr>
          <a:lstStyle/>
          <a:p>
            <a:pPr algn="just">
              <a:buBlip>
                <a:blip r:embed="rId2"/>
              </a:buBlip>
            </a:pPr>
            <a:r>
              <a:rPr lang="en-US" dirty="0"/>
              <a:t> A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Composite Key </a:t>
            </a:r>
            <a:r>
              <a:rPr lang="en-US" dirty="0"/>
              <a:t>is a key made up of two or more columns that together uniquely identify a record.</a:t>
            </a:r>
          </a:p>
          <a:p>
            <a:pPr algn="just">
              <a:buBlip>
                <a:blip r:embed="rId2"/>
              </a:buBlip>
            </a:pPr>
            <a:r>
              <a:rPr lang="en-US" dirty="0"/>
              <a:t> It is used when a single column is insufficient to guarantee uniqueness.</a:t>
            </a:r>
          </a:p>
          <a:p>
            <a:pPr algn="just">
              <a:buBlip>
                <a:blip r:embed="rId2"/>
              </a:buBlip>
            </a:pPr>
            <a:r>
              <a:rPr lang="en-US" dirty="0"/>
              <a:t> It commonly used in junction (bridge) tables.</a:t>
            </a:r>
          </a:p>
          <a:p>
            <a:pPr algn="just">
              <a:buBlip>
                <a:blip r:embed="rId2"/>
              </a:buBlip>
            </a:pPr>
            <a:r>
              <a:rPr lang="en-US" dirty="0"/>
              <a:t> Supports many-to-many relationships. </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p>
          <a:p>
            <a:pPr marL="0" indent="0">
              <a:buNone/>
            </a:pPr>
            <a:r>
              <a:rPr lang="en-US" dirty="0"/>
              <a:t>    column1 datatype,</a:t>
            </a:r>
          </a:p>
          <a:p>
            <a:pPr marL="0" indent="0">
              <a:buNone/>
            </a:pPr>
            <a:r>
              <a:rPr lang="en-US" dirty="0"/>
              <a:t>    column2 datatype,</a:t>
            </a:r>
          </a:p>
          <a:p>
            <a:pPr marL="0" indent="0">
              <a:buNone/>
            </a:pPr>
            <a:r>
              <a:rPr lang="en-US" dirty="0"/>
              <a:t>    PRIMARY KEY (column1, column2)</a:t>
            </a:r>
          </a:p>
          <a:p>
            <a:pPr marL="0" indent="0">
              <a:buNone/>
            </a:pPr>
            <a:r>
              <a:rPr lang="en-US" dirty="0"/>
              <a:t>);</a:t>
            </a:r>
          </a:p>
        </p:txBody>
      </p:sp>
    </p:spTree>
    <p:extLst>
      <p:ext uri="{BB962C8B-B14F-4D97-AF65-F5344CB8AC3E}">
        <p14:creationId xmlns:p14="http://schemas.microsoft.com/office/powerpoint/2010/main" val="403730308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715C2C-5B9D-DE8E-2AF9-892AA0CB26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F72668-2B69-C8BE-67A0-9B1FA7018C2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Alternate Key</a:t>
            </a:r>
          </a:p>
        </p:txBody>
      </p:sp>
      <p:sp>
        <p:nvSpPr>
          <p:cNvPr id="3" name="Text Placeholder 2">
            <a:extLst>
              <a:ext uri="{FF2B5EF4-FFF2-40B4-BE49-F238E27FC236}">
                <a16:creationId xmlns:a16="http://schemas.microsoft.com/office/drawing/2014/main" id="{F1E3AE8A-912F-F466-488E-923362C24F1A}"/>
              </a:ext>
            </a:extLst>
          </p:cNvPr>
          <p:cNvSpPr>
            <a:spLocks noGrp="1"/>
          </p:cNvSpPr>
          <p:nvPr>
            <p:ph type="body" sz="quarter" idx="14"/>
          </p:nvPr>
        </p:nvSpPr>
        <p:spPr>
          <a:xfrm>
            <a:off x="1156921" y="1517904"/>
            <a:ext cx="10275570" cy="5705856"/>
          </a:xfrm>
        </p:spPr>
        <p:txBody>
          <a:bodyPr>
            <a:normAutofit/>
          </a:bodyPr>
          <a:lstStyle/>
          <a:p>
            <a:pPr algn="just">
              <a:buBlip>
                <a:blip r:embed="rId2"/>
              </a:buBlip>
            </a:pPr>
            <a:r>
              <a:rPr lang="en-US" dirty="0"/>
              <a:t> An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Alternate Key </a:t>
            </a:r>
            <a:r>
              <a:rPr lang="en-US" dirty="0"/>
              <a:t>is a candidate key that was not selected as the Primary Key but can still uniquely identify a record.</a:t>
            </a:r>
          </a:p>
          <a:p>
            <a:pPr algn="just">
              <a:buBlip>
                <a:blip r:embed="rId2"/>
              </a:buBlip>
            </a:pPr>
            <a:r>
              <a:rPr lang="en-US" dirty="0"/>
              <a:t> In practice, Alternate Keys are usually implemented using UNIQUE constraints.</a:t>
            </a:r>
          </a:p>
          <a:p>
            <a:pPr algn="just">
              <a:buBlip>
                <a:blip r:embed="rId2"/>
              </a:buBlip>
            </a:pPr>
            <a:r>
              <a:rPr lang="en-US" dirty="0"/>
              <a:t> Multiple Alternate keys can exist.</a:t>
            </a:r>
          </a:p>
          <a:p>
            <a:pPr algn="just">
              <a:buBlip>
                <a:blip r:embed="rId2"/>
              </a:buBlip>
            </a:pPr>
            <a:r>
              <a:rPr lang="en-US" dirty="0"/>
              <a:t> Helps enforce additional uniqueness rules.</a:t>
            </a:r>
          </a:p>
          <a:p>
            <a:pPr marL="0" indent="0" algn="just">
              <a:buNone/>
            </a:pPr>
            <a:endParaRPr lang="en-US" dirty="0"/>
          </a:p>
          <a:p>
            <a:pPr marL="0" indent="0">
              <a:buNone/>
            </a:pPr>
            <a:r>
              <a:rPr lang="en-US" sz="28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endParaRPr lang="en-US"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marL="0" indent="0">
              <a:buNone/>
            </a:pPr>
            <a:r>
              <a:rPr lang="en-US" dirty="0"/>
              <a:t>CREATE TABLE </a:t>
            </a:r>
            <a:r>
              <a:rPr lang="en-US" dirty="0" err="1"/>
              <a:t>table_name</a:t>
            </a:r>
            <a:r>
              <a:rPr lang="en-US" dirty="0"/>
              <a:t> (</a:t>
            </a:r>
            <a:br>
              <a:rPr lang="en-US" dirty="0"/>
            </a:br>
            <a:r>
              <a:rPr lang="en-US" dirty="0" err="1"/>
              <a:t>primary_column</a:t>
            </a:r>
            <a:r>
              <a:rPr lang="en-US" dirty="0"/>
              <a:t> datatype PRIMARY KEY,</a:t>
            </a:r>
            <a:br>
              <a:rPr lang="en-US" dirty="0"/>
            </a:br>
            <a:r>
              <a:rPr lang="en-US" dirty="0" err="1"/>
              <a:t>alternate_column</a:t>
            </a:r>
            <a:r>
              <a:rPr lang="en-US" dirty="0"/>
              <a:t> datatype UNIQUE</a:t>
            </a:r>
            <a:br>
              <a:rPr lang="en-US" dirty="0"/>
            </a:br>
            <a:r>
              <a:rPr lang="en-US" dirty="0"/>
              <a:t>);</a:t>
            </a:r>
          </a:p>
        </p:txBody>
      </p:sp>
    </p:spTree>
    <p:extLst>
      <p:ext uri="{BB962C8B-B14F-4D97-AF65-F5344CB8AC3E}">
        <p14:creationId xmlns:p14="http://schemas.microsoft.com/office/powerpoint/2010/main" val="58545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30DED-F5A6-9697-C885-9509DCD8DDC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Summary of SQL Keys</a:t>
            </a:r>
          </a:p>
        </p:txBody>
      </p:sp>
      <p:graphicFrame>
        <p:nvGraphicFramePr>
          <p:cNvPr id="4" name="Table 3">
            <a:extLst>
              <a:ext uri="{FF2B5EF4-FFF2-40B4-BE49-F238E27FC236}">
                <a16:creationId xmlns:a16="http://schemas.microsoft.com/office/drawing/2014/main" id="{D4EBFF73-24A0-361C-2B4C-B067217B9A06}"/>
              </a:ext>
            </a:extLst>
          </p:cNvPr>
          <p:cNvGraphicFramePr>
            <a:graphicFrameLocks noGrp="1"/>
          </p:cNvGraphicFramePr>
          <p:nvPr>
            <p:extLst>
              <p:ext uri="{D42A27DB-BD31-4B8C-83A1-F6EECF244321}">
                <p14:modId xmlns:p14="http://schemas.microsoft.com/office/powerpoint/2010/main" val="2884219109"/>
              </p:ext>
            </p:extLst>
          </p:nvPr>
        </p:nvGraphicFramePr>
        <p:xfrm>
          <a:off x="1156921" y="1554281"/>
          <a:ext cx="10346230" cy="4981890"/>
        </p:xfrm>
        <a:graphic>
          <a:graphicData uri="http://schemas.openxmlformats.org/drawingml/2006/table">
            <a:tbl>
              <a:tblPr firstRow="1" bandRow="1">
                <a:tableStyleId>{3B4B98B0-60AC-42C2-AFA5-B58CD77FA1E5}</a:tableStyleId>
              </a:tblPr>
              <a:tblGrid>
                <a:gridCol w="2628695">
                  <a:extLst>
                    <a:ext uri="{9D8B030D-6E8A-4147-A177-3AD203B41FA5}">
                      <a16:colId xmlns:a16="http://schemas.microsoft.com/office/drawing/2014/main" val="3169839058"/>
                    </a:ext>
                  </a:extLst>
                </a:gridCol>
                <a:gridCol w="1810512">
                  <a:extLst>
                    <a:ext uri="{9D8B030D-6E8A-4147-A177-3AD203B41FA5}">
                      <a16:colId xmlns:a16="http://schemas.microsoft.com/office/drawing/2014/main" val="2195953278"/>
                    </a:ext>
                  </a:extLst>
                </a:gridCol>
                <a:gridCol w="1768531">
                  <a:extLst>
                    <a:ext uri="{9D8B030D-6E8A-4147-A177-3AD203B41FA5}">
                      <a16:colId xmlns:a16="http://schemas.microsoft.com/office/drawing/2014/main" val="3266595517"/>
                    </a:ext>
                  </a:extLst>
                </a:gridCol>
                <a:gridCol w="2163389">
                  <a:extLst>
                    <a:ext uri="{9D8B030D-6E8A-4147-A177-3AD203B41FA5}">
                      <a16:colId xmlns:a16="http://schemas.microsoft.com/office/drawing/2014/main" val="2673660705"/>
                    </a:ext>
                  </a:extLst>
                </a:gridCol>
                <a:gridCol w="1975103">
                  <a:extLst>
                    <a:ext uri="{9D8B030D-6E8A-4147-A177-3AD203B41FA5}">
                      <a16:colId xmlns:a16="http://schemas.microsoft.com/office/drawing/2014/main" val="3072500617"/>
                    </a:ext>
                  </a:extLst>
                </a:gridCol>
              </a:tblGrid>
              <a:tr h="830315">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Key Type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Unique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Null Allowed</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Count per Table</a:t>
                      </a:r>
                    </a:p>
                  </a:txBody>
                  <a:tcPr>
                    <a:solidFill>
                      <a:schemeClr val="bg1"/>
                    </a:solidFill>
                  </a:tcPr>
                </a:tc>
                <a:tc>
                  <a:txBody>
                    <a:bodyPr/>
                    <a:lstStyle/>
                    <a:p>
                      <a:endPar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endParaRPr>
                    </a:p>
                    <a:p>
                      <a:r>
                        <a:rPr lang="en-US" sz="20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Purpose</a:t>
                      </a:r>
                    </a:p>
                  </a:txBody>
                  <a:tcPr>
                    <a:solidFill>
                      <a:schemeClr val="bg1"/>
                    </a:solidFill>
                  </a:tcPr>
                </a:tc>
                <a:extLst>
                  <a:ext uri="{0D108BD9-81ED-4DB2-BD59-A6C34878D82A}">
                    <a16:rowId xmlns:a16="http://schemas.microsoft.com/office/drawing/2014/main" val="1661899361"/>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Primary Key</a:t>
                      </a:r>
                    </a:p>
                  </a:txBody>
                  <a:tcPr>
                    <a:solidFill>
                      <a:schemeClr val="bg1"/>
                    </a:solidFill>
                  </a:tcPr>
                </a:tc>
                <a:tc>
                  <a:txBody>
                    <a:bodyPr/>
                    <a:lstStyle/>
                    <a:p>
                      <a:pPr>
                        <a:buNone/>
                      </a:pPr>
                      <a:r>
                        <a:rPr lang="en-US" sz="2000" dirty="0"/>
                        <a:t>✅</a:t>
                      </a:r>
                    </a:p>
                  </a:txBody>
                  <a:tcPr anchor="ctr">
                    <a:solidFill>
                      <a:schemeClr val="bg1"/>
                    </a:solidFill>
                  </a:tcPr>
                </a:tc>
                <a:tc>
                  <a:txBody>
                    <a:bodyPr/>
                    <a:lstStyle/>
                    <a:p>
                      <a:endParaRPr lang="en-US" sz="2000" dirty="0"/>
                    </a:p>
                    <a:p>
                      <a:r>
                        <a:rPr lang="en-US" sz="2000" dirty="0"/>
                        <a:t>❌</a:t>
                      </a:r>
                    </a:p>
                  </a:txBody>
                  <a:tcPr>
                    <a:solidFill>
                      <a:schemeClr val="bg1"/>
                    </a:solidFill>
                  </a:tcPr>
                </a:tc>
                <a:tc>
                  <a:txBody>
                    <a:bodyPr/>
                    <a:lstStyle/>
                    <a:p>
                      <a:r>
                        <a:rPr lang="en-US" sz="2000" dirty="0"/>
                        <a:t>One</a:t>
                      </a:r>
                    </a:p>
                  </a:txBody>
                  <a:tcPr>
                    <a:solidFill>
                      <a:schemeClr val="bg1"/>
                    </a:solidFill>
                  </a:tcPr>
                </a:tc>
                <a:tc>
                  <a:txBody>
                    <a:bodyPr/>
                    <a:lstStyle/>
                    <a:p>
                      <a:r>
                        <a:rPr lang="en-US" sz="2000" dirty="0"/>
                        <a:t>Main identifier</a:t>
                      </a:r>
                    </a:p>
                  </a:txBody>
                  <a:tcPr>
                    <a:solidFill>
                      <a:schemeClr val="bg1"/>
                    </a:solidFill>
                  </a:tcPr>
                </a:tc>
                <a:extLst>
                  <a:ext uri="{0D108BD9-81ED-4DB2-BD59-A6C34878D82A}">
                    <a16:rowId xmlns:a16="http://schemas.microsoft.com/office/drawing/2014/main" val="2405609407"/>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Unique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Usually 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Enforce uniqueness</a:t>
                      </a:r>
                    </a:p>
                  </a:txBody>
                  <a:tcPr>
                    <a:solidFill>
                      <a:schemeClr val="bg1"/>
                    </a:solidFill>
                  </a:tcPr>
                </a:tc>
                <a:extLst>
                  <a:ext uri="{0D108BD9-81ED-4DB2-BD59-A6C34878D82A}">
                    <a16:rowId xmlns:a16="http://schemas.microsoft.com/office/drawing/2014/main" val="1496776831"/>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Foreign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Create relationships</a:t>
                      </a:r>
                    </a:p>
                  </a:txBody>
                  <a:tcPr>
                    <a:solidFill>
                      <a:schemeClr val="bg1"/>
                    </a:solidFill>
                  </a:tcPr>
                </a:tc>
                <a:extLst>
                  <a:ext uri="{0D108BD9-81ED-4DB2-BD59-A6C34878D82A}">
                    <a16:rowId xmlns:a16="http://schemas.microsoft.com/office/drawing/2014/main" val="4091140876"/>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Composite Key</a:t>
                      </a:r>
                    </a:p>
                  </a:txBody>
                  <a:tcPr>
                    <a:solidFill>
                      <a:schemeClr val="bg1"/>
                    </a:solidFill>
                  </a:tcPr>
                </a:tc>
                <a:tc>
                  <a:txBody>
                    <a:bodyPr/>
                    <a:lstStyle/>
                    <a:p>
                      <a:r>
                        <a:rPr lang="en-US" sz="2000" dirty="0"/>
                        <a:t>✅ (Combination)</a:t>
                      </a:r>
                    </a:p>
                  </a:txBody>
                  <a:tcPr>
                    <a:solidFill>
                      <a:schemeClr val="bg1"/>
                    </a:solidFill>
                  </a:tcPr>
                </a:tc>
                <a:tc>
                  <a:txBody>
                    <a:bodyPr/>
                    <a:lstStyle/>
                    <a:p>
                      <a:r>
                        <a:rPr lang="en-US" sz="2000" dirty="0"/>
                        <a:t>Depends</a:t>
                      </a:r>
                    </a:p>
                  </a:txBody>
                  <a:tcPr>
                    <a:solidFill>
                      <a:schemeClr val="bg1"/>
                    </a:solidFill>
                  </a:tcPr>
                </a:tc>
                <a:tc>
                  <a:txBody>
                    <a:bodyPr/>
                    <a:lstStyle/>
                    <a:p>
                      <a:r>
                        <a:rPr lang="en-US" sz="2000" dirty="0"/>
                        <a:t>One PK/FK combination</a:t>
                      </a:r>
                    </a:p>
                  </a:txBody>
                  <a:tcPr>
                    <a:solidFill>
                      <a:schemeClr val="bg1"/>
                    </a:solidFill>
                  </a:tcPr>
                </a:tc>
                <a:tc>
                  <a:txBody>
                    <a:bodyPr/>
                    <a:lstStyle/>
                    <a:p>
                      <a:r>
                        <a:rPr lang="en-US" sz="2000" dirty="0"/>
                        <a:t>Multi-column identification</a:t>
                      </a:r>
                    </a:p>
                  </a:txBody>
                  <a:tcPr>
                    <a:solidFill>
                      <a:schemeClr val="bg1"/>
                    </a:solidFill>
                  </a:tcPr>
                </a:tc>
                <a:extLst>
                  <a:ext uri="{0D108BD9-81ED-4DB2-BD59-A6C34878D82A}">
                    <a16:rowId xmlns:a16="http://schemas.microsoft.com/office/drawing/2014/main" val="3843065707"/>
                  </a:ext>
                </a:extLst>
              </a:tr>
              <a:tr h="830315">
                <a:tc>
                  <a:txBody>
                    <a:bodyPr/>
                    <a:lstStyle/>
                    <a:p>
                      <a:r>
                        <a:rPr lang="en-US" sz="2000" dirty="0"/>
                        <a:t>⭐ </a:t>
                      </a:r>
                      <a:r>
                        <a:rPr lang="en-US" sz="2000" b="1" dirty="0">
                          <a:latin typeface="ADLaM Display" panose="02010000000000000000" pitchFamily="2" charset="0"/>
                          <a:ea typeface="ADLaM Display" panose="02010000000000000000" pitchFamily="2" charset="0"/>
                          <a:cs typeface="ADLaM Display" panose="02010000000000000000" pitchFamily="2" charset="0"/>
                        </a:rPr>
                        <a:t>Alternate Key</a:t>
                      </a:r>
                    </a:p>
                  </a:txBody>
                  <a:tcPr>
                    <a:solidFill>
                      <a:schemeClr val="bg1"/>
                    </a:solidFill>
                  </a:tcPr>
                </a:tc>
                <a:tc>
                  <a:txBody>
                    <a:bodyPr/>
                    <a:lstStyle/>
                    <a:p>
                      <a:r>
                        <a:rPr lang="en-US" sz="2000" dirty="0"/>
                        <a:t>✅</a:t>
                      </a:r>
                    </a:p>
                  </a:txBody>
                  <a:tcPr>
                    <a:solidFill>
                      <a:schemeClr val="bg1"/>
                    </a:solidFill>
                  </a:tcPr>
                </a:tc>
                <a:tc>
                  <a:txBody>
                    <a:bodyPr/>
                    <a:lstStyle/>
                    <a:p>
                      <a:r>
                        <a:rPr lang="en-US" sz="2000" dirty="0"/>
                        <a:t>Usually Yes</a:t>
                      </a:r>
                    </a:p>
                  </a:txBody>
                  <a:tcPr>
                    <a:solidFill>
                      <a:schemeClr val="bg1"/>
                    </a:solidFill>
                  </a:tcPr>
                </a:tc>
                <a:tc>
                  <a:txBody>
                    <a:bodyPr/>
                    <a:lstStyle/>
                    <a:p>
                      <a:r>
                        <a:rPr lang="en-US" sz="2000" dirty="0"/>
                        <a:t>Multiple</a:t>
                      </a:r>
                    </a:p>
                  </a:txBody>
                  <a:tcPr>
                    <a:solidFill>
                      <a:schemeClr val="bg1"/>
                    </a:solidFill>
                  </a:tcPr>
                </a:tc>
                <a:tc>
                  <a:txBody>
                    <a:bodyPr/>
                    <a:lstStyle/>
                    <a:p>
                      <a:r>
                        <a:rPr lang="en-US" sz="2000" dirty="0"/>
                        <a:t>Alternative unique identifier</a:t>
                      </a:r>
                    </a:p>
                  </a:txBody>
                  <a:tcPr>
                    <a:solidFill>
                      <a:schemeClr val="bg1"/>
                    </a:solidFill>
                  </a:tcPr>
                </a:tc>
                <a:extLst>
                  <a:ext uri="{0D108BD9-81ED-4DB2-BD59-A6C34878D82A}">
                    <a16:rowId xmlns:a16="http://schemas.microsoft.com/office/drawing/2014/main" val="2234671211"/>
                  </a:ext>
                </a:extLst>
              </a:tr>
            </a:tbl>
          </a:graphicData>
        </a:graphic>
      </p:graphicFrame>
    </p:spTree>
    <p:extLst>
      <p:ext uri="{BB962C8B-B14F-4D97-AF65-F5344CB8AC3E}">
        <p14:creationId xmlns:p14="http://schemas.microsoft.com/office/powerpoint/2010/main" val="27622647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DA05B-D52A-B68C-BE96-900016289266}"/>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Data Integrity</a:t>
            </a:r>
          </a:p>
        </p:txBody>
      </p:sp>
      <p:sp>
        <p:nvSpPr>
          <p:cNvPr id="3" name="Text Placeholder 2">
            <a:extLst>
              <a:ext uri="{FF2B5EF4-FFF2-40B4-BE49-F238E27FC236}">
                <a16:creationId xmlns:a16="http://schemas.microsoft.com/office/drawing/2014/main" id="{FCF5094B-4FFD-657A-5CFE-0EA902915240}"/>
              </a:ext>
            </a:extLst>
          </p:cNvPr>
          <p:cNvSpPr>
            <a:spLocks noGrp="1"/>
          </p:cNvSpPr>
          <p:nvPr>
            <p:ph type="body" sz="quarter" idx="14"/>
          </p:nvPr>
        </p:nvSpPr>
        <p:spPr>
          <a:xfrm>
            <a:off x="7863842" y="1496334"/>
            <a:ext cx="4053838" cy="5361666"/>
          </a:xfrm>
        </p:spPr>
        <p:txBody>
          <a:bodyPr>
            <a:normAutofit fontScale="92500"/>
          </a:bodyPr>
          <a:lstStyle/>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Entity Integrity </a:t>
            </a:r>
            <a:r>
              <a:rPr lang="en-US" dirty="0"/>
              <a:t>– This ensures that there are no duplicate rows in a table.</a:t>
            </a:r>
          </a:p>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Domain Integrity </a:t>
            </a:r>
            <a:r>
              <a:rPr lang="en-US" dirty="0"/>
              <a:t>– Enforces valid entries for a given column by restricting the type, the format, or the range of values.</a:t>
            </a:r>
          </a:p>
          <a:p>
            <a:pPr algn="just">
              <a:buBlip>
                <a:blip r:embed="rId2"/>
              </a:buBlip>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Referential Integrity </a:t>
            </a:r>
            <a:r>
              <a:rPr lang="en-US" dirty="0"/>
              <a:t>– Rows cannot be deleted, which are used by other records.</a:t>
            </a:r>
          </a:p>
          <a:p>
            <a:pPr algn="just">
              <a:buBlip>
                <a:blip r:embed="rId2"/>
              </a:buBlip>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User-Defined Integrity </a:t>
            </a:r>
            <a:r>
              <a:rPr lang="en-US" dirty="0"/>
              <a:t>– Enforces some specific business rules that do not fall into entity, domain or referential integrity.</a:t>
            </a:r>
          </a:p>
        </p:txBody>
      </p:sp>
      <p:pic>
        <p:nvPicPr>
          <p:cNvPr id="5" name="Picture 4">
            <a:extLst>
              <a:ext uri="{FF2B5EF4-FFF2-40B4-BE49-F238E27FC236}">
                <a16:creationId xmlns:a16="http://schemas.microsoft.com/office/drawing/2014/main" id="{38D7AAFC-B72B-D182-0ADA-024E4FB185BD}"/>
              </a:ext>
            </a:extLst>
          </p:cNvPr>
          <p:cNvPicPr>
            <a:picLocks noChangeAspect="1"/>
          </p:cNvPicPr>
          <p:nvPr/>
        </p:nvPicPr>
        <p:blipFill>
          <a:blip r:embed="rId3"/>
          <a:stretch>
            <a:fillRect/>
          </a:stretch>
        </p:blipFill>
        <p:spPr>
          <a:xfrm>
            <a:off x="128017" y="1496334"/>
            <a:ext cx="7882128" cy="5254752"/>
          </a:xfrm>
          <a:prstGeom prst="rect">
            <a:avLst/>
          </a:prstGeom>
        </p:spPr>
      </p:pic>
    </p:spTree>
    <p:extLst>
      <p:ext uri="{BB962C8B-B14F-4D97-AF65-F5344CB8AC3E}">
        <p14:creationId xmlns:p14="http://schemas.microsoft.com/office/powerpoint/2010/main" val="23024560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0507F-5DC3-60DA-C419-182A5DCD826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Aliases</a:t>
            </a:r>
          </a:p>
        </p:txBody>
      </p:sp>
      <p:sp>
        <p:nvSpPr>
          <p:cNvPr id="3" name="Text Placeholder 2">
            <a:extLst>
              <a:ext uri="{FF2B5EF4-FFF2-40B4-BE49-F238E27FC236}">
                <a16:creationId xmlns:a16="http://schemas.microsoft.com/office/drawing/2014/main" id="{9FBF273A-F5CB-F1CB-CDE4-665F23136D44}"/>
              </a:ext>
            </a:extLst>
          </p:cNvPr>
          <p:cNvSpPr>
            <a:spLocks noGrp="1"/>
          </p:cNvSpPr>
          <p:nvPr>
            <p:ph type="body" sz="quarter" idx="14"/>
          </p:nvPr>
        </p:nvSpPr>
        <p:spPr/>
        <p:txBody>
          <a:bodyPr/>
          <a:lstStyle/>
          <a:p>
            <a:r>
              <a:rPr lang="en-US" dirty="0"/>
              <a:t> An alias is created with the AS keyword, and is often used to make a column name more readable.</a:t>
            </a:r>
          </a:p>
          <a:p>
            <a:r>
              <a:rPr lang="en-US" dirty="0"/>
              <a:t>An alias only exists for the duration of that query.</a:t>
            </a:r>
          </a:p>
          <a:p>
            <a:pPr marL="0" indent="0">
              <a:buNone/>
            </a:pPr>
            <a:r>
              <a:rPr lang="en-US" sz="32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Syntax</a:t>
            </a:r>
          </a:p>
          <a:p>
            <a:pPr marL="0" indent="0">
              <a:buNone/>
            </a:pPr>
            <a:r>
              <a:rPr lang="en-US" dirty="0"/>
              <a:t>Alias for column:</a:t>
            </a:r>
          </a:p>
          <a:p>
            <a:r>
              <a:rPr lang="en-US" dirty="0"/>
              <a:t>SELECT </a:t>
            </a:r>
            <a:r>
              <a:rPr lang="en-US" i="1" dirty="0" err="1"/>
              <a:t>column_name</a:t>
            </a:r>
            <a:r>
              <a:rPr lang="en-US" dirty="0"/>
              <a:t> AS </a:t>
            </a:r>
            <a:r>
              <a:rPr lang="en-US" i="1" dirty="0" err="1"/>
              <a:t>alias_name</a:t>
            </a:r>
            <a:br>
              <a:rPr lang="en-US" dirty="0"/>
            </a:br>
            <a:r>
              <a:rPr lang="en-US" dirty="0"/>
              <a:t>FROM </a:t>
            </a:r>
            <a:r>
              <a:rPr lang="en-US" i="1" dirty="0" err="1"/>
              <a:t>table_name</a:t>
            </a:r>
            <a:r>
              <a:rPr lang="en-US" i="1" dirty="0"/>
              <a:t>;</a:t>
            </a:r>
            <a:endParaRPr lang="en-US" dirty="0"/>
          </a:p>
          <a:p>
            <a:pPr marL="0" indent="0">
              <a:buNone/>
            </a:pPr>
            <a:r>
              <a:rPr lang="en-US" dirty="0"/>
              <a:t>Alias for table:</a:t>
            </a:r>
          </a:p>
          <a:p>
            <a:r>
              <a:rPr lang="en-US" dirty="0"/>
              <a:t>SELECT </a:t>
            </a:r>
            <a:r>
              <a:rPr lang="en-US" i="1" dirty="0" err="1"/>
              <a:t>column_name</a:t>
            </a:r>
            <a:r>
              <a:rPr lang="en-US" i="1" dirty="0"/>
              <a:t>(s)</a:t>
            </a:r>
            <a:br>
              <a:rPr lang="en-US" dirty="0"/>
            </a:br>
            <a:r>
              <a:rPr lang="en-US" dirty="0"/>
              <a:t>FROM </a:t>
            </a:r>
            <a:r>
              <a:rPr lang="en-US" i="1" dirty="0" err="1"/>
              <a:t>table_name</a:t>
            </a:r>
            <a:r>
              <a:rPr lang="en-US" i="1" dirty="0"/>
              <a:t> </a:t>
            </a:r>
            <a:r>
              <a:rPr lang="en-US" dirty="0"/>
              <a:t>AS </a:t>
            </a:r>
            <a:r>
              <a:rPr lang="en-US" i="1" dirty="0" err="1"/>
              <a:t>alias_name</a:t>
            </a:r>
            <a:r>
              <a:rPr lang="en-US" i="1" dirty="0"/>
              <a:t>;</a:t>
            </a:r>
            <a:endParaRPr lang="en-US" dirty="0"/>
          </a:p>
          <a:p>
            <a:pPr marL="0" indent="0">
              <a:buNone/>
            </a:pPr>
            <a:endParaRPr lang="en-US" dirty="0"/>
          </a:p>
          <a:p>
            <a:endParaRPr lang="en-US" dirty="0"/>
          </a:p>
        </p:txBody>
      </p:sp>
    </p:spTree>
    <p:extLst>
      <p:ext uri="{BB962C8B-B14F-4D97-AF65-F5344CB8AC3E}">
        <p14:creationId xmlns:p14="http://schemas.microsoft.com/office/powerpoint/2010/main" val="23229344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8C943-DDE4-723F-A2DC-BAF0895B45E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SELECT INTO Statement</a:t>
            </a:r>
          </a:p>
        </p:txBody>
      </p:sp>
      <p:sp>
        <p:nvSpPr>
          <p:cNvPr id="3" name="Text Placeholder 2">
            <a:extLst>
              <a:ext uri="{FF2B5EF4-FFF2-40B4-BE49-F238E27FC236}">
                <a16:creationId xmlns:a16="http://schemas.microsoft.com/office/drawing/2014/main" id="{6F88AB3E-562C-7C4A-0A55-0132F92D2341}"/>
              </a:ext>
            </a:extLst>
          </p:cNvPr>
          <p:cNvSpPr>
            <a:spLocks noGrp="1"/>
          </p:cNvSpPr>
          <p:nvPr>
            <p:ph type="body" sz="quarter" idx="14"/>
          </p:nvPr>
        </p:nvSpPr>
        <p:spPr>
          <a:xfrm>
            <a:off x="1156921" y="1478211"/>
            <a:ext cx="10586844" cy="5119812"/>
          </a:xfrm>
        </p:spPr>
        <p:txBody>
          <a:bodyPr/>
          <a:lstStyle/>
          <a:p>
            <a:r>
              <a:rPr lang="en-US" dirty="0"/>
              <a:t> The SELECT INTO statement is used to create a new table and fill it with data from an existing table.</a:t>
            </a:r>
          </a:p>
          <a:p>
            <a:r>
              <a:rPr lang="en-US" dirty="0"/>
              <a:t>The SELECT INTO statement is useful for creating backups or for creating a temporary table for analysis.</a:t>
            </a:r>
          </a:p>
          <a:p>
            <a:pPr>
              <a:buBlip>
                <a:blip r:embed="rId2"/>
              </a:buBlip>
            </a:pPr>
            <a:r>
              <a:rPr lang="en-US" b="1" dirty="0"/>
              <a:t> Note:</a:t>
            </a:r>
            <a:r>
              <a:rPr lang="en-US" dirty="0"/>
              <a:t> The new table will be created with the same column names and data types as defined in the source table. However, primary keys, indexes, or NOT NULL constraints are not automatically transferred.</a:t>
            </a:r>
          </a:p>
        </p:txBody>
      </p:sp>
      <p:sp>
        <p:nvSpPr>
          <p:cNvPr id="4" name="Rectangle: Rounded Corners 3">
            <a:extLst>
              <a:ext uri="{FF2B5EF4-FFF2-40B4-BE49-F238E27FC236}">
                <a16:creationId xmlns:a16="http://schemas.microsoft.com/office/drawing/2014/main" id="{8D998DFA-14BD-803B-00B6-DAEA6765F8C7}"/>
              </a:ext>
            </a:extLst>
          </p:cNvPr>
          <p:cNvSpPr/>
          <p:nvPr/>
        </p:nvSpPr>
        <p:spPr>
          <a:xfrm>
            <a:off x="1434353" y="4808117"/>
            <a:ext cx="4661647" cy="1936375"/>
          </a:xfrm>
          <a:prstGeom prst="roundRect">
            <a:avLst/>
          </a:prstGeom>
          <a:ln w="57150">
            <a:solidFill>
              <a:srgbClr val="FFC000"/>
            </a:solidFill>
          </a:ln>
        </p:spPr>
        <p:style>
          <a:lnRef idx="2">
            <a:schemeClr val="accent1"/>
          </a:lnRef>
          <a:fillRef idx="1">
            <a:schemeClr val="lt1"/>
          </a:fillRef>
          <a:effectRef idx="0">
            <a:schemeClr val="accent1"/>
          </a:effectRef>
          <a:fontRef idx="minor">
            <a:schemeClr val="dk1"/>
          </a:fontRef>
        </p:style>
        <p:txBody>
          <a:bodyPr rtlCol="0" anchor="ctr"/>
          <a:lstStyle/>
          <a:p>
            <a:r>
              <a:rPr lang="en-US" sz="2400" b="1" dirty="0"/>
              <a:t>SELECT * INTO </a:t>
            </a:r>
            <a:r>
              <a:rPr lang="en-US" sz="2400" b="1" i="1" dirty="0" err="1"/>
              <a:t>newtable</a:t>
            </a:r>
            <a:r>
              <a:rPr lang="en-US" sz="2400" b="1" dirty="0"/>
              <a:t> [IN </a:t>
            </a:r>
            <a:r>
              <a:rPr lang="en-US" sz="2400" b="1" i="1" dirty="0" err="1"/>
              <a:t>external_db</a:t>
            </a:r>
            <a:r>
              <a:rPr lang="en-US" sz="2400" b="1" dirty="0"/>
              <a:t>]</a:t>
            </a:r>
            <a:br>
              <a:rPr lang="en-US" sz="2400" b="1" dirty="0"/>
            </a:br>
            <a:r>
              <a:rPr lang="en-US" sz="2400" b="1" dirty="0"/>
              <a:t>FROM </a:t>
            </a:r>
            <a:r>
              <a:rPr lang="en-US" sz="2400" b="1" i="1" dirty="0" err="1"/>
              <a:t>sourcetable</a:t>
            </a:r>
            <a:br>
              <a:rPr lang="en-US" sz="2400" b="1" dirty="0"/>
            </a:br>
            <a:r>
              <a:rPr lang="en-US" sz="2400" b="1" dirty="0"/>
              <a:t>WHERE </a:t>
            </a:r>
            <a:r>
              <a:rPr lang="en-US" sz="2400" b="1" i="1" dirty="0"/>
              <a:t>condition</a:t>
            </a:r>
            <a:r>
              <a:rPr lang="en-US" sz="2400" b="1" dirty="0"/>
              <a:t>;</a:t>
            </a:r>
          </a:p>
        </p:txBody>
      </p:sp>
      <p:sp>
        <p:nvSpPr>
          <p:cNvPr id="5" name="Rectangle: Rounded Corners 4">
            <a:extLst>
              <a:ext uri="{FF2B5EF4-FFF2-40B4-BE49-F238E27FC236}">
                <a16:creationId xmlns:a16="http://schemas.microsoft.com/office/drawing/2014/main" id="{6A1B3562-D103-56C9-1499-9C5A84DFE90D}"/>
              </a:ext>
            </a:extLst>
          </p:cNvPr>
          <p:cNvSpPr/>
          <p:nvPr/>
        </p:nvSpPr>
        <p:spPr>
          <a:xfrm>
            <a:off x="7082119" y="4808117"/>
            <a:ext cx="4661646" cy="1936376"/>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t>SELECT </a:t>
            </a:r>
            <a:r>
              <a:rPr lang="en-US" sz="2400" b="1" i="1" dirty="0"/>
              <a:t>column1</a:t>
            </a:r>
            <a:r>
              <a:rPr lang="en-US" sz="2400" b="1" dirty="0"/>
              <a:t>, </a:t>
            </a:r>
            <a:r>
              <a:rPr lang="en-US" sz="2400" b="1" i="1" dirty="0"/>
              <a:t>column2</a:t>
            </a:r>
            <a:r>
              <a:rPr lang="en-US" sz="2400" b="1" dirty="0"/>
              <a:t>, </a:t>
            </a:r>
            <a:r>
              <a:rPr lang="en-US" sz="2400" b="1" i="1" dirty="0"/>
              <a:t>column3</a:t>
            </a:r>
            <a:r>
              <a:rPr lang="en-US" sz="2400" b="1" dirty="0"/>
              <a:t>, ...</a:t>
            </a:r>
            <a:br>
              <a:rPr lang="en-US" sz="2400" b="1" dirty="0"/>
            </a:br>
            <a:r>
              <a:rPr lang="en-US" sz="2400" b="1" dirty="0"/>
              <a:t>INTO </a:t>
            </a:r>
            <a:r>
              <a:rPr lang="en-US" sz="2400" b="1" i="1" dirty="0" err="1"/>
              <a:t>newtable</a:t>
            </a:r>
            <a:r>
              <a:rPr lang="en-US" sz="2400" b="1" dirty="0"/>
              <a:t> [IN </a:t>
            </a:r>
            <a:r>
              <a:rPr lang="en-US" sz="2400" b="1" i="1" dirty="0" err="1"/>
              <a:t>external_db</a:t>
            </a:r>
            <a:r>
              <a:rPr lang="en-US" sz="2400" b="1" dirty="0"/>
              <a:t>]</a:t>
            </a:r>
            <a:br>
              <a:rPr lang="en-US" sz="2400" b="1" dirty="0"/>
            </a:br>
            <a:r>
              <a:rPr lang="en-US" sz="2400" b="1" dirty="0"/>
              <a:t>FROM </a:t>
            </a:r>
            <a:r>
              <a:rPr lang="en-US" sz="2400" b="1" i="1" dirty="0" err="1"/>
              <a:t>sourcetable</a:t>
            </a:r>
            <a:br>
              <a:rPr lang="en-US" sz="2400" b="1" dirty="0"/>
            </a:br>
            <a:r>
              <a:rPr lang="en-US" sz="2400" b="1" dirty="0"/>
              <a:t>WHERE </a:t>
            </a:r>
            <a:r>
              <a:rPr lang="en-US" sz="2400" b="1" i="1" dirty="0"/>
              <a:t>condition;</a:t>
            </a:r>
            <a:endParaRPr lang="en-US" sz="2400" b="1" dirty="0"/>
          </a:p>
        </p:txBody>
      </p:sp>
      <p:sp>
        <p:nvSpPr>
          <p:cNvPr id="6" name="Title 1">
            <a:extLst>
              <a:ext uri="{FF2B5EF4-FFF2-40B4-BE49-F238E27FC236}">
                <a16:creationId xmlns:a16="http://schemas.microsoft.com/office/drawing/2014/main" id="{64929B6E-00D7-78E7-C3EF-8803B27F8A28}"/>
              </a:ext>
            </a:extLst>
          </p:cNvPr>
          <p:cNvSpPr txBox="1">
            <a:spLocks/>
          </p:cNvSpPr>
          <p:nvPr/>
        </p:nvSpPr>
        <p:spPr>
          <a:xfrm>
            <a:off x="1434353" y="4378501"/>
            <a:ext cx="4947354" cy="356381"/>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entire table into a new table</a:t>
            </a:r>
          </a:p>
        </p:txBody>
      </p:sp>
      <p:sp>
        <p:nvSpPr>
          <p:cNvPr id="7" name="Title 1">
            <a:extLst>
              <a:ext uri="{FF2B5EF4-FFF2-40B4-BE49-F238E27FC236}">
                <a16:creationId xmlns:a16="http://schemas.microsoft.com/office/drawing/2014/main" id="{99C3CC52-20B3-9B4D-3316-3FBF1D589CA6}"/>
              </a:ext>
            </a:extLst>
          </p:cNvPr>
          <p:cNvSpPr txBox="1">
            <a:spLocks/>
          </p:cNvSpPr>
          <p:nvPr/>
        </p:nvSpPr>
        <p:spPr>
          <a:xfrm>
            <a:off x="6796411" y="4378502"/>
            <a:ext cx="5154232" cy="283146"/>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only some columns into a new table</a:t>
            </a:r>
          </a:p>
        </p:txBody>
      </p:sp>
    </p:spTree>
    <p:extLst>
      <p:ext uri="{BB962C8B-B14F-4D97-AF65-F5344CB8AC3E}">
        <p14:creationId xmlns:p14="http://schemas.microsoft.com/office/powerpoint/2010/main" val="4080482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E3822-6B4A-AC15-1038-065DE86F7E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97571E-0279-1DC8-C7C6-1AE848322F1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INSERT INTO Statement</a:t>
            </a:r>
          </a:p>
        </p:txBody>
      </p:sp>
      <p:sp>
        <p:nvSpPr>
          <p:cNvPr id="3" name="Text Placeholder 2">
            <a:extLst>
              <a:ext uri="{FF2B5EF4-FFF2-40B4-BE49-F238E27FC236}">
                <a16:creationId xmlns:a16="http://schemas.microsoft.com/office/drawing/2014/main" id="{A6E1E7C1-5FBB-F079-D488-F3A741F6272E}"/>
              </a:ext>
            </a:extLst>
          </p:cNvPr>
          <p:cNvSpPr>
            <a:spLocks noGrp="1"/>
          </p:cNvSpPr>
          <p:nvPr>
            <p:ph type="body" sz="quarter" idx="14"/>
          </p:nvPr>
        </p:nvSpPr>
        <p:spPr>
          <a:xfrm>
            <a:off x="1156921" y="1331742"/>
            <a:ext cx="10586844" cy="5119812"/>
          </a:xfrm>
        </p:spPr>
        <p:txBody>
          <a:bodyPr/>
          <a:lstStyle/>
          <a:p>
            <a:r>
              <a:rPr lang="en-US" dirty="0"/>
              <a:t> The INSERT INTO SELECT statement is used to copy data from an existing table and insert it into another existing table.</a:t>
            </a:r>
          </a:p>
          <a:p>
            <a:r>
              <a:rPr lang="en-US" dirty="0"/>
              <a:t>The INSERT INTO SELECT statement requires that the data types in source and target tables match.</a:t>
            </a:r>
          </a:p>
          <a:p>
            <a:r>
              <a:rPr lang="en-US" dirty="0"/>
              <a:t> If you omit the column names, the number and order of columns in the source and target tables must be exactly the same.</a:t>
            </a:r>
          </a:p>
          <a:p>
            <a:pPr>
              <a:buBlip>
                <a:blip r:embed="rId2"/>
              </a:buBlip>
            </a:pPr>
            <a:r>
              <a:rPr lang="en-US" b="1" dirty="0"/>
              <a:t> Note:</a:t>
            </a:r>
            <a:r>
              <a:rPr lang="en-US" dirty="0"/>
              <a:t> The existing records in the target table are unaffected.</a:t>
            </a:r>
          </a:p>
        </p:txBody>
      </p:sp>
      <p:sp>
        <p:nvSpPr>
          <p:cNvPr id="4" name="Rectangle: Rounded Corners 3">
            <a:extLst>
              <a:ext uri="{FF2B5EF4-FFF2-40B4-BE49-F238E27FC236}">
                <a16:creationId xmlns:a16="http://schemas.microsoft.com/office/drawing/2014/main" id="{BF5CCA9D-5CCA-D03B-F1F5-66AEAF1DB265}"/>
              </a:ext>
            </a:extLst>
          </p:cNvPr>
          <p:cNvSpPr/>
          <p:nvPr/>
        </p:nvSpPr>
        <p:spPr>
          <a:xfrm>
            <a:off x="1434353" y="4808117"/>
            <a:ext cx="4661647" cy="1936375"/>
          </a:xfrm>
          <a:prstGeom prst="roundRect">
            <a:avLst/>
          </a:prstGeom>
          <a:ln w="57150">
            <a:solidFill>
              <a:srgbClr val="FFC000"/>
            </a:solidFill>
          </a:ln>
        </p:spPr>
        <p:style>
          <a:lnRef idx="2">
            <a:schemeClr val="accent1"/>
          </a:lnRef>
          <a:fillRef idx="1">
            <a:schemeClr val="lt1"/>
          </a:fillRef>
          <a:effectRef idx="0">
            <a:schemeClr val="accent1"/>
          </a:effectRef>
          <a:fontRef idx="minor">
            <a:schemeClr val="dk1"/>
          </a:fontRef>
        </p:style>
        <p:txBody>
          <a:bodyPr rtlCol="0" anchor="ctr"/>
          <a:lstStyle/>
          <a:p>
            <a:r>
              <a:rPr lang="en-US" sz="2800" b="1" dirty="0"/>
              <a:t>INSERT INTO </a:t>
            </a:r>
            <a:r>
              <a:rPr lang="en-US" sz="2800" b="1" i="1" dirty="0" err="1"/>
              <a:t>target_table</a:t>
            </a:r>
            <a:br>
              <a:rPr lang="en-US" sz="3600" b="1" dirty="0"/>
            </a:br>
            <a:r>
              <a:rPr lang="en-US" sz="2800" b="1" dirty="0"/>
              <a:t>SELECT * FROM </a:t>
            </a:r>
            <a:r>
              <a:rPr lang="en-US" sz="2800" b="1" i="1" dirty="0" err="1"/>
              <a:t>source_table</a:t>
            </a:r>
            <a:br>
              <a:rPr lang="en-US" sz="3600" b="1" dirty="0"/>
            </a:br>
            <a:r>
              <a:rPr lang="en-US" sz="2800" b="1" dirty="0"/>
              <a:t>WHERE </a:t>
            </a:r>
            <a:r>
              <a:rPr lang="en-US" sz="2800" b="1" i="1" dirty="0"/>
              <a:t>condition</a:t>
            </a:r>
            <a:r>
              <a:rPr lang="en-US" sz="2800" b="1" dirty="0"/>
              <a:t>;</a:t>
            </a:r>
            <a:endParaRPr lang="en-US" sz="3600" b="1" dirty="0"/>
          </a:p>
        </p:txBody>
      </p:sp>
      <p:sp>
        <p:nvSpPr>
          <p:cNvPr id="5" name="Rectangle: Rounded Corners 4">
            <a:extLst>
              <a:ext uri="{FF2B5EF4-FFF2-40B4-BE49-F238E27FC236}">
                <a16:creationId xmlns:a16="http://schemas.microsoft.com/office/drawing/2014/main" id="{A034A62D-D870-6DE0-0CFC-A1E0F2C7F438}"/>
              </a:ext>
            </a:extLst>
          </p:cNvPr>
          <p:cNvSpPr/>
          <p:nvPr/>
        </p:nvSpPr>
        <p:spPr>
          <a:xfrm>
            <a:off x="7082119" y="4808117"/>
            <a:ext cx="4661646" cy="1936376"/>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000" b="1" dirty="0"/>
              <a:t>INSERT INTO </a:t>
            </a:r>
            <a:r>
              <a:rPr lang="en-US" sz="2000" b="1" i="1" dirty="0" err="1"/>
              <a:t>target_table</a:t>
            </a:r>
            <a:r>
              <a:rPr lang="en-US" sz="2000" b="1" i="1" dirty="0"/>
              <a:t> </a:t>
            </a:r>
            <a:r>
              <a:rPr lang="en-US" sz="2000" b="1" dirty="0"/>
              <a:t>(</a:t>
            </a:r>
            <a:r>
              <a:rPr lang="en-US" sz="2000" b="1" i="1" dirty="0"/>
              <a:t>column1</a:t>
            </a:r>
            <a:r>
              <a:rPr lang="en-US" sz="2000" b="1" dirty="0"/>
              <a:t>, </a:t>
            </a:r>
            <a:r>
              <a:rPr lang="en-US" sz="2000" b="1" i="1" dirty="0"/>
              <a:t>column2</a:t>
            </a:r>
            <a:r>
              <a:rPr lang="en-US" sz="2000" b="1" dirty="0"/>
              <a:t>, </a:t>
            </a:r>
            <a:r>
              <a:rPr lang="en-US" sz="2000" b="1" i="1" dirty="0"/>
              <a:t>column3</a:t>
            </a:r>
            <a:r>
              <a:rPr lang="en-US" sz="2000" b="1" dirty="0"/>
              <a:t>, ...)</a:t>
            </a:r>
            <a:br>
              <a:rPr lang="en-US" sz="2800" b="1" dirty="0"/>
            </a:br>
            <a:r>
              <a:rPr lang="en-US" sz="2000" b="1" dirty="0"/>
              <a:t>SELECT </a:t>
            </a:r>
            <a:r>
              <a:rPr lang="en-US" sz="2000" b="1" i="1" dirty="0"/>
              <a:t>column1</a:t>
            </a:r>
            <a:r>
              <a:rPr lang="en-US" sz="2000" b="1" dirty="0"/>
              <a:t>, </a:t>
            </a:r>
            <a:r>
              <a:rPr lang="en-US" sz="2000" b="1" i="1" dirty="0"/>
              <a:t>column2</a:t>
            </a:r>
            <a:r>
              <a:rPr lang="en-US" sz="2000" b="1" dirty="0"/>
              <a:t>, </a:t>
            </a:r>
            <a:r>
              <a:rPr lang="en-US" sz="2000" b="1" i="1" dirty="0"/>
              <a:t>column3</a:t>
            </a:r>
            <a:r>
              <a:rPr lang="en-US" sz="2000" b="1" dirty="0"/>
              <a:t>, ...</a:t>
            </a:r>
            <a:br>
              <a:rPr lang="en-US" sz="2800" b="1" dirty="0"/>
            </a:br>
            <a:r>
              <a:rPr lang="en-US" sz="2000" b="1" dirty="0"/>
              <a:t>FROM </a:t>
            </a:r>
            <a:r>
              <a:rPr lang="en-US" sz="2000" b="1" i="1" dirty="0" err="1"/>
              <a:t>source_table</a:t>
            </a:r>
            <a:br>
              <a:rPr lang="en-US" sz="2800" b="1" dirty="0"/>
            </a:br>
            <a:r>
              <a:rPr lang="en-US" sz="2000" b="1" dirty="0"/>
              <a:t>WHERE </a:t>
            </a:r>
            <a:r>
              <a:rPr lang="en-US" sz="2000" b="1" i="1" dirty="0"/>
              <a:t>condition</a:t>
            </a:r>
            <a:r>
              <a:rPr lang="en-US" sz="2000" b="1" dirty="0"/>
              <a:t>;</a:t>
            </a:r>
            <a:endParaRPr lang="en-US" sz="2800" b="1" dirty="0"/>
          </a:p>
        </p:txBody>
      </p:sp>
      <p:sp>
        <p:nvSpPr>
          <p:cNvPr id="6" name="Title 1">
            <a:extLst>
              <a:ext uri="{FF2B5EF4-FFF2-40B4-BE49-F238E27FC236}">
                <a16:creationId xmlns:a16="http://schemas.microsoft.com/office/drawing/2014/main" id="{89182115-F0CF-F1AB-B609-D4F8306BB3E6}"/>
              </a:ext>
            </a:extLst>
          </p:cNvPr>
          <p:cNvSpPr txBox="1">
            <a:spLocks/>
          </p:cNvSpPr>
          <p:nvPr/>
        </p:nvSpPr>
        <p:spPr>
          <a:xfrm>
            <a:off x="1434353" y="4200311"/>
            <a:ext cx="4947354" cy="356381"/>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all columns from on table to another table</a:t>
            </a:r>
          </a:p>
        </p:txBody>
      </p:sp>
      <p:sp>
        <p:nvSpPr>
          <p:cNvPr id="7" name="Title 1">
            <a:extLst>
              <a:ext uri="{FF2B5EF4-FFF2-40B4-BE49-F238E27FC236}">
                <a16:creationId xmlns:a16="http://schemas.microsoft.com/office/drawing/2014/main" id="{B46D4F99-41E3-74BB-E257-2796E4417D0E}"/>
              </a:ext>
            </a:extLst>
          </p:cNvPr>
          <p:cNvSpPr txBox="1">
            <a:spLocks/>
          </p:cNvSpPr>
          <p:nvPr/>
        </p:nvSpPr>
        <p:spPr>
          <a:xfrm>
            <a:off x="6809297" y="4200311"/>
            <a:ext cx="5154232" cy="283146"/>
          </a:xfrm>
          <a:prstGeom prst="rect">
            <a:avLst/>
          </a:prstGeom>
        </p:spPr>
        <p:txBody>
          <a:bodyPr/>
          <a:lstStyle>
            <a:lvl1pPr algn="l" defTabSz="685800" rtl="0" eaLnBrk="1" latinLnBrk="0" hangingPunct="1">
              <a:lnSpc>
                <a:spcPct val="90000"/>
              </a:lnSpc>
              <a:spcBef>
                <a:spcPct val="0"/>
              </a:spcBef>
              <a:buNone/>
              <a:defRPr lang="en-US" sz="3600" b="1" kern="1200" spc="-38" baseline="0" dirty="0">
                <a:solidFill>
                  <a:srgbClr val="002060"/>
                </a:solidFill>
                <a:latin typeface="+mn-lt"/>
                <a:ea typeface="+mj-ea"/>
                <a:cs typeface="+mj-cs"/>
              </a:defRPr>
            </a:lvl1pPr>
          </a:lstStyle>
          <a:p>
            <a:r>
              <a:rPr lang="en-US" sz="2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Copy only some columns from one table to another table</a:t>
            </a:r>
          </a:p>
        </p:txBody>
      </p:sp>
    </p:spTree>
    <p:extLst>
      <p:ext uri="{BB962C8B-B14F-4D97-AF65-F5344CB8AC3E}">
        <p14:creationId xmlns:p14="http://schemas.microsoft.com/office/powerpoint/2010/main" val="6692521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C9BAA-737B-EEA7-C5F8-04AD4BAF29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70ED75-0C1F-33A6-2A56-C557D3F5C1F5}"/>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SQL CASE Expression</a:t>
            </a:r>
          </a:p>
        </p:txBody>
      </p:sp>
      <p:sp>
        <p:nvSpPr>
          <p:cNvPr id="3" name="Text Placeholder 2">
            <a:extLst>
              <a:ext uri="{FF2B5EF4-FFF2-40B4-BE49-F238E27FC236}">
                <a16:creationId xmlns:a16="http://schemas.microsoft.com/office/drawing/2014/main" id="{18081C1A-D619-6DEC-9A59-38146A142F70}"/>
              </a:ext>
            </a:extLst>
          </p:cNvPr>
          <p:cNvSpPr>
            <a:spLocks noGrp="1"/>
          </p:cNvSpPr>
          <p:nvPr>
            <p:ph type="body" sz="quarter" idx="14"/>
          </p:nvPr>
        </p:nvSpPr>
        <p:spPr>
          <a:xfrm>
            <a:off x="1156921" y="1496140"/>
            <a:ext cx="10586844" cy="5119812"/>
          </a:xfrm>
        </p:spPr>
        <p:txBody>
          <a:bodyPr/>
          <a:lstStyle/>
          <a:p>
            <a:r>
              <a:rPr lang="en-US" dirty="0"/>
              <a:t> The CASE expression is used to define different results based on specified conditions in an SQL statement.</a:t>
            </a:r>
          </a:p>
          <a:p>
            <a:r>
              <a:rPr lang="en-US" dirty="0"/>
              <a:t>The CASE expression goes through the conditions and stops at the first match (like an if-then-else statement). So, once a condition is true, it will stop processing and return the result. If no conditions are true, it returns the value in the ELSE clause. If there is no ELSE clause and no conditions are true, it returns NULL.</a:t>
            </a:r>
            <a:r>
              <a:rPr lang="en-US" b="1" dirty="0"/>
              <a:t> </a:t>
            </a:r>
            <a:endParaRPr lang="en-US" dirty="0"/>
          </a:p>
        </p:txBody>
      </p:sp>
      <p:sp>
        <p:nvSpPr>
          <p:cNvPr id="5" name="Rectangle: Rounded Corners 4">
            <a:extLst>
              <a:ext uri="{FF2B5EF4-FFF2-40B4-BE49-F238E27FC236}">
                <a16:creationId xmlns:a16="http://schemas.microsoft.com/office/drawing/2014/main" id="{97BAE9D8-940D-9D56-3157-3E44494040A5}"/>
              </a:ext>
            </a:extLst>
          </p:cNvPr>
          <p:cNvSpPr/>
          <p:nvPr/>
        </p:nvSpPr>
        <p:spPr>
          <a:xfrm>
            <a:off x="1192198" y="4055081"/>
            <a:ext cx="10318483" cy="2560871"/>
          </a:xfrm>
          <a:prstGeom prst="roundRect">
            <a:avLst/>
          </a:prstGeom>
          <a:ln w="57150">
            <a:solidFill>
              <a:srgbClr val="FFC000"/>
            </a:solidFill>
          </a:ln>
        </p:spPr>
        <p:style>
          <a:lnRef idx="2">
            <a:schemeClr val="accent6"/>
          </a:lnRef>
          <a:fillRef idx="1">
            <a:schemeClr val="lt1"/>
          </a:fillRef>
          <a:effectRef idx="0">
            <a:schemeClr val="accent6"/>
          </a:effectRef>
          <a:fontRef idx="minor">
            <a:schemeClr val="dk1"/>
          </a:fontRef>
        </p:style>
        <p:txBody>
          <a:bodyPr rtlCol="0" anchor="ctr"/>
          <a:lstStyle/>
          <a:p>
            <a:r>
              <a:rPr lang="en-US" sz="2400" b="1" dirty="0"/>
              <a:t>CASE</a:t>
            </a:r>
            <a:br>
              <a:rPr lang="en-US" sz="2800" b="1" dirty="0"/>
            </a:br>
            <a:r>
              <a:rPr lang="en-US" sz="2400" b="1" dirty="0"/>
              <a:t>  WHEN </a:t>
            </a:r>
            <a:r>
              <a:rPr lang="en-US" sz="2400" b="1" i="1" dirty="0"/>
              <a:t>condition1</a:t>
            </a:r>
            <a:r>
              <a:rPr lang="en-US" sz="2400" b="1" dirty="0"/>
              <a:t> THEN </a:t>
            </a:r>
            <a:r>
              <a:rPr lang="en-US" sz="2400" b="1" i="1" dirty="0"/>
              <a:t>result1</a:t>
            </a:r>
            <a:br>
              <a:rPr lang="en-US" sz="2800" b="1" dirty="0"/>
            </a:br>
            <a:r>
              <a:rPr lang="en-US" sz="2400" b="1" dirty="0"/>
              <a:t>  WHEN </a:t>
            </a:r>
            <a:r>
              <a:rPr lang="en-US" sz="2400" b="1" i="1" dirty="0"/>
              <a:t>condition2</a:t>
            </a:r>
            <a:r>
              <a:rPr lang="en-US" sz="2400" b="1" dirty="0"/>
              <a:t> THEN </a:t>
            </a:r>
            <a:r>
              <a:rPr lang="en-US" sz="2400" b="1" i="1" dirty="0"/>
              <a:t>result2</a:t>
            </a:r>
            <a:br>
              <a:rPr lang="en-US" sz="2800" b="1" dirty="0"/>
            </a:br>
            <a:r>
              <a:rPr lang="en-US" sz="2400" b="1" dirty="0"/>
              <a:t>  WHEN </a:t>
            </a:r>
            <a:r>
              <a:rPr lang="en-US" sz="2400" b="1" i="1" dirty="0" err="1"/>
              <a:t>conditionN</a:t>
            </a:r>
            <a:r>
              <a:rPr lang="en-US" sz="2400" b="1" dirty="0"/>
              <a:t> THEN </a:t>
            </a:r>
            <a:r>
              <a:rPr lang="en-US" sz="2400" b="1" i="1" dirty="0" err="1"/>
              <a:t>resultN</a:t>
            </a:r>
            <a:br>
              <a:rPr lang="en-US" sz="2800" b="1" dirty="0"/>
            </a:br>
            <a:r>
              <a:rPr lang="en-US" sz="2400" b="1" dirty="0"/>
              <a:t>  ELSE </a:t>
            </a:r>
            <a:r>
              <a:rPr lang="en-US" sz="2400" b="1" i="1" dirty="0" err="1"/>
              <a:t>default_result</a:t>
            </a:r>
            <a:br>
              <a:rPr lang="en-US" sz="2800" b="1" dirty="0"/>
            </a:br>
            <a:r>
              <a:rPr lang="en-US" sz="2400" b="1" dirty="0"/>
              <a:t>END;</a:t>
            </a:r>
            <a:endParaRPr lang="en-US" sz="3600" b="1" dirty="0"/>
          </a:p>
        </p:txBody>
      </p:sp>
    </p:spTree>
    <p:extLst>
      <p:ext uri="{BB962C8B-B14F-4D97-AF65-F5344CB8AC3E}">
        <p14:creationId xmlns:p14="http://schemas.microsoft.com/office/powerpoint/2010/main" val="5169011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2493</TotalTime>
  <Words>1913</Words>
  <Application>Microsoft Office PowerPoint</Application>
  <PresentationFormat>Widescreen</PresentationFormat>
  <Paragraphs>268</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ADLaM Display</vt:lpstr>
      <vt:lpstr>Calibri</vt:lpstr>
      <vt:lpstr>Wingdings</vt:lpstr>
      <vt:lpstr>YESHUAH</vt:lpstr>
      <vt:lpstr>RetrospectVTI</vt:lpstr>
      <vt:lpstr>Database Design  - RDBMS</vt:lpstr>
      <vt:lpstr>PowerPoint Presentation</vt:lpstr>
      <vt:lpstr>What is RDBMS?</vt:lpstr>
      <vt:lpstr>SQL Databases</vt:lpstr>
      <vt:lpstr>Popular SQL Databases</vt:lpstr>
      <vt:lpstr>Terminology</vt:lpstr>
      <vt:lpstr>PowerPoint Presentation</vt:lpstr>
      <vt:lpstr>PowerPoint Presentation</vt:lpstr>
      <vt:lpstr>PowerPoint Presentation</vt:lpstr>
      <vt:lpstr>PowerPoint Presentation</vt:lpstr>
      <vt:lpstr>Data Types</vt:lpstr>
      <vt:lpstr>Data Types (in PostgreSQL)</vt:lpstr>
      <vt:lpstr>…</vt:lpstr>
      <vt:lpstr>SQL Constraints</vt:lpstr>
      <vt:lpstr>…</vt:lpstr>
      <vt:lpstr>PowerPoint Presentation</vt:lpstr>
      <vt:lpstr>SQL Primary Key (PK)</vt:lpstr>
      <vt:lpstr>SQL Unique Key (UK)</vt:lpstr>
      <vt:lpstr>SQL Foreign Key (FK)</vt:lpstr>
      <vt:lpstr>SQL Composite Key</vt:lpstr>
      <vt:lpstr>SQL Alternate Key</vt:lpstr>
      <vt:lpstr>Summary of SQL Keys</vt:lpstr>
      <vt:lpstr>Data Integrity</vt:lpstr>
      <vt:lpstr>SQL Aliases</vt:lpstr>
      <vt:lpstr>SQL SELECT INTO Statement</vt:lpstr>
      <vt:lpstr>SQL INSERT INTO Statement</vt:lpstr>
      <vt:lpstr>SQL CASE Expression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Mintesnot Iwunete</cp:lastModifiedBy>
  <cp:revision>286</cp:revision>
  <dcterms:created xsi:type="dcterms:W3CDTF">2020-02-06T00:04:00Z</dcterms:created>
  <dcterms:modified xsi:type="dcterms:W3CDTF">2026-06-21T20:07:04Z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1033-11.2.0.9937</vt:lpwstr>
  </property>
</Properties>
</file>