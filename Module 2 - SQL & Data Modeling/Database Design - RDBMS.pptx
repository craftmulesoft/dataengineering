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11" r:id="rId2"/>
    <p:sldId id="410" r:id="rId3"/>
    <p:sldId id="394" r:id="rId4"/>
    <p:sldId id="414" r:id="rId5"/>
    <p:sldId id="413" r:id="rId6"/>
    <p:sldId id="412" r:id="rId7"/>
    <p:sldId id="416" r:id="rId8"/>
    <p:sldId id="415" r:id="rId9"/>
    <p:sldId id="417" r:id="rId10"/>
    <p:sldId id="418" r:id="rId11"/>
    <p:sldId id="426" r:id="rId12"/>
    <p:sldId id="427" r:id="rId13"/>
    <p:sldId id="428" r:id="rId14"/>
    <p:sldId id="429" r:id="rId15"/>
    <p:sldId id="430" r:id="rId16"/>
    <p:sldId id="431" r:id="rId17"/>
    <p:sldId id="420" r:id="rId18"/>
    <p:sldId id="421" r:id="rId19"/>
    <p:sldId id="422" r:id="rId20"/>
    <p:sldId id="423" r:id="rId21"/>
    <p:sldId id="424" r:id="rId22"/>
    <p:sldId id="419" r:id="rId23"/>
    <p:sldId id="425" r:id="rId24"/>
    <p:sldId id="26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E2F5"/>
    <a:srgbClr val="E7F7FE"/>
    <a:srgbClr val="0072C6"/>
    <a:srgbClr val="00A4EF"/>
    <a:srgbClr val="3333FF"/>
    <a:srgbClr val="FFDF00"/>
    <a:srgbClr val="75CDEA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79" autoAdjust="0"/>
    <p:restoredTop sz="94639" autoAdjust="0"/>
  </p:normalViewPr>
  <p:slideViewPr>
    <p:cSldViewPr snapToGrid="0">
      <p:cViewPr varScale="1">
        <p:scale>
          <a:sx n="74" d="100"/>
          <a:sy n="74" d="100"/>
        </p:scale>
        <p:origin x="88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6/20/2026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5116068" cy="5116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jpe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3621"/>
            <a:ext cx="5378824" cy="1814591"/>
          </a:xfrm>
        </p:spPr>
        <p:txBody>
          <a:bodyPr>
            <a:no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Database Design </a:t>
            </a:r>
            <a:b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RDBMS</a:t>
            </a:r>
            <a:endParaRPr lang="en-US" sz="54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912" y="1523757"/>
            <a:ext cx="6934200" cy="4079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47D76-DCDC-BA68-E61D-E120C82FC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9412" y="3429000"/>
            <a:ext cx="3026664" cy="302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1287" y="336797"/>
            <a:ext cx="6810713" cy="6667828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RDBMS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Databases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DDL Statements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DML Statements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DQL Statements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Constraints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Primary 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Foreign 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 Composite 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Alternative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Keys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F17C-4686-579A-ADCE-818576D4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RDBMS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D0B1B-B130-8E70-136A-D0F6E5E12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0" y="1643147"/>
            <a:ext cx="10794447" cy="5602941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RDBMS </a:t>
            </a:r>
            <a:r>
              <a:rPr lang="en-US" dirty="0"/>
              <a:t>stands for Relational Database Management System. RDBMS is the basis for SQL, and for all modern database systems like MS SQL Server, IBM DB2, Oracle, MySQL, and Microsoft Access.</a:t>
            </a:r>
          </a:p>
          <a:p>
            <a:pPr algn="just"/>
            <a:r>
              <a:rPr lang="en-US" dirty="0"/>
              <a:t> A Relational Database stores data in tables that are related to one another.</a:t>
            </a:r>
          </a:p>
          <a:p>
            <a:pPr algn="just"/>
            <a:r>
              <a:rPr lang="en-US" dirty="0"/>
              <a:t> Instead of storing student information multiple times, we store it once and reference it when needed.</a:t>
            </a:r>
          </a:p>
          <a:p>
            <a:pPr marL="0" indent="0">
              <a:buNone/>
            </a:pP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Characteristics</a:t>
            </a:r>
          </a:p>
          <a:p>
            <a:pPr>
              <a:buBlip>
                <a:blip r:embed="rId2"/>
              </a:buBlip>
            </a:pPr>
            <a:r>
              <a:rPr lang="en-US" dirty="0"/>
              <a:t> Data stored in rows and columns </a:t>
            </a:r>
          </a:p>
          <a:p>
            <a:pPr>
              <a:buBlip>
                <a:blip r:embed="rId2"/>
              </a:buBlip>
            </a:pPr>
            <a:r>
              <a:rPr lang="en-US" dirty="0"/>
              <a:t> Tables can be connected through relationships </a:t>
            </a:r>
          </a:p>
          <a:p>
            <a:pPr>
              <a:buBlip>
                <a:blip r:embed="rId2"/>
              </a:buBlip>
            </a:pPr>
            <a:r>
              <a:rPr lang="en-US" dirty="0"/>
              <a:t> Uses SQL (Structured Query Language) </a:t>
            </a:r>
          </a:p>
          <a:p>
            <a:pPr>
              <a:buBlip>
                <a:blip r:embed="rId2"/>
              </a:buBlip>
            </a:pPr>
            <a:r>
              <a:rPr lang="en-US" dirty="0"/>
              <a:t> Reduces duplicate data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742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D0C9-91B1-31A8-5BA9-7DBF858F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Databases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004F375-E3CF-42A4-DE58-B8B14C15A2C2}"/>
              </a:ext>
            </a:extLst>
          </p:cNvPr>
          <p:cNvGrpSpPr/>
          <p:nvPr/>
        </p:nvGrpSpPr>
        <p:grpSpPr>
          <a:xfrm>
            <a:off x="399264" y="1192237"/>
            <a:ext cx="11792736" cy="5595536"/>
            <a:chOff x="399264" y="1192237"/>
            <a:chExt cx="11792736" cy="5595536"/>
          </a:xfrm>
        </p:grpSpPr>
        <p:pic>
          <p:nvPicPr>
            <p:cNvPr id="4" name="Picture 3" descr="MySQL :: MySQL Logo Downloads">
              <a:extLst>
                <a:ext uri="{FF2B5EF4-FFF2-40B4-BE49-F238E27FC236}">
                  <a16:creationId xmlns:a16="http://schemas.microsoft.com/office/drawing/2014/main" id="{E2926AA4-506A-7A1D-8923-5C8AF6E43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047" y="1638662"/>
              <a:ext cx="1124199" cy="76011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807F816-1735-7535-05F1-01FA7C44B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7971" y="1592236"/>
              <a:ext cx="966180" cy="996373"/>
            </a:xfrm>
            <a:prstGeom prst="rect">
              <a:avLst/>
            </a:prstGeom>
          </p:spPr>
        </p:pic>
        <p:pic>
          <p:nvPicPr>
            <p:cNvPr id="9" name="Picture 8" descr="Sql server - Free logo icons">
              <a:extLst>
                <a:ext uri="{FF2B5EF4-FFF2-40B4-BE49-F238E27FC236}">
                  <a16:creationId xmlns:a16="http://schemas.microsoft.com/office/drawing/2014/main" id="{EDB05BF3-3673-6A82-69F1-DADE4B2BF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5806" y="1300160"/>
              <a:ext cx="1288449" cy="1288449"/>
            </a:xfrm>
            <a:prstGeom prst="rect">
              <a:avLst/>
            </a:prstGeom>
          </p:spPr>
        </p:pic>
        <p:pic>
          <p:nvPicPr>
            <p:cNvPr id="10" name="Picture 9" descr="What is Oracle? | Webopedia">
              <a:extLst>
                <a:ext uri="{FF2B5EF4-FFF2-40B4-BE49-F238E27FC236}">
                  <a16:creationId xmlns:a16="http://schemas.microsoft.com/office/drawing/2014/main" id="{FE803EBF-758D-7E1E-2D88-6CFEBB6D2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3845" y="1192237"/>
              <a:ext cx="1504294" cy="1504294"/>
            </a:xfrm>
            <a:prstGeom prst="rect">
              <a:avLst/>
            </a:prstGeom>
          </p:spPr>
        </p:pic>
        <p:pic>
          <p:nvPicPr>
            <p:cNvPr id="11" name="Picture 10" descr="File:SQLite370.svg - Wikimedia Commons">
              <a:extLst>
                <a:ext uri="{FF2B5EF4-FFF2-40B4-BE49-F238E27FC236}">
                  <a16:creationId xmlns:a16="http://schemas.microsoft.com/office/drawing/2014/main" id="{CD796036-DDA1-ADD0-9328-B51A4422F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50486" y="1470434"/>
              <a:ext cx="2105708" cy="996373"/>
            </a:xfrm>
            <a:prstGeom prst="rect">
              <a:avLst/>
            </a:prstGeom>
          </p:spPr>
        </p:pic>
        <p:pic>
          <p:nvPicPr>
            <p:cNvPr id="12" name="Picture 11" descr="Official MariaDB Logos | MariaDB">
              <a:extLst>
                <a:ext uri="{FF2B5EF4-FFF2-40B4-BE49-F238E27FC236}">
                  <a16:creationId xmlns:a16="http://schemas.microsoft.com/office/drawing/2014/main" id="{C844FC1F-765F-7860-50EA-E1193448A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24816" y="2843208"/>
              <a:ext cx="1220605" cy="99511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106DB85-147C-70DC-016A-2FE8E94D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66029" y="2829947"/>
              <a:ext cx="1492177" cy="113319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D3F1498-DA45-8548-4C6F-350CFA665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48541" y="1470434"/>
              <a:ext cx="980387" cy="980387"/>
            </a:xfrm>
            <a:prstGeom prst="rect">
              <a:avLst/>
            </a:prstGeom>
          </p:spPr>
        </p:pic>
        <p:pic>
          <p:nvPicPr>
            <p:cNvPr id="23" name="Picture 22" descr="Firebird: Logos">
              <a:extLst>
                <a:ext uri="{FF2B5EF4-FFF2-40B4-BE49-F238E27FC236}">
                  <a16:creationId xmlns:a16="http://schemas.microsoft.com/office/drawing/2014/main" id="{D17530DB-28CE-5F62-4FD4-755D606BE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05144" y="2746222"/>
              <a:ext cx="1300643" cy="1300643"/>
            </a:xfrm>
            <a:prstGeom prst="rect">
              <a:avLst/>
            </a:prstGeom>
          </p:spPr>
        </p:pic>
        <p:pic>
          <p:nvPicPr>
            <p:cNvPr id="24" name="Picture 23" descr="IBM-DB2-Logo - SimpleIndex">
              <a:extLst>
                <a:ext uri="{FF2B5EF4-FFF2-40B4-BE49-F238E27FC236}">
                  <a16:creationId xmlns:a16="http://schemas.microsoft.com/office/drawing/2014/main" id="{17F6C013-0B27-CCF2-8D5D-5D5E61865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29964" y="2871723"/>
              <a:ext cx="995112" cy="995112"/>
            </a:xfrm>
            <a:prstGeom prst="rect">
              <a:avLst/>
            </a:prstGeom>
          </p:spPr>
        </p:pic>
        <p:pic>
          <p:nvPicPr>
            <p:cNvPr id="25" name="Picture 24" descr="Snowflake Logo, symbol, meaning, history, PNG, brand">
              <a:extLst>
                <a:ext uri="{FF2B5EF4-FFF2-40B4-BE49-F238E27FC236}">
                  <a16:creationId xmlns:a16="http://schemas.microsoft.com/office/drawing/2014/main" id="{92B14EED-323A-6D19-8883-68ED549F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05787" y="2760609"/>
              <a:ext cx="2261097" cy="1271867"/>
            </a:xfrm>
            <a:prstGeom prst="rect">
              <a:avLst/>
            </a:prstGeom>
          </p:spPr>
        </p:pic>
        <p:pic>
          <p:nvPicPr>
            <p:cNvPr id="26" name="Picture 25" descr="File:Databricks Logo.png - Wikimedia Commons">
              <a:extLst>
                <a:ext uri="{FF2B5EF4-FFF2-40B4-BE49-F238E27FC236}">
                  <a16:creationId xmlns:a16="http://schemas.microsoft.com/office/drawing/2014/main" id="{0BCDE463-5D64-2806-7AE4-207B3B4B8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396956" y="2565078"/>
              <a:ext cx="2795044" cy="146739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74D6AD6-7AC5-7D6A-1B1A-5891E4904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9264" y="4106260"/>
              <a:ext cx="1256512" cy="1256512"/>
            </a:xfrm>
            <a:prstGeom prst="rect">
              <a:avLst/>
            </a:prstGeom>
          </p:spPr>
        </p:pic>
        <p:pic>
          <p:nvPicPr>
            <p:cNvPr id="34" name="Picture 33" descr="Beginners Guide To Google Cloud SQL Database Service">
              <a:extLst>
                <a:ext uri="{FF2B5EF4-FFF2-40B4-BE49-F238E27FC236}">
                  <a16:creationId xmlns:a16="http://schemas.microsoft.com/office/drawing/2014/main" id="{50C35B0E-E6D5-7EDB-2681-88EBCD76C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187971" y="4106260"/>
              <a:ext cx="1256512" cy="1256512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50811F8-0F27-F894-DBA1-293ED4FDD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19577" y="4086814"/>
              <a:ext cx="1420906" cy="1420906"/>
            </a:xfrm>
            <a:prstGeom prst="rect">
              <a:avLst/>
            </a:prstGeom>
          </p:spPr>
        </p:pic>
        <p:pic>
          <p:nvPicPr>
            <p:cNvPr id="39" name="Picture 38" descr="Apache Derby: Logo">
              <a:extLst>
                <a:ext uri="{FF2B5EF4-FFF2-40B4-BE49-F238E27FC236}">
                  <a16:creationId xmlns:a16="http://schemas.microsoft.com/office/drawing/2014/main" id="{E71F5A20-CF61-82BB-136E-428A3A2F2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708284" y="4179337"/>
              <a:ext cx="1581900" cy="1235859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9ECEBEF-B2BF-419A-BBB2-39C54E940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724802" y="4326278"/>
              <a:ext cx="953034" cy="1048337"/>
            </a:xfrm>
            <a:prstGeom prst="rect">
              <a:avLst/>
            </a:prstGeom>
          </p:spPr>
        </p:pic>
        <p:pic>
          <p:nvPicPr>
            <p:cNvPr id="44" name="Picture 43" descr="Google Big Query Logo PNG (Transparent) SVG AI – Free Download">
              <a:extLst>
                <a:ext uri="{FF2B5EF4-FFF2-40B4-BE49-F238E27FC236}">
                  <a16:creationId xmlns:a16="http://schemas.microsoft.com/office/drawing/2014/main" id="{949894BF-09E1-F31B-1F39-4B077ED9E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069560" y="4391195"/>
              <a:ext cx="2844894" cy="971578"/>
            </a:xfrm>
            <a:prstGeom prst="rect">
              <a:avLst/>
            </a:prstGeom>
          </p:spPr>
        </p:pic>
        <p:pic>
          <p:nvPicPr>
            <p:cNvPr id="46" name="Picture 45" descr="HVR Azure SQL Database Integration | Basedash">
              <a:extLst>
                <a:ext uri="{FF2B5EF4-FFF2-40B4-BE49-F238E27FC236}">
                  <a16:creationId xmlns:a16="http://schemas.microsoft.com/office/drawing/2014/main" id="{FFFA9458-FCCA-4ED1-5EAC-A73F67DCF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70200" y="5531260"/>
              <a:ext cx="1185575" cy="1185575"/>
            </a:xfrm>
            <a:prstGeom prst="rect">
              <a:avLst/>
            </a:prstGeom>
          </p:spPr>
        </p:pic>
        <p:pic>
          <p:nvPicPr>
            <p:cNvPr id="47" name="Picture 46" descr="SAP Business One HANA | Vision33 - Vision33">
              <a:extLst>
                <a:ext uri="{FF2B5EF4-FFF2-40B4-BE49-F238E27FC236}">
                  <a16:creationId xmlns:a16="http://schemas.microsoft.com/office/drawing/2014/main" id="{84D71E76-D52D-010E-3FC6-FEE5C3D2C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366884" y="5865120"/>
              <a:ext cx="2563906" cy="747806"/>
            </a:xfrm>
            <a:prstGeom prst="rect">
              <a:avLst/>
            </a:prstGeom>
          </p:spPr>
        </p:pic>
        <p:pic>
          <p:nvPicPr>
            <p:cNvPr id="48" name="Picture 47" descr="TiDB, Powered by PingCAP | Sunnyvale CA">
              <a:extLst>
                <a:ext uri="{FF2B5EF4-FFF2-40B4-BE49-F238E27FC236}">
                  <a16:creationId xmlns:a16="http://schemas.microsoft.com/office/drawing/2014/main" id="{881C27B9-E2B2-06F0-F79B-D8DD8609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162384" y="5507720"/>
              <a:ext cx="1256513" cy="1256513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F78E40C-1B49-619A-7C60-58373BE2F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127611" y="5557840"/>
              <a:ext cx="1212872" cy="1212872"/>
            </a:xfrm>
            <a:prstGeom prst="rect">
              <a:avLst/>
            </a:prstGeom>
          </p:spPr>
        </p:pic>
        <p:pic>
          <p:nvPicPr>
            <p:cNvPr id="53" name="Picture 52" descr="Teradata color icon in PNG, SVG">
              <a:extLst>
                <a:ext uri="{FF2B5EF4-FFF2-40B4-BE49-F238E27FC236}">
                  <a16:creationId xmlns:a16="http://schemas.microsoft.com/office/drawing/2014/main" id="{86AF2CA4-1256-2F20-32DE-14BD5705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870977" y="5531260"/>
              <a:ext cx="1256513" cy="1256513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C337732B-3975-4E6D-A955-898CC522E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724802" y="5534853"/>
              <a:ext cx="1235859" cy="1235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484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B3CC-C093-6318-65B0-8E254202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Popular SQL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4D690-6C36-4249-846B-9C953CB3A6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5048095"/>
          </a:xfrm>
        </p:spPr>
        <p:txBody>
          <a:bodyPr/>
          <a:lstStyle/>
          <a:p>
            <a:pPr algn="just"/>
            <a:r>
              <a:rPr lang="en-US" dirty="0"/>
              <a:t> There are several types of SQL-based relational databases, each with its own features and uses.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MySQL</a:t>
            </a:r>
            <a:r>
              <a:rPr lang="en-US" dirty="0"/>
              <a:t>: Free and open-source, commonly used for websites and small to medium applications.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PostgreSQL</a:t>
            </a:r>
            <a:r>
              <a:rPr lang="en-US" dirty="0"/>
              <a:t>: Advanced open-source database that supports complex queries and additional features.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Oracle Database</a:t>
            </a:r>
            <a:r>
              <a:rPr lang="en-US" dirty="0"/>
              <a:t>: A commercial database often used by large enterprises, known for reliability and advanced tools.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Microsoft SQL Server</a:t>
            </a:r>
            <a:r>
              <a:rPr lang="en-US" dirty="0"/>
              <a:t>: Widely used in corporate environments, integrates well with other Microsoft products.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SQLite</a:t>
            </a:r>
            <a:r>
              <a:rPr lang="en-US" dirty="0"/>
              <a:t>: A lightweight database embedded directly into applications, often used in mobile or desktop apps.</a:t>
            </a:r>
          </a:p>
        </p:txBody>
      </p:sp>
    </p:spTree>
    <p:extLst>
      <p:ext uri="{BB962C8B-B14F-4D97-AF65-F5344CB8AC3E}">
        <p14:creationId xmlns:p14="http://schemas.microsoft.com/office/powerpoint/2010/main" val="225676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C7EF-3300-2EAF-7AD3-B0DC1CF6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Terminology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9978DA-DD00-DBDE-616F-7227513B9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93685"/>
              </p:ext>
            </p:extLst>
          </p:nvPr>
        </p:nvGraphicFramePr>
        <p:xfrm>
          <a:off x="1156921" y="1651995"/>
          <a:ext cx="10425480" cy="49818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212740">
                  <a:extLst>
                    <a:ext uri="{9D8B030D-6E8A-4147-A177-3AD203B41FA5}">
                      <a16:colId xmlns:a16="http://schemas.microsoft.com/office/drawing/2014/main" val="3169839058"/>
                    </a:ext>
                  </a:extLst>
                </a:gridCol>
                <a:gridCol w="5212740">
                  <a:extLst>
                    <a:ext uri="{9D8B030D-6E8A-4147-A177-3AD203B41FA5}">
                      <a16:colId xmlns:a16="http://schemas.microsoft.com/office/drawing/2014/main" val="2195953278"/>
                    </a:ext>
                  </a:extLst>
                </a:gridCol>
              </a:tblGrid>
              <a:tr h="830315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Term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Meaning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899361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Collection of related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09407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Row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Single Record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776831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Column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Data field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40876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Record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One row in a table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065707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Field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Individual piece of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71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82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2C7F69-C9A2-F3FA-473C-A9A48452F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49" y="1225296"/>
            <a:ext cx="10789919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5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03ED02-08FD-8F3B-C88A-616B4C8D7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95" y="358588"/>
            <a:ext cx="9769287" cy="651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2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1E73-3607-0ED9-8B97-ECFAEAEB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6113B4-F367-6C64-0D83-AC96B8B0C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008" y="197224"/>
            <a:ext cx="10011333" cy="667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3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9478-1D79-003E-58F3-70F7847D6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1B8833-E0D1-4A84-E37D-82FA10A2C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008" y="197224"/>
            <a:ext cx="10011333" cy="667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0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38E9-A904-3A66-52EA-5C32549B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C0F9E-50CA-3B4F-B095-B4C5F303C0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42638"/>
            <a:ext cx="10275570" cy="552625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A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 </a:t>
            </a:r>
            <a:r>
              <a:rPr lang="en-US" dirty="0"/>
              <a:t>specifies the kind of data that can be stored in a table column.</a:t>
            </a:r>
          </a:p>
          <a:p>
            <a:pPr algn="just"/>
            <a:r>
              <a:rPr lang="en-US" dirty="0"/>
              <a:t> Choosing the correct data type improves storage efficiency, data integrity, and query performance.</a:t>
            </a:r>
          </a:p>
          <a:p>
            <a:pPr algn="just"/>
            <a:r>
              <a:rPr lang="en-US" dirty="0"/>
              <a:t> While creating a database table in a database, we need to specify following two attributes to define a table column: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 Name of the column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 Data type of the column</a:t>
            </a:r>
          </a:p>
          <a:p>
            <a:pPr marL="0" indent="0">
              <a:buNone/>
            </a:pPr>
            <a:r>
              <a:rPr lang="en-US" b="1" dirty="0"/>
              <a:t>Why Are Data Types Important?</a:t>
            </a:r>
          </a:p>
          <a:p>
            <a:pPr marL="0" indent="0">
              <a:buNone/>
            </a:pPr>
            <a:r>
              <a:rPr lang="en-US" dirty="0"/>
              <a:t>✅ Ensure data accuracy</a:t>
            </a:r>
            <a:br>
              <a:rPr lang="en-US" dirty="0"/>
            </a:br>
            <a:r>
              <a:rPr lang="en-US" dirty="0"/>
              <a:t>✅ Reduce storage usage</a:t>
            </a:r>
            <a:br>
              <a:rPr lang="en-US" dirty="0"/>
            </a:br>
            <a:r>
              <a:rPr lang="en-US" dirty="0"/>
              <a:t>✅ Improve database performance</a:t>
            </a:r>
            <a:br>
              <a:rPr lang="en-US" dirty="0"/>
            </a:br>
            <a:r>
              <a:rPr lang="en-US" dirty="0"/>
              <a:t>✅ Prevent invalid data entry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1190FA-50D5-87E7-2D58-7D48F26681D0}"/>
              </a:ext>
            </a:extLst>
          </p:cNvPr>
          <p:cNvSpPr/>
          <p:nvPr/>
        </p:nvSpPr>
        <p:spPr>
          <a:xfrm>
            <a:off x="5853845" y="4041648"/>
            <a:ext cx="5681472" cy="18836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CREATE TABLE table_name(column1 datatype, column2 datatype....)</a:t>
            </a:r>
          </a:p>
        </p:txBody>
      </p:sp>
    </p:spTree>
    <p:extLst>
      <p:ext uri="{BB962C8B-B14F-4D97-AF65-F5344CB8AC3E}">
        <p14:creationId xmlns:p14="http://schemas.microsoft.com/office/powerpoint/2010/main" val="4123642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5A60-5D84-2D2E-8B4F-18BAEA70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 (in PostgreSQL)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87168F-CD5B-0097-BA22-EEA6E2CE5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236997"/>
              </p:ext>
            </p:extLst>
          </p:nvPr>
        </p:nvGraphicFramePr>
        <p:xfrm>
          <a:off x="585216" y="1688930"/>
          <a:ext cx="10881360" cy="49130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14301">
                  <a:extLst>
                    <a:ext uri="{9D8B030D-6E8A-4147-A177-3AD203B41FA5}">
                      <a16:colId xmlns:a16="http://schemas.microsoft.com/office/drawing/2014/main" val="493943816"/>
                    </a:ext>
                  </a:extLst>
                </a:gridCol>
                <a:gridCol w="5139939">
                  <a:extLst>
                    <a:ext uri="{9D8B030D-6E8A-4147-A177-3AD203B41FA5}">
                      <a16:colId xmlns:a16="http://schemas.microsoft.com/office/drawing/2014/main" val="1690815102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508269243"/>
                    </a:ext>
                  </a:extLst>
                </a:gridCol>
              </a:tblGrid>
              <a:tr h="45863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Category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Example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1491"/>
                  </a:ext>
                </a:extLst>
              </a:tr>
              <a:tr h="621983">
                <a:tc>
                  <a:txBody>
                    <a:bodyPr/>
                    <a:lstStyle/>
                    <a:p>
                      <a:r>
                        <a:rPr lang="en-US" b="1" dirty="0"/>
                        <a:t>Numeric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SMALLINT, INTEGER (INT), BIGINT, DECIMAL, NUMERIC, REAL, DOUBLE PRECISION, SMALLSERIAL, SERIAL, BIGSERIAL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12345, 123.45, 3.14159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505108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Character/String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CHAR(n), VARCHAR(n), TEXT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“John”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41588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Boolean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TRUE, FALSE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88752"/>
                  </a:ext>
                </a:extLst>
              </a:tr>
              <a:tr h="621983">
                <a:tc>
                  <a:txBody>
                    <a:bodyPr/>
                    <a:lstStyle/>
                    <a:p>
                      <a:r>
                        <a:rPr lang="en-US" b="1" dirty="0"/>
                        <a:t>Date and Time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DATE, TIME, TIME WITH TIME ZONE, TIMESTAMP, TIMESTAMP WITH TIME ZONE, INTERVAL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'2026-06-20', '14:30:00'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347405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Monetary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$1,500.75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924311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Binary Data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BYTEA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'\</a:t>
                      </a:r>
                      <a:r>
                        <a:rPr lang="en-US" dirty="0" err="1"/>
                        <a:t>xDEADBEEF</a:t>
                      </a:r>
                      <a:r>
                        <a:rPr lang="en-US" dirty="0"/>
                        <a:t>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11636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UUID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UUID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'550e8400-e29b-41d4-a716-446655440000'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50906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JSON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JSON, JSONB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'{"</a:t>
                      </a:r>
                      <a:r>
                        <a:rPr lang="en-US" dirty="0" err="1"/>
                        <a:t>name":"John</a:t>
                      </a:r>
                      <a:r>
                        <a:rPr lang="en-US" dirty="0"/>
                        <a:t>"}'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109836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XML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XML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'&lt;employee&gt;&lt;name&gt;John&lt;/name&gt;&lt;/employee&gt;'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2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905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8D61-9266-95EE-171E-5E083653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7FDE-D31A-B7B2-C9EF-D844F359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F79E95-CE24-BA52-EB64-3908421D4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284575"/>
              </p:ext>
            </p:extLst>
          </p:nvPr>
        </p:nvGraphicFramePr>
        <p:xfrm>
          <a:off x="585216" y="1688930"/>
          <a:ext cx="10881360" cy="481353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14301">
                  <a:extLst>
                    <a:ext uri="{9D8B030D-6E8A-4147-A177-3AD203B41FA5}">
                      <a16:colId xmlns:a16="http://schemas.microsoft.com/office/drawing/2014/main" val="493943816"/>
                    </a:ext>
                  </a:extLst>
                </a:gridCol>
                <a:gridCol w="5139939">
                  <a:extLst>
                    <a:ext uri="{9D8B030D-6E8A-4147-A177-3AD203B41FA5}">
                      <a16:colId xmlns:a16="http://schemas.microsoft.com/office/drawing/2014/main" val="1690815102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508269243"/>
                    </a:ext>
                  </a:extLst>
                </a:gridCol>
              </a:tblGrid>
              <a:tr h="45863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Category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Example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1491"/>
                  </a:ext>
                </a:extLst>
              </a:tr>
              <a:tr h="522484">
                <a:tc>
                  <a:txBody>
                    <a:bodyPr/>
                    <a:lstStyle/>
                    <a:p>
                      <a:r>
                        <a:rPr lang="en-US" b="1" dirty="0"/>
                        <a:t>Array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INTEGER[], TEXT[], VARCHAR[]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'{1,2,3,4}', '{"</a:t>
                      </a:r>
                      <a:r>
                        <a:rPr lang="en-US" dirty="0" err="1"/>
                        <a:t>Apple","Banana</a:t>
                      </a:r>
                      <a:r>
                        <a:rPr lang="en-US" dirty="0"/>
                        <a:t>"}'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505108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Enumerated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'Pending', 'Approved'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41588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Composite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User-defined Composite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'(John,25,Developer)'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88752"/>
                  </a:ext>
                </a:extLst>
              </a:tr>
              <a:tr h="621983">
                <a:tc>
                  <a:txBody>
                    <a:bodyPr/>
                    <a:lstStyle/>
                    <a:p>
                      <a:r>
                        <a:rPr lang="en-US" b="1" dirty="0"/>
                        <a:t>Range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INT4RANGE, INT8RANGE, NUMRANGE, TSRANGE, TSTZRANGE, DATERANGE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'[1,10)', '[2026-01-01,2026-12-31]'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347405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Geometric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POINT, LINE, LSEG, BOX, PATH, POLYGON, CIRCLE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'(10,20)', '((0,0),(10,10))'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924311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Network Address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CIDR, INET, MACADDR, MACADDR8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'192.168.1.100', '08:00:2b:01:02:03'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11636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Bit String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BIT, BIT VARYING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B'10101010'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50906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Text Search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TSVECTOR, TSQUERY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</a:t>
                      </a:r>
                      <a:r>
                        <a:rPr lang="en-US" dirty="0" err="1"/>
                        <a:t>postgresql</a:t>
                      </a:r>
                      <a:r>
                        <a:rPr lang="en-US" dirty="0"/>
                        <a:t> &amp; database'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109836"/>
                  </a:ext>
                </a:extLst>
              </a:tr>
              <a:tr h="458634">
                <a:tc>
                  <a:txBody>
                    <a:bodyPr/>
                    <a:lstStyle/>
                    <a:p>
                      <a:r>
                        <a:rPr lang="en-US" b="1" dirty="0"/>
                        <a:t>Object Identifier Types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OID, REGPROC, REGCLASS, REGTYPE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16384, 'employees'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2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12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1A84-D865-0578-6AD1-5E4E2622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Constraints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22DE6-516B-E119-5574-4DFDCFC0E6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9075" y="1533672"/>
            <a:ext cx="10158941" cy="5123159"/>
          </a:xfrm>
        </p:spPr>
        <p:txBody>
          <a:bodyPr/>
          <a:lstStyle/>
          <a:p>
            <a:pPr algn="just"/>
            <a:r>
              <a:rPr lang="en-US" dirty="0"/>
              <a:t> SQL Constraints are rules applied to table columns to enforce data integrity, accuracy, and consistency in a database.</a:t>
            </a:r>
          </a:p>
          <a:p>
            <a:pPr algn="just"/>
            <a:r>
              <a:rPr lang="en-US" dirty="0"/>
              <a:t> They prevent invalid data from being inserted, updated, or deleted and help maintain reliable relationships between tables.</a:t>
            </a:r>
          </a:p>
          <a:p>
            <a:pPr algn="just"/>
            <a:r>
              <a:rPr lang="en-US" dirty="0"/>
              <a:t> SQL Constraints act as data validation rules that ensure only accurate and meaningful data is stored in the database.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Benefits of Constraints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improves data quality and consistency.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Prevent invalid or duplicate data.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Enforce business rules automatically.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Main relationships between tables.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Enhance database reliability and integrity.</a:t>
            </a:r>
          </a:p>
        </p:txBody>
      </p:sp>
    </p:spTree>
    <p:extLst>
      <p:ext uri="{BB962C8B-B14F-4D97-AF65-F5344CB8AC3E}">
        <p14:creationId xmlns:p14="http://schemas.microsoft.com/office/powerpoint/2010/main" val="3781673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25B1-BCE4-7E9C-06FD-06CF96AD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9CD73D-E7CD-F650-634A-ACD505AFE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22229"/>
              </p:ext>
            </p:extLst>
          </p:nvPr>
        </p:nvGraphicFramePr>
        <p:xfrm>
          <a:off x="1156920" y="1469474"/>
          <a:ext cx="10711992" cy="507762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1064">
                  <a:extLst>
                    <a:ext uri="{9D8B030D-6E8A-4147-A177-3AD203B41FA5}">
                      <a16:colId xmlns:a16="http://schemas.microsoft.com/office/drawing/2014/main" val="1749165179"/>
                    </a:ext>
                  </a:extLst>
                </a:gridCol>
                <a:gridCol w="4980264">
                  <a:extLst>
                    <a:ext uri="{9D8B030D-6E8A-4147-A177-3AD203B41FA5}">
                      <a16:colId xmlns:a16="http://schemas.microsoft.com/office/drawing/2014/main" val="590905286"/>
                    </a:ext>
                  </a:extLst>
                </a:gridCol>
                <a:gridCol w="3570664">
                  <a:extLst>
                    <a:ext uri="{9D8B030D-6E8A-4147-A177-3AD203B41FA5}">
                      <a16:colId xmlns:a16="http://schemas.microsoft.com/office/drawing/2014/main" val="746165646"/>
                    </a:ext>
                  </a:extLst>
                </a:gridCol>
              </a:tblGrid>
              <a:tr h="46815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Constraint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Example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183745"/>
                  </a:ext>
                </a:extLst>
              </a:tr>
              <a:tr h="82826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NOT NULL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Ensures a column cannot contain NULL values.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 customer’s name must always be provided.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35545"/>
                  </a:ext>
                </a:extLst>
              </a:tr>
              <a:tr h="82826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UNIQUE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Ensures all values in a column are different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 two users can have the same email address.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014809"/>
                  </a:ext>
                </a:extLst>
              </a:tr>
              <a:tr h="82826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PRIMARY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Uniquely identifies each record in a table. Combines UNIQUE and NOT NULL.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StudentID uniquely identifies each student.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665516"/>
                  </a:ext>
                </a:extLst>
              </a:tr>
              <a:tr h="118838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FOREIGN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Maintains referential integrity between tables.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DepartmentID</a:t>
                      </a:r>
                      <a:r>
                        <a:rPr lang="en-US" sz="2000" dirty="0"/>
                        <a:t> in Employee table references Department table.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144555"/>
                  </a:ext>
                </a:extLst>
              </a:tr>
              <a:tr h="46815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CHECK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Restricts values based on a condition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Age must be greater than 18.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055485"/>
                  </a:ext>
                </a:extLst>
              </a:tr>
              <a:tr h="46815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DEFAULT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Assigns a default value if none is provided.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Status defaults to ‘Active’.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20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093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9239F1-032F-0D42-7069-4AEF58392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24" y="128016"/>
            <a:ext cx="9974580" cy="664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13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7FBF-F83A-72F1-C4E8-E04F01AB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Primary Key (PK)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CBEDD-30F2-0C82-2856-CD99A89AA4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5254283"/>
          </a:xfrm>
        </p:spPr>
        <p:txBody>
          <a:bodyPr/>
          <a:lstStyle/>
          <a:p>
            <a:pPr algn="just">
              <a:buBlip>
                <a:blip r:embed="rId2"/>
              </a:buBlip>
            </a:pPr>
            <a:r>
              <a:rPr lang="en-US" dirty="0"/>
              <a:t> A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Primary Key </a:t>
            </a:r>
            <a:r>
              <a:rPr lang="en-US" dirty="0"/>
              <a:t>is a column (or set of columns) that uniquely identifies every second in a table.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ensures each row  can be uniquely identifies every record in a table.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A table can have only one Primary Key, and its values must always be unique and NOT NULL.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Every table should have a Primary Key to ensure that each row can be uniquely accessed.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  <a:endParaRPr lang="en-US" b="1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column_name</a:t>
            </a:r>
            <a:r>
              <a:rPr lang="en-US" dirty="0"/>
              <a:t> datatype PRIMARY KEY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135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4D34-CDD4-8411-0465-37BFC6E4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DED7-1E72-0208-A841-E19DD8BB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Unique Key (UK)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CF00D-2113-FD44-37EF-C6BBE45983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5254283"/>
          </a:xfrm>
        </p:spPr>
        <p:txBody>
          <a:bodyPr/>
          <a:lstStyle/>
          <a:p>
            <a:pPr algn="just">
              <a:buBlip>
                <a:blip r:embed="rId2"/>
              </a:buBlip>
            </a:pPr>
            <a:r>
              <a:rPr lang="en-US" dirty="0"/>
              <a:t> A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Unique Key </a:t>
            </a:r>
            <a:r>
              <a:rPr lang="en-US" dirty="0"/>
              <a:t>ensures that all values in a column are unique.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Unlike a Primary Key, a table can have multiple Unique Keys.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prevents duplicate values.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Can contain NULL values (database-dependent).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Can be referenced by a Foreign Key.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  <a:endParaRPr lang="en-US" b="1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column_name</a:t>
            </a:r>
            <a:r>
              <a:rPr lang="en-US" dirty="0"/>
              <a:t> datatype UNIQUE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686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5AB0B-A18D-9DE8-D20B-C85B6B2B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E1DE-FC8B-87F2-521A-E7DC6DFF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Foreign Key (FK)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0E8E0-B4EB-8A5A-3C23-246E57DE48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517904"/>
            <a:ext cx="10275570" cy="5705856"/>
          </a:xfrm>
        </p:spPr>
        <p:txBody>
          <a:bodyPr>
            <a:normAutofit lnSpcReduction="10000"/>
          </a:bodyPr>
          <a:lstStyle/>
          <a:p>
            <a:pPr algn="just">
              <a:buBlip>
                <a:blip r:embed="rId2"/>
              </a:buBlip>
            </a:pPr>
            <a:r>
              <a:rPr lang="en-US" dirty="0"/>
              <a:t> A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Foreign Key </a:t>
            </a:r>
            <a:r>
              <a:rPr lang="en-US" dirty="0"/>
              <a:t>is a column that references the Primary Key (or Unique Key) of another table.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creates a relationship between tables and ensures referential integrity.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links two table together.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maintains data consistency. 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Prevents invalid references.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 It creates Parent-Child relationships.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  <a:endParaRPr lang="en-US" b="1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child_table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column_name</a:t>
            </a:r>
            <a:r>
              <a:rPr lang="en-US" dirty="0"/>
              <a:t> datatype,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column_name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REFERENCES </a:t>
            </a:r>
            <a:r>
              <a:rPr lang="en-US" dirty="0" err="1"/>
              <a:t>parent_table</a:t>
            </a:r>
            <a:r>
              <a:rPr lang="en-US" dirty="0"/>
              <a:t>(</a:t>
            </a:r>
            <a:r>
              <a:rPr lang="en-US" dirty="0" err="1"/>
              <a:t>parent_column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47475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B2EF-64CD-6A53-8EA1-602D1F1F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A4D5-E79D-B3AA-B6D0-5C17261E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Composite 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AF503-5918-7396-8C66-6FA38E7F8A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517904"/>
            <a:ext cx="10275570" cy="5705856"/>
          </a:xfrm>
        </p:spPr>
        <p:txBody>
          <a:bodyPr>
            <a:normAutofit/>
          </a:bodyPr>
          <a:lstStyle/>
          <a:p>
            <a:pPr algn="just">
              <a:buBlip>
                <a:blip r:embed="rId2"/>
              </a:buBlip>
            </a:pPr>
            <a:r>
              <a:rPr lang="en-US" dirty="0"/>
              <a:t> A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Composite Key </a:t>
            </a:r>
            <a:r>
              <a:rPr lang="en-US" dirty="0"/>
              <a:t>is a key made up of two or more columns that together uniquely identify a record.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is used when a single column is insufficient to guarantee uniqueness.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commonly used in junction (bridge) tables.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Supports many-to-many relationships.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  <a:endParaRPr lang="en-US" b="1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column1 datatype,</a:t>
            </a:r>
          </a:p>
          <a:p>
            <a:pPr marL="0" indent="0">
              <a:buNone/>
            </a:pPr>
            <a:r>
              <a:rPr lang="en-US" dirty="0"/>
              <a:t>    column2 datatype,</a:t>
            </a:r>
          </a:p>
          <a:p>
            <a:pPr marL="0" indent="0">
              <a:buNone/>
            </a:pPr>
            <a:r>
              <a:rPr lang="en-US" dirty="0"/>
              <a:t>    PRIMARY KEY (column1, column2)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37303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15C2C-5B9D-DE8E-2AF9-892AA0CB2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2668-2B69-C8BE-67A0-9B1FA701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Alternate 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3AE8A-912F-F466-488E-923362C24F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517904"/>
            <a:ext cx="10275570" cy="5705856"/>
          </a:xfrm>
        </p:spPr>
        <p:txBody>
          <a:bodyPr>
            <a:normAutofit/>
          </a:bodyPr>
          <a:lstStyle/>
          <a:p>
            <a:pPr algn="just">
              <a:buBlip>
                <a:blip r:embed="rId2"/>
              </a:buBlip>
            </a:pPr>
            <a:r>
              <a:rPr lang="en-US" dirty="0"/>
              <a:t> An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Alternate Key </a:t>
            </a:r>
            <a:r>
              <a:rPr lang="en-US" dirty="0"/>
              <a:t>is a candidate key that was not selected as the Primary Key but can still uniquely identify a record.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In practice, Alternate Keys are usually implemented using UNIQUE constraints.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Multiple Alternate keys can exist.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Helps enforce additional uniqueness rules.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  <a:endParaRPr lang="en-US" b="1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  <a:br>
              <a:rPr lang="en-US" dirty="0"/>
            </a:br>
            <a:r>
              <a:rPr lang="en-US" dirty="0" err="1"/>
              <a:t>primary_column</a:t>
            </a:r>
            <a:r>
              <a:rPr lang="en-US" dirty="0"/>
              <a:t> datatype PRIMARY KEY,</a:t>
            </a:r>
            <a:br>
              <a:rPr lang="en-US" dirty="0"/>
            </a:br>
            <a:r>
              <a:rPr lang="en-US" dirty="0" err="1"/>
              <a:t>alternate_column</a:t>
            </a:r>
            <a:r>
              <a:rPr lang="en-US" dirty="0"/>
              <a:t> datatype UNIQUE</a:t>
            </a:r>
            <a:br>
              <a:rPr lang="en-US" dirty="0"/>
            </a:b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85455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0DED-F5A6-9697-C885-9509DCD8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Summary of SQL Keys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EBFF73-24A0-361C-2B4C-B067217B9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219109"/>
              </p:ext>
            </p:extLst>
          </p:nvPr>
        </p:nvGraphicFramePr>
        <p:xfrm>
          <a:off x="1156921" y="1554281"/>
          <a:ext cx="10346230" cy="49818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28695">
                  <a:extLst>
                    <a:ext uri="{9D8B030D-6E8A-4147-A177-3AD203B41FA5}">
                      <a16:colId xmlns:a16="http://schemas.microsoft.com/office/drawing/2014/main" val="3169839058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195953278"/>
                    </a:ext>
                  </a:extLst>
                </a:gridCol>
                <a:gridCol w="1768531">
                  <a:extLst>
                    <a:ext uri="{9D8B030D-6E8A-4147-A177-3AD203B41FA5}">
                      <a16:colId xmlns:a16="http://schemas.microsoft.com/office/drawing/2014/main" val="3266595517"/>
                    </a:ext>
                  </a:extLst>
                </a:gridCol>
                <a:gridCol w="2163389">
                  <a:extLst>
                    <a:ext uri="{9D8B030D-6E8A-4147-A177-3AD203B41FA5}">
                      <a16:colId xmlns:a16="http://schemas.microsoft.com/office/drawing/2014/main" val="2673660705"/>
                    </a:ext>
                  </a:extLst>
                </a:gridCol>
                <a:gridCol w="1975103">
                  <a:extLst>
                    <a:ext uri="{9D8B030D-6E8A-4147-A177-3AD203B41FA5}">
                      <a16:colId xmlns:a16="http://schemas.microsoft.com/office/drawing/2014/main" val="3072500617"/>
                    </a:ext>
                  </a:extLst>
                </a:gridCol>
              </a:tblGrid>
              <a:tr h="830315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rgbClr val="FFC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Key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rgbClr val="FFC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Unique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rgbClr val="FFC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Null Allowed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rgbClr val="FFC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Count per Table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rgbClr val="FFC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Purpose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899361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2000" dirty="0"/>
                        <a:t>🔑 </a:t>
                      </a:r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Primary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✅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  <a:p>
                      <a:r>
                        <a:rPr lang="en-US" sz="2000" dirty="0"/>
                        <a:t>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Main identifier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09407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2000" dirty="0"/>
                        <a:t>🔒 </a:t>
                      </a:r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Unique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✅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Usually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Enforce uniqueness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776831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2000" dirty="0"/>
                        <a:t>🔗 </a:t>
                      </a:r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Foreign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Create relationships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140876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2000" dirty="0"/>
                        <a:t>🧩 </a:t>
                      </a:r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Composite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✅ (Combination)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Depends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One PK/FK combination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Multi-column identification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065707"/>
                  </a:ext>
                </a:extLst>
              </a:tr>
              <a:tr h="830315">
                <a:tc>
                  <a:txBody>
                    <a:bodyPr/>
                    <a:lstStyle/>
                    <a:p>
                      <a:r>
                        <a:rPr lang="en-US" sz="2000" dirty="0"/>
                        <a:t>⭐ </a:t>
                      </a:r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Alternate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✅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Usually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Alternative unique identifier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71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264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A05B-D52A-B68C-BE96-90001628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Integrity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5094B-4FFD-657A-5CFE-0EA9029152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3842" y="1496334"/>
            <a:ext cx="4053838" cy="5361666"/>
          </a:xfrm>
        </p:spPr>
        <p:txBody>
          <a:bodyPr>
            <a:normAutofit fontScale="92500"/>
          </a:bodyPr>
          <a:lstStyle/>
          <a:p>
            <a:pPr algn="just">
              <a:buBlip>
                <a:blip r:embed="rId2"/>
              </a:buBlip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Entity Integrity </a:t>
            </a:r>
            <a:r>
              <a:rPr lang="en-US" dirty="0"/>
              <a:t>– This ensures that there are no duplicate rows in a table.</a:t>
            </a:r>
          </a:p>
          <a:p>
            <a:pPr algn="just">
              <a:buBlip>
                <a:blip r:embed="rId2"/>
              </a:buBlip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Domain Integrity </a:t>
            </a:r>
            <a:r>
              <a:rPr lang="en-US" dirty="0"/>
              <a:t>– Enforces valid entries for a given column by restricting the type, the format, or the range of values.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Referential Integrity </a:t>
            </a:r>
            <a:r>
              <a:rPr lang="en-US" dirty="0"/>
              <a:t>– Rows cannot be deleted, which are used by other records.</a:t>
            </a:r>
          </a:p>
          <a:p>
            <a:pPr algn="just">
              <a:buBlip>
                <a:blip r:embed="rId2"/>
              </a:buBlip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User-Defined Integrity </a:t>
            </a:r>
            <a:r>
              <a:rPr lang="en-US" dirty="0"/>
              <a:t>– Enforces some specific business rules that do not fall into entity, domain or referential integrity.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7AAFC-B72B-D182-0ADA-024E4FB18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7" y="1496334"/>
            <a:ext cx="7882128" cy="52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56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2472</TotalTime>
  <Words>1432</Words>
  <Application>Microsoft Office PowerPoint</Application>
  <PresentationFormat>Widescreen</PresentationFormat>
  <Paragraphs>239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ADLaM Display</vt:lpstr>
      <vt:lpstr>Calibri</vt:lpstr>
      <vt:lpstr>Wingdings</vt:lpstr>
      <vt:lpstr>YESHUAH</vt:lpstr>
      <vt:lpstr>RetrospectVTI</vt:lpstr>
      <vt:lpstr>Database Design  - RDBMS</vt:lpstr>
      <vt:lpstr>PowerPoint Presentation</vt:lpstr>
      <vt:lpstr>What is RDBMS?</vt:lpstr>
      <vt:lpstr>SQL Databases</vt:lpstr>
      <vt:lpstr>Popular SQL Databases</vt:lpstr>
      <vt:lpstr>Terminology</vt:lpstr>
      <vt:lpstr>PowerPoint Presentation</vt:lpstr>
      <vt:lpstr>PowerPoint Presentation</vt:lpstr>
      <vt:lpstr>PowerPoint Presentation</vt:lpstr>
      <vt:lpstr>PowerPoint Presentation</vt:lpstr>
      <vt:lpstr>Data Types</vt:lpstr>
      <vt:lpstr>Data Types (in PostgreSQL)</vt:lpstr>
      <vt:lpstr>…</vt:lpstr>
      <vt:lpstr>SQL Constraints</vt:lpstr>
      <vt:lpstr>…</vt:lpstr>
      <vt:lpstr>PowerPoint Presentation</vt:lpstr>
      <vt:lpstr>SQL Primary Key (PK)</vt:lpstr>
      <vt:lpstr>SQL Unique Key (UK)</vt:lpstr>
      <vt:lpstr>SQL Foreign Key (FK)</vt:lpstr>
      <vt:lpstr>SQL Composite Key</vt:lpstr>
      <vt:lpstr>SQL Alternate Key</vt:lpstr>
      <vt:lpstr>Summary of SQL Keys</vt:lpstr>
      <vt:lpstr>Data Integrity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275</cp:revision>
  <dcterms:created xsi:type="dcterms:W3CDTF">2020-02-06T00:04:00Z</dcterms:created>
  <dcterms:modified xsi:type="dcterms:W3CDTF">2026-06-20T17:39:06Z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