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32"/>
  </p:handoutMasterIdLst>
  <p:sldIdLst>
    <p:sldId id="411" r:id="rId2"/>
    <p:sldId id="410" r:id="rId3"/>
    <p:sldId id="394" r:id="rId4"/>
    <p:sldId id="414" r:id="rId5"/>
    <p:sldId id="413" r:id="rId6"/>
    <p:sldId id="412" r:id="rId7"/>
    <p:sldId id="416" r:id="rId8"/>
    <p:sldId id="415" r:id="rId9"/>
    <p:sldId id="417" r:id="rId10"/>
    <p:sldId id="418" r:id="rId11"/>
    <p:sldId id="426" r:id="rId12"/>
    <p:sldId id="427" r:id="rId13"/>
    <p:sldId id="428" r:id="rId14"/>
    <p:sldId id="429" r:id="rId15"/>
    <p:sldId id="430" r:id="rId16"/>
    <p:sldId id="431" r:id="rId17"/>
    <p:sldId id="420" r:id="rId18"/>
    <p:sldId id="421" r:id="rId19"/>
    <p:sldId id="422" r:id="rId20"/>
    <p:sldId id="423" r:id="rId21"/>
    <p:sldId id="424" r:id="rId22"/>
    <p:sldId id="419" r:id="rId23"/>
    <p:sldId id="425" r:id="rId24"/>
    <p:sldId id="435" r:id="rId25"/>
    <p:sldId id="432" r:id="rId26"/>
    <p:sldId id="433" r:id="rId27"/>
    <p:sldId id="434" r:id="rId28"/>
    <p:sldId id="436" r:id="rId29"/>
    <p:sldId id="260"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BE2F5"/>
    <a:srgbClr val="E7F7FE"/>
    <a:srgbClr val="0072C6"/>
    <a:srgbClr val="00A4EF"/>
    <a:srgbClr val="3333FF"/>
    <a:srgbClr val="FFDF00"/>
    <a:srgbClr val="75CDEA"/>
    <a:srgbClr val="002060"/>
    <a:srgbClr val="5A56A1"/>
    <a:srgbClr val="56565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36F72C-57AD-4C0C-B413-44A67FA7CD9B}" v="95" dt="2024-03-18T15:51:55.6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2309" autoAdjust="0"/>
    <p:restoredTop sz="94639" autoAdjust="0"/>
  </p:normalViewPr>
  <p:slideViewPr>
    <p:cSldViewPr snapToGrid="0">
      <p:cViewPr varScale="1">
        <p:scale>
          <a:sx n="63" d="100"/>
          <a:sy n="63" d="100"/>
        </p:scale>
        <p:origin x="524" y="56"/>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p:scale>
          <a:sx n="51" d="100"/>
          <a:sy n="51" d="100"/>
        </p:scale>
        <p:origin x="2692" y="-9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48E1AF-6343-46AA-8AEF-4C12F4118850}" type="datetimeFigureOut">
              <a:rPr lang="en-US" smtClean="0"/>
              <a:t>6/22/2026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2858E0-3D38-47B7-97D4-4FE08D90D359}" type="slidenum">
              <a:rPr lang="en-US" smtClean="0"/>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9D2517-63AA-420A-887D-BE60360A8F4D}" type="datetimeFigureOut">
              <a:rPr lang="en-US" noProof="0" smtClean="0"/>
              <a:t>6/22/2026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4ECAD9-32EE-4091-BDA5-6BD15ACC5E58}" type="slidenum">
              <a:rPr lang="en-US" noProof="0" smtClean="0"/>
              <a:t>‹#›</a:t>
            </a:fld>
            <a:endParaRPr lang="en-US" noProof="0"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4_Content with Captio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4ECC495-5FEF-4C9C-502D-7281AA9BC4CE}"/>
              </a:ext>
            </a:extLst>
          </p:cNvPr>
          <p:cNvSpPr/>
          <p:nvPr userDrawn="1"/>
        </p:nvSpPr>
        <p:spPr>
          <a:xfrm>
            <a:off x="-64008" y="0"/>
            <a:ext cx="4723782" cy="68580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Title 1"/>
          <p:cNvSpPr txBox="1"/>
          <p:nvPr userDrawn="1"/>
        </p:nvSpPr>
        <p:spPr>
          <a:xfrm>
            <a:off x="-1707114" y="2422578"/>
            <a:ext cx="6145764" cy="1109758"/>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endParaRPr lang="en-US" sz="2400" dirty="0"/>
          </a:p>
        </p:txBody>
      </p:sp>
      <p:sp>
        <p:nvSpPr>
          <p:cNvPr id="18" name="Title 1"/>
          <p:cNvSpPr>
            <a:spLocks noGrp="1"/>
          </p:cNvSpPr>
          <p:nvPr>
            <p:ph type="title" hasCustomPrompt="1"/>
          </p:nvPr>
        </p:nvSpPr>
        <p:spPr>
          <a:xfrm>
            <a:off x="509750" y="2338493"/>
            <a:ext cx="3531146" cy="1450757"/>
          </a:xfrm>
          <a:prstGeom prst="rect">
            <a:avLst/>
          </a:prstGeom>
        </p:spPr>
        <p:txBody>
          <a:bodyPr>
            <a:normAutofit/>
          </a:bodyPr>
          <a:lstStyle>
            <a:lvl1pPr>
              <a:defRPr sz="4400" b="1" baseline="0">
                <a:solidFill>
                  <a:schemeClr val="bg1"/>
                </a:solidFill>
                <a:latin typeface="YESHUAH" panose="02000500000000000000" pitchFamily="2" charset="0"/>
              </a:defRPr>
            </a:lvl1pPr>
          </a:lstStyle>
          <a:p>
            <a:r>
              <a:rPr lang="en-US" dirty="0"/>
              <a:t>{ subject }</a:t>
            </a:r>
          </a:p>
        </p:txBody>
      </p:sp>
      <p:sp>
        <p:nvSpPr>
          <p:cNvPr id="19" name="Content Placeholder 8"/>
          <p:cNvSpPr>
            <a:spLocks noGrp="1"/>
          </p:cNvSpPr>
          <p:nvPr>
            <p:ph sz="quarter" idx="13" hasCustomPrompt="1"/>
          </p:nvPr>
        </p:nvSpPr>
        <p:spPr>
          <a:xfrm>
            <a:off x="7647842" y="6136265"/>
            <a:ext cx="4090199" cy="453130"/>
          </a:xfrm>
          <a:prstGeom prst="rect">
            <a:avLst/>
          </a:prstGeom>
        </p:spPr>
        <p:txBody>
          <a:bodyPr>
            <a:normAutofit/>
          </a:bodyPr>
          <a:lstStyle>
            <a:lvl1pPr marL="0" indent="0" algn="r">
              <a:buNone/>
              <a:defRPr sz="2400" baseline="0">
                <a:solidFill>
                  <a:srgbClr val="25677D"/>
                </a:solidFill>
                <a:latin typeface="YESHUAH" panose="02000500000000000000" pitchFamily="2" charset="0"/>
              </a:defRPr>
            </a:lvl1pPr>
          </a:lstStyle>
          <a:p>
            <a:pPr lvl="0"/>
            <a:r>
              <a:rPr lang="en-US" dirty="0"/>
              <a:t> { write presenter name }</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Content with Caption">
    <p:spTree>
      <p:nvGrpSpPr>
        <p:cNvPr id="1" name=""/>
        <p:cNvGrpSpPr/>
        <p:nvPr/>
      </p:nvGrpSpPr>
      <p:grpSpPr>
        <a:xfrm>
          <a:off x="0" y="0"/>
          <a:ext cx="0" cy="0"/>
          <a:chOff x="0" y="0"/>
          <a:chExt cx="0" cy="0"/>
        </a:xfrm>
      </p:grpSpPr>
      <p:sp>
        <p:nvSpPr>
          <p:cNvPr id="23" name="Rectangle 22"/>
          <p:cNvSpPr/>
          <p:nvPr userDrawn="1"/>
        </p:nvSpPr>
        <p:spPr>
          <a:xfrm>
            <a:off x="-64008" y="0"/>
            <a:ext cx="4723782" cy="68580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9" name="Group 18" descr="Info"/>
          <p:cNvGrpSpPr/>
          <p:nvPr userDrawn="1"/>
        </p:nvGrpSpPr>
        <p:grpSpPr>
          <a:xfrm>
            <a:off x="4642801" y="3133724"/>
            <a:ext cx="567374" cy="550865"/>
            <a:chOff x="4914764" y="3319462"/>
            <a:chExt cx="619125" cy="619125"/>
          </a:xfrm>
          <a:solidFill>
            <a:schemeClr val="bg1"/>
          </a:solidFill>
        </p:grpSpPr>
        <p:sp>
          <p:nvSpPr>
            <p:cNvPr id="20" name="Freeform: Shape 19"/>
            <p:cNvSpPr/>
            <p:nvPr/>
          </p:nvSpPr>
          <p:spPr>
            <a:xfrm>
              <a:off x="4914764" y="3319462"/>
              <a:ext cx="619125" cy="619125"/>
            </a:xfrm>
            <a:custGeom>
              <a:avLst/>
              <a:gdLst>
                <a:gd name="connsiteX0" fmla="*/ 309563 w 619125"/>
                <a:gd name="connsiteY0" fmla="*/ 0 h 619125"/>
                <a:gd name="connsiteX1" fmla="*/ 0 w 619125"/>
                <a:gd name="connsiteY1" fmla="*/ 309563 h 619125"/>
                <a:gd name="connsiteX2" fmla="*/ 309563 w 619125"/>
                <a:gd name="connsiteY2" fmla="*/ 619125 h 619125"/>
                <a:gd name="connsiteX3" fmla="*/ 619125 w 619125"/>
                <a:gd name="connsiteY3" fmla="*/ 309563 h 619125"/>
                <a:gd name="connsiteX4" fmla="*/ 309563 w 619125"/>
                <a:gd name="connsiteY4" fmla="*/ 0 h 619125"/>
                <a:gd name="connsiteX5" fmla="*/ 309563 w 619125"/>
                <a:gd name="connsiteY5" fmla="*/ 581025 h 619125"/>
                <a:gd name="connsiteX6" fmla="*/ 38100 w 619125"/>
                <a:gd name="connsiteY6" fmla="*/ 309563 h 619125"/>
                <a:gd name="connsiteX7" fmla="*/ 309563 w 619125"/>
                <a:gd name="connsiteY7" fmla="*/ 38100 h 619125"/>
                <a:gd name="connsiteX8" fmla="*/ 581025 w 619125"/>
                <a:gd name="connsiteY8" fmla="*/ 309563 h 619125"/>
                <a:gd name="connsiteX9" fmla="*/ 309563 w 619125"/>
                <a:gd name="connsiteY9" fmla="*/ 581025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125" h="619125">
                  <a:moveTo>
                    <a:pt x="309563" y="0"/>
                  </a:moveTo>
                  <a:cubicBezTo>
                    <a:pt x="138875" y="0"/>
                    <a:pt x="0" y="138865"/>
                    <a:pt x="0" y="309563"/>
                  </a:cubicBezTo>
                  <a:cubicBezTo>
                    <a:pt x="0" y="480260"/>
                    <a:pt x="138875" y="619125"/>
                    <a:pt x="309563" y="619125"/>
                  </a:cubicBezTo>
                  <a:cubicBezTo>
                    <a:pt x="480250" y="619125"/>
                    <a:pt x="619125" y="480260"/>
                    <a:pt x="619125" y="309563"/>
                  </a:cubicBezTo>
                  <a:cubicBezTo>
                    <a:pt x="619125" y="138865"/>
                    <a:pt x="480250" y="0"/>
                    <a:pt x="309563" y="0"/>
                  </a:cubicBezTo>
                  <a:close/>
                  <a:moveTo>
                    <a:pt x="309563" y="581025"/>
                  </a:moveTo>
                  <a:cubicBezTo>
                    <a:pt x="159877" y="581025"/>
                    <a:pt x="38100" y="459248"/>
                    <a:pt x="38100" y="309563"/>
                  </a:cubicBezTo>
                  <a:cubicBezTo>
                    <a:pt x="38100" y="159877"/>
                    <a:pt x="159877" y="38100"/>
                    <a:pt x="309563" y="38100"/>
                  </a:cubicBezTo>
                  <a:cubicBezTo>
                    <a:pt x="459248" y="38100"/>
                    <a:pt x="581025" y="159877"/>
                    <a:pt x="581025" y="309563"/>
                  </a:cubicBezTo>
                  <a:cubicBezTo>
                    <a:pt x="581025" y="459248"/>
                    <a:pt x="459248" y="581025"/>
                    <a:pt x="309563" y="581025"/>
                  </a:cubicBezTo>
                  <a:close/>
                </a:path>
              </a:pathLst>
            </a:custGeom>
            <a:grpFill/>
            <a:ln w="9525" cap="flat">
              <a:noFill/>
              <a:prstDash val="solid"/>
              <a:miter/>
            </a:ln>
          </p:spPr>
          <p:txBody>
            <a:bodyPr rtlCol="0" anchor="ctr"/>
            <a:lstStyle/>
            <a:p>
              <a:endParaRPr lang="en-US" sz="1350" dirty="0"/>
            </a:p>
          </p:txBody>
        </p:sp>
        <p:sp>
          <p:nvSpPr>
            <p:cNvPr id="21" name="Freeform: Shape 20"/>
            <p:cNvSpPr/>
            <p:nvPr/>
          </p:nvSpPr>
          <p:spPr>
            <a:xfrm>
              <a:off x="5195751" y="3473729"/>
              <a:ext cx="57150" cy="57150"/>
            </a:xfrm>
            <a:custGeom>
              <a:avLst/>
              <a:gdLst>
                <a:gd name="connsiteX0" fmla="*/ 63722 w 57150"/>
                <a:gd name="connsiteY0" fmla="*/ 31861 h 57150"/>
                <a:gd name="connsiteX1" fmla="*/ 31861 w 57150"/>
                <a:gd name="connsiteY1" fmla="*/ 63722 h 57150"/>
                <a:gd name="connsiteX2" fmla="*/ 0 w 57150"/>
                <a:gd name="connsiteY2" fmla="*/ 31861 h 57150"/>
                <a:gd name="connsiteX3" fmla="*/ 31861 w 57150"/>
                <a:gd name="connsiteY3" fmla="*/ 0 h 57150"/>
                <a:gd name="connsiteX4" fmla="*/ 63722 w 57150"/>
                <a:gd name="connsiteY4" fmla="*/ 31861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3722" y="31861"/>
                  </a:moveTo>
                  <a:cubicBezTo>
                    <a:pt x="63722" y="49458"/>
                    <a:pt x="49458" y="63722"/>
                    <a:pt x="31861" y="63722"/>
                  </a:cubicBezTo>
                  <a:cubicBezTo>
                    <a:pt x="14265" y="63722"/>
                    <a:pt x="0" y="49458"/>
                    <a:pt x="0" y="31861"/>
                  </a:cubicBezTo>
                  <a:cubicBezTo>
                    <a:pt x="0" y="14265"/>
                    <a:pt x="14265" y="0"/>
                    <a:pt x="31861" y="0"/>
                  </a:cubicBezTo>
                  <a:cubicBezTo>
                    <a:pt x="49458" y="0"/>
                    <a:pt x="63722" y="14265"/>
                    <a:pt x="63722" y="31861"/>
                  </a:cubicBezTo>
                  <a:close/>
                </a:path>
              </a:pathLst>
            </a:custGeom>
            <a:grpFill/>
            <a:ln w="9525" cap="flat">
              <a:noFill/>
              <a:prstDash val="solid"/>
              <a:miter/>
            </a:ln>
          </p:spPr>
          <p:txBody>
            <a:bodyPr rtlCol="0" anchor="ctr"/>
            <a:lstStyle/>
            <a:p>
              <a:endParaRPr lang="en-US" sz="1350" dirty="0"/>
            </a:p>
          </p:txBody>
        </p:sp>
        <p:sp>
          <p:nvSpPr>
            <p:cNvPr id="22" name="Freeform: Shape 21"/>
            <p:cNvSpPr/>
            <p:nvPr/>
          </p:nvSpPr>
          <p:spPr>
            <a:xfrm>
              <a:off x="5205276" y="3589420"/>
              <a:ext cx="38100" cy="200025"/>
            </a:xfrm>
            <a:custGeom>
              <a:avLst/>
              <a:gdLst>
                <a:gd name="connsiteX0" fmla="*/ 19050 w 38100"/>
                <a:gd name="connsiteY0" fmla="*/ 0 h 200025"/>
                <a:gd name="connsiteX1" fmla="*/ 0 w 38100"/>
                <a:gd name="connsiteY1" fmla="*/ 19050 h 200025"/>
                <a:gd name="connsiteX2" fmla="*/ 0 w 38100"/>
                <a:gd name="connsiteY2" fmla="*/ 180975 h 200025"/>
                <a:gd name="connsiteX3" fmla="*/ 19050 w 38100"/>
                <a:gd name="connsiteY3" fmla="*/ 200025 h 200025"/>
                <a:gd name="connsiteX4" fmla="*/ 38100 w 38100"/>
                <a:gd name="connsiteY4" fmla="*/ 180975 h 200025"/>
                <a:gd name="connsiteX5" fmla="*/ 38100 w 38100"/>
                <a:gd name="connsiteY5" fmla="*/ 19050 h 200025"/>
                <a:gd name="connsiteX6" fmla="*/ 19050 w 38100"/>
                <a:gd name="connsiteY6" fmla="*/ 0 h 200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100" h="200025">
                  <a:moveTo>
                    <a:pt x="19050" y="0"/>
                  </a:moveTo>
                  <a:cubicBezTo>
                    <a:pt x="8534" y="0"/>
                    <a:pt x="0" y="8534"/>
                    <a:pt x="0" y="19050"/>
                  </a:cubicBezTo>
                  <a:lnTo>
                    <a:pt x="0" y="180975"/>
                  </a:lnTo>
                  <a:cubicBezTo>
                    <a:pt x="0" y="191491"/>
                    <a:pt x="8534" y="200025"/>
                    <a:pt x="19050" y="200025"/>
                  </a:cubicBezTo>
                  <a:cubicBezTo>
                    <a:pt x="29566" y="200025"/>
                    <a:pt x="38100" y="191491"/>
                    <a:pt x="38100" y="180975"/>
                  </a:cubicBezTo>
                  <a:lnTo>
                    <a:pt x="38100" y="19050"/>
                  </a:lnTo>
                  <a:cubicBezTo>
                    <a:pt x="38100" y="8525"/>
                    <a:pt x="29566" y="0"/>
                    <a:pt x="19050" y="0"/>
                  </a:cubicBezTo>
                  <a:close/>
                </a:path>
              </a:pathLst>
            </a:custGeom>
            <a:grpFill/>
            <a:ln w="9525" cap="flat">
              <a:noFill/>
              <a:prstDash val="solid"/>
              <a:miter/>
            </a:ln>
          </p:spPr>
          <p:txBody>
            <a:bodyPr rtlCol="0" anchor="ctr"/>
            <a:lstStyle/>
            <a:p>
              <a:endParaRPr lang="en-US" sz="1350" dirty="0"/>
            </a:p>
          </p:txBody>
        </p:sp>
      </p:grpSp>
      <p:sp>
        <p:nvSpPr>
          <p:cNvPr id="16" name="Title 1"/>
          <p:cNvSpPr txBox="1"/>
          <p:nvPr userDrawn="1"/>
        </p:nvSpPr>
        <p:spPr>
          <a:xfrm>
            <a:off x="474130" y="2639243"/>
            <a:ext cx="3334512" cy="1080110"/>
          </a:xfrm>
          <a:prstGeom prst="rect">
            <a:avLst/>
          </a:prstGeom>
        </p:spPr>
        <p:txBody>
          <a:bodyPr vert="horz" lIns="91440" tIns="45720" rIns="91440" bIns="45720" rtlCol="0" anchor="b">
            <a:normAutofit fontScale="92500"/>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r>
              <a:rPr lang="en-US" sz="6000" b="1" dirty="0">
                <a:solidFill>
                  <a:schemeClr val="bg1"/>
                </a:solidFill>
                <a:latin typeface="YESHUAH" panose="02000500000000000000" pitchFamily="2" charset="0"/>
                <a:ea typeface="ADLaM Display" panose="02010000000000000000" pitchFamily="2" charset="0"/>
                <a:cs typeface="ADLaM Display" panose="02010000000000000000" pitchFamily="2" charset="0"/>
              </a:rPr>
              <a:t>Objectives</a:t>
            </a:r>
            <a:endParaRPr lang="en-US" sz="3200" b="1" dirty="0">
              <a:solidFill>
                <a:schemeClr val="bg1"/>
              </a:solidFill>
              <a:latin typeface="YESHUAH" panose="02000500000000000000" pitchFamily="2" charset="0"/>
              <a:ea typeface="ADLaM Display" panose="02010000000000000000" pitchFamily="2" charset="0"/>
              <a:cs typeface="ADLaM Display" panose="02010000000000000000" pitchFamily="2" charset="0"/>
            </a:endParaRPr>
          </a:p>
        </p:txBody>
      </p:sp>
      <p:sp>
        <p:nvSpPr>
          <p:cNvPr id="11" name="Text Placeholder 10"/>
          <p:cNvSpPr>
            <a:spLocks noGrp="1"/>
          </p:cNvSpPr>
          <p:nvPr>
            <p:ph type="body" sz="quarter" idx="14" hasCustomPrompt="1"/>
          </p:nvPr>
        </p:nvSpPr>
        <p:spPr>
          <a:xfrm>
            <a:off x="5908431" y="1603717"/>
            <a:ext cx="5524060" cy="3151163"/>
          </a:xfrm>
          <a:prstGeom prst="rect">
            <a:avLst/>
          </a:prstGeom>
        </p:spPr>
        <p:txBody>
          <a:bodyPr>
            <a:normAutofit/>
          </a:bodyPr>
          <a:lstStyle>
            <a:lvl1pPr>
              <a:spcBef>
                <a:spcPts val="0"/>
              </a:spcBef>
              <a:spcAft>
                <a:spcPts val="600"/>
              </a:spcAft>
              <a:defRPr sz="3200">
                <a:solidFill>
                  <a:srgbClr val="002060"/>
                </a:solidFill>
              </a:defRPr>
            </a:lvl1pPr>
          </a:lstStyle>
          <a:p>
            <a:pPr lvl="0"/>
            <a:r>
              <a:rPr lang="en-US" dirty="0"/>
              <a:t> { write your objectives}</a:t>
            </a:r>
          </a:p>
          <a:p>
            <a:pPr lvl="0"/>
            <a:endParaRPr lang="en-US" dirty="0"/>
          </a:p>
        </p:txBody>
      </p:sp>
      <p:pic>
        <p:nvPicPr>
          <p:cNvPr id="3" name="Picture 2">
            <a:extLst>
              <a:ext uri="{FF2B5EF4-FFF2-40B4-BE49-F238E27FC236}">
                <a16:creationId xmlns:a16="http://schemas.microsoft.com/office/drawing/2014/main" id="{43EF92EB-1689-2416-7533-E53DBC8933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581400" y="2348890"/>
            <a:ext cx="2160220" cy="216022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156921" y="618977"/>
            <a:ext cx="9393848" cy="712765"/>
          </a:xfrm>
          <a:prstGeom prst="rect">
            <a:avLst/>
          </a:prstGeom>
        </p:spPr>
        <p:txBody>
          <a:bodyPr/>
          <a:lstStyle>
            <a:lvl1pPr>
              <a:defRPr lang="en-US" sz="3600" b="1" kern="1200" spc="-38" baseline="0" dirty="0">
                <a:solidFill>
                  <a:srgbClr val="002060"/>
                </a:solidFill>
                <a:latin typeface="+mn-lt"/>
                <a:ea typeface="+mj-ea"/>
                <a:cs typeface="+mj-cs"/>
              </a:defRPr>
            </a:lvl1pPr>
          </a:lstStyle>
          <a:p>
            <a:r>
              <a:rPr lang="en-US" dirty="0"/>
              <a:t>{ Title }</a:t>
            </a:r>
          </a:p>
        </p:txBody>
      </p:sp>
      <p:sp>
        <p:nvSpPr>
          <p:cNvPr id="6" name="Text Placeholder 10"/>
          <p:cNvSpPr>
            <a:spLocks noGrp="1"/>
          </p:cNvSpPr>
          <p:nvPr>
            <p:ph type="body" sz="quarter" idx="14" hasCustomPrompt="1"/>
          </p:nvPr>
        </p:nvSpPr>
        <p:spPr>
          <a:xfrm>
            <a:off x="1156921" y="1603717"/>
            <a:ext cx="10275570" cy="4705350"/>
          </a:xfrm>
          <a:prstGeom prst="rect">
            <a:avLst/>
          </a:prstGeom>
        </p:spPr>
        <p:txBody>
          <a:bodyPr>
            <a:normAutofit/>
          </a:bodyPr>
          <a:lstStyle>
            <a:lvl1pPr>
              <a:spcBef>
                <a:spcPts val="0"/>
              </a:spcBef>
              <a:spcAft>
                <a:spcPts val="600"/>
              </a:spcAft>
              <a:defRPr sz="2400">
                <a:solidFill>
                  <a:srgbClr val="002060"/>
                </a:solidFill>
              </a:defRPr>
            </a:lvl1pPr>
          </a:lstStyle>
          <a:p>
            <a:pPr lvl="0"/>
            <a:r>
              <a:rPr lang="en-US" dirty="0"/>
              <a:t>{write your bullet point }</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11" name="Title 1"/>
          <p:cNvSpPr txBox="1"/>
          <p:nvPr userDrawn="1"/>
        </p:nvSpPr>
        <p:spPr>
          <a:xfrm>
            <a:off x="1325880" y="638175"/>
            <a:ext cx="9942195" cy="666750"/>
          </a:xfrm>
          <a:prstGeom prst="rect">
            <a:avLst/>
          </a:prstGeom>
        </p:spPr>
        <p:txBody>
          <a:bodyPr vert="horz" lIns="91440" tIns="45720" rIns="91440" bIns="45720" rtlCol="0" anchor="b">
            <a:noAutofit/>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r>
              <a:rPr lang="en-US" sz="3200" b="1" dirty="0">
                <a:solidFill>
                  <a:srgbClr val="002060"/>
                </a:solidFill>
                <a:latin typeface="+mn-lt"/>
                <a:ea typeface="Cambria" panose="02040503050406030204" pitchFamily="18" charset="0"/>
              </a:rPr>
              <a:t>References</a:t>
            </a:r>
          </a:p>
        </p:txBody>
      </p:sp>
      <p:sp>
        <p:nvSpPr>
          <p:cNvPr id="15" name="Text Placeholder 10"/>
          <p:cNvSpPr>
            <a:spLocks noGrp="1"/>
          </p:cNvSpPr>
          <p:nvPr>
            <p:ph type="body" sz="quarter" idx="14" hasCustomPrompt="1"/>
          </p:nvPr>
        </p:nvSpPr>
        <p:spPr>
          <a:xfrm>
            <a:off x="1325880" y="1524000"/>
            <a:ext cx="9681949" cy="3958659"/>
          </a:xfrm>
          <a:prstGeom prst="rect">
            <a:avLst/>
          </a:prstGeom>
        </p:spPr>
        <p:txBody>
          <a:bodyPr>
            <a:normAutofit/>
          </a:bodyPr>
          <a:lstStyle>
            <a:lvl1pPr marL="91440">
              <a:spcBef>
                <a:spcPts val="0"/>
              </a:spcBef>
              <a:defRPr sz="2400">
                <a:solidFill>
                  <a:srgbClr val="002060"/>
                </a:solidFill>
              </a:defRPr>
            </a:lvl1pPr>
          </a:lstStyle>
          <a:p>
            <a:pPr lvl="0"/>
            <a:r>
              <a:rPr lang="en-US" dirty="0"/>
              <a:t>{ link to reference1, example: http://app.icraftsoft.net }</a:t>
            </a:r>
          </a:p>
          <a:p>
            <a:pPr lvl="0"/>
            <a:r>
              <a:rPr lang="en-US" dirty="0"/>
              <a:t>{ link to reference1, example: http://app.icraftsoft.net }</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384E36F-A443-7521-D49B-753C50A8A887}"/>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425952" y="973836"/>
            <a:ext cx="5116068" cy="511606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8621" y="625480"/>
            <a:ext cx="1036320" cy="6858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noProof="0" dirty="0"/>
          </a:p>
        </p:txBody>
      </p:sp>
      <p:sp>
        <p:nvSpPr>
          <p:cNvPr id="5" name="Slide Number Placeholder 4"/>
          <p:cNvSpPr>
            <a:spLocks noGrp="1"/>
          </p:cNvSpPr>
          <p:nvPr>
            <p:ph type="sldNum" sz="quarter" idx="4"/>
          </p:nvPr>
        </p:nvSpPr>
        <p:spPr>
          <a:xfrm>
            <a:off x="8610600" y="6181726"/>
            <a:ext cx="2743200" cy="539750"/>
          </a:xfrm>
          <a:prstGeom prst="rect">
            <a:avLst/>
          </a:prstGeom>
        </p:spPr>
        <p:txBody>
          <a:bodyPr vert="horz" lIns="91440" tIns="45720" rIns="91440" bIns="45720" rtlCol="0" anchor="ctr"/>
          <a:lstStyle>
            <a:lvl1pPr algn="r">
              <a:defRPr sz="1200">
                <a:solidFill>
                  <a:schemeClr val="tx1">
                    <a:tint val="75000"/>
                  </a:schemeClr>
                </a:solidFill>
              </a:defRPr>
            </a:lvl1pPr>
          </a:lstStyle>
          <a:p>
            <a:fld id="{2D836B06-9FB6-4AA1-A097-666DD28834F7}" type="slidenum">
              <a:rPr lang="en-US" smtClean="0"/>
              <a:t>‹#›</a:t>
            </a:fld>
            <a:endParaRPr lang="en-US" dirty="0"/>
          </a:p>
        </p:txBody>
      </p:sp>
      <p:pic>
        <p:nvPicPr>
          <p:cNvPr id="3" name="Picture 2"/>
          <p:cNvPicPr>
            <a:picLocks noChangeAspect="1"/>
          </p:cNvPicPr>
          <p:nvPr userDrawn="1"/>
        </p:nvPicPr>
        <p:blipFill>
          <a:blip r:embed="rId7" cstate="print">
            <a:extLst>
              <a:ext uri="{28A0092B-C50C-407E-A947-70E740481C1C}">
                <a14:useLocalDpi xmlns:a14="http://schemas.microsoft.com/office/drawing/2010/main" val="0"/>
              </a:ext>
            </a:extLst>
          </a:blip>
          <a:srcRect/>
          <a:stretch/>
        </p:blipFill>
        <p:spPr>
          <a:xfrm>
            <a:off x="11073852" y="205990"/>
            <a:ext cx="944645" cy="944645"/>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p:titleStyle>
    <p:bodyStyle>
      <a:lvl1pPr marL="200025" indent="-200025" algn="l" defTabSz="685800" rtl="0" eaLnBrk="1" latinLnBrk="0" hangingPunct="1">
        <a:lnSpc>
          <a:spcPct val="100000"/>
        </a:lnSpc>
        <a:spcBef>
          <a:spcPts val="900"/>
        </a:spcBef>
        <a:spcAft>
          <a:spcPts val="150"/>
        </a:spcAft>
        <a:buClr>
          <a:schemeClr val="accent1"/>
        </a:buClr>
        <a:buSzPct val="100000"/>
        <a:buFont typeface="Wingdings" panose="05000000000000000000" pitchFamily="2" charset="2"/>
        <a:buChar char="§"/>
        <a:defRPr sz="1500" kern="1200">
          <a:solidFill>
            <a:schemeClr val="tx1">
              <a:lumMod val="75000"/>
              <a:lumOff val="25000"/>
            </a:schemeClr>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image" Target="../media/image9.png"/><Relationship Id="rId21" Type="http://schemas.openxmlformats.org/officeDocument/2006/relationships/image" Target="../media/image27.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5" Type="http://schemas.openxmlformats.org/officeDocument/2006/relationships/image" Target="../media/image31.png"/><Relationship Id="rId2" Type="http://schemas.openxmlformats.org/officeDocument/2006/relationships/image" Target="../media/image8.png"/><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24" Type="http://schemas.openxmlformats.org/officeDocument/2006/relationships/image" Target="../media/image30.jpeg"/><Relationship Id="rId5" Type="http://schemas.openxmlformats.org/officeDocument/2006/relationships/image" Target="../media/image11.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16.png"/><Relationship Id="rId19" Type="http://schemas.openxmlformats.org/officeDocument/2006/relationships/image" Target="../media/image25.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 Id="rId22" Type="http://schemas.openxmlformats.org/officeDocument/2006/relationships/image" Target="../media/image28.png"/></Relationships>
</file>

<file path=ppt/slides/_rels/slide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ECDAC-6AB4-4A7B-90D7-87428ABE7A96}"/>
              </a:ext>
            </a:extLst>
          </p:cNvPr>
          <p:cNvSpPr>
            <a:spLocks noGrp="1"/>
          </p:cNvSpPr>
          <p:nvPr>
            <p:ph type="title"/>
          </p:nvPr>
        </p:nvSpPr>
        <p:spPr>
          <a:xfrm>
            <a:off x="0" y="2703621"/>
            <a:ext cx="5378824" cy="1814591"/>
          </a:xfrm>
        </p:spPr>
        <p:txBody>
          <a:bodyPr>
            <a:noAutofit/>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Database Design </a:t>
            </a:r>
            <a:br>
              <a:rPr lang="en-US" dirty="0">
                <a:latin typeface="ADLaM Display" panose="02010000000000000000" pitchFamily="2" charset="0"/>
                <a:ea typeface="ADLaM Display" panose="02010000000000000000" pitchFamily="2" charset="0"/>
                <a:cs typeface="ADLaM Display" panose="02010000000000000000" pitchFamily="2" charset="0"/>
              </a:rPr>
            </a:br>
            <a:r>
              <a:rPr lang="en-US" dirty="0">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RDBMS</a:t>
            </a:r>
            <a:endParaRPr lang="en-US" sz="54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 name="Content Placeholder 2">
            <a:extLst>
              <a:ext uri="{FF2B5EF4-FFF2-40B4-BE49-F238E27FC236}">
                <a16:creationId xmlns:a16="http://schemas.microsoft.com/office/drawing/2014/main" id="{28E0905C-A1AA-3986-D28A-042DCEF7892F}"/>
              </a:ext>
            </a:extLst>
          </p:cNvPr>
          <p:cNvSpPr>
            <a:spLocks noGrp="1"/>
          </p:cNvSpPr>
          <p:nvPr>
            <p:ph sz="quarter" idx="13"/>
          </p:nvPr>
        </p:nvSpPr>
        <p:spPr/>
        <p:txBody>
          <a:bodyPr>
            <a:normAutofit lnSpcReduction="10000"/>
          </a:bodyPr>
          <a:lstStyle/>
          <a:p>
            <a:r>
              <a:rPr lang="en-US" dirty="0"/>
              <a:t>mintesnot</a:t>
            </a:r>
          </a:p>
        </p:txBody>
      </p:sp>
      <p:pic>
        <p:nvPicPr>
          <p:cNvPr id="6" name="Picture 5">
            <a:extLst>
              <a:ext uri="{FF2B5EF4-FFF2-40B4-BE49-F238E27FC236}">
                <a16:creationId xmlns:a16="http://schemas.microsoft.com/office/drawing/2014/main" id="{29CEBC9E-4311-34A9-0C78-FA3EC39303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010912" y="1523757"/>
            <a:ext cx="6934200" cy="4079938"/>
          </a:xfrm>
          <a:prstGeom prst="rect">
            <a:avLst/>
          </a:prstGeom>
        </p:spPr>
      </p:pic>
      <p:pic>
        <p:nvPicPr>
          <p:cNvPr id="11" name="Picture 10">
            <a:extLst>
              <a:ext uri="{FF2B5EF4-FFF2-40B4-BE49-F238E27FC236}">
                <a16:creationId xmlns:a16="http://schemas.microsoft.com/office/drawing/2014/main" id="{52A47D76-DCDC-BA68-E61D-E120C82FC6D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689412" y="3429000"/>
            <a:ext cx="3026664" cy="3026664"/>
          </a:xfrm>
          <a:prstGeom prst="rect">
            <a:avLst/>
          </a:prstGeom>
        </p:spPr>
      </p:pic>
    </p:spTree>
    <p:extLst>
      <p:ext uri="{BB962C8B-B14F-4D97-AF65-F5344CB8AC3E}">
        <p14:creationId xmlns:p14="http://schemas.microsoft.com/office/powerpoint/2010/main" val="19199133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DA5F557-19C5-3E57-5E7C-602DF20CAEE8}"/>
              </a:ext>
            </a:extLst>
          </p:cNvPr>
          <p:cNvSpPr>
            <a:spLocks noGrp="1"/>
          </p:cNvSpPr>
          <p:nvPr>
            <p:ph type="body" sz="quarter" idx="14"/>
          </p:nvPr>
        </p:nvSpPr>
        <p:spPr>
          <a:xfrm>
            <a:off x="5381287" y="498163"/>
            <a:ext cx="6810713" cy="6667828"/>
          </a:xfrm>
        </p:spPr>
        <p:txBody>
          <a:bodyPr>
            <a:normAutofit lnSpcReduction="10000"/>
          </a:bodyPr>
          <a:lstStyle/>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What is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RDBMS</a:t>
            </a:r>
            <a:r>
              <a:rPr lang="en-US" dirty="0">
                <a:latin typeface="ADLaM Display" panose="02010000000000000000" pitchFamily="2" charset="0"/>
                <a:ea typeface="ADLaM Display" panose="02010000000000000000" pitchFamily="2" charset="0"/>
                <a:cs typeface="ADLaM Display" panose="02010000000000000000" pitchFamily="2" charset="0"/>
              </a:rPr>
              <a:t>?</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Databases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DDL Statements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DML Statements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DQL Statements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Constraints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Primary Keys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Foreign Keys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Composite Keys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Alternative Keys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Data Integrity</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Indexes</a:t>
            </a:r>
          </a:p>
        </p:txBody>
      </p:sp>
    </p:spTree>
    <p:extLst>
      <p:ext uri="{BB962C8B-B14F-4D97-AF65-F5344CB8AC3E}">
        <p14:creationId xmlns:p14="http://schemas.microsoft.com/office/powerpoint/2010/main" val="1664880165"/>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9F17C-4686-579A-ADCE-818576D43A3A}"/>
              </a:ext>
            </a:extLst>
          </p:cNvPr>
          <p:cNvSpPr>
            <a:spLocks noGrp="1"/>
          </p:cNvSpPr>
          <p:nvPr>
            <p:ph type="title"/>
          </p:nvPr>
        </p:nvSpPr>
        <p:spPr>
          <a:xfrm>
            <a:off x="1156920" y="715229"/>
            <a:ext cx="9393848" cy="712765"/>
          </a:xfrm>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What is </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RDBMS</a:t>
            </a:r>
            <a:r>
              <a:rPr lang="en-US" dirty="0">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25DD0B1B-B130-8E70-136A-D0F6E5E125D3}"/>
              </a:ext>
            </a:extLst>
          </p:cNvPr>
          <p:cNvSpPr>
            <a:spLocks noGrp="1"/>
          </p:cNvSpPr>
          <p:nvPr>
            <p:ph type="body" sz="quarter" idx="14"/>
          </p:nvPr>
        </p:nvSpPr>
        <p:spPr>
          <a:xfrm>
            <a:off x="1156920" y="1643147"/>
            <a:ext cx="10794447" cy="5602941"/>
          </a:xfrm>
        </p:spPr>
        <p:txBody>
          <a:bodyPr>
            <a:normAutofit/>
          </a:bodyPr>
          <a:lstStyle/>
          <a:p>
            <a:pPr algn="just"/>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RDBMS </a:t>
            </a:r>
            <a:r>
              <a:rPr lang="en-US" dirty="0"/>
              <a:t>stands for Relational Database Management System. RDBMS is the basis for SQL, and for all modern database systems like MS SQL Server, IBM DB2, Oracle, MySQL, and Microsoft Access.</a:t>
            </a:r>
          </a:p>
          <a:p>
            <a:pPr algn="just"/>
            <a:r>
              <a:rPr lang="en-US" dirty="0"/>
              <a:t> A Relational Database stores data in tables that are related to one another.</a:t>
            </a:r>
          </a:p>
          <a:p>
            <a:pPr algn="just"/>
            <a:r>
              <a:rPr lang="en-US" dirty="0"/>
              <a:t> Instead of storing student information multiple times, we store it once and reference it when needed.</a:t>
            </a:r>
          </a:p>
          <a:p>
            <a:pPr marL="0" indent="0">
              <a:buNone/>
            </a:pPr>
            <a:r>
              <a:rPr lang="en-US" sz="2800" b="1" dirty="0">
                <a:latin typeface="ADLaM Display" panose="02010000000000000000" pitchFamily="2" charset="0"/>
                <a:ea typeface="ADLaM Display" panose="02010000000000000000" pitchFamily="2" charset="0"/>
                <a:cs typeface="ADLaM Display" panose="02010000000000000000" pitchFamily="2" charset="0"/>
              </a:rPr>
              <a:t>Key Characteristics</a:t>
            </a:r>
          </a:p>
          <a:p>
            <a:pPr>
              <a:buBlip>
                <a:blip r:embed="rId2"/>
              </a:buBlip>
            </a:pPr>
            <a:r>
              <a:rPr lang="en-US" dirty="0"/>
              <a:t> Data stored in rows and columns </a:t>
            </a:r>
          </a:p>
          <a:p>
            <a:pPr>
              <a:buBlip>
                <a:blip r:embed="rId2"/>
              </a:buBlip>
            </a:pPr>
            <a:r>
              <a:rPr lang="en-US" dirty="0"/>
              <a:t> Tables can be connected through relationships </a:t>
            </a:r>
          </a:p>
          <a:p>
            <a:pPr>
              <a:buBlip>
                <a:blip r:embed="rId2"/>
              </a:buBlip>
            </a:pPr>
            <a:r>
              <a:rPr lang="en-US" dirty="0"/>
              <a:t> Uses SQL (Structured Query Language) </a:t>
            </a:r>
          </a:p>
          <a:p>
            <a:pPr>
              <a:buBlip>
                <a:blip r:embed="rId2"/>
              </a:buBlip>
            </a:pPr>
            <a:r>
              <a:rPr lang="en-US" dirty="0"/>
              <a:t> Reduces duplicate data</a:t>
            </a:r>
          </a:p>
          <a:p>
            <a:pPr algn="just"/>
            <a:endParaRPr lang="en-US" dirty="0"/>
          </a:p>
          <a:p>
            <a:pPr marL="0" indent="0" algn="just">
              <a:buNone/>
            </a:pPr>
            <a:r>
              <a:rPr lang="en-US" sz="1800" dirty="0"/>
              <a:t> </a:t>
            </a:r>
          </a:p>
        </p:txBody>
      </p:sp>
    </p:spTree>
    <p:extLst>
      <p:ext uri="{BB962C8B-B14F-4D97-AF65-F5344CB8AC3E}">
        <p14:creationId xmlns:p14="http://schemas.microsoft.com/office/powerpoint/2010/main" val="1037428834"/>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3D0C9-91B1-31A8-5BA9-7DBF858F9E85}"/>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Databases</a:t>
            </a:r>
          </a:p>
        </p:txBody>
      </p:sp>
      <p:grpSp>
        <p:nvGrpSpPr>
          <p:cNvPr id="58" name="Group 57">
            <a:extLst>
              <a:ext uri="{FF2B5EF4-FFF2-40B4-BE49-F238E27FC236}">
                <a16:creationId xmlns:a16="http://schemas.microsoft.com/office/drawing/2014/main" id="{3004F375-E3CF-42A4-DE58-B8B14C15A2C2}"/>
              </a:ext>
            </a:extLst>
          </p:cNvPr>
          <p:cNvGrpSpPr/>
          <p:nvPr/>
        </p:nvGrpSpPr>
        <p:grpSpPr>
          <a:xfrm>
            <a:off x="399264" y="1192237"/>
            <a:ext cx="11792736" cy="5595536"/>
            <a:chOff x="399264" y="1192237"/>
            <a:chExt cx="11792736" cy="5595536"/>
          </a:xfrm>
        </p:grpSpPr>
        <p:pic>
          <p:nvPicPr>
            <p:cNvPr id="4" name="Picture 3" descr="MySQL :: MySQL Logo Downloads">
              <a:extLst>
                <a:ext uri="{FF2B5EF4-FFF2-40B4-BE49-F238E27FC236}">
                  <a16:creationId xmlns:a16="http://schemas.microsoft.com/office/drawing/2014/main" id="{E2926AA4-506A-7A1D-8923-5C8AF6E43D7D}"/>
                </a:ext>
              </a:extLst>
            </p:cNvPr>
            <p:cNvPicPr>
              <a:picLocks noChangeAspect="1"/>
            </p:cNvPicPr>
            <p:nvPr/>
          </p:nvPicPr>
          <p:blipFill>
            <a:blip r:embed="rId2"/>
            <a:stretch>
              <a:fillRect/>
            </a:stretch>
          </p:blipFill>
          <p:spPr>
            <a:xfrm>
              <a:off x="493047" y="1638662"/>
              <a:ext cx="1124199" cy="760112"/>
            </a:xfrm>
            <a:prstGeom prst="rect">
              <a:avLst/>
            </a:prstGeom>
          </p:spPr>
        </p:pic>
        <p:pic>
          <p:nvPicPr>
            <p:cNvPr id="8" name="Picture 7">
              <a:extLst>
                <a:ext uri="{FF2B5EF4-FFF2-40B4-BE49-F238E27FC236}">
                  <a16:creationId xmlns:a16="http://schemas.microsoft.com/office/drawing/2014/main" id="{E807F816-1735-7535-05F1-01FA7C44BE38}"/>
                </a:ext>
              </a:extLst>
            </p:cNvPr>
            <p:cNvPicPr>
              <a:picLocks noChangeAspect="1"/>
            </p:cNvPicPr>
            <p:nvPr/>
          </p:nvPicPr>
          <p:blipFill>
            <a:blip r:embed="rId3"/>
            <a:stretch>
              <a:fillRect/>
            </a:stretch>
          </p:blipFill>
          <p:spPr>
            <a:xfrm>
              <a:off x="2187971" y="1592236"/>
              <a:ext cx="966180" cy="996373"/>
            </a:xfrm>
            <a:prstGeom prst="rect">
              <a:avLst/>
            </a:prstGeom>
          </p:spPr>
        </p:pic>
        <p:pic>
          <p:nvPicPr>
            <p:cNvPr id="9" name="Picture 8" descr="Sql server - Free logo icons">
              <a:extLst>
                <a:ext uri="{FF2B5EF4-FFF2-40B4-BE49-F238E27FC236}">
                  <a16:creationId xmlns:a16="http://schemas.microsoft.com/office/drawing/2014/main" id="{EDB05BF3-3673-6A82-69F1-DADE4B2BF1AF}"/>
                </a:ext>
              </a:extLst>
            </p:cNvPr>
            <p:cNvPicPr>
              <a:picLocks noChangeAspect="1"/>
            </p:cNvPicPr>
            <p:nvPr/>
          </p:nvPicPr>
          <p:blipFill>
            <a:blip r:embed="rId4"/>
            <a:stretch>
              <a:fillRect/>
            </a:stretch>
          </p:blipFill>
          <p:spPr>
            <a:xfrm>
              <a:off x="3985806" y="1300160"/>
              <a:ext cx="1288449" cy="1288449"/>
            </a:xfrm>
            <a:prstGeom prst="rect">
              <a:avLst/>
            </a:prstGeom>
          </p:spPr>
        </p:pic>
        <p:pic>
          <p:nvPicPr>
            <p:cNvPr id="10" name="Picture 9" descr="What is Oracle? | Webopedia">
              <a:extLst>
                <a:ext uri="{FF2B5EF4-FFF2-40B4-BE49-F238E27FC236}">
                  <a16:creationId xmlns:a16="http://schemas.microsoft.com/office/drawing/2014/main" id="{FE803EBF-758D-7E1E-2D88-6CFEBB6D2A37}"/>
                </a:ext>
              </a:extLst>
            </p:cNvPr>
            <p:cNvPicPr>
              <a:picLocks noChangeAspect="1"/>
            </p:cNvPicPr>
            <p:nvPr/>
          </p:nvPicPr>
          <p:blipFill>
            <a:blip r:embed="rId5"/>
            <a:stretch>
              <a:fillRect/>
            </a:stretch>
          </p:blipFill>
          <p:spPr>
            <a:xfrm>
              <a:off x="5853845" y="1192237"/>
              <a:ext cx="1504294" cy="1504294"/>
            </a:xfrm>
            <a:prstGeom prst="rect">
              <a:avLst/>
            </a:prstGeom>
          </p:spPr>
        </p:pic>
        <p:pic>
          <p:nvPicPr>
            <p:cNvPr id="11" name="Picture 10" descr="File:SQLite370.svg - Wikimedia Commons">
              <a:extLst>
                <a:ext uri="{FF2B5EF4-FFF2-40B4-BE49-F238E27FC236}">
                  <a16:creationId xmlns:a16="http://schemas.microsoft.com/office/drawing/2014/main" id="{CD796036-DDA1-ADD0-9328-B51A4422FAED}"/>
                </a:ext>
              </a:extLst>
            </p:cNvPr>
            <p:cNvPicPr>
              <a:picLocks noChangeAspect="1"/>
            </p:cNvPicPr>
            <p:nvPr/>
          </p:nvPicPr>
          <p:blipFill>
            <a:blip r:embed="rId6"/>
            <a:stretch>
              <a:fillRect/>
            </a:stretch>
          </p:blipFill>
          <p:spPr>
            <a:xfrm>
              <a:off x="7850486" y="1470434"/>
              <a:ext cx="2105708" cy="996373"/>
            </a:xfrm>
            <a:prstGeom prst="rect">
              <a:avLst/>
            </a:prstGeom>
          </p:spPr>
        </p:pic>
        <p:pic>
          <p:nvPicPr>
            <p:cNvPr id="12" name="Picture 11" descr="Official MariaDB Logos | MariaDB">
              <a:extLst>
                <a:ext uri="{FF2B5EF4-FFF2-40B4-BE49-F238E27FC236}">
                  <a16:creationId xmlns:a16="http://schemas.microsoft.com/office/drawing/2014/main" id="{C844FC1F-765F-7860-50EA-E1193448AC7A}"/>
                </a:ext>
              </a:extLst>
            </p:cNvPr>
            <p:cNvPicPr>
              <a:picLocks noChangeAspect="1"/>
            </p:cNvPicPr>
            <p:nvPr/>
          </p:nvPicPr>
          <p:blipFill>
            <a:blip r:embed="rId7"/>
            <a:stretch>
              <a:fillRect/>
            </a:stretch>
          </p:blipFill>
          <p:spPr>
            <a:xfrm>
              <a:off x="2024816" y="2843208"/>
              <a:ext cx="1220605" cy="995112"/>
            </a:xfrm>
            <a:prstGeom prst="rect">
              <a:avLst/>
            </a:prstGeom>
          </p:spPr>
        </p:pic>
        <p:pic>
          <p:nvPicPr>
            <p:cNvPr id="18" name="Picture 17">
              <a:extLst>
                <a:ext uri="{FF2B5EF4-FFF2-40B4-BE49-F238E27FC236}">
                  <a16:creationId xmlns:a16="http://schemas.microsoft.com/office/drawing/2014/main" id="{F106DB85-147C-70DC-016A-2FE8E94D2AAF}"/>
                </a:ext>
              </a:extLst>
            </p:cNvPr>
            <p:cNvPicPr>
              <a:picLocks noChangeAspect="1"/>
            </p:cNvPicPr>
            <p:nvPr/>
          </p:nvPicPr>
          <p:blipFill>
            <a:blip r:embed="rId8"/>
            <a:stretch>
              <a:fillRect/>
            </a:stretch>
          </p:blipFill>
          <p:spPr>
            <a:xfrm>
              <a:off x="3766029" y="2829947"/>
              <a:ext cx="1492177" cy="1133194"/>
            </a:xfrm>
            <a:prstGeom prst="rect">
              <a:avLst/>
            </a:prstGeom>
          </p:spPr>
        </p:pic>
        <p:pic>
          <p:nvPicPr>
            <p:cNvPr id="22" name="Picture 21">
              <a:extLst>
                <a:ext uri="{FF2B5EF4-FFF2-40B4-BE49-F238E27FC236}">
                  <a16:creationId xmlns:a16="http://schemas.microsoft.com/office/drawing/2014/main" id="{0D3F1498-DA45-8548-4C6F-350CFA66520A}"/>
                </a:ext>
              </a:extLst>
            </p:cNvPr>
            <p:cNvPicPr>
              <a:picLocks noChangeAspect="1"/>
            </p:cNvPicPr>
            <p:nvPr/>
          </p:nvPicPr>
          <p:blipFill>
            <a:blip r:embed="rId9"/>
            <a:stretch>
              <a:fillRect/>
            </a:stretch>
          </p:blipFill>
          <p:spPr>
            <a:xfrm>
              <a:off x="10448541" y="1470434"/>
              <a:ext cx="980387" cy="980387"/>
            </a:xfrm>
            <a:prstGeom prst="rect">
              <a:avLst/>
            </a:prstGeom>
          </p:spPr>
        </p:pic>
        <p:pic>
          <p:nvPicPr>
            <p:cNvPr id="23" name="Picture 22" descr="Firebird: Logos">
              <a:extLst>
                <a:ext uri="{FF2B5EF4-FFF2-40B4-BE49-F238E27FC236}">
                  <a16:creationId xmlns:a16="http://schemas.microsoft.com/office/drawing/2014/main" id="{D17530DB-28CE-5F62-4FD4-755D606BE95F}"/>
                </a:ext>
              </a:extLst>
            </p:cNvPr>
            <p:cNvPicPr>
              <a:picLocks noChangeAspect="1"/>
            </p:cNvPicPr>
            <p:nvPr/>
          </p:nvPicPr>
          <p:blipFill>
            <a:blip r:embed="rId10"/>
            <a:stretch>
              <a:fillRect/>
            </a:stretch>
          </p:blipFill>
          <p:spPr>
            <a:xfrm>
              <a:off x="5805144" y="2746222"/>
              <a:ext cx="1300643" cy="1300643"/>
            </a:xfrm>
            <a:prstGeom prst="rect">
              <a:avLst/>
            </a:prstGeom>
          </p:spPr>
        </p:pic>
        <p:pic>
          <p:nvPicPr>
            <p:cNvPr id="24" name="Picture 23" descr="IBM-DB2-Logo - SimpleIndex">
              <a:extLst>
                <a:ext uri="{FF2B5EF4-FFF2-40B4-BE49-F238E27FC236}">
                  <a16:creationId xmlns:a16="http://schemas.microsoft.com/office/drawing/2014/main" id="{17F6C013-0B27-CCF2-8D5D-5D5E61865063}"/>
                </a:ext>
              </a:extLst>
            </p:cNvPr>
            <p:cNvPicPr>
              <a:picLocks noChangeAspect="1"/>
            </p:cNvPicPr>
            <p:nvPr/>
          </p:nvPicPr>
          <p:blipFill>
            <a:blip r:embed="rId11"/>
            <a:stretch>
              <a:fillRect/>
            </a:stretch>
          </p:blipFill>
          <p:spPr>
            <a:xfrm>
              <a:off x="529964" y="2871723"/>
              <a:ext cx="995112" cy="995112"/>
            </a:xfrm>
            <a:prstGeom prst="rect">
              <a:avLst/>
            </a:prstGeom>
          </p:spPr>
        </p:pic>
        <p:pic>
          <p:nvPicPr>
            <p:cNvPr id="25" name="Picture 24" descr="Snowflake Logo, symbol, meaning, history, PNG, brand">
              <a:extLst>
                <a:ext uri="{FF2B5EF4-FFF2-40B4-BE49-F238E27FC236}">
                  <a16:creationId xmlns:a16="http://schemas.microsoft.com/office/drawing/2014/main" id="{92B14EED-323A-6D19-8883-68ED549F50F7}"/>
                </a:ext>
              </a:extLst>
            </p:cNvPr>
            <p:cNvPicPr>
              <a:picLocks noChangeAspect="1"/>
            </p:cNvPicPr>
            <p:nvPr/>
          </p:nvPicPr>
          <p:blipFill>
            <a:blip r:embed="rId12"/>
            <a:stretch>
              <a:fillRect/>
            </a:stretch>
          </p:blipFill>
          <p:spPr>
            <a:xfrm>
              <a:off x="7105787" y="2760609"/>
              <a:ext cx="2261097" cy="1271867"/>
            </a:xfrm>
            <a:prstGeom prst="rect">
              <a:avLst/>
            </a:prstGeom>
          </p:spPr>
        </p:pic>
        <p:pic>
          <p:nvPicPr>
            <p:cNvPr id="26" name="Picture 25" descr="File:Databricks Logo.png - Wikimedia Commons">
              <a:extLst>
                <a:ext uri="{FF2B5EF4-FFF2-40B4-BE49-F238E27FC236}">
                  <a16:creationId xmlns:a16="http://schemas.microsoft.com/office/drawing/2014/main" id="{0BCDE463-5D64-2806-7AE4-207B3B4B890D}"/>
                </a:ext>
              </a:extLst>
            </p:cNvPr>
            <p:cNvPicPr>
              <a:picLocks noChangeAspect="1"/>
            </p:cNvPicPr>
            <p:nvPr/>
          </p:nvPicPr>
          <p:blipFill>
            <a:blip r:embed="rId13"/>
            <a:stretch>
              <a:fillRect/>
            </a:stretch>
          </p:blipFill>
          <p:spPr>
            <a:xfrm>
              <a:off x="9396956" y="2565078"/>
              <a:ext cx="2795044" cy="1467398"/>
            </a:xfrm>
            <a:prstGeom prst="rect">
              <a:avLst/>
            </a:prstGeom>
          </p:spPr>
        </p:pic>
        <p:pic>
          <p:nvPicPr>
            <p:cNvPr id="32" name="Picture 31">
              <a:extLst>
                <a:ext uri="{FF2B5EF4-FFF2-40B4-BE49-F238E27FC236}">
                  <a16:creationId xmlns:a16="http://schemas.microsoft.com/office/drawing/2014/main" id="{374D6AD6-7AC5-7D6A-1B1A-5891E49040F6}"/>
                </a:ext>
              </a:extLst>
            </p:cNvPr>
            <p:cNvPicPr>
              <a:picLocks noChangeAspect="1"/>
            </p:cNvPicPr>
            <p:nvPr/>
          </p:nvPicPr>
          <p:blipFill>
            <a:blip r:embed="rId14"/>
            <a:stretch>
              <a:fillRect/>
            </a:stretch>
          </p:blipFill>
          <p:spPr>
            <a:xfrm>
              <a:off x="399264" y="4106260"/>
              <a:ext cx="1256512" cy="1256512"/>
            </a:xfrm>
            <a:prstGeom prst="rect">
              <a:avLst/>
            </a:prstGeom>
          </p:spPr>
        </p:pic>
        <p:pic>
          <p:nvPicPr>
            <p:cNvPr id="34" name="Picture 33" descr="Beginners Guide To Google Cloud SQL Database Service">
              <a:extLst>
                <a:ext uri="{FF2B5EF4-FFF2-40B4-BE49-F238E27FC236}">
                  <a16:creationId xmlns:a16="http://schemas.microsoft.com/office/drawing/2014/main" id="{50C35B0E-E6D5-7EDB-2681-88EBCD76C651}"/>
                </a:ext>
              </a:extLst>
            </p:cNvPr>
            <p:cNvPicPr>
              <a:picLocks noChangeAspect="1"/>
            </p:cNvPicPr>
            <p:nvPr/>
          </p:nvPicPr>
          <p:blipFill>
            <a:blip r:embed="rId15"/>
            <a:stretch>
              <a:fillRect/>
            </a:stretch>
          </p:blipFill>
          <p:spPr>
            <a:xfrm>
              <a:off x="2187971" y="4106260"/>
              <a:ext cx="1256512" cy="1256512"/>
            </a:xfrm>
            <a:prstGeom prst="rect">
              <a:avLst/>
            </a:prstGeom>
          </p:spPr>
        </p:pic>
        <p:pic>
          <p:nvPicPr>
            <p:cNvPr id="38" name="Picture 37">
              <a:extLst>
                <a:ext uri="{FF2B5EF4-FFF2-40B4-BE49-F238E27FC236}">
                  <a16:creationId xmlns:a16="http://schemas.microsoft.com/office/drawing/2014/main" id="{E50811F8-0F27-F894-DBA1-293ED4FDD7CE}"/>
                </a:ext>
              </a:extLst>
            </p:cNvPr>
            <p:cNvPicPr>
              <a:picLocks noChangeAspect="1"/>
            </p:cNvPicPr>
            <p:nvPr/>
          </p:nvPicPr>
          <p:blipFill>
            <a:blip r:embed="rId16"/>
            <a:stretch>
              <a:fillRect/>
            </a:stretch>
          </p:blipFill>
          <p:spPr>
            <a:xfrm>
              <a:off x="3919577" y="4086814"/>
              <a:ext cx="1420906" cy="1420906"/>
            </a:xfrm>
            <a:prstGeom prst="rect">
              <a:avLst/>
            </a:prstGeom>
          </p:spPr>
        </p:pic>
        <p:pic>
          <p:nvPicPr>
            <p:cNvPr id="39" name="Picture 38" descr="Apache Derby: Logo">
              <a:extLst>
                <a:ext uri="{FF2B5EF4-FFF2-40B4-BE49-F238E27FC236}">
                  <a16:creationId xmlns:a16="http://schemas.microsoft.com/office/drawing/2014/main" id="{E71F5A20-CF61-82BB-136E-428A3A2F248F}"/>
                </a:ext>
              </a:extLst>
            </p:cNvPr>
            <p:cNvPicPr>
              <a:picLocks noChangeAspect="1"/>
            </p:cNvPicPr>
            <p:nvPr/>
          </p:nvPicPr>
          <p:blipFill>
            <a:blip r:embed="rId17"/>
            <a:stretch>
              <a:fillRect/>
            </a:stretch>
          </p:blipFill>
          <p:spPr>
            <a:xfrm>
              <a:off x="5708284" y="4179337"/>
              <a:ext cx="1581900" cy="1235859"/>
            </a:xfrm>
            <a:prstGeom prst="rect">
              <a:avLst/>
            </a:prstGeom>
          </p:spPr>
        </p:pic>
        <p:pic>
          <p:nvPicPr>
            <p:cNvPr id="43" name="Picture 42">
              <a:extLst>
                <a:ext uri="{FF2B5EF4-FFF2-40B4-BE49-F238E27FC236}">
                  <a16:creationId xmlns:a16="http://schemas.microsoft.com/office/drawing/2014/main" id="{19ECEBEF-B2BF-419A-BBB2-39C54E940CD3}"/>
                </a:ext>
              </a:extLst>
            </p:cNvPr>
            <p:cNvPicPr>
              <a:picLocks noChangeAspect="1"/>
            </p:cNvPicPr>
            <p:nvPr/>
          </p:nvPicPr>
          <p:blipFill>
            <a:blip r:embed="rId18"/>
            <a:stretch>
              <a:fillRect/>
            </a:stretch>
          </p:blipFill>
          <p:spPr>
            <a:xfrm>
              <a:off x="7724802" y="4326278"/>
              <a:ext cx="953034" cy="1048337"/>
            </a:xfrm>
            <a:prstGeom prst="rect">
              <a:avLst/>
            </a:prstGeom>
          </p:spPr>
        </p:pic>
        <p:pic>
          <p:nvPicPr>
            <p:cNvPr id="44" name="Picture 43" descr="Google Big Query Logo PNG (Transparent) SVG AI – Free Download">
              <a:extLst>
                <a:ext uri="{FF2B5EF4-FFF2-40B4-BE49-F238E27FC236}">
                  <a16:creationId xmlns:a16="http://schemas.microsoft.com/office/drawing/2014/main" id="{949894BF-09E1-F31B-1F39-4B077ED9E125}"/>
                </a:ext>
              </a:extLst>
            </p:cNvPr>
            <p:cNvPicPr>
              <a:picLocks noChangeAspect="1"/>
            </p:cNvPicPr>
            <p:nvPr/>
          </p:nvPicPr>
          <p:blipFill>
            <a:blip r:embed="rId19"/>
            <a:stretch>
              <a:fillRect/>
            </a:stretch>
          </p:blipFill>
          <p:spPr>
            <a:xfrm>
              <a:off x="9069560" y="4391195"/>
              <a:ext cx="2844894" cy="971578"/>
            </a:xfrm>
            <a:prstGeom prst="rect">
              <a:avLst/>
            </a:prstGeom>
          </p:spPr>
        </p:pic>
        <p:pic>
          <p:nvPicPr>
            <p:cNvPr id="46" name="Picture 45" descr="HVR Azure SQL Database Integration | Basedash">
              <a:extLst>
                <a:ext uri="{FF2B5EF4-FFF2-40B4-BE49-F238E27FC236}">
                  <a16:creationId xmlns:a16="http://schemas.microsoft.com/office/drawing/2014/main" id="{FFFA9458-FCCA-4ED1-5EAC-A73F67DCF179}"/>
                </a:ext>
              </a:extLst>
            </p:cNvPr>
            <p:cNvPicPr>
              <a:picLocks noChangeAspect="1"/>
            </p:cNvPicPr>
            <p:nvPr/>
          </p:nvPicPr>
          <p:blipFill>
            <a:blip r:embed="rId20"/>
            <a:stretch>
              <a:fillRect/>
            </a:stretch>
          </p:blipFill>
          <p:spPr>
            <a:xfrm>
              <a:off x="470200" y="5531260"/>
              <a:ext cx="1185575" cy="1185575"/>
            </a:xfrm>
            <a:prstGeom prst="rect">
              <a:avLst/>
            </a:prstGeom>
          </p:spPr>
        </p:pic>
        <p:pic>
          <p:nvPicPr>
            <p:cNvPr id="47" name="Picture 46" descr="SAP Business One HANA | Vision33 - Vision33">
              <a:extLst>
                <a:ext uri="{FF2B5EF4-FFF2-40B4-BE49-F238E27FC236}">
                  <a16:creationId xmlns:a16="http://schemas.microsoft.com/office/drawing/2014/main" id="{84D71E76-D52D-010E-3FC6-FEE5C3D2CB83}"/>
                </a:ext>
              </a:extLst>
            </p:cNvPr>
            <p:cNvPicPr>
              <a:picLocks noChangeAspect="1"/>
            </p:cNvPicPr>
            <p:nvPr/>
          </p:nvPicPr>
          <p:blipFill>
            <a:blip r:embed="rId21"/>
            <a:stretch>
              <a:fillRect/>
            </a:stretch>
          </p:blipFill>
          <p:spPr>
            <a:xfrm>
              <a:off x="9366884" y="5865120"/>
              <a:ext cx="2563906" cy="747806"/>
            </a:xfrm>
            <a:prstGeom prst="rect">
              <a:avLst/>
            </a:prstGeom>
          </p:spPr>
        </p:pic>
        <p:pic>
          <p:nvPicPr>
            <p:cNvPr id="48" name="Picture 47" descr="TiDB, Powered by PingCAP | Sunnyvale CA">
              <a:extLst>
                <a:ext uri="{FF2B5EF4-FFF2-40B4-BE49-F238E27FC236}">
                  <a16:creationId xmlns:a16="http://schemas.microsoft.com/office/drawing/2014/main" id="{881C27B9-E2B2-06F0-F79B-D8DD8609B431}"/>
                </a:ext>
              </a:extLst>
            </p:cNvPr>
            <p:cNvPicPr>
              <a:picLocks noChangeAspect="1"/>
            </p:cNvPicPr>
            <p:nvPr/>
          </p:nvPicPr>
          <p:blipFill>
            <a:blip r:embed="rId22"/>
            <a:stretch>
              <a:fillRect/>
            </a:stretch>
          </p:blipFill>
          <p:spPr>
            <a:xfrm>
              <a:off x="2162384" y="5507720"/>
              <a:ext cx="1256513" cy="1256513"/>
            </a:xfrm>
            <a:prstGeom prst="rect">
              <a:avLst/>
            </a:prstGeom>
          </p:spPr>
        </p:pic>
        <p:pic>
          <p:nvPicPr>
            <p:cNvPr id="52" name="Picture 51">
              <a:extLst>
                <a:ext uri="{FF2B5EF4-FFF2-40B4-BE49-F238E27FC236}">
                  <a16:creationId xmlns:a16="http://schemas.microsoft.com/office/drawing/2014/main" id="{9F78E40C-1B49-619A-7C60-58373BE2F38F}"/>
                </a:ext>
              </a:extLst>
            </p:cNvPr>
            <p:cNvPicPr>
              <a:picLocks noChangeAspect="1"/>
            </p:cNvPicPr>
            <p:nvPr/>
          </p:nvPicPr>
          <p:blipFill>
            <a:blip r:embed="rId23"/>
            <a:stretch>
              <a:fillRect/>
            </a:stretch>
          </p:blipFill>
          <p:spPr>
            <a:xfrm>
              <a:off x="4127611" y="5557840"/>
              <a:ext cx="1212872" cy="1212872"/>
            </a:xfrm>
            <a:prstGeom prst="rect">
              <a:avLst/>
            </a:prstGeom>
          </p:spPr>
        </p:pic>
        <p:pic>
          <p:nvPicPr>
            <p:cNvPr id="53" name="Picture 52" descr="Teradata color icon in PNG, SVG">
              <a:extLst>
                <a:ext uri="{FF2B5EF4-FFF2-40B4-BE49-F238E27FC236}">
                  <a16:creationId xmlns:a16="http://schemas.microsoft.com/office/drawing/2014/main" id="{86AF2CA4-1256-2F20-32DE-14BD5705603C}"/>
                </a:ext>
              </a:extLst>
            </p:cNvPr>
            <p:cNvPicPr>
              <a:picLocks noChangeAspect="1"/>
            </p:cNvPicPr>
            <p:nvPr/>
          </p:nvPicPr>
          <p:blipFill>
            <a:blip r:embed="rId24"/>
            <a:stretch>
              <a:fillRect/>
            </a:stretch>
          </p:blipFill>
          <p:spPr>
            <a:xfrm>
              <a:off x="5870977" y="5531260"/>
              <a:ext cx="1256513" cy="1256513"/>
            </a:xfrm>
            <a:prstGeom prst="rect">
              <a:avLst/>
            </a:prstGeom>
          </p:spPr>
        </p:pic>
        <p:pic>
          <p:nvPicPr>
            <p:cNvPr id="57" name="Picture 56">
              <a:extLst>
                <a:ext uri="{FF2B5EF4-FFF2-40B4-BE49-F238E27FC236}">
                  <a16:creationId xmlns:a16="http://schemas.microsoft.com/office/drawing/2014/main" id="{C337732B-3975-4E6D-A955-898CC522E432}"/>
                </a:ext>
              </a:extLst>
            </p:cNvPr>
            <p:cNvPicPr>
              <a:picLocks noChangeAspect="1"/>
            </p:cNvPicPr>
            <p:nvPr/>
          </p:nvPicPr>
          <p:blipFill>
            <a:blip r:embed="rId25"/>
            <a:stretch>
              <a:fillRect/>
            </a:stretch>
          </p:blipFill>
          <p:spPr>
            <a:xfrm>
              <a:off x="7724802" y="5534853"/>
              <a:ext cx="1235859" cy="1235859"/>
            </a:xfrm>
            <a:prstGeom prst="rect">
              <a:avLst/>
            </a:prstGeom>
          </p:spPr>
        </p:pic>
      </p:grpSp>
    </p:spTree>
    <p:extLst>
      <p:ext uri="{BB962C8B-B14F-4D97-AF65-F5344CB8AC3E}">
        <p14:creationId xmlns:p14="http://schemas.microsoft.com/office/powerpoint/2010/main" val="3434849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6B3CC-C093-6318-65B0-8E254202E963}"/>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Popular SQL Databases</a:t>
            </a:r>
          </a:p>
        </p:txBody>
      </p:sp>
      <p:sp>
        <p:nvSpPr>
          <p:cNvPr id="3" name="Text Placeholder 2">
            <a:extLst>
              <a:ext uri="{FF2B5EF4-FFF2-40B4-BE49-F238E27FC236}">
                <a16:creationId xmlns:a16="http://schemas.microsoft.com/office/drawing/2014/main" id="{C934D690-6C36-4249-846B-9C953CB3A698}"/>
              </a:ext>
            </a:extLst>
          </p:cNvPr>
          <p:cNvSpPr>
            <a:spLocks noGrp="1"/>
          </p:cNvSpPr>
          <p:nvPr>
            <p:ph type="body" sz="quarter" idx="14"/>
          </p:nvPr>
        </p:nvSpPr>
        <p:spPr>
          <a:xfrm>
            <a:off x="1156921" y="1603716"/>
            <a:ext cx="10275570" cy="5048095"/>
          </a:xfrm>
        </p:spPr>
        <p:txBody>
          <a:bodyPr/>
          <a:lstStyle/>
          <a:p>
            <a:pPr algn="just"/>
            <a:r>
              <a:rPr lang="en-US" dirty="0"/>
              <a:t> There are several types of SQL-based relational databases, each with its own features and uses.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MySQL</a:t>
            </a:r>
            <a:r>
              <a:rPr lang="en-US" dirty="0"/>
              <a:t>: Free and open-source, commonly used for websites and small to medium applications.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PostgreSQL</a:t>
            </a:r>
            <a:r>
              <a:rPr lang="en-US" dirty="0"/>
              <a:t>: Advanced open-source database that supports complex queries and additional features.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Oracle Database</a:t>
            </a:r>
            <a:r>
              <a:rPr lang="en-US" dirty="0"/>
              <a:t>: A commercial database often used by large enterprises, known for reliability and advanced tools.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Microsoft SQL Server</a:t>
            </a:r>
            <a:r>
              <a:rPr lang="en-US" dirty="0"/>
              <a:t>: Widely used in corporate environments, integrates well with other Microsoft products.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SQLite</a:t>
            </a:r>
            <a:r>
              <a:rPr lang="en-US" dirty="0"/>
              <a:t>: A lightweight database embedded directly into applications, often used in mobile or desktop apps.</a:t>
            </a:r>
          </a:p>
        </p:txBody>
      </p:sp>
    </p:spTree>
    <p:extLst>
      <p:ext uri="{BB962C8B-B14F-4D97-AF65-F5344CB8AC3E}">
        <p14:creationId xmlns:p14="http://schemas.microsoft.com/office/powerpoint/2010/main" val="22567699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9C7EF-3300-2EAF-7AD3-B0DC1CF68457}"/>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Terminology</a:t>
            </a:r>
          </a:p>
        </p:txBody>
      </p:sp>
      <p:graphicFrame>
        <p:nvGraphicFramePr>
          <p:cNvPr id="4" name="Table 3">
            <a:extLst>
              <a:ext uri="{FF2B5EF4-FFF2-40B4-BE49-F238E27FC236}">
                <a16:creationId xmlns:a16="http://schemas.microsoft.com/office/drawing/2014/main" id="{C59978DA-DD00-DBDE-616F-7227513B94EF}"/>
              </a:ext>
            </a:extLst>
          </p:cNvPr>
          <p:cNvGraphicFramePr>
            <a:graphicFrameLocks noGrp="1"/>
          </p:cNvGraphicFramePr>
          <p:nvPr>
            <p:extLst>
              <p:ext uri="{D42A27DB-BD31-4B8C-83A1-F6EECF244321}">
                <p14:modId xmlns:p14="http://schemas.microsoft.com/office/powerpoint/2010/main" val="3140493685"/>
              </p:ext>
            </p:extLst>
          </p:nvPr>
        </p:nvGraphicFramePr>
        <p:xfrm>
          <a:off x="1156921" y="1651995"/>
          <a:ext cx="10425480" cy="4981890"/>
        </p:xfrm>
        <a:graphic>
          <a:graphicData uri="http://schemas.openxmlformats.org/drawingml/2006/table">
            <a:tbl>
              <a:tblPr firstRow="1" bandRow="1">
                <a:tableStyleId>{3B4B98B0-60AC-42C2-AFA5-B58CD77FA1E5}</a:tableStyleId>
              </a:tblPr>
              <a:tblGrid>
                <a:gridCol w="5212740">
                  <a:extLst>
                    <a:ext uri="{9D8B030D-6E8A-4147-A177-3AD203B41FA5}">
                      <a16:colId xmlns:a16="http://schemas.microsoft.com/office/drawing/2014/main" val="3169839058"/>
                    </a:ext>
                  </a:extLst>
                </a:gridCol>
                <a:gridCol w="5212740">
                  <a:extLst>
                    <a:ext uri="{9D8B030D-6E8A-4147-A177-3AD203B41FA5}">
                      <a16:colId xmlns:a16="http://schemas.microsoft.com/office/drawing/2014/main" val="2195953278"/>
                    </a:ext>
                  </a:extLst>
                </a:gridCol>
              </a:tblGrid>
              <a:tr h="830315">
                <a:tc>
                  <a:txBody>
                    <a:bodyPr/>
                    <a:lstStyle/>
                    <a:p>
                      <a:r>
                        <a:rPr lang="en-US" sz="32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Term</a:t>
                      </a:r>
                    </a:p>
                  </a:txBody>
                  <a:tcPr>
                    <a:solidFill>
                      <a:schemeClr val="bg1"/>
                    </a:solidFill>
                  </a:tcPr>
                </a:tc>
                <a:tc>
                  <a:txBody>
                    <a:bodyPr/>
                    <a:lstStyle/>
                    <a:p>
                      <a:r>
                        <a:rPr lang="en-US" sz="32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Meaning</a:t>
                      </a:r>
                    </a:p>
                  </a:txBody>
                  <a:tcPr>
                    <a:solidFill>
                      <a:schemeClr val="bg1"/>
                    </a:solidFill>
                  </a:tcPr>
                </a:tc>
                <a:extLst>
                  <a:ext uri="{0D108BD9-81ED-4DB2-BD59-A6C34878D82A}">
                    <a16:rowId xmlns:a16="http://schemas.microsoft.com/office/drawing/2014/main" val="1661899361"/>
                  </a:ext>
                </a:extLst>
              </a:tr>
              <a:tr h="830315">
                <a:tc>
                  <a:txBody>
                    <a:bodyPr/>
                    <a:lstStyle/>
                    <a:p>
                      <a:r>
                        <a:rPr lang="en-US" sz="3200" b="1" dirty="0">
                          <a:latin typeface="ADLaM Display" panose="02010000000000000000" pitchFamily="2" charset="0"/>
                          <a:ea typeface="ADLaM Display" panose="02010000000000000000" pitchFamily="2" charset="0"/>
                          <a:cs typeface="ADLaM Display" panose="02010000000000000000" pitchFamily="2" charset="0"/>
                        </a:rPr>
                        <a:t>Table</a:t>
                      </a:r>
                    </a:p>
                  </a:txBody>
                  <a:tcPr>
                    <a:solidFill>
                      <a:schemeClr val="bg1"/>
                    </a:solidFill>
                  </a:tcPr>
                </a:tc>
                <a:tc>
                  <a:txBody>
                    <a:bodyPr/>
                    <a:lstStyle/>
                    <a:p>
                      <a:r>
                        <a:rPr lang="en-US" sz="3200" dirty="0"/>
                        <a:t>Collection of related data</a:t>
                      </a:r>
                    </a:p>
                  </a:txBody>
                  <a:tcPr>
                    <a:solidFill>
                      <a:schemeClr val="bg1"/>
                    </a:solidFill>
                  </a:tcPr>
                </a:tc>
                <a:extLst>
                  <a:ext uri="{0D108BD9-81ED-4DB2-BD59-A6C34878D82A}">
                    <a16:rowId xmlns:a16="http://schemas.microsoft.com/office/drawing/2014/main" val="2405609407"/>
                  </a:ext>
                </a:extLst>
              </a:tr>
              <a:tr h="830315">
                <a:tc>
                  <a:txBody>
                    <a:bodyPr/>
                    <a:lstStyle/>
                    <a:p>
                      <a:r>
                        <a:rPr lang="en-US" sz="3200" b="1" dirty="0">
                          <a:latin typeface="ADLaM Display" panose="02010000000000000000" pitchFamily="2" charset="0"/>
                          <a:ea typeface="ADLaM Display" panose="02010000000000000000" pitchFamily="2" charset="0"/>
                          <a:cs typeface="ADLaM Display" panose="02010000000000000000" pitchFamily="2" charset="0"/>
                        </a:rPr>
                        <a:t>Row</a:t>
                      </a:r>
                    </a:p>
                  </a:txBody>
                  <a:tcPr>
                    <a:solidFill>
                      <a:schemeClr val="bg1"/>
                    </a:solidFill>
                  </a:tcPr>
                </a:tc>
                <a:tc>
                  <a:txBody>
                    <a:bodyPr/>
                    <a:lstStyle/>
                    <a:p>
                      <a:r>
                        <a:rPr lang="en-US" sz="3200" dirty="0"/>
                        <a:t>Single Record</a:t>
                      </a:r>
                    </a:p>
                  </a:txBody>
                  <a:tcPr>
                    <a:solidFill>
                      <a:schemeClr val="bg1"/>
                    </a:solidFill>
                  </a:tcPr>
                </a:tc>
                <a:extLst>
                  <a:ext uri="{0D108BD9-81ED-4DB2-BD59-A6C34878D82A}">
                    <a16:rowId xmlns:a16="http://schemas.microsoft.com/office/drawing/2014/main" val="1496776831"/>
                  </a:ext>
                </a:extLst>
              </a:tr>
              <a:tr h="830315">
                <a:tc>
                  <a:txBody>
                    <a:bodyPr/>
                    <a:lstStyle/>
                    <a:p>
                      <a:r>
                        <a:rPr lang="en-US" sz="3200" b="1" dirty="0">
                          <a:latin typeface="ADLaM Display" panose="02010000000000000000" pitchFamily="2" charset="0"/>
                          <a:ea typeface="ADLaM Display" panose="02010000000000000000" pitchFamily="2" charset="0"/>
                          <a:cs typeface="ADLaM Display" panose="02010000000000000000" pitchFamily="2" charset="0"/>
                        </a:rPr>
                        <a:t>Column</a:t>
                      </a:r>
                    </a:p>
                  </a:txBody>
                  <a:tcPr>
                    <a:solidFill>
                      <a:schemeClr val="bg1"/>
                    </a:solidFill>
                  </a:tcPr>
                </a:tc>
                <a:tc>
                  <a:txBody>
                    <a:bodyPr/>
                    <a:lstStyle/>
                    <a:p>
                      <a:r>
                        <a:rPr lang="en-US" sz="3200" dirty="0"/>
                        <a:t>Data field</a:t>
                      </a:r>
                    </a:p>
                  </a:txBody>
                  <a:tcPr>
                    <a:solidFill>
                      <a:schemeClr val="bg1"/>
                    </a:solidFill>
                  </a:tcPr>
                </a:tc>
                <a:extLst>
                  <a:ext uri="{0D108BD9-81ED-4DB2-BD59-A6C34878D82A}">
                    <a16:rowId xmlns:a16="http://schemas.microsoft.com/office/drawing/2014/main" val="4091140876"/>
                  </a:ext>
                </a:extLst>
              </a:tr>
              <a:tr h="830315">
                <a:tc>
                  <a:txBody>
                    <a:bodyPr/>
                    <a:lstStyle/>
                    <a:p>
                      <a:r>
                        <a:rPr lang="en-US" sz="3200" b="1" dirty="0">
                          <a:latin typeface="ADLaM Display" panose="02010000000000000000" pitchFamily="2" charset="0"/>
                          <a:ea typeface="ADLaM Display" panose="02010000000000000000" pitchFamily="2" charset="0"/>
                          <a:cs typeface="ADLaM Display" panose="02010000000000000000" pitchFamily="2" charset="0"/>
                        </a:rPr>
                        <a:t>Record</a:t>
                      </a:r>
                    </a:p>
                  </a:txBody>
                  <a:tcPr>
                    <a:solidFill>
                      <a:schemeClr val="bg1"/>
                    </a:solidFill>
                  </a:tcPr>
                </a:tc>
                <a:tc>
                  <a:txBody>
                    <a:bodyPr/>
                    <a:lstStyle/>
                    <a:p>
                      <a:r>
                        <a:rPr lang="en-US" sz="3200" dirty="0"/>
                        <a:t>One row in a table</a:t>
                      </a:r>
                    </a:p>
                  </a:txBody>
                  <a:tcPr>
                    <a:solidFill>
                      <a:schemeClr val="bg1"/>
                    </a:solidFill>
                  </a:tcPr>
                </a:tc>
                <a:extLst>
                  <a:ext uri="{0D108BD9-81ED-4DB2-BD59-A6C34878D82A}">
                    <a16:rowId xmlns:a16="http://schemas.microsoft.com/office/drawing/2014/main" val="3843065707"/>
                  </a:ext>
                </a:extLst>
              </a:tr>
              <a:tr h="830315">
                <a:tc>
                  <a:txBody>
                    <a:bodyPr/>
                    <a:lstStyle/>
                    <a:p>
                      <a:r>
                        <a:rPr lang="en-US" sz="3200" b="1" dirty="0">
                          <a:latin typeface="ADLaM Display" panose="02010000000000000000" pitchFamily="2" charset="0"/>
                          <a:ea typeface="ADLaM Display" panose="02010000000000000000" pitchFamily="2" charset="0"/>
                          <a:cs typeface="ADLaM Display" panose="02010000000000000000" pitchFamily="2" charset="0"/>
                        </a:rPr>
                        <a:t>Field</a:t>
                      </a:r>
                    </a:p>
                  </a:txBody>
                  <a:tcPr>
                    <a:solidFill>
                      <a:schemeClr val="bg1"/>
                    </a:solidFill>
                  </a:tcPr>
                </a:tc>
                <a:tc>
                  <a:txBody>
                    <a:bodyPr/>
                    <a:lstStyle/>
                    <a:p>
                      <a:r>
                        <a:rPr lang="en-US" sz="3200" dirty="0"/>
                        <a:t>Individual piece of data</a:t>
                      </a:r>
                    </a:p>
                  </a:txBody>
                  <a:tcPr>
                    <a:solidFill>
                      <a:schemeClr val="bg1"/>
                    </a:solidFill>
                  </a:tcPr>
                </a:tc>
                <a:extLst>
                  <a:ext uri="{0D108BD9-81ED-4DB2-BD59-A6C34878D82A}">
                    <a16:rowId xmlns:a16="http://schemas.microsoft.com/office/drawing/2014/main" val="2234671211"/>
                  </a:ext>
                </a:extLst>
              </a:tr>
            </a:tbl>
          </a:graphicData>
        </a:graphic>
      </p:graphicFrame>
    </p:spTree>
    <p:extLst>
      <p:ext uri="{BB962C8B-B14F-4D97-AF65-F5344CB8AC3E}">
        <p14:creationId xmlns:p14="http://schemas.microsoft.com/office/powerpoint/2010/main" val="2889824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F2C7F69-C9A2-F3FA-473C-A9A48452FE33}"/>
              </a:ext>
            </a:extLst>
          </p:cNvPr>
          <p:cNvPicPr>
            <a:picLocks noChangeAspect="1"/>
          </p:cNvPicPr>
          <p:nvPr/>
        </p:nvPicPr>
        <p:blipFill>
          <a:blip r:embed="rId2"/>
          <a:stretch>
            <a:fillRect/>
          </a:stretch>
        </p:blipFill>
        <p:spPr>
          <a:xfrm>
            <a:off x="1039549" y="1225296"/>
            <a:ext cx="10789919" cy="5394960"/>
          </a:xfrm>
          <a:prstGeom prst="rect">
            <a:avLst/>
          </a:prstGeom>
        </p:spPr>
      </p:pic>
    </p:spTree>
    <p:extLst>
      <p:ext uri="{BB962C8B-B14F-4D97-AF65-F5344CB8AC3E}">
        <p14:creationId xmlns:p14="http://schemas.microsoft.com/office/powerpoint/2010/main" val="1555258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C03ED02-08FD-8F3B-C88A-616B4C8D774F}"/>
              </a:ext>
            </a:extLst>
          </p:cNvPr>
          <p:cNvPicPr>
            <a:picLocks noChangeAspect="1"/>
          </p:cNvPicPr>
          <p:nvPr/>
        </p:nvPicPr>
        <p:blipFill>
          <a:blip r:embed="rId2"/>
          <a:stretch>
            <a:fillRect/>
          </a:stretch>
        </p:blipFill>
        <p:spPr>
          <a:xfrm>
            <a:off x="1131795" y="358588"/>
            <a:ext cx="9769287" cy="6512858"/>
          </a:xfrm>
          <a:prstGeom prst="rect">
            <a:avLst/>
          </a:prstGeom>
        </p:spPr>
      </p:pic>
    </p:spTree>
    <p:extLst>
      <p:ext uri="{BB962C8B-B14F-4D97-AF65-F5344CB8AC3E}">
        <p14:creationId xmlns:p14="http://schemas.microsoft.com/office/powerpoint/2010/main" val="3646520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E1E73-3607-0ED9-8B97-ECFAEAEB648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4E6113B4-F367-6C64-0D83-AC96B8B0C15D}"/>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078008" y="197224"/>
            <a:ext cx="10011333" cy="6674222"/>
          </a:xfrm>
          <a:prstGeom prst="rect">
            <a:avLst/>
          </a:prstGeom>
        </p:spPr>
      </p:pic>
    </p:spTree>
    <p:extLst>
      <p:ext uri="{BB962C8B-B14F-4D97-AF65-F5344CB8AC3E}">
        <p14:creationId xmlns:p14="http://schemas.microsoft.com/office/powerpoint/2010/main" val="622139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39478-1D79-003E-58F3-70F7847D6D2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01B8833-E0D1-4A84-E37D-82FA10A2CA5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078008" y="197224"/>
            <a:ext cx="10011333" cy="6674222"/>
          </a:xfrm>
          <a:prstGeom prst="rect">
            <a:avLst/>
          </a:prstGeom>
        </p:spPr>
      </p:pic>
    </p:spTree>
    <p:extLst>
      <p:ext uri="{BB962C8B-B14F-4D97-AF65-F5344CB8AC3E}">
        <p14:creationId xmlns:p14="http://schemas.microsoft.com/office/powerpoint/2010/main" val="42070024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738E9-A904-3A66-52EA-5C32549BFD71}"/>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Data Types</a:t>
            </a:r>
          </a:p>
        </p:txBody>
      </p:sp>
      <p:sp>
        <p:nvSpPr>
          <p:cNvPr id="3" name="Text Placeholder 2">
            <a:extLst>
              <a:ext uri="{FF2B5EF4-FFF2-40B4-BE49-F238E27FC236}">
                <a16:creationId xmlns:a16="http://schemas.microsoft.com/office/drawing/2014/main" id="{F29C0F9E-50CA-3B4F-B095-B4C5F303C0E4}"/>
              </a:ext>
            </a:extLst>
          </p:cNvPr>
          <p:cNvSpPr>
            <a:spLocks noGrp="1"/>
          </p:cNvSpPr>
          <p:nvPr>
            <p:ph type="body" sz="quarter" idx="14"/>
          </p:nvPr>
        </p:nvSpPr>
        <p:spPr>
          <a:xfrm>
            <a:off x="1156921" y="1642638"/>
            <a:ext cx="10275570" cy="5526258"/>
          </a:xfrm>
        </p:spPr>
        <p:txBody>
          <a:bodyPr>
            <a:normAutofit/>
          </a:bodyPr>
          <a:lstStyle/>
          <a:p>
            <a:pPr algn="just"/>
            <a:r>
              <a:rPr lang="en-US" dirty="0"/>
              <a:t> A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Data Type </a:t>
            </a:r>
            <a:r>
              <a:rPr lang="en-US" dirty="0"/>
              <a:t>specifies the kind of data that can be stored in a table column.</a:t>
            </a:r>
          </a:p>
          <a:p>
            <a:pPr algn="just"/>
            <a:r>
              <a:rPr lang="en-US" dirty="0"/>
              <a:t> Choosing the correct data type improves storage efficiency, data integrity, and query performance.</a:t>
            </a:r>
          </a:p>
          <a:p>
            <a:pPr algn="just"/>
            <a:r>
              <a:rPr lang="en-US" dirty="0"/>
              <a:t> While creating a database table in a database, we need to specify following two attributes to define a table column:</a:t>
            </a:r>
          </a:p>
          <a:p>
            <a:pPr algn="just">
              <a:buFont typeface="Wingdings" panose="05000000000000000000" pitchFamily="2" charset="2"/>
              <a:buChar char="Ø"/>
            </a:pPr>
            <a:r>
              <a:rPr lang="en-US" dirty="0"/>
              <a:t>  Name of the column</a:t>
            </a:r>
          </a:p>
          <a:p>
            <a:pPr algn="just">
              <a:buFont typeface="Wingdings" panose="05000000000000000000" pitchFamily="2" charset="2"/>
              <a:buChar char="Ø"/>
            </a:pPr>
            <a:r>
              <a:rPr lang="en-US" dirty="0"/>
              <a:t>  Data type of the column</a:t>
            </a:r>
          </a:p>
          <a:p>
            <a:pPr marL="0" indent="0">
              <a:buNone/>
            </a:pPr>
            <a:r>
              <a:rPr lang="en-US" b="1" dirty="0"/>
              <a:t>Why Are Data Types Important?</a:t>
            </a:r>
          </a:p>
          <a:p>
            <a:pPr marL="0" indent="0">
              <a:buNone/>
            </a:pPr>
            <a:r>
              <a:rPr lang="en-US" dirty="0"/>
              <a:t>✅ Ensure data accuracy</a:t>
            </a:r>
            <a:br>
              <a:rPr lang="en-US" dirty="0"/>
            </a:br>
            <a:r>
              <a:rPr lang="en-US" dirty="0"/>
              <a:t>✅ Reduce storage usage</a:t>
            </a:r>
            <a:br>
              <a:rPr lang="en-US" dirty="0"/>
            </a:br>
            <a:r>
              <a:rPr lang="en-US" dirty="0"/>
              <a:t>✅ Improve database performance</a:t>
            </a:r>
            <a:br>
              <a:rPr lang="en-US" dirty="0"/>
            </a:br>
            <a:r>
              <a:rPr lang="en-US" dirty="0"/>
              <a:t>✅ Prevent invalid data entry</a:t>
            </a:r>
          </a:p>
          <a:p>
            <a:pPr marL="0" indent="0" algn="just">
              <a:buNone/>
            </a:pPr>
            <a:endParaRPr lang="en-US" dirty="0"/>
          </a:p>
        </p:txBody>
      </p:sp>
      <p:sp>
        <p:nvSpPr>
          <p:cNvPr id="4" name="Rectangle: Rounded Corners 3">
            <a:extLst>
              <a:ext uri="{FF2B5EF4-FFF2-40B4-BE49-F238E27FC236}">
                <a16:creationId xmlns:a16="http://schemas.microsoft.com/office/drawing/2014/main" id="{DD1190FA-50D5-87E7-2D58-7D48F26681D0}"/>
              </a:ext>
            </a:extLst>
          </p:cNvPr>
          <p:cNvSpPr/>
          <p:nvPr/>
        </p:nvSpPr>
        <p:spPr>
          <a:xfrm>
            <a:off x="5853845" y="4041648"/>
            <a:ext cx="5681472" cy="188366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a:latin typeface="ADLaM Display" panose="02010000000000000000" pitchFamily="2" charset="0"/>
                <a:ea typeface="ADLaM Display" panose="02010000000000000000" pitchFamily="2" charset="0"/>
                <a:cs typeface="ADLaM Display" panose="02010000000000000000" pitchFamily="2" charset="0"/>
              </a:rPr>
              <a:t>CREATE TABLE table_name(column1 datatype, column2 datatype....)</a:t>
            </a:r>
          </a:p>
        </p:txBody>
      </p:sp>
    </p:spTree>
    <p:extLst>
      <p:ext uri="{BB962C8B-B14F-4D97-AF65-F5344CB8AC3E}">
        <p14:creationId xmlns:p14="http://schemas.microsoft.com/office/powerpoint/2010/main" val="4123642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65A60-5D84-2D2E-8B4F-18BAEA70DB5D}"/>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Data Types (in PostgreSQL)</a:t>
            </a:r>
          </a:p>
        </p:txBody>
      </p:sp>
      <p:graphicFrame>
        <p:nvGraphicFramePr>
          <p:cNvPr id="4" name="Table 3">
            <a:extLst>
              <a:ext uri="{FF2B5EF4-FFF2-40B4-BE49-F238E27FC236}">
                <a16:creationId xmlns:a16="http://schemas.microsoft.com/office/drawing/2014/main" id="{2987168F-CD5B-0097-BA22-EEA6E2CE5D03}"/>
              </a:ext>
            </a:extLst>
          </p:cNvPr>
          <p:cNvGraphicFramePr>
            <a:graphicFrameLocks noGrp="1"/>
          </p:cNvGraphicFramePr>
          <p:nvPr>
            <p:extLst>
              <p:ext uri="{D42A27DB-BD31-4B8C-83A1-F6EECF244321}">
                <p14:modId xmlns:p14="http://schemas.microsoft.com/office/powerpoint/2010/main" val="1196236997"/>
              </p:ext>
            </p:extLst>
          </p:nvPr>
        </p:nvGraphicFramePr>
        <p:xfrm>
          <a:off x="585216" y="1688930"/>
          <a:ext cx="10881360" cy="4913038"/>
        </p:xfrm>
        <a:graphic>
          <a:graphicData uri="http://schemas.openxmlformats.org/drawingml/2006/table">
            <a:tbl>
              <a:tblPr firstRow="1" bandRow="1">
                <a:tableStyleId>{3B4B98B0-60AC-42C2-AFA5-B58CD77FA1E5}</a:tableStyleId>
              </a:tblPr>
              <a:tblGrid>
                <a:gridCol w="2114301">
                  <a:extLst>
                    <a:ext uri="{9D8B030D-6E8A-4147-A177-3AD203B41FA5}">
                      <a16:colId xmlns:a16="http://schemas.microsoft.com/office/drawing/2014/main" val="493943816"/>
                    </a:ext>
                  </a:extLst>
                </a:gridCol>
                <a:gridCol w="5139939">
                  <a:extLst>
                    <a:ext uri="{9D8B030D-6E8A-4147-A177-3AD203B41FA5}">
                      <a16:colId xmlns:a16="http://schemas.microsoft.com/office/drawing/2014/main" val="1690815102"/>
                    </a:ext>
                  </a:extLst>
                </a:gridCol>
                <a:gridCol w="3627120">
                  <a:extLst>
                    <a:ext uri="{9D8B030D-6E8A-4147-A177-3AD203B41FA5}">
                      <a16:colId xmlns:a16="http://schemas.microsoft.com/office/drawing/2014/main" val="2508269243"/>
                    </a:ext>
                  </a:extLst>
                </a:gridCol>
              </a:tblGrid>
              <a:tr h="458634">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Category</a:t>
                      </a:r>
                    </a:p>
                  </a:txBody>
                  <a:tcPr>
                    <a:solidFill>
                      <a:schemeClr val="bg1"/>
                    </a:solidFill>
                  </a:tcPr>
                </a:tc>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Data Types</a:t>
                      </a:r>
                    </a:p>
                  </a:txBody>
                  <a:tcPr>
                    <a:solidFill>
                      <a:schemeClr val="bg1"/>
                    </a:solidFill>
                  </a:tcPr>
                </a:tc>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Example</a:t>
                      </a:r>
                    </a:p>
                  </a:txBody>
                  <a:tcPr>
                    <a:solidFill>
                      <a:schemeClr val="bg1"/>
                    </a:solidFill>
                  </a:tcPr>
                </a:tc>
                <a:extLst>
                  <a:ext uri="{0D108BD9-81ED-4DB2-BD59-A6C34878D82A}">
                    <a16:rowId xmlns:a16="http://schemas.microsoft.com/office/drawing/2014/main" val="1893691491"/>
                  </a:ext>
                </a:extLst>
              </a:tr>
              <a:tr h="621983">
                <a:tc>
                  <a:txBody>
                    <a:bodyPr/>
                    <a:lstStyle/>
                    <a:p>
                      <a:r>
                        <a:rPr lang="en-US" b="1" dirty="0"/>
                        <a:t>Numeric Types</a:t>
                      </a:r>
                    </a:p>
                  </a:txBody>
                  <a:tcPr>
                    <a:solidFill>
                      <a:schemeClr val="bg1"/>
                    </a:solidFill>
                  </a:tcPr>
                </a:tc>
                <a:tc>
                  <a:txBody>
                    <a:bodyPr/>
                    <a:lstStyle/>
                    <a:p>
                      <a:r>
                        <a:rPr lang="en-US" dirty="0"/>
                        <a:t>SMALLINT, INTEGER (INT), BIGINT, DECIMAL, NUMERIC, REAL, DOUBLE PRECISION, SMALLSERIAL, SERIAL, BIGSERIAL</a:t>
                      </a:r>
                    </a:p>
                  </a:txBody>
                  <a:tcPr>
                    <a:solidFill>
                      <a:schemeClr val="bg1"/>
                    </a:solidFill>
                  </a:tcPr>
                </a:tc>
                <a:tc>
                  <a:txBody>
                    <a:bodyPr/>
                    <a:lstStyle/>
                    <a:p>
                      <a:r>
                        <a:rPr lang="en-US" dirty="0"/>
                        <a:t>12345, 123.45, 3.14159</a:t>
                      </a:r>
                    </a:p>
                  </a:txBody>
                  <a:tcPr>
                    <a:solidFill>
                      <a:schemeClr val="bg1"/>
                    </a:solidFill>
                  </a:tcPr>
                </a:tc>
                <a:extLst>
                  <a:ext uri="{0D108BD9-81ED-4DB2-BD59-A6C34878D82A}">
                    <a16:rowId xmlns:a16="http://schemas.microsoft.com/office/drawing/2014/main" val="2935505108"/>
                  </a:ext>
                </a:extLst>
              </a:tr>
              <a:tr h="458634">
                <a:tc>
                  <a:txBody>
                    <a:bodyPr/>
                    <a:lstStyle/>
                    <a:p>
                      <a:r>
                        <a:rPr lang="en-US" b="1" dirty="0"/>
                        <a:t>Character/String Types</a:t>
                      </a:r>
                    </a:p>
                  </a:txBody>
                  <a:tcPr>
                    <a:solidFill>
                      <a:schemeClr val="bg1"/>
                    </a:solidFill>
                  </a:tcPr>
                </a:tc>
                <a:tc>
                  <a:txBody>
                    <a:bodyPr/>
                    <a:lstStyle/>
                    <a:p>
                      <a:r>
                        <a:rPr lang="en-US" dirty="0"/>
                        <a:t>CHAR(n), VARCHAR(n), TEXT</a:t>
                      </a:r>
                    </a:p>
                  </a:txBody>
                  <a:tcPr>
                    <a:solidFill>
                      <a:schemeClr val="bg1"/>
                    </a:solidFill>
                  </a:tcPr>
                </a:tc>
                <a:tc>
                  <a:txBody>
                    <a:bodyPr/>
                    <a:lstStyle/>
                    <a:p>
                      <a:r>
                        <a:rPr lang="en-US" dirty="0"/>
                        <a:t>“John”</a:t>
                      </a:r>
                    </a:p>
                  </a:txBody>
                  <a:tcPr>
                    <a:solidFill>
                      <a:schemeClr val="bg1"/>
                    </a:solidFill>
                  </a:tcPr>
                </a:tc>
                <a:extLst>
                  <a:ext uri="{0D108BD9-81ED-4DB2-BD59-A6C34878D82A}">
                    <a16:rowId xmlns:a16="http://schemas.microsoft.com/office/drawing/2014/main" val="340041588"/>
                  </a:ext>
                </a:extLst>
              </a:tr>
              <a:tr h="458634">
                <a:tc>
                  <a:txBody>
                    <a:bodyPr/>
                    <a:lstStyle/>
                    <a:p>
                      <a:r>
                        <a:rPr lang="en-US" b="1" dirty="0"/>
                        <a:t>Boolean Type</a:t>
                      </a:r>
                    </a:p>
                  </a:txBody>
                  <a:tcPr>
                    <a:solidFill>
                      <a:schemeClr val="bg1"/>
                    </a:solidFill>
                  </a:tcPr>
                </a:tc>
                <a:tc>
                  <a:txBody>
                    <a:bodyPr/>
                    <a:lstStyle/>
                    <a:p>
                      <a:r>
                        <a:rPr lang="en-US" dirty="0"/>
                        <a:t>BOOLEAN</a:t>
                      </a:r>
                    </a:p>
                  </a:txBody>
                  <a:tcPr>
                    <a:solidFill>
                      <a:schemeClr val="bg1"/>
                    </a:solidFill>
                  </a:tcPr>
                </a:tc>
                <a:tc>
                  <a:txBody>
                    <a:bodyPr/>
                    <a:lstStyle/>
                    <a:p>
                      <a:r>
                        <a:rPr lang="en-US" dirty="0"/>
                        <a:t>TRUE, FALSE</a:t>
                      </a:r>
                    </a:p>
                  </a:txBody>
                  <a:tcPr>
                    <a:solidFill>
                      <a:schemeClr val="bg1"/>
                    </a:solidFill>
                  </a:tcPr>
                </a:tc>
                <a:extLst>
                  <a:ext uri="{0D108BD9-81ED-4DB2-BD59-A6C34878D82A}">
                    <a16:rowId xmlns:a16="http://schemas.microsoft.com/office/drawing/2014/main" val="1281788752"/>
                  </a:ext>
                </a:extLst>
              </a:tr>
              <a:tr h="621983">
                <a:tc>
                  <a:txBody>
                    <a:bodyPr/>
                    <a:lstStyle/>
                    <a:p>
                      <a:r>
                        <a:rPr lang="en-US" b="1" dirty="0"/>
                        <a:t>Date and Time Types</a:t>
                      </a:r>
                    </a:p>
                  </a:txBody>
                  <a:tcPr>
                    <a:solidFill>
                      <a:schemeClr val="bg1"/>
                    </a:solidFill>
                  </a:tcPr>
                </a:tc>
                <a:tc>
                  <a:txBody>
                    <a:bodyPr/>
                    <a:lstStyle/>
                    <a:p>
                      <a:r>
                        <a:rPr lang="en-US" dirty="0"/>
                        <a:t>DATE, TIME, TIME WITH TIME ZONE, TIMESTAMP, TIMESTAMP WITH TIME ZONE, INTERVAL</a:t>
                      </a:r>
                    </a:p>
                  </a:txBody>
                  <a:tcPr>
                    <a:solidFill>
                      <a:schemeClr val="bg1"/>
                    </a:solidFill>
                  </a:tcPr>
                </a:tc>
                <a:tc>
                  <a:txBody>
                    <a:bodyPr/>
                    <a:lstStyle/>
                    <a:p>
                      <a:r>
                        <a:rPr lang="en-US" dirty="0"/>
                        <a:t>'2026-06-20', '14:30:00'</a:t>
                      </a:r>
                    </a:p>
                  </a:txBody>
                  <a:tcPr>
                    <a:solidFill>
                      <a:schemeClr val="bg1"/>
                    </a:solidFill>
                  </a:tcPr>
                </a:tc>
                <a:extLst>
                  <a:ext uri="{0D108BD9-81ED-4DB2-BD59-A6C34878D82A}">
                    <a16:rowId xmlns:a16="http://schemas.microsoft.com/office/drawing/2014/main" val="2294347405"/>
                  </a:ext>
                </a:extLst>
              </a:tr>
              <a:tr h="458634">
                <a:tc>
                  <a:txBody>
                    <a:bodyPr/>
                    <a:lstStyle/>
                    <a:p>
                      <a:r>
                        <a:rPr lang="en-US" b="1" dirty="0"/>
                        <a:t>Monetary Type</a:t>
                      </a:r>
                    </a:p>
                  </a:txBody>
                  <a:tcPr>
                    <a:solidFill>
                      <a:schemeClr val="bg1"/>
                    </a:solidFill>
                  </a:tcPr>
                </a:tc>
                <a:tc>
                  <a:txBody>
                    <a:bodyPr/>
                    <a:lstStyle/>
                    <a:p>
                      <a:r>
                        <a:rPr lang="en-US" dirty="0"/>
                        <a:t>MONEY</a:t>
                      </a:r>
                    </a:p>
                  </a:txBody>
                  <a:tcPr>
                    <a:solidFill>
                      <a:schemeClr val="bg1"/>
                    </a:solidFill>
                  </a:tcPr>
                </a:tc>
                <a:tc>
                  <a:txBody>
                    <a:bodyPr/>
                    <a:lstStyle/>
                    <a:p>
                      <a:r>
                        <a:rPr lang="en-US" dirty="0"/>
                        <a:t>$1,500.75</a:t>
                      </a:r>
                    </a:p>
                  </a:txBody>
                  <a:tcPr>
                    <a:solidFill>
                      <a:schemeClr val="bg1"/>
                    </a:solidFill>
                  </a:tcPr>
                </a:tc>
                <a:extLst>
                  <a:ext uri="{0D108BD9-81ED-4DB2-BD59-A6C34878D82A}">
                    <a16:rowId xmlns:a16="http://schemas.microsoft.com/office/drawing/2014/main" val="4206924311"/>
                  </a:ext>
                </a:extLst>
              </a:tr>
              <a:tr h="458634">
                <a:tc>
                  <a:txBody>
                    <a:bodyPr/>
                    <a:lstStyle/>
                    <a:p>
                      <a:r>
                        <a:rPr lang="en-US" b="1" dirty="0"/>
                        <a:t>Binary Data Type</a:t>
                      </a:r>
                    </a:p>
                  </a:txBody>
                  <a:tcPr>
                    <a:solidFill>
                      <a:schemeClr val="bg1"/>
                    </a:solidFill>
                  </a:tcPr>
                </a:tc>
                <a:tc>
                  <a:txBody>
                    <a:bodyPr/>
                    <a:lstStyle/>
                    <a:p>
                      <a:r>
                        <a:rPr lang="en-US" dirty="0"/>
                        <a:t>BYTEA</a:t>
                      </a:r>
                    </a:p>
                  </a:txBody>
                  <a:tcPr>
                    <a:solidFill>
                      <a:schemeClr val="bg1"/>
                    </a:solidFill>
                  </a:tcPr>
                </a:tc>
                <a:tc>
                  <a:txBody>
                    <a:bodyPr/>
                    <a:lstStyle/>
                    <a:p>
                      <a:r>
                        <a:rPr lang="en-US" dirty="0"/>
                        <a:t>'\</a:t>
                      </a:r>
                      <a:r>
                        <a:rPr lang="en-US" dirty="0" err="1"/>
                        <a:t>xDEADBEEF</a:t>
                      </a:r>
                      <a:r>
                        <a:rPr lang="en-US" dirty="0"/>
                        <a:t>'</a:t>
                      </a:r>
                    </a:p>
                  </a:txBody>
                  <a:tcPr>
                    <a:solidFill>
                      <a:schemeClr val="bg1"/>
                    </a:solidFill>
                  </a:tcPr>
                </a:tc>
                <a:extLst>
                  <a:ext uri="{0D108BD9-81ED-4DB2-BD59-A6C34878D82A}">
                    <a16:rowId xmlns:a16="http://schemas.microsoft.com/office/drawing/2014/main" val="3551411636"/>
                  </a:ext>
                </a:extLst>
              </a:tr>
              <a:tr h="458634">
                <a:tc>
                  <a:txBody>
                    <a:bodyPr/>
                    <a:lstStyle/>
                    <a:p>
                      <a:r>
                        <a:rPr lang="en-US" b="1" dirty="0"/>
                        <a:t>UUID Type</a:t>
                      </a:r>
                    </a:p>
                  </a:txBody>
                  <a:tcPr>
                    <a:solidFill>
                      <a:schemeClr val="bg1"/>
                    </a:solidFill>
                  </a:tcPr>
                </a:tc>
                <a:tc>
                  <a:txBody>
                    <a:bodyPr/>
                    <a:lstStyle/>
                    <a:p>
                      <a:r>
                        <a:rPr lang="en-US" dirty="0"/>
                        <a:t>UUID</a:t>
                      </a:r>
                    </a:p>
                  </a:txBody>
                  <a:tcPr>
                    <a:solidFill>
                      <a:schemeClr val="bg1"/>
                    </a:solidFill>
                  </a:tcPr>
                </a:tc>
                <a:tc>
                  <a:txBody>
                    <a:bodyPr/>
                    <a:lstStyle/>
                    <a:p>
                      <a:r>
                        <a:rPr lang="en-US" dirty="0"/>
                        <a:t>'550e8400-e29b-41d4-a716-446655440000'</a:t>
                      </a:r>
                    </a:p>
                  </a:txBody>
                  <a:tcPr>
                    <a:solidFill>
                      <a:schemeClr val="bg1"/>
                    </a:solidFill>
                  </a:tcPr>
                </a:tc>
                <a:extLst>
                  <a:ext uri="{0D108BD9-81ED-4DB2-BD59-A6C34878D82A}">
                    <a16:rowId xmlns:a16="http://schemas.microsoft.com/office/drawing/2014/main" val="1851650906"/>
                  </a:ext>
                </a:extLst>
              </a:tr>
              <a:tr h="458634">
                <a:tc>
                  <a:txBody>
                    <a:bodyPr/>
                    <a:lstStyle/>
                    <a:p>
                      <a:r>
                        <a:rPr lang="en-US" b="1" dirty="0"/>
                        <a:t>JSON Types</a:t>
                      </a:r>
                    </a:p>
                  </a:txBody>
                  <a:tcPr>
                    <a:solidFill>
                      <a:schemeClr val="bg1"/>
                    </a:solidFill>
                  </a:tcPr>
                </a:tc>
                <a:tc>
                  <a:txBody>
                    <a:bodyPr/>
                    <a:lstStyle/>
                    <a:p>
                      <a:r>
                        <a:rPr lang="en-US" dirty="0"/>
                        <a:t>JSON, JSONB</a:t>
                      </a:r>
                    </a:p>
                  </a:txBody>
                  <a:tcPr>
                    <a:solidFill>
                      <a:schemeClr val="bg1"/>
                    </a:solidFill>
                  </a:tcPr>
                </a:tc>
                <a:tc>
                  <a:txBody>
                    <a:bodyPr/>
                    <a:lstStyle/>
                    <a:p>
                      <a:r>
                        <a:rPr lang="en-US" dirty="0"/>
                        <a:t>'{"</a:t>
                      </a:r>
                      <a:r>
                        <a:rPr lang="en-US" dirty="0" err="1"/>
                        <a:t>name":"John</a:t>
                      </a:r>
                      <a:r>
                        <a:rPr lang="en-US" dirty="0"/>
                        <a:t>"}'</a:t>
                      </a:r>
                    </a:p>
                  </a:txBody>
                  <a:tcPr>
                    <a:solidFill>
                      <a:schemeClr val="bg1"/>
                    </a:solidFill>
                  </a:tcPr>
                </a:tc>
                <a:extLst>
                  <a:ext uri="{0D108BD9-81ED-4DB2-BD59-A6C34878D82A}">
                    <a16:rowId xmlns:a16="http://schemas.microsoft.com/office/drawing/2014/main" val="1139109836"/>
                  </a:ext>
                </a:extLst>
              </a:tr>
              <a:tr h="458634">
                <a:tc>
                  <a:txBody>
                    <a:bodyPr/>
                    <a:lstStyle/>
                    <a:p>
                      <a:r>
                        <a:rPr lang="en-US" b="1" dirty="0"/>
                        <a:t>XML Type</a:t>
                      </a:r>
                    </a:p>
                  </a:txBody>
                  <a:tcPr>
                    <a:solidFill>
                      <a:schemeClr val="bg1"/>
                    </a:solidFill>
                  </a:tcPr>
                </a:tc>
                <a:tc>
                  <a:txBody>
                    <a:bodyPr/>
                    <a:lstStyle/>
                    <a:p>
                      <a:r>
                        <a:rPr lang="en-US" dirty="0"/>
                        <a:t>XML</a:t>
                      </a:r>
                    </a:p>
                  </a:txBody>
                  <a:tcPr>
                    <a:solidFill>
                      <a:schemeClr val="bg1"/>
                    </a:solidFill>
                  </a:tcPr>
                </a:tc>
                <a:tc>
                  <a:txBody>
                    <a:bodyPr/>
                    <a:lstStyle/>
                    <a:p>
                      <a:r>
                        <a:rPr lang="en-US" dirty="0"/>
                        <a:t>'&lt;employee&gt;&lt;name&gt;John&lt;/name&gt;&lt;/employee&gt;'</a:t>
                      </a:r>
                    </a:p>
                  </a:txBody>
                  <a:tcPr>
                    <a:solidFill>
                      <a:schemeClr val="bg1"/>
                    </a:solidFill>
                  </a:tcPr>
                </a:tc>
                <a:extLst>
                  <a:ext uri="{0D108BD9-81ED-4DB2-BD59-A6C34878D82A}">
                    <a16:rowId xmlns:a16="http://schemas.microsoft.com/office/drawing/2014/main" val="2645027708"/>
                  </a:ext>
                </a:extLst>
              </a:tr>
            </a:tbl>
          </a:graphicData>
        </a:graphic>
      </p:graphicFrame>
    </p:spTree>
    <p:extLst>
      <p:ext uri="{BB962C8B-B14F-4D97-AF65-F5344CB8AC3E}">
        <p14:creationId xmlns:p14="http://schemas.microsoft.com/office/powerpoint/2010/main" val="6009058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78D61-9266-95EE-171E-5E083653A4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127FDE-D31A-B7B2-C9EF-D844F3598233}"/>
              </a:ext>
            </a:extLst>
          </p:cNvPr>
          <p:cNvSpPr>
            <a:spLocks noGrp="1"/>
          </p:cNvSpPr>
          <p:nvPr>
            <p:ph type="title"/>
          </p:nvPr>
        </p:nvSpPr>
        <p:spPr/>
        <p: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a:t>
            </a:r>
          </a:p>
        </p:txBody>
      </p:sp>
      <p:graphicFrame>
        <p:nvGraphicFramePr>
          <p:cNvPr id="4" name="Table 3">
            <a:extLst>
              <a:ext uri="{FF2B5EF4-FFF2-40B4-BE49-F238E27FC236}">
                <a16:creationId xmlns:a16="http://schemas.microsoft.com/office/drawing/2014/main" id="{58F79E95-CE24-BA52-EB64-3908421D4F08}"/>
              </a:ext>
            </a:extLst>
          </p:cNvPr>
          <p:cNvGraphicFramePr>
            <a:graphicFrameLocks noGrp="1"/>
          </p:cNvGraphicFramePr>
          <p:nvPr>
            <p:extLst>
              <p:ext uri="{D42A27DB-BD31-4B8C-83A1-F6EECF244321}">
                <p14:modId xmlns:p14="http://schemas.microsoft.com/office/powerpoint/2010/main" val="4145284575"/>
              </p:ext>
            </p:extLst>
          </p:nvPr>
        </p:nvGraphicFramePr>
        <p:xfrm>
          <a:off x="585216" y="1688930"/>
          <a:ext cx="10881360" cy="4813539"/>
        </p:xfrm>
        <a:graphic>
          <a:graphicData uri="http://schemas.openxmlformats.org/drawingml/2006/table">
            <a:tbl>
              <a:tblPr firstRow="1" bandRow="1">
                <a:tableStyleId>{3B4B98B0-60AC-42C2-AFA5-B58CD77FA1E5}</a:tableStyleId>
              </a:tblPr>
              <a:tblGrid>
                <a:gridCol w="2114301">
                  <a:extLst>
                    <a:ext uri="{9D8B030D-6E8A-4147-A177-3AD203B41FA5}">
                      <a16:colId xmlns:a16="http://schemas.microsoft.com/office/drawing/2014/main" val="493943816"/>
                    </a:ext>
                  </a:extLst>
                </a:gridCol>
                <a:gridCol w="5139939">
                  <a:extLst>
                    <a:ext uri="{9D8B030D-6E8A-4147-A177-3AD203B41FA5}">
                      <a16:colId xmlns:a16="http://schemas.microsoft.com/office/drawing/2014/main" val="1690815102"/>
                    </a:ext>
                  </a:extLst>
                </a:gridCol>
                <a:gridCol w="3627120">
                  <a:extLst>
                    <a:ext uri="{9D8B030D-6E8A-4147-A177-3AD203B41FA5}">
                      <a16:colId xmlns:a16="http://schemas.microsoft.com/office/drawing/2014/main" val="2508269243"/>
                    </a:ext>
                  </a:extLst>
                </a:gridCol>
              </a:tblGrid>
              <a:tr h="458634">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Category</a:t>
                      </a:r>
                    </a:p>
                  </a:txBody>
                  <a:tcPr>
                    <a:solidFill>
                      <a:schemeClr val="bg1"/>
                    </a:solidFill>
                  </a:tcPr>
                </a:tc>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Data Types</a:t>
                      </a:r>
                    </a:p>
                  </a:txBody>
                  <a:tcPr>
                    <a:solidFill>
                      <a:schemeClr val="bg1"/>
                    </a:solidFill>
                  </a:tcPr>
                </a:tc>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Example</a:t>
                      </a:r>
                    </a:p>
                  </a:txBody>
                  <a:tcPr>
                    <a:solidFill>
                      <a:schemeClr val="bg1"/>
                    </a:solidFill>
                  </a:tcPr>
                </a:tc>
                <a:extLst>
                  <a:ext uri="{0D108BD9-81ED-4DB2-BD59-A6C34878D82A}">
                    <a16:rowId xmlns:a16="http://schemas.microsoft.com/office/drawing/2014/main" val="1893691491"/>
                  </a:ext>
                </a:extLst>
              </a:tr>
              <a:tr h="522484">
                <a:tc>
                  <a:txBody>
                    <a:bodyPr/>
                    <a:lstStyle/>
                    <a:p>
                      <a:r>
                        <a:rPr lang="en-US" b="1" dirty="0"/>
                        <a:t>Array Types</a:t>
                      </a:r>
                    </a:p>
                  </a:txBody>
                  <a:tcPr>
                    <a:solidFill>
                      <a:schemeClr val="bg1"/>
                    </a:solidFill>
                  </a:tcPr>
                </a:tc>
                <a:tc>
                  <a:txBody>
                    <a:bodyPr/>
                    <a:lstStyle/>
                    <a:p>
                      <a:r>
                        <a:rPr lang="en-US" dirty="0"/>
                        <a:t>INTEGER[], TEXT[], VARCHAR[]</a:t>
                      </a:r>
                    </a:p>
                  </a:txBody>
                  <a:tcPr>
                    <a:solidFill>
                      <a:schemeClr val="bg1"/>
                    </a:solidFill>
                  </a:tcPr>
                </a:tc>
                <a:tc>
                  <a:txBody>
                    <a:bodyPr/>
                    <a:lstStyle/>
                    <a:p>
                      <a:r>
                        <a:rPr lang="en-US" dirty="0"/>
                        <a:t>'{1,2,3,4}', '{"</a:t>
                      </a:r>
                      <a:r>
                        <a:rPr lang="en-US" dirty="0" err="1"/>
                        <a:t>Apple","Banana</a:t>
                      </a:r>
                      <a:r>
                        <a:rPr lang="en-US" dirty="0"/>
                        <a:t>"}'</a:t>
                      </a:r>
                    </a:p>
                  </a:txBody>
                  <a:tcPr>
                    <a:solidFill>
                      <a:schemeClr val="bg1"/>
                    </a:solidFill>
                  </a:tcPr>
                </a:tc>
                <a:extLst>
                  <a:ext uri="{0D108BD9-81ED-4DB2-BD59-A6C34878D82A}">
                    <a16:rowId xmlns:a16="http://schemas.microsoft.com/office/drawing/2014/main" val="2935505108"/>
                  </a:ext>
                </a:extLst>
              </a:tr>
              <a:tr h="458634">
                <a:tc>
                  <a:txBody>
                    <a:bodyPr/>
                    <a:lstStyle/>
                    <a:p>
                      <a:r>
                        <a:rPr lang="en-US" b="1" dirty="0"/>
                        <a:t>Enumerated Types</a:t>
                      </a:r>
                    </a:p>
                  </a:txBody>
                  <a:tcPr>
                    <a:solidFill>
                      <a:schemeClr val="bg1"/>
                    </a:solidFill>
                  </a:tcPr>
                </a:tc>
                <a:tc>
                  <a:txBody>
                    <a:bodyPr/>
                    <a:lstStyle/>
                    <a:p>
                      <a:r>
                        <a:rPr lang="en-US" dirty="0"/>
                        <a:t>ENUM</a:t>
                      </a:r>
                    </a:p>
                  </a:txBody>
                  <a:tcPr>
                    <a:solidFill>
                      <a:schemeClr val="bg1"/>
                    </a:solidFill>
                  </a:tcPr>
                </a:tc>
                <a:tc>
                  <a:txBody>
                    <a:bodyPr/>
                    <a:lstStyle/>
                    <a:p>
                      <a:r>
                        <a:rPr lang="en-US" dirty="0"/>
                        <a:t>'Pending', 'Approved'</a:t>
                      </a:r>
                    </a:p>
                  </a:txBody>
                  <a:tcPr>
                    <a:solidFill>
                      <a:schemeClr val="bg1"/>
                    </a:solidFill>
                  </a:tcPr>
                </a:tc>
                <a:extLst>
                  <a:ext uri="{0D108BD9-81ED-4DB2-BD59-A6C34878D82A}">
                    <a16:rowId xmlns:a16="http://schemas.microsoft.com/office/drawing/2014/main" val="340041588"/>
                  </a:ext>
                </a:extLst>
              </a:tr>
              <a:tr h="458634">
                <a:tc>
                  <a:txBody>
                    <a:bodyPr/>
                    <a:lstStyle/>
                    <a:p>
                      <a:r>
                        <a:rPr lang="en-US" b="1" dirty="0"/>
                        <a:t>Composite Types</a:t>
                      </a:r>
                    </a:p>
                  </a:txBody>
                  <a:tcPr>
                    <a:solidFill>
                      <a:schemeClr val="bg1"/>
                    </a:solidFill>
                  </a:tcPr>
                </a:tc>
                <a:tc>
                  <a:txBody>
                    <a:bodyPr/>
                    <a:lstStyle/>
                    <a:p>
                      <a:r>
                        <a:rPr lang="en-US" dirty="0"/>
                        <a:t>User-defined Composite Types</a:t>
                      </a:r>
                    </a:p>
                  </a:txBody>
                  <a:tcPr>
                    <a:solidFill>
                      <a:schemeClr val="bg1"/>
                    </a:solidFill>
                  </a:tcPr>
                </a:tc>
                <a:tc>
                  <a:txBody>
                    <a:bodyPr/>
                    <a:lstStyle/>
                    <a:p>
                      <a:r>
                        <a:rPr lang="en-US" dirty="0"/>
                        <a:t>'(John,25,Developer)'</a:t>
                      </a:r>
                    </a:p>
                  </a:txBody>
                  <a:tcPr>
                    <a:solidFill>
                      <a:schemeClr val="bg1"/>
                    </a:solidFill>
                  </a:tcPr>
                </a:tc>
                <a:extLst>
                  <a:ext uri="{0D108BD9-81ED-4DB2-BD59-A6C34878D82A}">
                    <a16:rowId xmlns:a16="http://schemas.microsoft.com/office/drawing/2014/main" val="1281788752"/>
                  </a:ext>
                </a:extLst>
              </a:tr>
              <a:tr h="621983">
                <a:tc>
                  <a:txBody>
                    <a:bodyPr/>
                    <a:lstStyle/>
                    <a:p>
                      <a:r>
                        <a:rPr lang="en-US" b="1" dirty="0"/>
                        <a:t>Range Types</a:t>
                      </a:r>
                    </a:p>
                  </a:txBody>
                  <a:tcPr>
                    <a:solidFill>
                      <a:schemeClr val="bg1"/>
                    </a:solidFill>
                  </a:tcPr>
                </a:tc>
                <a:tc>
                  <a:txBody>
                    <a:bodyPr/>
                    <a:lstStyle/>
                    <a:p>
                      <a:r>
                        <a:rPr lang="en-US" dirty="0"/>
                        <a:t>INT4RANGE, INT8RANGE, NUMRANGE, TSRANGE, TSTZRANGE, DATERANGE</a:t>
                      </a:r>
                    </a:p>
                  </a:txBody>
                  <a:tcPr>
                    <a:solidFill>
                      <a:schemeClr val="bg1"/>
                    </a:solidFill>
                  </a:tcPr>
                </a:tc>
                <a:tc>
                  <a:txBody>
                    <a:bodyPr/>
                    <a:lstStyle/>
                    <a:p>
                      <a:r>
                        <a:rPr lang="en-US" dirty="0"/>
                        <a:t>'[1,10)', '[2026-01-01,2026-12-31]'</a:t>
                      </a:r>
                    </a:p>
                  </a:txBody>
                  <a:tcPr>
                    <a:solidFill>
                      <a:schemeClr val="bg1"/>
                    </a:solidFill>
                  </a:tcPr>
                </a:tc>
                <a:extLst>
                  <a:ext uri="{0D108BD9-81ED-4DB2-BD59-A6C34878D82A}">
                    <a16:rowId xmlns:a16="http://schemas.microsoft.com/office/drawing/2014/main" val="2294347405"/>
                  </a:ext>
                </a:extLst>
              </a:tr>
              <a:tr h="458634">
                <a:tc>
                  <a:txBody>
                    <a:bodyPr/>
                    <a:lstStyle/>
                    <a:p>
                      <a:r>
                        <a:rPr lang="en-US" b="1" dirty="0"/>
                        <a:t>Geometric Types</a:t>
                      </a:r>
                    </a:p>
                  </a:txBody>
                  <a:tcPr>
                    <a:solidFill>
                      <a:schemeClr val="bg1"/>
                    </a:solidFill>
                  </a:tcPr>
                </a:tc>
                <a:tc>
                  <a:txBody>
                    <a:bodyPr/>
                    <a:lstStyle/>
                    <a:p>
                      <a:r>
                        <a:rPr lang="en-US" dirty="0"/>
                        <a:t>POINT, LINE, LSEG, BOX, PATH, POLYGON, CIRCLE</a:t>
                      </a:r>
                    </a:p>
                  </a:txBody>
                  <a:tcPr>
                    <a:solidFill>
                      <a:schemeClr val="bg1"/>
                    </a:solidFill>
                  </a:tcPr>
                </a:tc>
                <a:tc>
                  <a:txBody>
                    <a:bodyPr/>
                    <a:lstStyle/>
                    <a:p>
                      <a:r>
                        <a:rPr lang="en-US" dirty="0"/>
                        <a:t>'(10,20)', '((0,0),(10,10))'</a:t>
                      </a:r>
                    </a:p>
                  </a:txBody>
                  <a:tcPr>
                    <a:solidFill>
                      <a:schemeClr val="bg1"/>
                    </a:solidFill>
                  </a:tcPr>
                </a:tc>
                <a:extLst>
                  <a:ext uri="{0D108BD9-81ED-4DB2-BD59-A6C34878D82A}">
                    <a16:rowId xmlns:a16="http://schemas.microsoft.com/office/drawing/2014/main" val="4206924311"/>
                  </a:ext>
                </a:extLst>
              </a:tr>
              <a:tr h="458634">
                <a:tc>
                  <a:txBody>
                    <a:bodyPr/>
                    <a:lstStyle/>
                    <a:p>
                      <a:r>
                        <a:rPr lang="en-US" b="1" dirty="0"/>
                        <a:t>Network Address Types</a:t>
                      </a:r>
                    </a:p>
                  </a:txBody>
                  <a:tcPr>
                    <a:solidFill>
                      <a:schemeClr val="bg1"/>
                    </a:solidFill>
                  </a:tcPr>
                </a:tc>
                <a:tc>
                  <a:txBody>
                    <a:bodyPr/>
                    <a:lstStyle/>
                    <a:p>
                      <a:r>
                        <a:rPr lang="en-US" dirty="0"/>
                        <a:t>CIDR, INET, MACADDR, MACADDR8</a:t>
                      </a:r>
                    </a:p>
                  </a:txBody>
                  <a:tcPr>
                    <a:solidFill>
                      <a:schemeClr val="bg1"/>
                    </a:solidFill>
                  </a:tcPr>
                </a:tc>
                <a:tc>
                  <a:txBody>
                    <a:bodyPr/>
                    <a:lstStyle/>
                    <a:p>
                      <a:r>
                        <a:rPr lang="en-US" dirty="0"/>
                        <a:t>'192.168.1.100', '08:00:2b:01:02:03'</a:t>
                      </a:r>
                    </a:p>
                  </a:txBody>
                  <a:tcPr>
                    <a:solidFill>
                      <a:schemeClr val="bg1"/>
                    </a:solidFill>
                  </a:tcPr>
                </a:tc>
                <a:extLst>
                  <a:ext uri="{0D108BD9-81ED-4DB2-BD59-A6C34878D82A}">
                    <a16:rowId xmlns:a16="http://schemas.microsoft.com/office/drawing/2014/main" val="3551411636"/>
                  </a:ext>
                </a:extLst>
              </a:tr>
              <a:tr h="458634">
                <a:tc>
                  <a:txBody>
                    <a:bodyPr/>
                    <a:lstStyle/>
                    <a:p>
                      <a:r>
                        <a:rPr lang="en-US" b="1" dirty="0"/>
                        <a:t>Bit String Types</a:t>
                      </a:r>
                    </a:p>
                  </a:txBody>
                  <a:tcPr>
                    <a:solidFill>
                      <a:schemeClr val="bg1"/>
                    </a:solidFill>
                  </a:tcPr>
                </a:tc>
                <a:tc>
                  <a:txBody>
                    <a:bodyPr/>
                    <a:lstStyle/>
                    <a:p>
                      <a:r>
                        <a:rPr lang="en-US" dirty="0"/>
                        <a:t>BIT, BIT VARYING</a:t>
                      </a:r>
                    </a:p>
                  </a:txBody>
                  <a:tcPr>
                    <a:solidFill>
                      <a:schemeClr val="bg1"/>
                    </a:solidFill>
                  </a:tcPr>
                </a:tc>
                <a:tc>
                  <a:txBody>
                    <a:bodyPr/>
                    <a:lstStyle/>
                    <a:p>
                      <a:r>
                        <a:rPr lang="en-US" dirty="0"/>
                        <a:t>B'10101010'</a:t>
                      </a:r>
                    </a:p>
                  </a:txBody>
                  <a:tcPr>
                    <a:solidFill>
                      <a:schemeClr val="bg1"/>
                    </a:solidFill>
                  </a:tcPr>
                </a:tc>
                <a:extLst>
                  <a:ext uri="{0D108BD9-81ED-4DB2-BD59-A6C34878D82A}">
                    <a16:rowId xmlns:a16="http://schemas.microsoft.com/office/drawing/2014/main" val="1851650906"/>
                  </a:ext>
                </a:extLst>
              </a:tr>
              <a:tr h="458634">
                <a:tc>
                  <a:txBody>
                    <a:bodyPr/>
                    <a:lstStyle/>
                    <a:p>
                      <a:r>
                        <a:rPr lang="en-US" b="1" dirty="0"/>
                        <a:t>Text Search Types</a:t>
                      </a:r>
                    </a:p>
                  </a:txBody>
                  <a:tcPr>
                    <a:solidFill>
                      <a:schemeClr val="bg1"/>
                    </a:solidFill>
                  </a:tcPr>
                </a:tc>
                <a:tc>
                  <a:txBody>
                    <a:bodyPr/>
                    <a:lstStyle/>
                    <a:p>
                      <a:r>
                        <a:rPr lang="en-US" dirty="0"/>
                        <a:t>TSVECTOR, TSQUERY</a:t>
                      </a:r>
                    </a:p>
                  </a:txBody>
                  <a:tcPr>
                    <a:solidFill>
                      <a:schemeClr val="bg1"/>
                    </a:solidFill>
                  </a:tcPr>
                </a:tc>
                <a:tc>
                  <a:txBody>
                    <a:bodyPr/>
                    <a:lstStyle/>
                    <a:p>
                      <a:r>
                        <a:rPr lang="en-US" dirty="0"/>
                        <a:t>'</a:t>
                      </a:r>
                      <a:r>
                        <a:rPr lang="en-US" dirty="0" err="1"/>
                        <a:t>postgresql</a:t>
                      </a:r>
                      <a:r>
                        <a:rPr lang="en-US" dirty="0"/>
                        <a:t> &amp; database'</a:t>
                      </a:r>
                    </a:p>
                  </a:txBody>
                  <a:tcPr>
                    <a:solidFill>
                      <a:schemeClr val="bg1"/>
                    </a:solidFill>
                  </a:tcPr>
                </a:tc>
                <a:extLst>
                  <a:ext uri="{0D108BD9-81ED-4DB2-BD59-A6C34878D82A}">
                    <a16:rowId xmlns:a16="http://schemas.microsoft.com/office/drawing/2014/main" val="1139109836"/>
                  </a:ext>
                </a:extLst>
              </a:tr>
              <a:tr h="458634">
                <a:tc>
                  <a:txBody>
                    <a:bodyPr/>
                    <a:lstStyle/>
                    <a:p>
                      <a:r>
                        <a:rPr lang="en-US" b="1" dirty="0"/>
                        <a:t>Object Identifier Types</a:t>
                      </a:r>
                    </a:p>
                  </a:txBody>
                  <a:tcPr>
                    <a:solidFill>
                      <a:schemeClr val="bg1"/>
                    </a:solidFill>
                  </a:tcPr>
                </a:tc>
                <a:tc>
                  <a:txBody>
                    <a:bodyPr/>
                    <a:lstStyle/>
                    <a:p>
                      <a:r>
                        <a:rPr lang="en-US" dirty="0"/>
                        <a:t>OID, REGPROC, REGCLASS, REGTYPE</a:t>
                      </a:r>
                    </a:p>
                  </a:txBody>
                  <a:tcPr>
                    <a:solidFill>
                      <a:schemeClr val="bg1"/>
                    </a:solidFill>
                  </a:tcPr>
                </a:tc>
                <a:tc>
                  <a:txBody>
                    <a:bodyPr/>
                    <a:lstStyle/>
                    <a:p>
                      <a:r>
                        <a:rPr lang="en-US" dirty="0"/>
                        <a:t>16384, 'employees'</a:t>
                      </a:r>
                    </a:p>
                  </a:txBody>
                  <a:tcPr>
                    <a:solidFill>
                      <a:schemeClr val="bg1"/>
                    </a:solidFill>
                  </a:tcPr>
                </a:tc>
                <a:extLst>
                  <a:ext uri="{0D108BD9-81ED-4DB2-BD59-A6C34878D82A}">
                    <a16:rowId xmlns:a16="http://schemas.microsoft.com/office/drawing/2014/main" val="2645027708"/>
                  </a:ext>
                </a:extLst>
              </a:tr>
            </a:tbl>
          </a:graphicData>
        </a:graphic>
      </p:graphicFrame>
    </p:spTree>
    <p:extLst>
      <p:ext uri="{BB962C8B-B14F-4D97-AF65-F5344CB8AC3E}">
        <p14:creationId xmlns:p14="http://schemas.microsoft.com/office/powerpoint/2010/main" val="20091225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A01A84-D865-0578-6AD1-5E4E26226C32}"/>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Constraints</a:t>
            </a:r>
          </a:p>
        </p:txBody>
      </p:sp>
      <p:sp>
        <p:nvSpPr>
          <p:cNvPr id="3" name="Text Placeholder 2">
            <a:extLst>
              <a:ext uri="{FF2B5EF4-FFF2-40B4-BE49-F238E27FC236}">
                <a16:creationId xmlns:a16="http://schemas.microsoft.com/office/drawing/2014/main" id="{B4222DE6-516B-E119-5574-4DFDCFC0E6C7}"/>
              </a:ext>
            </a:extLst>
          </p:cNvPr>
          <p:cNvSpPr>
            <a:spLocks noGrp="1"/>
          </p:cNvSpPr>
          <p:nvPr>
            <p:ph type="body" sz="quarter" idx="14"/>
          </p:nvPr>
        </p:nvSpPr>
        <p:spPr>
          <a:xfrm>
            <a:off x="1399075" y="1533672"/>
            <a:ext cx="10158941" cy="5123159"/>
          </a:xfrm>
        </p:spPr>
        <p:txBody>
          <a:bodyPr/>
          <a:lstStyle/>
          <a:p>
            <a:pPr algn="just"/>
            <a:r>
              <a:rPr lang="en-US" dirty="0"/>
              <a:t> SQL Constraints are rules applied to table columns to enforce data integrity, accuracy, and consistency in a database.</a:t>
            </a:r>
          </a:p>
          <a:p>
            <a:pPr algn="just"/>
            <a:r>
              <a:rPr lang="en-US" dirty="0"/>
              <a:t> They prevent invalid data from being inserted, updated, or deleted and help maintain reliable relationships between tables.</a:t>
            </a:r>
          </a:p>
          <a:p>
            <a:pPr algn="just"/>
            <a:r>
              <a:rPr lang="en-US" dirty="0"/>
              <a:t> SQL Constraints act as data validation rules that ensure only accurate and meaningful data is stored in the database.</a:t>
            </a:r>
          </a:p>
          <a:p>
            <a:pPr marL="0" indent="0" algn="just">
              <a:buNone/>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Benefits of Constraints</a:t>
            </a:r>
          </a:p>
          <a:p>
            <a:pPr algn="just">
              <a:buBlip>
                <a:blip r:embed="rId2"/>
              </a:buBlip>
            </a:pPr>
            <a:r>
              <a:rPr lang="en-US" dirty="0"/>
              <a:t> It improves data quality and consistency.</a:t>
            </a:r>
          </a:p>
          <a:p>
            <a:pPr algn="just">
              <a:buBlip>
                <a:blip r:embed="rId2"/>
              </a:buBlip>
            </a:pPr>
            <a:r>
              <a:rPr lang="en-US" dirty="0"/>
              <a:t> Prevent invalid or duplicate data.</a:t>
            </a:r>
          </a:p>
          <a:p>
            <a:pPr algn="just">
              <a:buBlip>
                <a:blip r:embed="rId2"/>
              </a:buBlip>
            </a:pPr>
            <a:r>
              <a:rPr lang="en-US" dirty="0"/>
              <a:t> Enforce business rules automatically.</a:t>
            </a:r>
          </a:p>
          <a:p>
            <a:pPr algn="just">
              <a:buBlip>
                <a:blip r:embed="rId2"/>
              </a:buBlip>
            </a:pPr>
            <a:r>
              <a:rPr lang="en-US" dirty="0"/>
              <a:t> Main relationships between tables.</a:t>
            </a:r>
          </a:p>
          <a:p>
            <a:pPr algn="just">
              <a:buBlip>
                <a:blip r:embed="rId2"/>
              </a:buBlip>
            </a:pPr>
            <a:r>
              <a:rPr lang="en-US" dirty="0"/>
              <a:t> Enhance database reliability and integrity.</a:t>
            </a:r>
          </a:p>
        </p:txBody>
      </p:sp>
    </p:spTree>
    <p:extLst>
      <p:ext uri="{BB962C8B-B14F-4D97-AF65-F5344CB8AC3E}">
        <p14:creationId xmlns:p14="http://schemas.microsoft.com/office/powerpoint/2010/main" val="3781673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B25B1-BCE4-7E9C-06FD-06CF96ADE23A}"/>
              </a:ext>
            </a:extLst>
          </p:cNvPr>
          <p:cNvSpPr>
            <a:spLocks noGrp="1"/>
          </p:cNvSpPr>
          <p:nvPr>
            <p:ph type="title"/>
          </p:nvPr>
        </p:nvSpPr>
        <p:spPr/>
        <p: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a:t>
            </a:r>
          </a:p>
        </p:txBody>
      </p:sp>
      <p:graphicFrame>
        <p:nvGraphicFramePr>
          <p:cNvPr id="4" name="Table 3">
            <a:extLst>
              <a:ext uri="{FF2B5EF4-FFF2-40B4-BE49-F238E27FC236}">
                <a16:creationId xmlns:a16="http://schemas.microsoft.com/office/drawing/2014/main" id="{4F9CD73D-E7CD-F650-634A-ACD505AFEFB8}"/>
              </a:ext>
            </a:extLst>
          </p:cNvPr>
          <p:cNvGraphicFramePr>
            <a:graphicFrameLocks noGrp="1"/>
          </p:cNvGraphicFramePr>
          <p:nvPr>
            <p:extLst>
              <p:ext uri="{D42A27DB-BD31-4B8C-83A1-F6EECF244321}">
                <p14:modId xmlns:p14="http://schemas.microsoft.com/office/powerpoint/2010/main" val="3242322229"/>
              </p:ext>
            </p:extLst>
          </p:nvPr>
        </p:nvGraphicFramePr>
        <p:xfrm>
          <a:off x="1156920" y="1469474"/>
          <a:ext cx="10711992" cy="5077629"/>
        </p:xfrm>
        <a:graphic>
          <a:graphicData uri="http://schemas.openxmlformats.org/drawingml/2006/table">
            <a:tbl>
              <a:tblPr firstRow="1" bandRow="1">
                <a:tableStyleId>{3B4B98B0-60AC-42C2-AFA5-B58CD77FA1E5}</a:tableStyleId>
              </a:tblPr>
              <a:tblGrid>
                <a:gridCol w="2161064">
                  <a:extLst>
                    <a:ext uri="{9D8B030D-6E8A-4147-A177-3AD203B41FA5}">
                      <a16:colId xmlns:a16="http://schemas.microsoft.com/office/drawing/2014/main" val="1749165179"/>
                    </a:ext>
                  </a:extLst>
                </a:gridCol>
                <a:gridCol w="4980264">
                  <a:extLst>
                    <a:ext uri="{9D8B030D-6E8A-4147-A177-3AD203B41FA5}">
                      <a16:colId xmlns:a16="http://schemas.microsoft.com/office/drawing/2014/main" val="590905286"/>
                    </a:ext>
                  </a:extLst>
                </a:gridCol>
                <a:gridCol w="3570664">
                  <a:extLst>
                    <a:ext uri="{9D8B030D-6E8A-4147-A177-3AD203B41FA5}">
                      <a16:colId xmlns:a16="http://schemas.microsoft.com/office/drawing/2014/main" val="746165646"/>
                    </a:ext>
                  </a:extLst>
                </a:gridCol>
              </a:tblGrid>
              <a:tr h="468150">
                <a:tc>
                  <a:txBody>
                    <a:bodyPr/>
                    <a:lstStyle/>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Constraint</a:t>
                      </a:r>
                    </a:p>
                  </a:txBody>
                  <a:tcPr>
                    <a:solidFill>
                      <a:schemeClr val="bg1"/>
                    </a:solidFill>
                  </a:tcPr>
                </a:tc>
                <a:tc>
                  <a:txBody>
                    <a:bodyPr/>
                    <a:lstStyle/>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solidFill>
                      <a:schemeClr val="bg1"/>
                    </a:solidFill>
                  </a:tcPr>
                </a:tc>
                <a:tc>
                  <a:txBody>
                    <a:bodyPr/>
                    <a:lstStyle/>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Example</a:t>
                      </a:r>
                    </a:p>
                  </a:txBody>
                  <a:tcPr>
                    <a:solidFill>
                      <a:schemeClr val="bg1"/>
                    </a:solidFill>
                  </a:tcPr>
                </a:tc>
                <a:extLst>
                  <a:ext uri="{0D108BD9-81ED-4DB2-BD59-A6C34878D82A}">
                    <a16:rowId xmlns:a16="http://schemas.microsoft.com/office/drawing/2014/main" val="3992183745"/>
                  </a:ext>
                </a:extLst>
              </a:tr>
              <a:tr h="828266">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NOT NULL</a:t>
                      </a:r>
                    </a:p>
                  </a:txBody>
                  <a:tcPr>
                    <a:solidFill>
                      <a:schemeClr val="bg1"/>
                    </a:solidFill>
                  </a:tcPr>
                </a:tc>
                <a:tc>
                  <a:txBody>
                    <a:bodyPr/>
                    <a:lstStyle/>
                    <a:p>
                      <a:r>
                        <a:rPr lang="en-US" sz="2000" dirty="0"/>
                        <a:t>Ensures a column cannot contain NULL values.</a:t>
                      </a:r>
                    </a:p>
                  </a:txBody>
                  <a:tcPr>
                    <a:solidFill>
                      <a:schemeClr val="bg1"/>
                    </a:solidFill>
                  </a:tcPr>
                </a:tc>
                <a:tc>
                  <a:txBody>
                    <a:bodyPr/>
                    <a:lstStyle/>
                    <a:p>
                      <a:r>
                        <a:rPr lang="en-US" sz="2000" dirty="0"/>
                        <a:t>A  customer’s name must always be provided.</a:t>
                      </a:r>
                    </a:p>
                  </a:txBody>
                  <a:tcPr>
                    <a:solidFill>
                      <a:schemeClr val="bg1"/>
                    </a:solidFill>
                  </a:tcPr>
                </a:tc>
                <a:extLst>
                  <a:ext uri="{0D108BD9-81ED-4DB2-BD59-A6C34878D82A}">
                    <a16:rowId xmlns:a16="http://schemas.microsoft.com/office/drawing/2014/main" val="3189235545"/>
                  </a:ext>
                </a:extLst>
              </a:tr>
              <a:tr h="828266">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UNIQUE</a:t>
                      </a:r>
                    </a:p>
                  </a:txBody>
                  <a:tcPr>
                    <a:solidFill>
                      <a:schemeClr val="bg1"/>
                    </a:solidFill>
                  </a:tcPr>
                </a:tc>
                <a:tc>
                  <a:txBody>
                    <a:bodyPr/>
                    <a:lstStyle/>
                    <a:p>
                      <a:r>
                        <a:rPr lang="en-US" sz="2000" dirty="0"/>
                        <a:t>Ensures all values in a column are different</a:t>
                      </a:r>
                    </a:p>
                  </a:txBody>
                  <a:tcPr>
                    <a:solidFill>
                      <a:schemeClr val="bg1"/>
                    </a:solidFill>
                  </a:tcPr>
                </a:tc>
                <a:tc>
                  <a:txBody>
                    <a:bodyPr/>
                    <a:lstStyle/>
                    <a:p>
                      <a:r>
                        <a:rPr lang="en-US" sz="2000" dirty="0"/>
                        <a:t>No two users can have the same email address.</a:t>
                      </a:r>
                    </a:p>
                  </a:txBody>
                  <a:tcPr>
                    <a:solidFill>
                      <a:schemeClr val="bg1"/>
                    </a:solidFill>
                  </a:tcPr>
                </a:tc>
                <a:extLst>
                  <a:ext uri="{0D108BD9-81ED-4DB2-BD59-A6C34878D82A}">
                    <a16:rowId xmlns:a16="http://schemas.microsoft.com/office/drawing/2014/main" val="707014809"/>
                  </a:ext>
                </a:extLst>
              </a:tr>
              <a:tr h="828266">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PRIMARY KEY</a:t>
                      </a:r>
                    </a:p>
                  </a:txBody>
                  <a:tcPr>
                    <a:solidFill>
                      <a:schemeClr val="bg1"/>
                    </a:solidFill>
                  </a:tcPr>
                </a:tc>
                <a:tc>
                  <a:txBody>
                    <a:bodyPr/>
                    <a:lstStyle/>
                    <a:p>
                      <a:r>
                        <a:rPr lang="en-US" sz="2000" dirty="0"/>
                        <a:t>Uniquely identifies each record in a table. Combines UNIQUE and NOT NULL.</a:t>
                      </a:r>
                    </a:p>
                  </a:txBody>
                  <a:tcPr>
                    <a:solidFill>
                      <a:schemeClr val="bg1"/>
                    </a:solidFill>
                  </a:tcPr>
                </a:tc>
                <a:tc>
                  <a:txBody>
                    <a:bodyPr/>
                    <a:lstStyle/>
                    <a:p>
                      <a:r>
                        <a:rPr lang="en-US" sz="2000" dirty="0"/>
                        <a:t>StudentID uniquely identifies each student.</a:t>
                      </a:r>
                    </a:p>
                  </a:txBody>
                  <a:tcPr>
                    <a:solidFill>
                      <a:schemeClr val="bg1"/>
                    </a:solidFill>
                  </a:tcPr>
                </a:tc>
                <a:extLst>
                  <a:ext uri="{0D108BD9-81ED-4DB2-BD59-A6C34878D82A}">
                    <a16:rowId xmlns:a16="http://schemas.microsoft.com/office/drawing/2014/main" val="1452665516"/>
                  </a:ext>
                </a:extLst>
              </a:tr>
              <a:tr h="1188381">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FOREIGN KEY</a:t>
                      </a:r>
                    </a:p>
                  </a:txBody>
                  <a:tcPr>
                    <a:solidFill>
                      <a:schemeClr val="bg1"/>
                    </a:solidFill>
                  </a:tcPr>
                </a:tc>
                <a:tc>
                  <a:txBody>
                    <a:bodyPr/>
                    <a:lstStyle/>
                    <a:p>
                      <a:r>
                        <a:rPr lang="en-US" sz="2000" dirty="0"/>
                        <a:t>Maintains referential integrity between tables.</a:t>
                      </a:r>
                    </a:p>
                  </a:txBody>
                  <a:tcPr>
                    <a:solidFill>
                      <a:schemeClr val="bg1"/>
                    </a:solidFill>
                  </a:tcPr>
                </a:tc>
                <a:tc>
                  <a:txBody>
                    <a:bodyPr/>
                    <a:lstStyle/>
                    <a:p>
                      <a:r>
                        <a:rPr lang="en-US" sz="2000" dirty="0" err="1"/>
                        <a:t>DepartmentID</a:t>
                      </a:r>
                      <a:r>
                        <a:rPr lang="en-US" sz="2000" dirty="0"/>
                        <a:t> in Employee table references Department table.</a:t>
                      </a:r>
                    </a:p>
                  </a:txBody>
                  <a:tcPr>
                    <a:solidFill>
                      <a:schemeClr val="bg1"/>
                    </a:solidFill>
                  </a:tcPr>
                </a:tc>
                <a:extLst>
                  <a:ext uri="{0D108BD9-81ED-4DB2-BD59-A6C34878D82A}">
                    <a16:rowId xmlns:a16="http://schemas.microsoft.com/office/drawing/2014/main" val="3969144555"/>
                  </a:ext>
                </a:extLst>
              </a:tr>
              <a:tr h="468150">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CHECK</a:t>
                      </a:r>
                    </a:p>
                  </a:txBody>
                  <a:tcPr>
                    <a:solidFill>
                      <a:schemeClr val="bg1"/>
                    </a:solidFill>
                  </a:tcPr>
                </a:tc>
                <a:tc>
                  <a:txBody>
                    <a:bodyPr/>
                    <a:lstStyle/>
                    <a:p>
                      <a:r>
                        <a:rPr lang="en-US" sz="2000" dirty="0"/>
                        <a:t>Restricts values based on a condition</a:t>
                      </a:r>
                    </a:p>
                  </a:txBody>
                  <a:tcPr>
                    <a:solidFill>
                      <a:schemeClr val="bg1"/>
                    </a:solidFill>
                  </a:tcPr>
                </a:tc>
                <a:tc>
                  <a:txBody>
                    <a:bodyPr/>
                    <a:lstStyle/>
                    <a:p>
                      <a:r>
                        <a:rPr lang="en-US" sz="2000" dirty="0"/>
                        <a:t>Age must be greater than 18.</a:t>
                      </a:r>
                    </a:p>
                  </a:txBody>
                  <a:tcPr>
                    <a:solidFill>
                      <a:schemeClr val="bg1"/>
                    </a:solidFill>
                  </a:tcPr>
                </a:tc>
                <a:extLst>
                  <a:ext uri="{0D108BD9-81ED-4DB2-BD59-A6C34878D82A}">
                    <a16:rowId xmlns:a16="http://schemas.microsoft.com/office/drawing/2014/main" val="3593055485"/>
                  </a:ext>
                </a:extLst>
              </a:tr>
              <a:tr h="468150">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DEFAULT</a:t>
                      </a:r>
                    </a:p>
                  </a:txBody>
                  <a:tcPr>
                    <a:solidFill>
                      <a:schemeClr val="bg1"/>
                    </a:solidFill>
                  </a:tcPr>
                </a:tc>
                <a:tc>
                  <a:txBody>
                    <a:bodyPr/>
                    <a:lstStyle/>
                    <a:p>
                      <a:r>
                        <a:rPr lang="en-US" sz="2000" dirty="0"/>
                        <a:t>Assigns a default value if none is provided.</a:t>
                      </a:r>
                    </a:p>
                  </a:txBody>
                  <a:tcPr>
                    <a:solidFill>
                      <a:schemeClr val="bg1"/>
                    </a:solidFill>
                  </a:tcPr>
                </a:tc>
                <a:tc>
                  <a:txBody>
                    <a:bodyPr/>
                    <a:lstStyle/>
                    <a:p>
                      <a:r>
                        <a:rPr lang="en-US" sz="2000" dirty="0"/>
                        <a:t>Status defaults to ‘Active’.</a:t>
                      </a:r>
                    </a:p>
                  </a:txBody>
                  <a:tcPr>
                    <a:solidFill>
                      <a:schemeClr val="bg1"/>
                    </a:solidFill>
                  </a:tcPr>
                </a:tc>
                <a:extLst>
                  <a:ext uri="{0D108BD9-81ED-4DB2-BD59-A6C34878D82A}">
                    <a16:rowId xmlns:a16="http://schemas.microsoft.com/office/drawing/2014/main" val="3386620906"/>
                  </a:ext>
                </a:extLst>
              </a:tr>
            </a:tbl>
          </a:graphicData>
        </a:graphic>
      </p:graphicFrame>
    </p:spTree>
    <p:extLst>
      <p:ext uri="{BB962C8B-B14F-4D97-AF65-F5344CB8AC3E}">
        <p14:creationId xmlns:p14="http://schemas.microsoft.com/office/powerpoint/2010/main" val="18240932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B9239F1-032F-0D42-7069-4AEF5839214E}"/>
              </a:ext>
            </a:extLst>
          </p:cNvPr>
          <p:cNvPicPr>
            <a:picLocks noChangeAspect="1"/>
          </p:cNvPicPr>
          <p:nvPr/>
        </p:nvPicPr>
        <p:blipFill>
          <a:blip r:embed="rId2"/>
          <a:stretch>
            <a:fillRect/>
          </a:stretch>
        </p:blipFill>
        <p:spPr>
          <a:xfrm>
            <a:off x="1144524" y="128016"/>
            <a:ext cx="9974580" cy="6649720"/>
          </a:xfrm>
          <a:prstGeom prst="rect">
            <a:avLst/>
          </a:prstGeom>
        </p:spPr>
      </p:pic>
    </p:spTree>
    <p:extLst>
      <p:ext uri="{BB962C8B-B14F-4D97-AF65-F5344CB8AC3E}">
        <p14:creationId xmlns:p14="http://schemas.microsoft.com/office/powerpoint/2010/main" val="9651136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77FBF-F83A-72F1-C4E8-E04F01AB6495}"/>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Primary Key (PK)</a:t>
            </a:r>
          </a:p>
        </p:txBody>
      </p:sp>
      <p:sp>
        <p:nvSpPr>
          <p:cNvPr id="3" name="Text Placeholder 2">
            <a:extLst>
              <a:ext uri="{FF2B5EF4-FFF2-40B4-BE49-F238E27FC236}">
                <a16:creationId xmlns:a16="http://schemas.microsoft.com/office/drawing/2014/main" id="{6BBCBEDD-30F2-0C82-2856-CD99A89AA43F}"/>
              </a:ext>
            </a:extLst>
          </p:cNvPr>
          <p:cNvSpPr>
            <a:spLocks noGrp="1"/>
          </p:cNvSpPr>
          <p:nvPr>
            <p:ph type="body" sz="quarter" idx="14"/>
          </p:nvPr>
        </p:nvSpPr>
        <p:spPr>
          <a:xfrm>
            <a:off x="1156921" y="1603716"/>
            <a:ext cx="10275570" cy="5254283"/>
          </a:xfrm>
        </p:spPr>
        <p:txBody>
          <a:bodyPr/>
          <a:lstStyle/>
          <a:p>
            <a:pPr algn="just">
              <a:buBlip>
                <a:blip r:embed="rId2"/>
              </a:buBlip>
            </a:pPr>
            <a:r>
              <a:rPr lang="en-US" dirty="0"/>
              <a:t> A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Primary Key </a:t>
            </a:r>
            <a:r>
              <a:rPr lang="en-US" dirty="0"/>
              <a:t>is a column (or set of columns) that uniquely identifies every second in a table.</a:t>
            </a:r>
          </a:p>
          <a:p>
            <a:pPr algn="just">
              <a:buBlip>
                <a:blip r:embed="rId2"/>
              </a:buBlip>
            </a:pPr>
            <a:r>
              <a:rPr lang="en-US" dirty="0"/>
              <a:t> It ensures each row  can be uniquely identifies every record in a table.</a:t>
            </a:r>
          </a:p>
          <a:p>
            <a:pPr algn="just">
              <a:buBlip>
                <a:blip r:embed="rId2"/>
              </a:buBlip>
            </a:pPr>
            <a:r>
              <a:rPr lang="en-US" dirty="0"/>
              <a:t> A table can have only one Primary Key, and its values must always be unique and NOT NULL.</a:t>
            </a:r>
          </a:p>
          <a:p>
            <a:pPr algn="just">
              <a:buBlip>
                <a:blip r:embed="rId2"/>
              </a:buBlip>
            </a:pPr>
            <a:r>
              <a:rPr lang="en-US" dirty="0"/>
              <a:t> Every table should have a Primary Key to ensure that each row can be uniquely accessed.</a:t>
            </a:r>
          </a:p>
          <a:p>
            <a:pPr marL="0" indent="0">
              <a:buNone/>
            </a:pPr>
            <a:r>
              <a:rPr lang="en-US" sz="28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endParaRPr lang="en-US"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US" dirty="0"/>
              <a:t>CREATE TABLE </a:t>
            </a:r>
            <a:r>
              <a:rPr lang="en-US" dirty="0" err="1"/>
              <a:t>table_name</a:t>
            </a:r>
            <a:r>
              <a:rPr lang="en-US" dirty="0"/>
              <a:t> (</a:t>
            </a:r>
            <a:br>
              <a:rPr lang="en-US" dirty="0"/>
            </a:br>
            <a:r>
              <a:rPr lang="en-US" dirty="0"/>
              <a:t>    </a:t>
            </a:r>
            <a:r>
              <a:rPr lang="en-US" dirty="0" err="1"/>
              <a:t>column_name</a:t>
            </a:r>
            <a:r>
              <a:rPr lang="en-US" dirty="0"/>
              <a:t> datatype PRIMARY KEY</a:t>
            </a:r>
            <a:br>
              <a:rPr lang="en-US" dirty="0"/>
            </a:br>
            <a:r>
              <a:rPr lang="en-US" dirty="0"/>
              <a:t>);</a:t>
            </a:r>
          </a:p>
          <a:p>
            <a:pPr marL="0" indent="0" algn="just">
              <a:buNone/>
            </a:pPr>
            <a:endParaRPr lang="en-US" dirty="0"/>
          </a:p>
        </p:txBody>
      </p:sp>
    </p:spTree>
    <p:extLst>
      <p:ext uri="{BB962C8B-B14F-4D97-AF65-F5344CB8AC3E}">
        <p14:creationId xmlns:p14="http://schemas.microsoft.com/office/powerpoint/2010/main" val="11501358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24D34-CDD4-8411-0465-37BFC6E47F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DEDED7-1E72-0208-A841-E19DD8BB0F0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Unique Key (UK)</a:t>
            </a:r>
          </a:p>
        </p:txBody>
      </p:sp>
      <p:sp>
        <p:nvSpPr>
          <p:cNvPr id="3" name="Text Placeholder 2">
            <a:extLst>
              <a:ext uri="{FF2B5EF4-FFF2-40B4-BE49-F238E27FC236}">
                <a16:creationId xmlns:a16="http://schemas.microsoft.com/office/drawing/2014/main" id="{4EBCF00D-2113-FD44-37EF-C6BBE459837B}"/>
              </a:ext>
            </a:extLst>
          </p:cNvPr>
          <p:cNvSpPr>
            <a:spLocks noGrp="1"/>
          </p:cNvSpPr>
          <p:nvPr>
            <p:ph type="body" sz="quarter" idx="14"/>
          </p:nvPr>
        </p:nvSpPr>
        <p:spPr>
          <a:xfrm>
            <a:off x="1156921" y="1603716"/>
            <a:ext cx="10275570" cy="5254283"/>
          </a:xfrm>
        </p:spPr>
        <p:txBody>
          <a:bodyPr/>
          <a:lstStyle/>
          <a:p>
            <a:pPr algn="just">
              <a:buBlip>
                <a:blip r:embed="rId2"/>
              </a:buBlip>
            </a:pPr>
            <a:r>
              <a:rPr lang="en-US" dirty="0"/>
              <a:t> A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Unique Key </a:t>
            </a:r>
            <a:r>
              <a:rPr lang="en-US" dirty="0"/>
              <a:t>ensures that all values in a column are unique.</a:t>
            </a:r>
          </a:p>
          <a:p>
            <a:pPr algn="just">
              <a:buBlip>
                <a:blip r:embed="rId2"/>
              </a:buBlip>
            </a:pPr>
            <a:r>
              <a:rPr lang="en-US" dirty="0"/>
              <a:t> Unlike a Primary Key, a table can have multiple Unique Keys.</a:t>
            </a:r>
          </a:p>
          <a:p>
            <a:pPr algn="just">
              <a:buBlip>
                <a:blip r:embed="rId2"/>
              </a:buBlip>
            </a:pPr>
            <a:r>
              <a:rPr lang="en-US" dirty="0"/>
              <a:t> It prevents duplicate values.</a:t>
            </a:r>
          </a:p>
          <a:p>
            <a:pPr algn="just">
              <a:buBlip>
                <a:blip r:embed="rId2"/>
              </a:buBlip>
            </a:pPr>
            <a:r>
              <a:rPr lang="en-US" dirty="0"/>
              <a:t> Can contain NULL values (database-dependent).</a:t>
            </a:r>
          </a:p>
          <a:p>
            <a:pPr algn="just">
              <a:buBlip>
                <a:blip r:embed="rId2"/>
              </a:buBlip>
            </a:pPr>
            <a:r>
              <a:rPr lang="en-US" dirty="0"/>
              <a:t> Can be referenced by a Foreign Key.</a:t>
            </a:r>
          </a:p>
          <a:p>
            <a:pPr marL="0" indent="0" algn="just">
              <a:buNone/>
            </a:pPr>
            <a:endParaRPr lang="en-US" dirty="0"/>
          </a:p>
          <a:p>
            <a:pPr marL="0" indent="0">
              <a:buNone/>
            </a:pPr>
            <a:r>
              <a:rPr lang="en-US" sz="28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endParaRPr lang="en-US"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US" dirty="0"/>
              <a:t>CREATE TABLE </a:t>
            </a:r>
            <a:r>
              <a:rPr lang="en-US" dirty="0" err="1"/>
              <a:t>table_name</a:t>
            </a:r>
            <a:r>
              <a:rPr lang="en-US" dirty="0"/>
              <a:t> (</a:t>
            </a:r>
            <a:br>
              <a:rPr lang="en-US" dirty="0"/>
            </a:br>
            <a:r>
              <a:rPr lang="en-US" dirty="0"/>
              <a:t>    </a:t>
            </a:r>
            <a:r>
              <a:rPr lang="en-US" dirty="0" err="1"/>
              <a:t>column_name</a:t>
            </a:r>
            <a:r>
              <a:rPr lang="en-US" dirty="0"/>
              <a:t> datatype UNIQUE</a:t>
            </a:r>
            <a:br>
              <a:rPr lang="en-US" dirty="0"/>
            </a:br>
            <a:r>
              <a:rPr lang="en-US" dirty="0"/>
              <a:t>);</a:t>
            </a:r>
          </a:p>
          <a:p>
            <a:pPr marL="0" indent="0" algn="just">
              <a:buNone/>
            </a:pPr>
            <a:endParaRPr lang="en-US" dirty="0"/>
          </a:p>
        </p:txBody>
      </p:sp>
    </p:spTree>
    <p:extLst>
      <p:ext uri="{BB962C8B-B14F-4D97-AF65-F5344CB8AC3E}">
        <p14:creationId xmlns:p14="http://schemas.microsoft.com/office/powerpoint/2010/main" val="41966869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5AB0B-A18D-9DE8-D20B-C85B6B2B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DFE1DE-FC8B-87F2-521A-E7DC6DFF00DF}"/>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Foreign Key (FK)</a:t>
            </a:r>
          </a:p>
        </p:txBody>
      </p:sp>
      <p:sp>
        <p:nvSpPr>
          <p:cNvPr id="3" name="Text Placeholder 2">
            <a:extLst>
              <a:ext uri="{FF2B5EF4-FFF2-40B4-BE49-F238E27FC236}">
                <a16:creationId xmlns:a16="http://schemas.microsoft.com/office/drawing/2014/main" id="{0900E8E0-B4EB-8A5A-3C23-246E57DE4893}"/>
              </a:ext>
            </a:extLst>
          </p:cNvPr>
          <p:cNvSpPr>
            <a:spLocks noGrp="1"/>
          </p:cNvSpPr>
          <p:nvPr>
            <p:ph type="body" sz="quarter" idx="14"/>
          </p:nvPr>
        </p:nvSpPr>
        <p:spPr>
          <a:xfrm>
            <a:off x="1156921" y="1517904"/>
            <a:ext cx="10275570" cy="5705856"/>
          </a:xfrm>
        </p:spPr>
        <p:txBody>
          <a:bodyPr>
            <a:normAutofit lnSpcReduction="10000"/>
          </a:bodyPr>
          <a:lstStyle/>
          <a:p>
            <a:pPr algn="just">
              <a:buBlip>
                <a:blip r:embed="rId2"/>
              </a:buBlip>
            </a:pPr>
            <a:r>
              <a:rPr lang="en-US" dirty="0"/>
              <a:t> A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Foreign Key </a:t>
            </a:r>
            <a:r>
              <a:rPr lang="en-US" dirty="0"/>
              <a:t>is a column that references the Primary Key (or Unique Key) of another table.</a:t>
            </a:r>
          </a:p>
          <a:p>
            <a:pPr algn="just">
              <a:buBlip>
                <a:blip r:embed="rId2"/>
              </a:buBlip>
            </a:pPr>
            <a:r>
              <a:rPr lang="en-US" dirty="0"/>
              <a:t> It creates a relationship between tables and ensures referential integrity.</a:t>
            </a:r>
          </a:p>
          <a:p>
            <a:pPr algn="just">
              <a:buBlip>
                <a:blip r:embed="rId2"/>
              </a:buBlip>
            </a:pPr>
            <a:r>
              <a:rPr lang="en-US" dirty="0"/>
              <a:t> It links two table together.</a:t>
            </a:r>
          </a:p>
          <a:p>
            <a:pPr algn="just">
              <a:buBlip>
                <a:blip r:embed="rId2"/>
              </a:buBlip>
            </a:pPr>
            <a:r>
              <a:rPr lang="en-US" dirty="0"/>
              <a:t> It maintains data consistency. </a:t>
            </a:r>
          </a:p>
          <a:p>
            <a:pPr algn="just">
              <a:buBlip>
                <a:blip r:embed="rId2"/>
              </a:buBlip>
            </a:pPr>
            <a:r>
              <a:rPr lang="en-US" dirty="0"/>
              <a:t> Prevents invalid references.</a:t>
            </a:r>
          </a:p>
          <a:p>
            <a:pPr algn="just">
              <a:buBlip>
                <a:blip r:embed="rId2"/>
              </a:buBlip>
            </a:pPr>
            <a:r>
              <a:rPr lang="en-US" dirty="0"/>
              <a:t>  It creates Parent-Child relationships.</a:t>
            </a:r>
          </a:p>
          <a:p>
            <a:pPr marL="0" indent="0">
              <a:buNone/>
            </a:pPr>
            <a:r>
              <a:rPr lang="en-US" sz="28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endParaRPr lang="en-US"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US" dirty="0"/>
              <a:t>CREATE TABLE </a:t>
            </a:r>
            <a:r>
              <a:rPr lang="en-US" dirty="0" err="1"/>
              <a:t>child_table</a:t>
            </a:r>
            <a:r>
              <a:rPr lang="en-US" dirty="0"/>
              <a:t> (</a:t>
            </a:r>
          </a:p>
          <a:p>
            <a:pPr marL="0" indent="0">
              <a:buNone/>
            </a:pPr>
            <a:r>
              <a:rPr lang="en-US" dirty="0"/>
              <a:t>    </a:t>
            </a:r>
            <a:r>
              <a:rPr lang="en-US" dirty="0" err="1"/>
              <a:t>column_name</a:t>
            </a:r>
            <a:r>
              <a:rPr lang="en-US" dirty="0"/>
              <a:t> datatype,</a:t>
            </a:r>
          </a:p>
          <a:p>
            <a:pPr marL="0" indent="0">
              <a:buNone/>
            </a:pPr>
            <a:r>
              <a:rPr lang="en-US" dirty="0"/>
              <a:t>    FOREIGN KEY (</a:t>
            </a:r>
            <a:r>
              <a:rPr lang="en-US" dirty="0" err="1"/>
              <a:t>column_name</a:t>
            </a:r>
            <a:r>
              <a:rPr lang="en-US" dirty="0"/>
              <a:t>)</a:t>
            </a:r>
          </a:p>
          <a:p>
            <a:pPr marL="0" indent="0">
              <a:buNone/>
            </a:pPr>
            <a:r>
              <a:rPr lang="en-US" dirty="0"/>
              <a:t>    REFERENCES </a:t>
            </a:r>
            <a:r>
              <a:rPr lang="en-US" dirty="0" err="1"/>
              <a:t>parent_table</a:t>
            </a:r>
            <a:r>
              <a:rPr lang="en-US" dirty="0"/>
              <a:t>(</a:t>
            </a:r>
            <a:r>
              <a:rPr lang="en-US" dirty="0" err="1"/>
              <a:t>parent_column</a:t>
            </a:r>
            <a:r>
              <a:rPr lang="en-US" dirty="0"/>
              <a:t>)</a:t>
            </a:r>
          </a:p>
          <a:p>
            <a:pPr marL="0" indent="0">
              <a:buNone/>
            </a:pPr>
            <a:r>
              <a:rPr lang="en-US" dirty="0"/>
              <a:t>);</a:t>
            </a:r>
          </a:p>
        </p:txBody>
      </p:sp>
    </p:spTree>
    <p:extLst>
      <p:ext uri="{BB962C8B-B14F-4D97-AF65-F5344CB8AC3E}">
        <p14:creationId xmlns:p14="http://schemas.microsoft.com/office/powerpoint/2010/main" val="33474752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8B2EF-64CD-6A53-8EA1-602D1F1F8A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21A4D5-E79D-B3AA-B6D0-5C17261ED0ED}"/>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Composite Key</a:t>
            </a:r>
          </a:p>
        </p:txBody>
      </p:sp>
      <p:sp>
        <p:nvSpPr>
          <p:cNvPr id="3" name="Text Placeholder 2">
            <a:extLst>
              <a:ext uri="{FF2B5EF4-FFF2-40B4-BE49-F238E27FC236}">
                <a16:creationId xmlns:a16="http://schemas.microsoft.com/office/drawing/2014/main" id="{22FAF503-5918-7396-8C66-6FA38E7F8AA7}"/>
              </a:ext>
            </a:extLst>
          </p:cNvPr>
          <p:cNvSpPr>
            <a:spLocks noGrp="1"/>
          </p:cNvSpPr>
          <p:nvPr>
            <p:ph type="body" sz="quarter" idx="14"/>
          </p:nvPr>
        </p:nvSpPr>
        <p:spPr>
          <a:xfrm>
            <a:off x="1156921" y="1517904"/>
            <a:ext cx="10275570" cy="5705856"/>
          </a:xfrm>
        </p:spPr>
        <p:txBody>
          <a:bodyPr>
            <a:normAutofit/>
          </a:bodyPr>
          <a:lstStyle/>
          <a:p>
            <a:pPr algn="just">
              <a:buBlip>
                <a:blip r:embed="rId2"/>
              </a:buBlip>
            </a:pPr>
            <a:r>
              <a:rPr lang="en-US" dirty="0"/>
              <a:t> A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Composite Key </a:t>
            </a:r>
            <a:r>
              <a:rPr lang="en-US" dirty="0"/>
              <a:t>is a key made up of two or more columns that together uniquely identify a record.</a:t>
            </a:r>
          </a:p>
          <a:p>
            <a:pPr algn="just">
              <a:buBlip>
                <a:blip r:embed="rId2"/>
              </a:buBlip>
            </a:pPr>
            <a:r>
              <a:rPr lang="en-US" dirty="0"/>
              <a:t> It is used when a single column is insufficient to guarantee uniqueness.</a:t>
            </a:r>
          </a:p>
          <a:p>
            <a:pPr algn="just">
              <a:buBlip>
                <a:blip r:embed="rId2"/>
              </a:buBlip>
            </a:pPr>
            <a:r>
              <a:rPr lang="en-US" dirty="0"/>
              <a:t> It commonly used in junction (bridge) tables.</a:t>
            </a:r>
          </a:p>
          <a:p>
            <a:pPr algn="just">
              <a:buBlip>
                <a:blip r:embed="rId2"/>
              </a:buBlip>
            </a:pPr>
            <a:r>
              <a:rPr lang="en-US" dirty="0"/>
              <a:t> Supports many-to-many relationships. </a:t>
            </a:r>
          </a:p>
          <a:p>
            <a:pPr marL="0" indent="0" algn="just">
              <a:buNone/>
            </a:pPr>
            <a:endParaRPr lang="en-US" dirty="0"/>
          </a:p>
          <a:p>
            <a:pPr marL="0" indent="0">
              <a:buNone/>
            </a:pPr>
            <a:r>
              <a:rPr lang="en-US" sz="28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endParaRPr lang="en-US"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US" dirty="0"/>
              <a:t>CREATE TABLE </a:t>
            </a:r>
            <a:r>
              <a:rPr lang="en-US" dirty="0" err="1"/>
              <a:t>table_name</a:t>
            </a:r>
            <a:r>
              <a:rPr lang="en-US" dirty="0"/>
              <a:t> (</a:t>
            </a:r>
          </a:p>
          <a:p>
            <a:pPr marL="0" indent="0">
              <a:buNone/>
            </a:pPr>
            <a:r>
              <a:rPr lang="en-US" dirty="0"/>
              <a:t>    column1 datatype,</a:t>
            </a:r>
          </a:p>
          <a:p>
            <a:pPr marL="0" indent="0">
              <a:buNone/>
            </a:pPr>
            <a:r>
              <a:rPr lang="en-US" dirty="0"/>
              <a:t>    column2 datatype,</a:t>
            </a:r>
          </a:p>
          <a:p>
            <a:pPr marL="0" indent="0">
              <a:buNone/>
            </a:pPr>
            <a:r>
              <a:rPr lang="en-US" dirty="0"/>
              <a:t>    PRIMARY KEY (column1, column2)</a:t>
            </a:r>
          </a:p>
          <a:p>
            <a:pPr marL="0" indent="0">
              <a:buNone/>
            </a:pPr>
            <a:r>
              <a:rPr lang="en-US" dirty="0"/>
              <a:t>);</a:t>
            </a:r>
          </a:p>
        </p:txBody>
      </p:sp>
    </p:spTree>
    <p:extLst>
      <p:ext uri="{BB962C8B-B14F-4D97-AF65-F5344CB8AC3E}">
        <p14:creationId xmlns:p14="http://schemas.microsoft.com/office/powerpoint/2010/main" val="40373030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15C2C-5B9D-DE8E-2AF9-892AA0CB26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F72668-2B69-C8BE-67A0-9B1FA7018C25}"/>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Alternate Key</a:t>
            </a:r>
          </a:p>
        </p:txBody>
      </p:sp>
      <p:sp>
        <p:nvSpPr>
          <p:cNvPr id="3" name="Text Placeholder 2">
            <a:extLst>
              <a:ext uri="{FF2B5EF4-FFF2-40B4-BE49-F238E27FC236}">
                <a16:creationId xmlns:a16="http://schemas.microsoft.com/office/drawing/2014/main" id="{F1E3AE8A-912F-F466-488E-923362C24F1A}"/>
              </a:ext>
            </a:extLst>
          </p:cNvPr>
          <p:cNvSpPr>
            <a:spLocks noGrp="1"/>
          </p:cNvSpPr>
          <p:nvPr>
            <p:ph type="body" sz="quarter" idx="14"/>
          </p:nvPr>
        </p:nvSpPr>
        <p:spPr>
          <a:xfrm>
            <a:off x="1156921" y="1517904"/>
            <a:ext cx="10275570" cy="5705856"/>
          </a:xfrm>
        </p:spPr>
        <p:txBody>
          <a:bodyPr>
            <a:normAutofit/>
          </a:bodyPr>
          <a:lstStyle/>
          <a:p>
            <a:pPr algn="just">
              <a:buBlip>
                <a:blip r:embed="rId2"/>
              </a:buBlip>
            </a:pPr>
            <a:r>
              <a:rPr lang="en-US" dirty="0"/>
              <a:t> An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Alternate Key </a:t>
            </a:r>
            <a:r>
              <a:rPr lang="en-US" dirty="0"/>
              <a:t>is a candidate key that was not selected as the Primary Key but can still uniquely identify a record.</a:t>
            </a:r>
          </a:p>
          <a:p>
            <a:pPr algn="just">
              <a:buBlip>
                <a:blip r:embed="rId2"/>
              </a:buBlip>
            </a:pPr>
            <a:r>
              <a:rPr lang="en-US" dirty="0"/>
              <a:t> In practice, Alternate Keys are usually implemented using UNIQUE constraints.</a:t>
            </a:r>
          </a:p>
          <a:p>
            <a:pPr algn="just">
              <a:buBlip>
                <a:blip r:embed="rId2"/>
              </a:buBlip>
            </a:pPr>
            <a:r>
              <a:rPr lang="en-US" dirty="0"/>
              <a:t> Multiple Alternate keys can exist.</a:t>
            </a:r>
          </a:p>
          <a:p>
            <a:pPr algn="just">
              <a:buBlip>
                <a:blip r:embed="rId2"/>
              </a:buBlip>
            </a:pPr>
            <a:r>
              <a:rPr lang="en-US" dirty="0"/>
              <a:t> Helps enforce additional uniqueness rules.</a:t>
            </a:r>
          </a:p>
          <a:p>
            <a:pPr marL="0" indent="0" algn="just">
              <a:buNone/>
            </a:pPr>
            <a:endParaRPr lang="en-US" dirty="0"/>
          </a:p>
          <a:p>
            <a:pPr marL="0" indent="0">
              <a:buNone/>
            </a:pPr>
            <a:r>
              <a:rPr lang="en-US" sz="28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endParaRPr lang="en-US"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US" dirty="0"/>
              <a:t>CREATE TABLE </a:t>
            </a:r>
            <a:r>
              <a:rPr lang="en-US" dirty="0" err="1"/>
              <a:t>table_name</a:t>
            </a:r>
            <a:r>
              <a:rPr lang="en-US" dirty="0"/>
              <a:t> (</a:t>
            </a:r>
            <a:br>
              <a:rPr lang="en-US" dirty="0"/>
            </a:br>
            <a:r>
              <a:rPr lang="en-US" dirty="0" err="1"/>
              <a:t>primary_column</a:t>
            </a:r>
            <a:r>
              <a:rPr lang="en-US" dirty="0"/>
              <a:t> datatype PRIMARY KEY,</a:t>
            </a:r>
            <a:br>
              <a:rPr lang="en-US" dirty="0"/>
            </a:br>
            <a:r>
              <a:rPr lang="en-US" dirty="0" err="1"/>
              <a:t>alternate_column</a:t>
            </a:r>
            <a:r>
              <a:rPr lang="en-US" dirty="0"/>
              <a:t> datatype UNIQUE</a:t>
            </a:r>
            <a:br>
              <a:rPr lang="en-US" dirty="0"/>
            </a:br>
            <a:r>
              <a:rPr lang="en-US" dirty="0"/>
              <a:t>);</a:t>
            </a:r>
          </a:p>
        </p:txBody>
      </p:sp>
    </p:spTree>
    <p:extLst>
      <p:ext uri="{BB962C8B-B14F-4D97-AF65-F5344CB8AC3E}">
        <p14:creationId xmlns:p14="http://schemas.microsoft.com/office/powerpoint/2010/main" val="585455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30DED-F5A6-9697-C885-9509DCD8DDCD}"/>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Summary of SQL Keys</a:t>
            </a:r>
          </a:p>
        </p:txBody>
      </p:sp>
      <p:graphicFrame>
        <p:nvGraphicFramePr>
          <p:cNvPr id="4" name="Table 3">
            <a:extLst>
              <a:ext uri="{FF2B5EF4-FFF2-40B4-BE49-F238E27FC236}">
                <a16:creationId xmlns:a16="http://schemas.microsoft.com/office/drawing/2014/main" id="{D4EBFF73-24A0-361C-2B4C-B067217B9A06}"/>
              </a:ext>
            </a:extLst>
          </p:cNvPr>
          <p:cNvGraphicFramePr>
            <a:graphicFrameLocks noGrp="1"/>
          </p:cNvGraphicFramePr>
          <p:nvPr>
            <p:extLst>
              <p:ext uri="{D42A27DB-BD31-4B8C-83A1-F6EECF244321}">
                <p14:modId xmlns:p14="http://schemas.microsoft.com/office/powerpoint/2010/main" val="2884219109"/>
              </p:ext>
            </p:extLst>
          </p:nvPr>
        </p:nvGraphicFramePr>
        <p:xfrm>
          <a:off x="1156921" y="1554281"/>
          <a:ext cx="10346230" cy="4981890"/>
        </p:xfrm>
        <a:graphic>
          <a:graphicData uri="http://schemas.openxmlformats.org/drawingml/2006/table">
            <a:tbl>
              <a:tblPr firstRow="1" bandRow="1">
                <a:tableStyleId>{3B4B98B0-60AC-42C2-AFA5-B58CD77FA1E5}</a:tableStyleId>
              </a:tblPr>
              <a:tblGrid>
                <a:gridCol w="2628695">
                  <a:extLst>
                    <a:ext uri="{9D8B030D-6E8A-4147-A177-3AD203B41FA5}">
                      <a16:colId xmlns:a16="http://schemas.microsoft.com/office/drawing/2014/main" val="3169839058"/>
                    </a:ext>
                  </a:extLst>
                </a:gridCol>
                <a:gridCol w="1810512">
                  <a:extLst>
                    <a:ext uri="{9D8B030D-6E8A-4147-A177-3AD203B41FA5}">
                      <a16:colId xmlns:a16="http://schemas.microsoft.com/office/drawing/2014/main" val="2195953278"/>
                    </a:ext>
                  </a:extLst>
                </a:gridCol>
                <a:gridCol w="1768531">
                  <a:extLst>
                    <a:ext uri="{9D8B030D-6E8A-4147-A177-3AD203B41FA5}">
                      <a16:colId xmlns:a16="http://schemas.microsoft.com/office/drawing/2014/main" val="3266595517"/>
                    </a:ext>
                  </a:extLst>
                </a:gridCol>
                <a:gridCol w="2163389">
                  <a:extLst>
                    <a:ext uri="{9D8B030D-6E8A-4147-A177-3AD203B41FA5}">
                      <a16:colId xmlns:a16="http://schemas.microsoft.com/office/drawing/2014/main" val="2673660705"/>
                    </a:ext>
                  </a:extLst>
                </a:gridCol>
                <a:gridCol w="1975103">
                  <a:extLst>
                    <a:ext uri="{9D8B030D-6E8A-4147-A177-3AD203B41FA5}">
                      <a16:colId xmlns:a16="http://schemas.microsoft.com/office/drawing/2014/main" val="3072500617"/>
                    </a:ext>
                  </a:extLst>
                </a:gridCol>
              </a:tblGrid>
              <a:tr h="830315">
                <a:tc>
                  <a:txBody>
                    <a:bodyPr/>
                    <a:lstStyle/>
                    <a:p>
                      <a:endPar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Key Type</a:t>
                      </a:r>
                    </a:p>
                  </a:txBody>
                  <a:tcPr>
                    <a:solidFill>
                      <a:schemeClr val="bg1"/>
                    </a:solidFill>
                  </a:tcPr>
                </a:tc>
                <a:tc>
                  <a:txBody>
                    <a:bodyPr/>
                    <a:lstStyle/>
                    <a:p>
                      <a:endPar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Unique</a:t>
                      </a:r>
                    </a:p>
                  </a:txBody>
                  <a:tcPr>
                    <a:solidFill>
                      <a:schemeClr val="bg1"/>
                    </a:solidFill>
                  </a:tcPr>
                </a:tc>
                <a:tc>
                  <a:txBody>
                    <a:bodyPr/>
                    <a:lstStyle/>
                    <a:p>
                      <a:endPar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Null Allowed</a:t>
                      </a:r>
                    </a:p>
                  </a:txBody>
                  <a:tcPr>
                    <a:solidFill>
                      <a:schemeClr val="bg1"/>
                    </a:solidFill>
                  </a:tcPr>
                </a:tc>
                <a:tc>
                  <a:txBody>
                    <a:bodyPr/>
                    <a:lstStyle/>
                    <a:p>
                      <a:endPar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Count per Table</a:t>
                      </a:r>
                    </a:p>
                  </a:txBody>
                  <a:tcPr>
                    <a:solidFill>
                      <a:schemeClr val="bg1"/>
                    </a:solidFill>
                  </a:tcPr>
                </a:tc>
                <a:tc>
                  <a:txBody>
                    <a:bodyPr/>
                    <a:lstStyle/>
                    <a:p>
                      <a:endPar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Purpose</a:t>
                      </a:r>
                    </a:p>
                  </a:txBody>
                  <a:tcPr>
                    <a:solidFill>
                      <a:schemeClr val="bg1"/>
                    </a:solidFill>
                  </a:tcPr>
                </a:tc>
                <a:extLst>
                  <a:ext uri="{0D108BD9-81ED-4DB2-BD59-A6C34878D82A}">
                    <a16:rowId xmlns:a16="http://schemas.microsoft.com/office/drawing/2014/main" val="1661899361"/>
                  </a:ext>
                </a:extLst>
              </a:tr>
              <a:tr h="830315">
                <a:tc>
                  <a:txBody>
                    <a:bodyPr/>
                    <a:lstStyle/>
                    <a:p>
                      <a:r>
                        <a:rPr lang="en-US" sz="2000" dirty="0"/>
                        <a:t>🔑 </a:t>
                      </a:r>
                      <a:r>
                        <a:rPr lang="en-US" sz="2000" b="1" dirty="0">
                          <a:latin typeface="ADLaM Display" panose="02010000000000000000" pitchFamily="2" charset="0"/>
                          <a:ea typeface="ADLaM Display" panose="02010000000000000000" pitchFamily="2" charset="0"/>
                          <a:cs typeface="ADLaM Display" panose="02010000000000000000" pitchFamily="2" charset="0"/>
                        </a:rPr>
                        <a:t>Primary Key</a:t>
                      </a:r>
                    </a:p>
                  </a:txBody>
                  <a:tcPr>
                    <a:solidFill>
                      <a:schemeClr val="bg1"/>
                    </a:solidFill>
                  </a:tcPr>
                </a:tc>
                <a:tc>
                  <a:txBody>
                    <a:bodyPr/>
                    <a:lstStyle/>
                    <a:p>
                      <a:pPr>
                        <a:buNone/>
                      </a:pPr>
                      <a:r>
                        <a:rPr lang="en-US" sz="2000" dirty="0"/>
                        <a:t>✅</a:t>
                      </a:r>
                    </a:p>
                  </a:txBody>
                  <a:tcPr anchor="ctr">
                    <a:solidFill>
                      <a:schemeClr val="bg1"/>
                    </a:solidFill>
                  </a:tcPr>
                </a:tc>
                <a:tc>
                  <a:txBody>
                    <a:bodyPr/>
                    <a:lstStyle/>
                    <a:p>
                      <a:endParaRPr lang="en-US" sz="2000" dirty="0"/>
                    </a:p>
                    <a:p>
                      <a:r>
                        <a:rPr lang="en-US" sz="2000" dirty="0"/>
                        <a:t>❌</a:t>
                      </a:r>
                    </a:p>
                  </a:txBody>
                  <a:tcPr>
                    <a:solidFill>
                      <a:schemeClr val="bg1"/>
                    </a:solidFill>
                  </a:tcPr>
                </a:tc>
                <a:tc>
                  <a:txBody>
                    <a:bodyPr/>
                    <a:lstStyle/>
                    <a:p>
                      <a:r>
                        <a:rPr lang="en-US" sz="2000" dirty="0"/>
                        <a:t>One</a:t>
                      </a:r>
                    </a:p>
                  </a:txBody>
                  <a:tcPr>
                    <a:solidFill>
                      <a:schemeClr val="bg1"/>
                    </a:solidFill>
                  </a:tcPr>
                </a:tc>
                <a:tc>
                  <a:txBody>
                    <a:bodyPr/>
                    <a:lstStyle/>
                    <a:p>
                      <a:r>
                        <a:rPr lang="en-US" sz="2000" dirty="0"/>
                        <a:t>Main identifier</a:t>
                      </a:r>
                    </a:p>
                  </a:txBody>
                  <a:tcPr>
                    <a:solidFill>
                      <a:schemeClr val="bg1"/>
                    </a:solidFill>
                  </a:tcPr>
                </a:tc>
                <a:extLst>
                  <a:ext uri="{0D108BD9-81ED-4DB2-BD59-A6C34878D82A}">
                    <a16:rowId xmlns:a16="http://schemas.microsoft.com/office/drawing/2014/main" val="2405609407"/>
                  </a:ext>
                </a:extLst>
              </a:tr>
              <a:tr h="830315">
                <a:tc>
                  <a:txBody>
                    <a:bodyPr/>
                    <a:lstStyle/>
                    <a:p>
                      <a:r>
                        <a:rPr lang="en-US" sz="2000" dirty="0"/>
                        <a:t>🔒 </a:t>
                      </a:r>
                      <a:r>
                        <a:rPr lang="en-US" sz="2000" b="1" dirty="0">
                          <a:latin typeface="ADLaM Display" panose="02010000000000000000" pitchFamily="2" charset="0"/>
                          <a:ea typeface="ADLaM Display" panose="02010000000000000000" pitchFamily="2" charset="0"/>
                          <a:cs typeface="ADLaM Display" panose="02010000000000000000" pitchFamily="2" charset="0"/>
                        </a:rPr>
                        <a:t>Unique Key</a:t>
                      </a:r>
                    </a:p>
                  </a:txBody>
                  <a:tcPr>
                    <a:solidFill>
                      <a:schemeClr val="bg1"/>
                    </a:solidFill>
                  </a:tcPr>
                </a:tc>
                <a:tc>
                  <a:txBody>
                    <a:bodyPr/>
                    <a:lstStyle/>
                    <a:p>
                      <a:r>
                        <a:rPr lang="en-US" sz="2000" dirty="0"/>
                        <a:t>✅</a:t>
                      </a:r>
                    </a:p>
                  </a:txBody>
                  <a:tcPr>
                    <a:solidFill>
                      <a:schemeClr val="bg1"/>
                    </a:solidFill>
                  </a:tcPr>
                </a:tc>
                <a:tc>
                  <a:txBody>
                    <a:bodyPr/>
                    <a:lstStyle/>
                    <a:p>
                      <a:r>
                        <a:rPr lang="en-US" sz="2000" dirty="0"/>
                        <a:t>Usually Yes</a:t>
                      </a:r>
                    </a:p>
                  </a:txBody>
                  <a:tcPr>
                    <a:solidFill>
                      <a:schemeClr val="bg1"/>
                    </a:solidFill>
                  </a:tcPr>
                </a:tc>
                <a:tc>
                  <a:txBody>
                    <a:bodyPr/>
                    <a:lstStyle/>
                    <a:p>
                      <a:r>
                        <a:rPr lang="en-US" sz="2000" dirty="0"/>
                        <a:t>Multiple</a:t>
                      </a:r>
                    </a:p>
                  </a:txBody>
                  <a:tcPr>
                    <a:solidFill>
                      <a:schemeClr val="bg1"/>
                    </a:solidFill>
                  </a:tcPr>
                </a:tc>
                <a:tc>
                  <a:txBody>
                    <a:bodyPr/>
                    <a:lstStyle/>
                    <a:p>
                      <a:r>
                        <a:rPr lang="en-US" sz="2000" dirty="0"/>
                        <a:t>Enforce uniqueness</a:t>
                      </a:r>
                    </a:p>
                  </a:txBody>
                  <a:tcPr>
                    <a:solidFill>
                      <a:schemeClr val="bg1"/>
                    </a:solidFill>
                  </a:tcPr>
                </a:tc>
                <a:extLst>
                  <a:ext uri="{0D108BD9-81ED-4DB2-BD59-A6C34878D82A}">
                    <a16:rowId xmlns:a16="http://schemas.microsoft.com/office/drawing/2014/main" val="1496776831"/>
                  </a:ext>
                </a:extLst>
              </a:tr>
              <a:tr h="830315">
                <a:tc>
                  <a:txBody>
                    <a:bodyPr/>
                    <a:lstStyle/>
                    <a:p>
                      <a:r>
                        <a:rPr lang="en-US" sz="2000" dirty="0"/>
                        <a:t>🔗 </a:t>
                      </a:r>
                      <a:r>
                        <a:rPr lang="en-US" sz="2000" b="1" dirty="0">
                          <a:latin typeface="ADLaM Display" panose="02010000000000000000" pitchFamily="2" charset="0"/>
                          <a:ea typeface="ADLaM Display" panose="02010000000000000000" pitchFamily="2" charset="0"/>
                          <a:cs typeface="ADLaM Display" panose="02010000000000000000" pitchFamily="2" charset="0"/>
                        </a:rPr>
                        <a:t>Foreign Key</a:t>
                      </a:r>
                    </a:p>
                  </a:txBody>
                  <a:tcPr>
                    <a:solidFill>
                      <a:schemeClr val="bg1"/>
                    </a:solidFill>
                  </a:tcPr>
                </a:tc>
                <a:tc>
                  <a:txBody>
                    <a:bodyPr/>
                    <a:lstStyle/>
                    <a:p>
                      <a:r>
                        <a:rPr lang="en-US" sz="2000" dirty="0"/>
                        <a:t>❌</a:t>
                      </a:r>
                    </a:p>
                  </a:txBody>
                  <a:tcPr>
                    <a:solidFill>
                      <a:schemeClr val="bg1"/>
                    </a:solidFill>
                  </a:tcPr>
                </a:tc>
                <a:tc>
                  <a:txBody>
                    <a:bodyPr/>
                    <a:lstStyle/>
                    <a:p>
                      <a:r>
                        <a:rPr lang="en-US" sz="2000" dirty="0"/>
                        <a:t>Yes</a:t>
                      </a:r>
                    </a:p>
                  </a:txBody>
                  <a:tcPr>
                    <a:solidFill>
                      <a:schemeClr val="bg1"/>
                    </a:solidFill>
                  </a:tcPr>
                </a:tc>
                <a:tc>
                  <a:txBody>
                    <a:bodyPr/>
                    <a:lstStyle/>
                    <a:p>
                      <a:r>
                        <a:rPr lang="en-US" sz="2000" dirty="0"/>
                        <a:t>Multiple</a:t>
                      </a:r>
                    </a:p>
                  </a:txBody>
                  <a:tcPr>
                    <a:solidFill>
                      <a:schemeClr val="bg1"/>
                    </a:solidFill>
                  </a:tcPr>
                </a:tc>
                <a:tc>
                  <a:txBody>
                    <a:bodyPr/>
                    <a:lstStyle/>
                    <a:p>
                      <a:r>
                        <a:rPr lang="en-US" sz="2000" dirty="0"/>
                        <a:t>Create relationships</a:t>
                      </a:r>
                    </a:p>
                  </a:txBody>
                  <a:tcPr>
                    <a:solidFill>
                      <a:schemeClr val="bg1"/>
                    </a:solidFill>
                  </a:tcPr>
                </a:tc>
                <a:extLst>
                  <a:ext uri="{0D108BD9-81ED-4DB2-BD59-A6C34878D82A}">
                    <a16:rowId xmlns:a16="http://schemas.microsoft.com/office/drawing/2014/main" val="4091140876"/>
                  </a:ext>
                </a:extLst>
              </a:tr>
              <a:tr h="830315">
                <a:tc>
                  <a:txBody>
                    <a:bodyPr/>
                    <a:lstStyle/>
                    <a:p>
                      <a:r>
                        <a:rPr lang="en-US" sz="2000" dirty="0"/>
                        <a:t>🧩 </a:t>
                      </a:r>
                      <a:r>
                        <a:rPr lang="en-US" sz="2000" b="1" dirty="0">
                          <a:latin typeface="ADLaM Display" panose="02010000000000000000" pitchFamily="2" charset="0"/>
                          <a:ea typeface="ADLaM Display" panose="02010000000000000000" pitchFamily="2" charset="0"/>
                          <a:cs typeface="ADLaM Display" panose="02010000000000000000" pitchFamily="2" charset="0"/>
                        </a:rPr>
                        <a:t>Composite Key</a:t>
                      </a:r>
                    </a:p>
                  </a:txBody>
                  <a:tcPr>
                    <a:solidFill>
                      <a:schemeClr val="bg1"/>
                    </a:solidFill>
                  </a:tcPr>
                </a:tc>
                <a:tc>
                  <a:txBody>
                    <a:bodyPr/>
                    <a:lstStyle/>
                    <a:p>
                      <a:r>
                        <a:rPr lang="en-US" sz="2000" dirty="0"/>
                        <a:t>✅ (Combination)</a:t>
                      </a:r>
                    </a:p>
                  </a:txBody>
                  <a:tcPr>
                    <a:solidFill>
                      <a:schemeClr val="bg1"/>
                    </a:solidFill>
                  </a:tcPr>
                </a:tc>
                <a:tc>
                  <a:txBody>
                    <a:bodyPr/>
                    <a:lstStyle/>
                    <a:p>
                      <a:r>
                        <a:rPr lang="en-US" sz="2000" dirty="0"/>
                        <a:t>Depends</a:t>
                      </a:r>
                    </a:p>
                  </a:txBody>
                  <a:tcPr>
                    <a:solidFill>
                      <a:schemeClr val="bg1"/>
                    </a:solidFill>
                  </a:tcPr>
                </a:tc>
                <a:tc>
                  <a:txBody>
                    <a:bodyPr/>
                    <a:lstStyle/>
                    <a:p>
                      <a:r>
                        <a:rPr lang="en-US" sz="2000" dirty="0"/>
                        <a:t>One PK/FK combination</a:t>
                      </a:r>
                    </a:p>
                  </a:txBody>
                  <a:tcPr>
                    <a:solidFill>
                      <a:schemeClr val="bg1"/>
                    </a:solidFill>
                  </a:tcPr>
                </a:tc>
                <a:tc>
                  <a:txBody>
                    <a:bodyPr/>
                    <a:lstStyle/>
                    <a:p>
                      <a:r>
                        <a:rPr lang="en-US" sz="2000" dirty="0"/>
                        <a:t>Multi-column identification</a:t>
                      </a:r>
                    </a:p>
                  </a:txBody>
                  <a:tcPr>
                    <a:solidFill>
                      <a:schemeClr val="bg1"/>
                    </a:solidFill>
                  </a:tcPr>
                </a:tc>
                <a:extLst>
                  <a:ext uri="{0D108BD9-81ED-4DB2-BD59-A6C34878D82A}">
                    <a16:rowId xmlns:a16="http://schemas.microsoft.com/office/drawing/2014/main" val="3843065707"/>
                  </a:ext>
                </a:extLst>
              </a:tr>
              <a:tr h="830315">
                <a:tc>
                  <a:txBody>
                    <a:bodyPr/>
                    <a:lstStyle/>
                    <a:p>
                      <a:r>
                        <a:rPr lang="en-US" sz="2000" dirty="0"/>
                        <a:t>⭐ </a:t>
                      </a:r>
                      <a:r>
                        <a:rPr lang="en-US" sz="2000" b="1" dirty="0">
                          <a:latin typeface="ADLaM Display" panose="02010000000000000000" pitchFamily="2" charset="0"/>
                          <a:ea typeface="ADLaM Display" panose="02010000000000000000" pitchFamily="2" charset="0"/>
                          <a:cs typeface="ADLaM Display" panose="02010000000000000000" pitchFamily="2" charset="0"/>
                        </a:rPr>
                        <a:t>Alternate Key</a:t>
                      </a:r>
                    </a:p>
                  </a:txBody>
                  <a:tcPr>
                    <a:solidFill>
                      <a:schemeClr val="bg1"/>
                    </a:solidFill>
                  </a:tcPr>
                </a:tc>
                <a:tc>
                  <a:txBody>
                    <a:bodyPr/>
                    <a:lstStyle/>
                    <a:p>
                      <a:r>
                        <a:rPr lang="en-US" sz="2000" dirty="0"/>
                        <a:t>✅</a:t>
                      </a:r>
                    </a:p>
                  </a:txBody>
                  <a:tcPr>
                    <a:solidFill>
                      <a:schemeClr val="bg1"/>
                    </a:solidFill>
                  </a:tcPr>
                </a:tc>
                <a:tc>
                  <a:txBody>
                    <a:bodyPr/>
                    <a:lstStyle/>
                    <a:p>
                      <a:r>
                        <a:rPr lang="en-US" sz="2000" dirty="0"/>
                        <a:t>Usually Yes</a:t>
                      </a:r>
                    </a:p>
                  </a:txBody>
                  <a:tcPr>
                    <a:solidFill>
                      <a:schemeClr val="bg1"/>
                    </a:solidFill>
                  </a:tcPr>
                </a:tc>
                <a:tc>
                  <a:txBody>
                    <a:bodyPr/>
                    <a:lstStyle/>
                    <a:p>
                      <a:r>
                        <a:rPr lang="en-US" sz="2000" dirty="0"/>
                        <a:t>Multiple</a:t>
                      </a:r>
                    </a:p>
                  </a:txBody>
                  <a:tcPr>
                    <a:solidFill>
                      <a:schemeClr val="bg1"/>
                    </a:solidFill>
                  </a:tcPr>
                </a:tc>
                <a:tc>
                  <a:txBody>
                    <a:bodyPr/>
                    <a:lstStyle/>
                    <a:p>
                      <a:r>
                        <a:rPr lang="en-US" sz="2000" dirty="0"/>
                        <a:t>Alternative unique identifier</a:t>
                      </a:r>
                    </a:p>
                  </a:txBody>
                  <a:tcPr>
                    <a:solidFill>
                      <a:schemeClr val="bg1"/>
                    </a:solidFill>
                  </a:tcPr>
                </a:tc>
                <a:extLst>
                  <a:ext uri="{0D108BD9-81ED-4DB2-BD59-A6C34878D82A}">
                    <a16:rowId xmlns:a16="http://schemas.microsoft.com/office/drawing/2014/main" val="2234671211"/>
                  </a:ext>
                </a:extLst>
              </a:tr>
            </a:tbl>
          </a:graphicData>
        </a:graphic>
      </p:graphicFrame>
    </p:spTree>
    <p:extLst>
      <p:ext uri="{BB962C8B-B14F-4D97-AF65-F5344CB8AC3E}">
        <p14:creationId xmlns:p14="http://schemas.microsoft.com/office/powerpoint/2010/main" val="27622647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DA05B-D52A-B68C-BE96-900016289266}"/>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Data Integrity</a:t>
            </a:r>
          </a:p>
        </p:txBody>
      </p:sp>
      <p:sp>
        <p:nvSpPr>
          <p:cNvPr id="3" name="Text Placeholder 2">
            <a:extLst>
              <a:ext uri="{FF2B5EF4-FFF2-40B4-BE49-F238E27FC236}">
                <a16:creationId xmlns:a16="http://schemas.microsoft.com/office/drawing/2014/main" id="{FCF5094B-4FFD-657A-5CFE-0EA902915240}"/>
              </a:ext>
            </a:extLst>
          </p:cNvPr>
          <p:cNvSpPr>
            <a:spLocks noGrp="1"/>
          </p:cNvSpPr>
          <p:nvPr>
            <p:ph type="body" sz="quarter" idx="14"/>
          </p:nvPr>
        </p:nvSpPr>
        <p:spPr>
          <a:xfrm>
            <a:off x="7863842" y="1496334"/>
            <a:ext cx="4053838" cy="5361666"/>
          </a:xfrm>
        </p:spPr>
        <p:txBody>
          <a:bodyPr>
            <a:normAutofit fontScale="92500"/>
          </a:bodyPr>
          <a:lstStyle/>
          <a:p>
            <a:pPr algn="just">
              <a:buBlip>
                <a:blip r:embed="rId2"/>
              </a:buBlip>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Entity Integrity </a:t>
            </a:r>
            <a:r>
              <a:rPr lang="en-US" dirty="0"/>
              <a:t>– This ensures that there are no duplicate rows in a table.</a:t>
            </a:r>
          </a:p>
          <a:p>
            <a:pPr algn="just">
              <a:buBlip>
                <a:blip r:embed="rId2"/>
              </a:buBlip>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Domain Integrity </a:t>
            </a:r>
            <a:r>
              <a:rPr lang="en-US" dirty="0"/>
              <a:t>– Enforces valid entries for a given column by restricting the type, the format, or the range of values.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Referential Integrity </a:t>
            </a:r>
            <a:r>
              <a:rPr lang="en-US" dirty="0"/>
              <a:t>– Rows cannot be deleted, which are used by other records.</a:t>
            </a:r>
          </a:p>
          <a:p>
            <a:pPr algn="just">
              <a:buBlip>
                <a:blip r:embed="rId2"/>
              </a:buBlip>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User-Defined Integrity </a:t>
            </a:r>
            <a:r>
              <a:rPr lang="en-US" dirty="0"/>
              <a:t>– Enforces some specific business rules that do not fall into entity, domain or referential integrity.</a:t>
            </a:r>
          </a:p>
        </p:txBody>
      </p:sp>
      <p:pic>
        <p:nvPicPr>
          <p:cNvPr id="5" name="Picture 4">
            <a:extLst>
              <a:ext uri="{FF2B5EF4-FFF2-40B4-BE49-F238E27FC236}">
                <a16:creationId xmlns:a16="http://schemas.microsoft.com/office/drawing/2014/main" id="{38D7AAFC-B72B-D182-0ADA-024E4FB185BD}"/>
              </a:ext>
            </a:extLst>
          </p:cNvPr>
          <p:cNvPicPr>
            <a:picLocks noChangeAspect="1"/>
          </p:cNvPicPr>
          <p:nvPr/>
        </p:nvPicPr>
        <p:blipFill>
          <a:blip r:embed="rId3"/>
          <a:stretch>
            <a:fillRect/>
          </a:stretch>
        </p:blipFill>
        <p:spPr>
          <a:xfrm>
            <a:off x="128017" y="1496334"/>
            <a:ext cx="7882128" cy="5254752"/>
          </a:xfrm>
          <a:prstGeom prst="rect">
            <a:avLst/>
          </a:prstGeom>
        </p:spPr>
      </p:pic>
    </p:spTree>
    <p:extLst>
      <p:ext uri="{BB962C8B-B14F-4D97-AF65-F5344CB8AC3E}">
        <p14:creationId xmlns:p14="http://schemas.microsoft.com/office/powerpoint/2010/main" val="23024560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0507F-5DC3-60DA-C419-182A5DCD8261}"/>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Aliases</a:t>
            </a:r>
          </a:p>
        </p:txBody>
      </p:sp>
      <p:sp>
        <p:nvSpPr>
          <p:cNvPr id="3" name="Text Placeholder 2">
            <a:extLst>
              <a:ext uri="{FF2B5EF4-FFF2-40B4-BE49-F238E27FC236}">
                <a16:creationId xmlns:a16="http://schemas.microsoft.com/office/drawing/2014/main" id="{9FBF273A-F5CB-F1CB-CDE4-665F23136D44}"/>
              </a:ext>
            </a:extLst>
          </p:cNvPr>
          <p:cNvSpPr>
            <a:spLocks noGrp="1"/>
          </p:cNvSpPr>
          <p:nvPr>
            <p:ph type="body" sz="quarter" idx="14"/>
          </p:nvPr>
        </p:nvSpPr>
        <p:spPr/>
        <p:txBody>
          <a:bodyPr/>
          <a:lstStyle/>
          <a:p>
            <a:r>
              <a:rPr lang="en-US" dirty="0"/>
              <a:t> An alias is created with the AS keyword, and is often used to make a column name more readable.</a:t>
            </a:r>
          </a:p>
          <a:p>
            <a:r>
              <a:rPr lang="en-US" dirty="0"/>
              <a:t>An alias only exists for the duration of that query.</a:t>
            </a:r>
          </a:p>
          <a:p>
            <a:pPr marL="0" indent="0">
              <a:buNone/>
            </a:pPr>
            <a:r>
              <a:rPr lang="en-US" sz="32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p>
          <a:p>
            <a:pPr marL="0" indent="0">
              <a:buNone/>
            </a:pPr>
            <a:r>
              <a:rPr lang="en-US" dirty="0"/>
              <a:t>Alias for column:</a:t>
            </a:r>
          </a:p>
          <a:p>
            <a:r>
              <a:rPr lang="en-US" dirty="0"/>
              <a:t>SELECT </a:t>
            </a:r>
            <a:r>
              <a:rPr lang="en-US" i="1" dirty="0" err="1"/>
              <a:t>column_name</a:t>
            </a:r>
            <a:r>
              <a:rPr lang="en-US" dirty="0"/>
              <a:t> AS </a:t>
            </a:r>
            <a:r>
              <a:rPr lang="en-US" i="1" dirty="0" err="1"/>
              <a:t>alias_name</a:t>
            </a:r>
            <a:br>
              <a:rPr lang="en-US" dirty="0"/>
            </a:br>
            <a:r>
              <a:rPr lang="en-US" dirty="0"/>
              <a:t>FROM </a:t>
            </a:r>
            <a:r>
              <a:rPr lang="en-US" i="1" dirty="0" err="1"/>
              <a:t>table_name</a:t>
            </a:r>
            <a:r>
              <a:rPr lang="en-US" i="1" dirty="0"/>
              <a:t>;</a:t>
            </a:r>
            <a:endParaRPr lang="en-US" dirty="0"/>
          </a:p>
          <a:p>
            <a:pPr marL="0" indent="0">
              <a:buNone/>
            </a:pPr>
            <a:r>
              <a:rPr lang="en-US" dirty="0"/>
              <a:t>Alias for table:</a:t>
            </a:r>
          </a:p>
          <a:p>
            <a:r>
              <a:rPr lang="en-US" dirty="0"/>
              <a:t>SELECT </a:t>
            </a:r>
            <a:r>
              <a:rPr lang="en-US" i="1" dirty="0" err="1"/>
              <a:t>column_name</a:t>
            </a:r>
            <a:r>
              <a:rPr lang="en-US" i="1" dirty="0"/>
              <a:t>(s)</a:t>
            </a:r>
            <a:br>
              <a:rPr lang="en-US" dirty="0"/>
            </a:br>
            <a:r>
              <a:rPr lang="en-US" dirty="0"/>
              <a:t>FROM </a:t>
            </a:r>
            <a:r>
              <a:rPr lang="en-US" i="1" dirty="0" err="1"/>
              <a:t>table_name</a:t>
            </a:r>
            <a:r>
              <a:rPr lang="en-US" i="1" dirty="0"/>
              <a:t> </a:t>
            </a:r>
            <a:r>
              <a:rPr lang="en-US" dirty="0"/>
              <a:t>AS </a:t>
            </a:r>
            <a:r>
              <a:rPr lang="en-US" i="1" dirty="0" err="1"/>
              <a:t>alias_name</a:t>
            </a:r>
            <a:r>
              <a:rPr lang="en-US" i="1" dirty="0"/>
              <a:t>;</a:t>
            </a:r>
            <a:endParaRPr lang="en-US" dirty="0"/>
          </a:p>
          <a:p>
            <a:pPr marL="0" indent="0">
              <a:buNone/>
            </a:pPr>
            <a:endParaRPr lang="en-US" dirty="0"/>
          </a:p>
          <a:p>
            <a:endParaRPr lang="en-US" dirty="0"/>
          </a:p>
        </p:txBody>
      </p:sp>
    </p:spTree>
    <p:extLst>
      <p:ext uri="{BB962C8B-B14F-4D97-AF65-F5344CB8AC3E}">
        <p14:creationId xmlns:p14="http://schemas.microsoft.com/office/powerpoint/2010/main" val="23229344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8C943-DDE4-723F-A2DC-BAF0895B45E5}"/>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SELECT INTO Statement</a:t>
            </a:r>
          </a:p>
        </p:txBody>
      </p:sp>
      <p:sp>
        <p:nvSpPr>
          <p:cNvPr id="3" name="Text Placeholder 2">
            <a:extLst>
              <a:ext uri="{FF2B5EF4-FFF2-40B4-BE49-F238E27FC236}">
                <a16:creationId xmlns:a16="http://schemas.microsoft.com/office/drawing/2014/main" id="{6F88AB3E-562C-7C4A-0A55-0132F92D2341}"/>
              </a:ext>
            </a:extLst>
          </p:cNvPr>
          <p:cNvSpPr>
            <a:spLocks noGrp="1"/>
          </p:cNvSpPr>
          <p:nvPr>
            <p:ph type="body" sz="quarter" idx="14"/>
          </p:nvPr>
        </p:nvSpPr>
        <p:spPr>
          <a:xfrm>
            <a:off x="1156921" y="1478211"/>
            <a:ext cx="10586844" cy="5119812"/>
          </a:xfrm>
        </p:spPr>
        <p:txBody>
          <a:bodyPr/>
          <a:lstStyle/>
          <a:p>
            <a:r>
              <a:rPr lang="en-US" dirty="0"/>
              <a:t> The SELECT INTO statement is used to create a new table and fill it with data from an existing table.</a:t>
            </a:r>
          </a:p>
          <a:p>
            <a:r>
              <a:rPr lang="en-US" dirty="0"/>
              <a:t>The SELECT INTO statement is useful for creating backups or for creating a temporary table for analysis.</a:t>
            </a:r>
          </a:p>
          <a:p>
            <a:pPr>
              <a:buBlip>
                <a:blip r:embed="rId2"/>
              </a:buBlip>
            </a:pPr>
            <a:r>
              <a:rPr lang="en-US" b="1" dirty="0"/>
              <a:t> Note:</a:t>
            </a:r>
            <a:r>
              <a:rPr lang="en-US" dirty="0"/>
              <a:t> The new table will be created with the same column names and data types as defined in the source table. However, primary keys, indexes, or NOT NULL constraints are not automatically transferred.</a:t>
            </a:r>
          </a:p>
        </p:txBody>
      </p:sp>
      <p:sp>
        <p:nvSpPr>
          <p:cNvPr id="4" name="Rectangle: Rounded Corners 3">
            <a:extLst>
              <a:ext uri="{FF2B5EF4-FFF2-40B4-BE49-F238E27FC236}">
                <a16:creationId xmlns:a16="http://schemas.microsoft.com/office/drawing/2014/main" id="{8D998DFA-14BD-803B-00B6-DAEA6765F8C7}"/>
              </a:ext>
            </a:extLst>
          </p:cNvPr>
          <p:cNvSpPr/>
          <p:nvPr/>
        </p:nvSpPr>
        <p:spPr>
          <a:xfrm>
            <a:off x="1434353" y="4808117"/>
            <a:ext cx="4661647" cy="1936375"/>
          </a:xfrm>
          <a:prstGeom prst="roundRect">
            <a:avLst/>
          </a:prstGeom>
          <a:ln w="57150">
            <a:solidFill>
              <a:srgbClr val="FFC000"/>
            </a:solidFill>
          </a:ln>
        </p:spPr>
        <p:style>
          <a:lnRef idx="2">
            <a:schemeClr val="accent1"/>
          </a:lnRef>
          <a:fillRef idx="1">
            <a:schemeClr val="lt1"/>
          </a:fillRef>
          <a:effectRef idx="0">
            <a:schemeClr val="accent1"/>
          </a:effectRef>
          <a:fontRef idx="minor">
            <a:schemeClr val="dk1"/>
          </a:fontRef>
        </p:style>
        <p:txBody>
          <a:bodyPr rtlCol="0" anchor="ctr"/>
          <a:lstStyle/>
          <a:p>
            <a:r>
              <a:rPr lang="en-US" sz="2400" b="1" dirty="0"/>
              <a:t>SELECT * INTO </a:t>
            </a:r>
            <a:r>
              <a:rPr lang="en-US" sz="2400" b="1" i="1" dirty="0" err="1"/>
              <a:t>newtable</a:t>
            </a:r>
            <a:r>
              <a:rPr lang="en-US" sz="2400" b="1" dirty="0"/>
              <a:t> [IN </a:t>
            </a:r>
            <a:r>
              <a:rPr lang="en-US" sz="2400" b="1" i="1" dirty="0" err="1"/>
              <a:t>external_db</a:t>
            </a:r>
            <a:r>
              <a:rPr lang="en-US" sz="2400" b="1" dirty="0"/>
              <a:t>]</a:t>
            </a:r>
            <a:br>
              <a:rPr lang="en-US" sz="2400" b="1" dirty="0"/>
            </a:br>
            <a:r>
              <a:rPr lang="en-US" sz="2400" b="1" dirty="0"/>
              <a:t>FROM </a:t>
            </a:r>
            <a:r>
              <a:rPr lang="en-US" sz="2400" b="1" i="1" dirty="0" err="1"/>
              <a:t>sourcetable</a:t>
            </a:r>
            <a:br>
              <a:rPr lang="en-US" sz="2400" b="1" dirty="0"/>
            </a:br>
            <a:r>
              <a:rPr lang="en-US" sz="2400" b="1" dirty="0"/>
              <a:t>WHERE </a:t>
            </a:r>
            <a:r>
              <a:rPr lang="en-US" sz="2400" b="1" i="1" dirty="0"/>
              <a:t>condition</a:t>
            </a:r>
            <a:r>
              <a:rPr lang="en-US" sz="2400" b="1" dirty="0"/>
              <a:t>;</a:t>
            </a:r>
          </a:p>
        </p:txBody>
      </p:sp>
      <p:sp>
        <p:nvSpPr>
          <p:cNvPr id="5" name="Rectangle: Rounded Corners 4">
            <a:extLst>
              <a:ext uri="{FF2B5EF4-FFF2-40B4-BE49-F238E27FC236}">
                <a16:creationId xmlns:a16="http://schemas.microsoft.com/office/drawing/2014/main" id="{6A1B3562-D103-56C9-1499-9C5A84DFE90D}"/>
              </a:ext>
            </a:extLst>
          </p:cNvPr>
          <p:cNvSpPr/>
          <p:nvPr/>
        </p:nvSpPr>
        <p:spPr>
          <a:xfrm>
            <a:off x="7082119" y="4808117"/>
            <a:ext cx="4661646" cy="1936376"/>
          </a:xfrm>
          <a:prstGeom prst="roundRect">
            <a:avLst/>
          </a:prstGeom>
          <a:ln w="57150">
            <a:solidFill>
              <a:srgbClr val="FFC000"/>
            </a:solidFill>
          </a:ln>
        </p:spPr>
        <p:style>
          <a:lnRef idx="2">
            <a:schemeClr val="accent6"/>
          </a:lnRef>
          <a:fillRef idx="1">
            <a:schemeClr val="lt1"/>
          </a:fillRef>
          <a:effectRef idx="0">
            <a:schemeClr val="accent6"/>
          </a:effectRef>
          <a:fontRef idx="minor">
            <a:schemeClr val="dk1"/>
          </a:fontRef>
        </p:style>
        <p:txBody>
          <a:bodyPr rtlCol="0" anchor="ctr"/>
          <a:lstStyle/>
          <a:p>
            <a:r>
              <a:rPr lang="en-US" sz="2400" b="1" dirty="0"/>
              <a:t>SELECT </a:t>
            </a:r>
            <a:r>
              <a:rPr lang="en-US" sz="2400" b="1" i="1" dirty="0"/>
              <a:t>column1</a:t>
            </a:r>
            <a:r>
              <a:rPr lang="en-US" sz="2400" b="1" dirty="0"/>
              <a:t>, </a:t>
            </a:r>
            <a:r>
              <a:rPr lang="en-US" sz="2400" b="1" i="1" dirty="0"/>
              <a:t>column2</a:t>
            </a:r>
            <a:r>
              <a:rPr lang="en-US" sz="2400" b="1" dirty="0"/>
              <a:t>, </a:t>
            </a:r>
            <a:r>
              <a:rPr lang="en-US" sz="2400" b="1" i="1" dirty="0"/>
              <a:t>column3</a:t>
            </a:r>
            <a:r>
              <a:rPr lang="en-US" sz="2400" b="1" dirty="0"/>
              <a:t>, ...</a:t>
            </a:r>
            <a:br>
              <a:rPr lang="en-US" sz="2400" b="1" dirty="0"/>
            </a:br>
            <a:r>
              <a:rPr lang="en-US" sz="2400" b="1" dirty="0"/>
              <a:t>INTO </a:t>
            </a:r>
            <a:r>
              <a:rPr lang="en-US" sz="2400" b="1" i="1" dirty="0" err="1"/>
              <a:t>newtable</a:t>
            </a:r>
            <a:r>
              <a:rPr lang="en-US" sz="2400" b="1" dirty="0"/>
              <a:t> [IN </a:t>
            </a:r>
            <a:r>
              <a:rPr lang="en-US" sz="2400" b="1" i="1" dirty="0" err="1"/>
              <a:t>external_db</a:t>
            </a:r>
            <a:r>
              <a:rPr lang="en-US" sz="2400" b="1" dirty="0"/>
              <a:t>]</a:t>
            </a:r>
            <a:br>
              <a:rPr lang="en-US" sz="2400" b="1" dirty="0"/>
            </a:br>
            <a:r>
              <a:rPr lang="en-US" sz="2400" b="1" dirty="0"/>
              <a:t>FROM </a:t>
            </a:r>
            <a:r>
              <a:rPr lang="en-US" sz="2400" b="1" i="1" dirty="0" err="1"/>
              <a:t>sourcetable</a:t>
            </a:r>
            <a:br>
              <a:rPr lang="en-US" sz="2400" b="1" dirty="0"/>
            </a:br>
            <a:r>
              <a:rPr lang="en-US" sz="2400" b="1" dirty="0"/>
              <a:t>WHERE </a:t>
            </a:r>
            <a:r>
              <a:rPr lang="en-US" sz="2400" b="1" i="1" dirty="0"/>
              <a:t>condition;</a:t>
            </a:r>
            <a:endParaRPr lang="en-US" sz="2400" b="1" dirty="0"/>
          </a:p>
        </p:txBody>
      </p:sp>
      <p:sp>
        <p:nvSpPr>
          <p:cNvPr id="6" name="Title 1">
            <a:extLst>
              <a:ext uri="{FF2B5EF4-FFF2-40B4-BE49-F238E27FC236}">
                <a16:creationId xmlns:a16="http://schemas.microsoft.com/office/drawing/2014/main" id="{64929B6E-00D7-78E7-C3EF-8803B27F8A28}"/>
              </a:ext>
            </a:extLst>
          </p:cNvPr>
          <p:cNvSpPr txBox="1">
            <a:spLocks/>
          </p:cNvSpPr>
          <p:nvPr/>
        </p:nvSpPr>
        <p:spPr>
          <a:xfrm>
            <a:off x="1434353" y="4378501"/>
            <a:ext cx="4947354" cy="356381"/>
          </a:xfrm>
          <a:prstGeom prst="rect">
            <a:avLst/>
          </a:prstGeom>
        </p:spPr>
        <p:txBody>
          <a:bodyPr/>
          <a:lstStyle>
            <a:lvl1pPr algn="l" defTabSz="685800" rtl="0" eaLnBrk="1" latinLnBrk="0" hangingPunct="1">
              <a:lnSpc>
                <a:spcPct val="90000"/>
              </a:lnSpc>
              <a:spcBef>
                <a:spcPct val="0"/>
              </a:spcBef>
              <a:buNone/>
              <a:defRPr lang="en-US" sz="3600" b="1" kern="1200" spc="-38" baseline="0" dirty="0">
                <a:solidFill>
                  <a:srgbClr val="002060"/>
                </a:solidFill>
                <a:latin typeface="+mn-lt"/>
                <a:ea typeface="+mj-ea"/>
                <a:cs typeface="+mj-cs"/>
              </a:defRPr>
            </a:lvl1pPr>
          </a:lstStyle>
          <a:p>
            <a:r>
              <a:rPr lang="en-US" sz="2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Copy entire table into a new table</a:t>
            </a:r>
          </a:p>
        </p:txBody>
      </p:sp>
      <p:sp>
        <p:nvSpPr>
          <p:cNvPr id="7" name="Title 1">
            <a:extLst>
              <a:ext uri="{FF2B5EF4-FFF2-40B4-BE49-F238E27FC236}">
                <a16:creationId xmlns:a16="http://schemas.microsoft.com/office/drawing/2014/main" id="{99C3CC52-20B3-9B4D-3316-3FBF1D589CA6}"/>
              </a:ext>
            </a:extLst>
          </p:cNvPr>
          <p:cNvSpPr txBox="1">
            <a:spLocks/>
          </p:cNvSpPr>
          <p:nvPr/>
        </p:nvSpPr>
        <p:spPr>
          <a:xfrm>
            <a:off x="6796411" y="4378502"/>
            <a:ext cx="5154232" cy="283146"/>
          </a:xfrm>
          <a:prstGeom prst="rect">
            <a:avLst/>
          </a:prstGeom>
        </p:spPr>
        <p:txBody>
          <a:bodyPr/>
          <a:lstStyle>
            <a:lvl1pPr algn="l" defTabSz="685800" rtl="0" eaLnBrk="1" latinLnBrk="0" hangingPunct="1">
              <a:lnSpc>
                <a:spcPct val="90000"/>
              </a:lnSpc>
              <a:spcBef>
                <a:spcPct val="0"/>
              </a:spcBef>
              <a:buNone/>
              <a:defRPr lang="en-US" sz="3600" b="1" kern="1200" spc="-38" baseline="0" dirty="0">
                <a:solidFill>
                  <a:srgbClr val="002060"/>
                </a:solidFill>
                <a:latin typeface="+mn-lt"/>
                <a:ea typeface="+mj-ea"/>
                <a:cs typeface="+mj-cs"/>
              </a:defRPr>
            </a:lvl1pPr>
          </a:lstStyle>
          <a:p>
            <a:r>
              <a:rPr lang="en-US" sz="2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Copy only some columns into a new table</a:t>
            </a:r>
          </a:p>
        </p:txBody>
      </p:sp>
    </p:spTree>
    <p:extLst>
      <p:ext uri="{BB962C8B-B14F-4D97-AF65-F5344CB8AC3E}">
        <p14:creationId xmlns:p14="http://schemas.microsoft.com/office/powerpoint/2010/main" val="4080482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E3822-6B4A-AC15-1038-065DE86F7E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97571E-0279-1DC8-C7C6-1AE848322F1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INSERT INTO Statement</a:t>
            </a:r>
          </a:p>
        </p:txBody>
      </p:sp>
      <p:sp>
        <p:nvSpPr>
          <p:cNvPr id="3" name="Text Placeholder 2">
            <a:extLst>
              <a:ext uri="{FF2B5EF4-FFF2-40B4-BE49-F238E27FC236}">
                <a16:creationId xmlns:a16="http://schemas.microsoft.com/office/drawing/2014/main" id="{A6E1E7C1-5FBB-F079-D488-F3A741F6272E}"/>
              </a:ext>
            </a:extLst>
          </p:cNvPr>
          <p:cNvSpPr>
            <a:spLocks noGrp="1"/>
          </p:cNvSpPr>
          <p:nvPr>
            <p:ph type="body" sz="quarter" idx="14"/>
          </p:nvPr>
        </p:nvSpPr>
        <p:spPr>
          <a:xfrm>
            <a:off x="1156921" y="1331742"/>
            <a:ext cx="10586844" cy="5119812"/>
          </a:xfrm>
        </p:spPr>
        <p:txBody>
          <a:bodyPr/>
          <a:lstStyle/>
          <a:p>
            <a:r>
              <a:rPr lang="en-US" dirty="0"/>
              <a:t> The INSERT INTO SELECT statement is used to copy data from an existing table and insert it into another existing table.</a:t>
            </a:r>
          </a:p>
          <a:p>
            <a:r>
              <a:rPr lang="en-US" dirty="0"/>
              <a:t>The INSERT INTO SELECT statement requires that the data types in source and target tables match.</a:t>
            </a:r>
          </a:p>
          <a:p>
            <a:r>
              <a:rPr lang="en-US" dirty="0"/>
              <a:t> If you omit the column names, the number and order of columns in the source and target tables must be exactly the same.</a:t>
            </a:r>
          </a:p>
          <a:p>
            <a:pPr>
              <a:buBlip>
                <a:blip r:embed="rId2"/>
              </a:buBlip>
            </a:pPr>
            <a:r>
              <a:rPr lang="en-US" b="1" dirty="0"/>
              <a:t> Note:</a:t>
            </a:r>
            <a:r>
              <a:rPr lang="en-US" dirty="0"/>
              <a:t> The existing records in the target table are unaffected.</a:t>
            </a:r>
          </a:p>
        </p:txBody>
      </p:sp>
      <p:sp>
        <p:nvSpPr>
          <p:cNvPr id="4" name="Rectangle: Rounded Corners 3">
            <a:extLst>
              <a:ext uri="{FF2B5EF4-FFF2-40B4-BE49-F238E27FC236}">
                <a16:creationId xmlns:a16="http://schemas.microsoft.com/office/drawing/2014/main" id="{BF5CCA9D-5CCA-D03B-F1F5-66AEAF1DB265}"/>
              </a:ext>
            </a:extLst>
          </p:cNvPr>
          <p:cNvSpPr/>
          <p:nvPr/>
        </p:nvSpPr>
        <p:spPr>
          <a:xfrm>
            <a:off x="1434353" y="4808117"/>
            <a:ext cx="4661647" cy="1936375"/>
          </a:xfrm>
          <a:prstGeom prst="roundRect">
            <a:avLst/>
          </a:prstGeom>
          <a:ln w="57150">
            <a:solidFill>
              <a:srgbClr val="FFC000"/>
            </a:solidFill>
          </a:ln>
        </p:spPr>
        <p:style>
          <a:lnRef idx="2">
            <a:schemeClr val="accent1"/>
          </a:lnRef>
          <a:fillRef idx="1">
            <a:schemeClr val="lt1"/>
          </a:fillRef>
          <a:effectRef idx="0">
            <a:schemeClr val="accent1"/>
          </a:effectRef>
          <a:fontRef idx="minor">
            <a:schemeClr val="dk1"/>
          </a:fontRef>
        </p:style>
        <p:txBody>
          <a:bodyPr rtlCol="0" anchor="ctr"/>
          <a:lstStyle/>
          <a:p>
            <a:r>
              <a:rPr lang="en-US" sz="2800" b="1" dirty="0"/>
              <a:t>INSERT INTO </a:t>
            </a:r>
            <a:r>
              <a:rPr lang="en-US" sz="2800" b="1" i="1" dirty="0" err="1"/>
              <a:t>target_table</a:t>
            </a:r>
            <a:br>
              <a:rPr lang="en-US" sz="3600" b="1" dirty="0"/>
            </a:br>
            <a:r>
              <a:rPr lang="en-US" sz="2800" b="1" dirty="0"/>
              <a:t>SELECT * FROM </a:t>
            </a:r>
            <a:r>
              <a:rPr lang="en-US" sz="2800" b="1" i="1" dirty="0" err="1"/>
              <a:t>source_table</a:t>
            </a:r>
            <a:br>
              <a:rPr lang="en-US" sz="3600" b="1" dirty="0"/>
            </a:br>
            <a:r>
              <a:rPr lang="en-US" sz="2800" b="1" dirty="0"/>
              <a:t>WHERE </a:t>
            </a:r>
            <a:r>
              <a:rPr lang="en-US" sz="2800" b="1" i="1" dirty="0"/>
              <a:t>condition</a:t>
            </a:r>
            <a:r>
              <a:rPr lang="en-US" sz="2800" b="1" dirty="0"/>
              <a:t>;</a:t>
            </a:r>
            <a:endParaRPr lang="en-US" sz="3600" b="1" dirty="0"/>
          </a:p>
        </p:txBody>
      </p:sp>
      <p:sp>
        <p:nvSpPr>
          <p:cNvPr id="5" name="Rectangle: Rounded Corners 4">
            <a:extLst>
              <a:ext uri="{FF2B5EF4-FFF2-40B4-BE49-F238E27FC236}">
                <a16:creationId xmlns:a16="http://schemas.microsoft.com/office/drawing/2014/main" id="{A034A62D-D870-6DE0-0CFC-A1E0F2C7F438}"/>
              </a:ext>
            </a:extLst>
          </p:cNvPr>
          <p:cNvSpPr/>
          <p:nvPr/>
        </p:nvSpPr>
        <p:spPr>
          <a:xfrm>
            <a:off x="7082119" y="4808117"/>
            <a:ext cx="4661646" cy="1936376"/>
          </a:xfrm>
          <a:prstGeom prst="roundRect">
            <a:avLst/>
          </a:prstGeom>
          <a:ln w="57150">
            <a:solidFill>
              <a:srgbClr val="FFC000"/>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t>INSERT INTO </a:t>
            </a:r>
            <a:r>
              <a:rPr lang="en-US" sz="2000" b="1" i="1" dirty="0" err="1"/>
              <a:t>target_table</a:t>
            </a:r>
            <a:r>
              <a:rPr lang="en-US" sz="2000" b="1" i="1" dirty="0"/>
              <a:t> </a:t>
            </a:r>
            <a:r>
              <a:rPr lang="en-US" sz="2000" b="1" dirty="0"/>
              <a:t>(</a:t>
            </a:r>
            <a:r>
              <a:rPr lang="en-US" sz="2000" b="1" i="1" dirty="0"/>
              <a:t>column1</a:t>
            </a:r>
            <a:r>
              <a:rPr lang="en-US" sz="2000" b="1" dirty="0"/>
              <a:t>, </a:t>
            </a:r>
            <a:r>
              <a:rPr lang="en-US" sz="2000" b="1" i="1" dirty="0"/>
              <a:t>column2</a:t>
            </a:r>
            <a:r>
              <a:rPr lang="en-US" sz="2000" b="1" dirty="0"/>
              <a:t>, </a:t>
            </a:r>
            <a:r>
              <a:rPr lang="en-US" sz="2000" b="1" i="1" dirty="0"/>
              <a:t>column3</a:t>
            </a:r>
            <a:r>
              <a:rPr lang="en-US" sz="2000" b="1" dirty="0"/>
              <a:t>, ...)</a:t>
            </a:r>
            <a:br>
              <a:rPr lang="en-US" sz="2800" b="1" dirty="0"/>
            </a:br>
            <a:r>
              <a:rPr lang="en-US" sz="2000" b="1" dirty="0"/>
              <a:t>SELECT </a:t>
            </a:r>
            <a:r>
              <a:rPr lang="en-US" sz="2000" b="1" i="1" dirty="0"/>
              <a:t>column1</a:t>
            </a:r>
            <a:r>
              <a:rPr lang="en-US" sz="2000" b="1" dirty="0"/>
              <a:t>, </a:t>
            </a:r>
            <a:r>
              <a:rPr lang="en-US" sz="2000" b="1" i="1" dirty="0"/>
              <a:t>column2</a:t>
            </a:r>
            <a:r>
              <a:rPr lang="en-US" sz="2000" b="1" dirty="0"/>
              <a:t>, </a:t>
            </a:r>
            <a:r>
              <a:rPr lang="en-US" sz="2000" b="1" i="1" dirty="0"/>
              <a:t>column3</a:t>
            </a:r>
            <a:r>
              <a:rPr lang="en-US" sz="2000" b="1" dirty="0"/>
              <a:t>, ...</a:t>
            </a:r>
            <a:br>
              <a:rPr lang="en-US" sz="2800" b="1" dirty="0"/>
            </a:br>
            <a:r>
              <a:rPr lang="en-US" sz="2000" b="1" dirty="0"/>
              <a:t>FROM </a:t>
            </a:r>
            <a:r>
              <a:rPr lang="en-US" sz="2000" b="1" i="1" dirty="0" err="1"/>
              <a:t>source_table</a:t>
            </a:r>
            <a:br>
              <a:rPr lang="en-US" sz="2800" b="1" dirty="0"/>
            </a:br>
            <a:r>
              <a:rPr lang="en-US" sz="2000" b="1" dirty="0"/>
              <a:t>WHERE </a:t>
            </a:r>
            <a:r>
              <a:rPr lang="en-US" sz="2000" b="1" i="1" dirty="0"/>
              <a:t>condition</a:t>
            </a:r>
            <a:r>
              <a:rPr lang="en-US" sz="2000" b="1" dirty="0"/>
              <a:t>;</a:t>
            </a:r>
            <a:endParaRPr lang="en-US" sz="2800" b="1" dirty="0"/>
          </a:p>
        </p:txBody>
      </p:sp>
      <p:sp>
        <p:nvSpPr>
          <p:cNvPr id="6" name="Title 1">
            <a:extLst>
              <a:ext uri="{FF2B5EF4-FFF2-40B4-BE49-F238E27FC236}">
                <a16:creationId xmlns:a16="http://schemas.microsoft.com/office/drawing/2014/main" id="{89182115-F0CF-F1AB-B609-D4F8306BB3E6}"/>
              </a:ext>
            </a:extLst>
          </p:cNvPr>
          <p:cNvSpPr txBox="1">
            <a:spLocks/>
          </p:cNvSpPr>
          <p:nvPr/>
        </p:nvSpPr>
        <p:spPr>
          <a:xfrm>
            <a:off x="1434353" y="4200311"/>
            <a:ext cx="4947354" cy="356381"/>
          </a:xfrm>
          <a:prstGeom prst="rect">
            <a:avLst/>
          </a:prstGeom>
        </p:spPr>
        <p:txBody>
          <a:bodyPr/>
          <a:lstStyle>
            <a:lvl1pPr algn="l" defTabSz="685800" rtl="0" eaLnBrk="1" latinLnBrk="0" hangingPunct="1">
              <a:lnSpc>
                <a:spcPct val="90000"/>
              </a:lnSpc>
              <a:spcBef>
                <a:spcPct val="0"/>
              </a:spcBef>
              <a:buNone/>
              <a:defRPr lang="en-US" sz="3600" b="1" kern="1200" spc="-38" baseline="0" dirty="0">
                <a:solidFill>
                  <a:srgbClr val="002060"/>
                </a:solidFill>
                <a:latin typeface="+mn-lt"/>
                <a:ea typeface="+mj-ea"/>
                <a:cs typeface="+mj-cs"/>
              </a:defRPr>
            </a:lvl1pPr>
          </a:lstStyle>
          <a:p>
            <a:r>
              <a:rPr lang="en-US" sz="2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Copy all columns from on table to another table</a:t>
            </a:r>
          </a:p>
        </p:txBody>
      </p:sp>
      <p:sp>
        <p:nvSpPr>
          <p:cNvPr id="7" name="Title 1">
            <a:extLst>
              <a:ext uri="{FF2B5EF4-FFF2-40B4-BE49-F238E27FC236}">
                <a16:creationId xmlns:a16="http://schemas.microsoft.com/office/drawing/2014/main" id="{B46D4F99-41E3-74BB-E257-2796E4417D0E}"/>
              </a:ext>
            </a:extLst>
          </p:cNvPr>
          <p:cNvSpPr txBox="1">
            <a:spLocks/>
          </p:cNvSpPr>
          <p:nvPr/>
        </p:nvSpPr>
        <p:spPr>
          <a:xfrm>
            <a:off x="6809297" y="4200311"/>
            <a:ext cx="5154232" cy="283146"/>
          </a:xfrm>
          <a:prstGeom prst="rect">
            <a:avLst/>
          </a:prstGeom>
        </p:spPr>
        <p:txBody>
          <a:bodyPr/>
          <a:lstStyle>
            <a:lvl1pPr algn="l" defTabSz="685800" rtl="0" eaLnBrk="1" latinLnBrk="0" hangingPunct="1">
              <a:lnSpc>
                <a:spcPct val="90000"/>
              </a:lnSpc>
              <a:spcBef>
                <a:spcPct val="0"/>
              </a:spcBef>
              <a:buNone/>
              <a:defRPr lang="en-US" sz="3600" b="1" kern="1200" spc="-38" baseline="0" dirty="0">
                <a:solidFill>
                  <a:srgbClr val="002060"/>
                </a:solidFill>
                <a:latin typeface="+mn-lt"/>
                <a:ea typeface="+mj-ea"/>
                <a:cs typeface="+mj-cs"/>
              </a:defRPr>
            </a:lvl1pPr>
          </a:lstStyle>
          <a:p>
            <a:r>
              <a:rPr lang="en-US" sz="2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Copy only some columns from one table to another table</a:t>
            </a:r>
          </a:p>
        </p:txBody>
      </p:sp>
    </p:spTree>
    <p:extLst>
      <p:ext uri="{BB962C8B-B14F-4D97-AF65-F5344CB8AC3E}">
        <p14:creationId xmlns:p14="http://schemas.microsoft.com/office/powerpoint/2010/main" val="669252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C9BAA-737B-EEA7-C5F8-04AD4BAF29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70ED75-0C1F-33A6-2A56-C557D3F5C1F5}"/>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CASE Expression</a:t>
            </a:r>
          </a:p>
        </p:txBody>
      </p:sp>
      <p:sp>
        <p:nvSpPr>
          <p:cNvPr id="3" name="Text Placeholder 2">
            <a:extLst>
              <a:ext uri="{FF2B5EF4-FFF2-40B4-BE49-F238E27FC236}">
                <a16:creationId xmlns:a16="http://schemas.microsoft.com/office/drawing/2014/main" id="{18081C1A-D619-6DEC-9A59-38146A142F70}"/>
              </a:ext>
            </a:extLst>
          </p:cNvPr>
          <p:cNvSpPr>
            <a:spLocks noGrp="1"/>
          </p:cNvSpPr>
          <p:nvPr>
            <p:ph type="body" sz="quarter" idx="14"/>
          </p:nvPr>
        </p:nvSpPr>
        <p:spPr>
          <a:xfrm>
            <a:off x="1156921" y="1496140"/>
            <a:ext cx="10586844" cy="5119812"/>
          </a:xfrm>
        </p:spPr>
        <p:txBody>
          <a:bodyPr/>
          <a:lstStyle/>
          <a:p>
            <a:r>
              <a:rPr lang="en-US" dirty="0"/>
              <a:t> The CASE expression is used to define different results based on specified conditions in an SQL statement.</a:t>
            </a:r>
          </a:p>
          <a:p>
            <a:r>
              <a:rPr lang="en-US" dirty="0"/>
              <a:t>The CASE expression goes through the conditions and stops at the first match (like an if-then-else statement). So, once a condition is true, it will stop processing and return the result. If no conditions are true, it returns the value in the ELSE clause. If there is no ELSE clause and no conditions are true, it returns NULL.</a:t>
            </a:r>
            <a:r>
              <a:rPr lang="en-US" b="1" dirty="0"/>
              <a:t> </a:t>
            </a:r>
            <a:endParaRPr lang="en-US" dirty="0"/>
          </a:p>
        </p:txBody>
      </p:sp>
      <p:sp>
        <p:nvSpPr>
          <p:cNvPr id="5" name="Rectangle: Rounded Corners 4">
            <a:extLst>
              <a:ext uri="{FF2B5EF4-FFF2-40B4-BE49-F238E27FC236}">
                <a16:creationId xmlns:a16="http://schemas.microsoft.com/office/drawing/2014/main" id="{97BAE9D8-940D-9D56-3157-3E44494040A5}"/>
              </a:ext>
            </a:extLst>
          </p:cNvPr>
          <p:cNvSpPr/>
          <p:nvPr/>
        </p:nvSpPr>
        <p:spPr>
          <a:xfrm>
            <a:off x="1192198" y="4055081"/>
            <a:ext cx="10318483" cy="2560871"/>
          </a:xfrm>
          <a:prstGeom prst="roundRect">
            <a:avLst/>
          </a:prstGeom>
          <a:ln w="57150">
            <a:solidFill>
              <a:srgbClr val="FFC000"/>
            </a:solidFill>
          </a:ln>
        </p:spPr>
        <p:style>
          <a:lnRef idx="2">
            <a:schemeClr val="accent6"/>
          </a:lnRef>
          <a:fillRef idx="1">
            <a:schemeClr val="lt1"/>
          </a:fillRef>
          <a:effectRef idx="0">
            <a:schemeClr val="accent6"/>
          </a:effectRef>
          <a:fontRef idx="minor">
            <a:schemeClr val="dk1"/>
          </a:fontRef>
        </p:style>
        <p:txBody>
          <a:bodyPr rtlCol="0" anchor="ctr"/>
          <a:lstStyle/>
          <a:p>
            <a:r>
              <a:rPr lang="en-US" sz="2400" b="1" dirty="0"/>
              <a:t>CASE</a:t>
            </a:r>
            <a:br>
              <a:rPr lang="en-US" sz="2800" b="1" dirty="0"/>
            </a:br>
            <a:r>
              <a:rPr lang="en-US" sz="2400" b="1" dirty="0"/>
              <a:t>  WHEN </a:t>
            </a:r>
            <a:r>
              <a:rPr lang="en-US" sz="2400" b="1" i="1" dirty="0"/>
              <a:t>condition1</a:t>
            </a:r>
            <a:r>
              <a:rPr lang="en-US" sz="2400" b="1" dirty="0"/>
              <a:t> THEN </a:t>
            </a:r>
            <a:r>
              <a:rPr lang="en-US" sz="2400" b="1" i="1" dirty="0"/>
              <a:t>result1</a:t>
            </a:r>
            <a:br>
              <a:rPr lang="en-US" sz="2800" b="1" dirty="0"/>
            </a:br>
            <a:r>
              <a:rPr lang="en-US" sz="2400" b="1" dirty="0"/>
              <a:t>  WHEN </a:t>
            </a:r>
            <a:r>
              <a:rPr lang="en-US" sz="2400" b="1" i="1" dirty="0"/>
              <a:t>condition2</a:t>
            </a:r>
            <a:r>
              <a:rPr lang="en-US" sz="2400" b="1" dirty="0"/>
              <a:t> THEN </a:t>
            </a:r>
            <a:r>
              <a:rPr lang="en-US" sz="2400" b="1" i="1" dirty="0"/>
              <a:t>result2</a:t>
            </a:r>
            <a:br>
              <a:rPr lang="en-US" sz="2800" b="1" dirty="0"/>
            </a:br>
            <a:r>
              <a:rPr lang="en-US" sz="2400" b="1" dirty="0"/>
              <a:t>  WHEN </a:t>
            </a:r>
            <a:r>
              <a:rPr lang="en-US" sz="2400" b="1" i="1" dirty="0" err="1"/>
              <a:t>conditionN</a:t>
            </a:r>
            <a:r>
              <a:rPr lang="en-US" sz="2400" b="1" dirty="0"/>
              <a:t> THEN </a:t>
            </a:r>
            <a:r>
              <a:rPr lang="en-US" sz="2400" b="1" i="1" dirty="0" err="1"/>
              <a:t>resultN</a:t>
            </a:r>
            <a:br>
              <a:rPr lang="en-US" sz="2800" b="1" dirty="0"/>
            </a:br>
            <a:r>
              <a:rPr lang="en-US" sz="2400" b="1" dirty="0"/>
              <a:t>  ELSE </a:t>
            </a:r>
            <a:r>
              <a:rPr lang="en-US" sz="2400" b="1" i="1" dirty="0" err="1"/>
              <a:t>default_result</a:t>
            </a:r>
            <a:br>
              <a:rPr lang="en-US" sz="2800" b="1" dirty="0"/>
            </a:br>
            <a:r>
              <a:rPr lang="en-US" sz="2400" b="1" dirty="0"/>
              <a:t>END;</a:t>
            </a:r>
            <a:endParaRPr lang="en-US" sz="3600" b="1" dirty="0"/>
          </a:p>
        </p:txBody>
      </p:sp>
    </p:spTree>
    <p:extLst>
      <p:ext uri="{BB962C8B-B14F-4D97-AF65-F5344CB8AC3E}">
        <p14:creationId xmlns:p14="http://schemas.microsoft.com/office/powerpoint/2010/main" val="5169011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33BB230-A583-4139-1B7A-FE688B34CF51}"/>
              </a:ext>
            </a:extLst>
          </p:cNvPr>
          <p:cNvPicPr>
            <a:picLocks noChangeAspect="1"/>
          </p:cNvPicPr>
          <p:nvPr/>
        </p:nvPicPr>
        <p:blipFill>
          <a:blip r:embed="rId2"/>
          <a:stretch>
            <a:fillRect/>
          </a:stretch>
        </p:blipFill>
        <p:spPr>
          <a:xfrm>
            <a:off x="1146810" y="129540"/>
            <a:ext cx="9898380" cy="6598920"/>
          </a:xfrm>
          <a:prstGeom prst="rect">
            <a:avLst/>
          </a:prstGeom>
        </p:spPr>
      </p:pic>
    </p:spTree>
    <p:extLst>
      <p:ext uri="{BB962C8B-B14F-4D97-AF65-F5344CB8AC3E}">
        <p14:creationId xmlns:p14="http://schemas.microsoft.com/office/powerpoint/2010/main" val="11832812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RetrospectVTI">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2496</TotalTime>
  <Words>1916</Words>
  <Application>Microsoft Office PowerPoint</Application>
  <PresentationFormat>Widescreen</PresentationFormat>
  <Paragraphs>269</Paragraphs>
  <Slides>29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ADLaM Display</vt:lpstr>
      <vt:lpstr>Calibri</vt:lpstr>
      <vt:lpstr>Wingdings</vt:lpstr>
      <vt:lpstr>YESHUAH</vt:lpstr>
      <vt:lpstr>RetrospectVTI</vt:lpstr>
      <vt:lpstr>Database Design  - RDBMS</vt:lpstr>
      <vt:lpstr>PowerPoint Presentation</vt:lpstr>
      <vt:lpstr>What is RDBMS?</vt:lpstr>
      <vt:lpstr>SQL Databases</vt:lpstr>
      <vt:lpstr>Popular SQL Databases</vt:lpstr>
      <vt:lpstr>Terminology</vt:lpstr>
      <vt:lpstr>PowerPoint Presentation</vt:lpstr>
      <vt:lpstr>PowerPoint Presentation</vt:lpstr>
      <vt:lpstr>PowerPoint Presentation</vt:lpstr>
      <vt:lpstr>PowerPoint Presentation</vt:lpstr>
      <vt:lpstr>Data Types</vt:lpstr>
      <vt:lpstr>Data Types (in PostgreSQL)</vt:lpstr>
      <vt:lpstr>…</vt:lpstr>
      <vt:lpstr>SQL Constraints</vt:lpstr>
      <vt:lpstr>…</vt:lpstr>
      <vt:lpstr>PowerPoint Presentation</vt:lpstr>
      <vt:lpstr>SQL Primary Key (PK)</vt:lpstr>
      <vt:lpstr>SQL Unique Key (UK)</vt:lpstr>
      <vt:lpstr>SQL Foreign Key (FK)</vt:lpstr>
      <vt:lpstr>SQL Composite Key</vt:lpstr>
      <vt:lpstr>SQL Alternate Key</vt:lpstr>
      <vt:lpstr>Summary of SQL Keys</vt:lpstr>
      <vt:lpstr>Data Integrity</vt:lpstr>
      <vt:lpstr>SQL Aliases</vt:lpstr>
      <vt:lpstr>SQL SELECT INTO Statement</vt:lpstr>
      <vt:lpstr>SQL INSERT INTO Statement</vt:lpstr>
      <vt:lpstr>SQL CASE Expression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Mintesnot Iwunete</cp:lastModifiedBy>
  <cp:revision>289</cp:revision>
  <dcterms:created xsi:type="dcterms:W3CDTF">2020-02-06T00:04:00Z</dcterms:created>
  <dcterms:modified xsi:type="dcterms:W3CDTF">2026-06-22T13:20:35Z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1033-11.2.0.9937</vt:lpwstr>
  </property>
</Properties>
</file>