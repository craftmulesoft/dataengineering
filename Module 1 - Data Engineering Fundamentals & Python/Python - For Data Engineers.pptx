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411" r:id="rId2"/>
    <p:sldId id="410" r:id="rId3"/>
    <p:sldId id="394" r:id="rId4"/>
    <p:sldId id="413" r:id="rId5"/>
    <p:sldId id="412" r:id="rId6"/>
    <p:sldId id="414" r:id="rId7"/>
    <p:sldId id="415" r:id="rId8"/>
    <p:sldId id="416" r:id="rId9"/>
    <p:sldId id="417" r:id="rId10"/>
    <p:sldId id="418" r:id="rId11"/>
    <p:sldId id="420" r:id="rId12"/>
    <p:sldId id="419" r:id="rId13"/>
    <p:sldId id="437" r:id="rId14"/>
    <p:sldId id="26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F7FE"/>
    <a:srgbClr val="0072C6"/>
    <a:srgbClr val="00A4EF"/>
    <a:srgbClr val="3333FF"/>
    <a:srgbClr val="FFDF00"/>
    <a:srgbClr val="75CDEA"/>
    <a:srgbClr val="ABE2F5"/>
    <a:srgbClr val="002060"/>
    <a:srgbClr val="5A56A1"/>
    <a:srgbClr val="5656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736F72C-57AD-4C0C-B413-44A67FA7CD9B}" v="95" dt="2024-03-18T15:51:55.6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579" autoAdjust="0"/>
    <p:restoredTop sz="94639" autoAdjust="0"/>
  </p:normalViewPr>
  <p:slideViewPr>
    <p:cSldViewPr snapToGrid="0">
      <p:cViewPr>
        <p:scale>
          <a:sx n="42" d="100"/>
          <a:sy n="42" d="100"/>
        </p:scale>
        <p:origin x="24" y="74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51" d="100"/>
          <a:sy n="51" d="100"/>
        </p:scale>
        <p:origin x="2692" y="-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48E1AF-6343-46AA-8AEF-4C12F4118850}" type="datetimeFigureOut">
              <a:rPr lang="en-US" smtClean="0"/>
              <a:t>6/19/2026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2858E0-3D38-47B7-97D4-4FE08D90D35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9D2517-63AA-420A-887D-BE60360A8F4D}" type="datetimeFigureOut">
              <a:rPr lang="en-US" noProof="0" smtClean="0"/>
              <a:t>6/19/2026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4ECAD9-32EE-4091-BDA5-6BD15ACC5E58}" type="slidenum">
              <a:rPr lang="en-US" noProof="0" smtClean="0"/>
              <a:t>‹#›</a:t>
            </a:fld>
            <a:endParaRPr lang="en-US" noProof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4ECC495-5FEF-4C9C-502D-7281AA9BC4CE}"/>
              </a:ext>
            </a:extLst>
          </p:cNvPr>
          <p:cNvSpPr/>
          <p:nvPr userDrawn="1"/>
        </p:nvSpPr>
        <p:spPr>
          <a:xfrm>
            <a:off x="-64008" y="0"/>
            <a:ext cx="4723782" cy="6858000"/>
          </a:xfrm>
          <a:prstGeom prst="rect">
            <a:avLst/>
          </a:prstGeom>
          <a:solidFill>
            <a:srgbClr val="2567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Title 1"/>
          <p:cNvSpPr txBox="1"/>
          <p:nvPr userDrawn="1"/>
        </p:nvSpPr>
        <p:spPr>
          <a:xfrm>
            <a:off x="-1707114" y="2422578"/>
            <a:ext cx="6145764" cy="110975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spc="-38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en-US" sz="2400" dirty="0"/>
          </a:p>
        </p:txBody>
      </p:sp>
      <p:sp>
        <p:nvSpPr>
          <p:cNvPr id="18" name="Title 1"/>
          <p:cNvSpPr>
            <a:spLocks noGrp="1"/>
          </p:cNvSpPr>
          <p:nvPr>
            <p:ph type="title" hasCustomPrompt="1"/>
          </p:nvPr>
        </p:nvSpPr>
        <p:spPr>
          <a:xfrm>
            <a:off x="509750" y="2338493"/>
            <a:ext cx="3531146" cy="145075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400" b="1" baseline="0">
                <a:solidFill>
                  <a:schemeClr val="bg1"/>
                </a:solidFill>
                <a:latin typeface="YESHUAH" panose="02000500000000000000" pitchFamily="2" charset="0"/>
              </a:defRPr>
            </a:lvl1pPr>
          </a:lstStyle>
          <a:p>
            <a:r>
              <a:rPr lang="en-US" dirty="0"/>
              <a:t>{ subject }</a:t>
            </a:r>
          </a:p>
        </p:txBody>
      </p:sp>
      <p:sp>
        <p:nvSpPr>
          <p:cNvPr id="19" name="Content Placeholder 8"/>
          <p:cNvSpPr>
            <a:spLocks noGrp="1"/>
          </p:cNvSpPr>
          <p:nvPr>
            <p:ph sz="quarter" idx="13" hasCustomPrompt="1"/>
          </p:nvPr>
        </p:nvSpPr>
        <p:spPr>
          <a:xfrm>
            <a:off x="7647842" y="6136265"/>
            <a:ext cx="4090199" cy="45313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None/>
              <a:defRPr sz="2400" baseline="0">
                <a:solidFill>
                  <a:srgbClr val="25677D"/>
                </a:solidFill>
                <a:latin typeface="YESHUAH" panose="02000500000000000000" pitchFamily="2" charset="0"/>
              </a:defRPr>
            </a:lvl1pPr>
          </a:lstStyle>
          <a:p>
            <a:pPr lvl="0"/>
            <a:r>
              <a:rPr lang="en-US" dirty="0"/>
              <a:t> { write presenter name }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 userDrawn="1"/>
        </p:nvSpPr>
        <p:spPr>
          <a:xfrm>
            <a:off x="-64008" y="0"/>
            <a:ext cx="4723782" cy="6858000"/>
          </a:xfrm>
          <a:prstGeom prst="rect">
            <a:avLst/>
          </a:prstGeom>
          <a:solidFill>
            <a:srgbClr val="2567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9" name="Group 18" descr="Info"/>
          <p:cNvGrpSpPr/>
          <p:nvPr userDrawn="1"/>
        </p:nvGrpSpPr>
        <p:grpSpPr>
          <a:xfrm>
            <a:off x="4642801" y="3133724"/>
            <a:ext cx="567374" cy="550865"/>
            <a:chOff x="4914764" y="3319462"/>
            <a:chExt cx="619125" cy="619125"/>
          </a:xfrm>
          <a:solidFill>
            <a:schemeClr val="bg1"/>
          </a:solidFill>
        </p:grpSpPr>
        <p:sp>
          <p:nvSpPr>
            <p:cNvPr id="20" name="Freeform: Shape 19"/>
            <p:cNvSpPr/>
            <p:nvPr/>
          </p:nvSpPr>
          <p:spPr>
            <a:xfrm>
              <a:off x="4914764" y="3319462"/>
              <a:ext cx="619125" cy="619125"/>
            </a:xfrm>
            <a:custGeom>
              <a:avLst/>
              <a:gdLst>
                <a:gd name="connsiteX0" fmla="*/ 309563 w 619125"/>
                <a:gd name="connsiteY0" fmla="*/ 0 h 619125"/>
                <a:gd name="connsiteX1" fmla="*/ 0 w 619125"/>
                <a:gd name="connsiteY1" fmla="*/ 309563 h 619125"/>
                <a:gd name="connsiteX2" fmla="*/ 309563 w 619125"/>
                <a:gd name="connsiteY2" fmla="*/ 619125 h 619125"/>
                <a:gd name="connsiteX3" fmla="*/ 619125 w 619125"/>
                <a:gd name="connsiteY3" fmla="*/ 309563 h 619125"/>
                <a:gd name="connsiteX4" fmla="*/ 309563 w 619125"/>
                <a:gd name="connsiteY4" fmla="*/ 0 h 619125"/>
                <a:gd name="connsiteX5" fmla="*/ 309563 w 619125"/>
                <a:gd name="connsiteY5" fmla="*/ 581025 h 619125"/>
                <a:gd name="connsiteX6" fmla="*/ 38100 w 619125"/>
                <a:gd name="connsiteY6" fmla="*/ 309563 h 619125"/>
                <a:gd name="connsiteX7" fmla="*/ 309563 w 619125"/>
                <a:gd name="connsiteY7" fmla="*/ 38100 h 619125"/>
                <a:gd name="connsiteX8" fmla="*/ 581025 w 619125"/>
                <a:gd name="connsiteY8" fmla="*/ 309563 h 619125"/>
                <a:gd name="connsiteX9" fmla="*/ 309563 w 619125"/>
                <a:gd name="connsiteY9" fmla="*/ 581025 h 619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19125" h="619125">
                  <a:moveTo>
                    <a:pt x="309563" y="0"/>
                  </a:moveTo>
                  <a:cubicBezTo>
                    <a:pt x="138875" y="0"/>
                    <a:pt x="0" y="138865"/>
                    <a:pt x="0" y="309563"/>
                  </a:cubicBezTo>
                  <a:cubicBezTo>
                    <a:pt x="0" y="480260"/>
                    <a:pt x="138875" y="619125"/>
                    <a:pt x="309563" y="619125"/>
                  </a:cubicBezTo>
                  <a:cubicBezTo>
                    <a:pt x="480250" y="619125"/>
                    <a:pt x="619125" y="480260"/>
                    <a:pt x="619125" y="309563"/>
                  </a:cubicBezTo>
                  <a:cubicBezTo>
                    <a:pt x="619125" y="138865"/>
                    <a:pt x="480250" y="0"/>
                    <a:pt x="309563" y="0"/>
                  </a:cubicBezTo>
                  <a:close/>
                  <a:moveTo>
                    <a:pt x="309563" y="581025"/>
                  </a:moveTo>
                  <a:cubicBezTo>
                    <a:pt x="159877" y="581025"/>
                    <a:pt x="38100" y="459248"/>
                    <a:pt x="38100" y="309563"/>
                  </a:cubicBezTo>
                  <a:cubicBezTo>
                    <a:pt x="38100" y="159877"/>
                    <a:pt x="159877" y="38100"/>
                    <a:pt x="309563" y="38100"/>
                  </a:cubicBezTo>
                  <a:cubicBezTo>
                    <a:pt x="459248" y="38100"/>
                    <a:pt x="581025" y="159877"/>
                    <a:pt x="581025" y="309563"/>
                  </a:cubicBezTo>
                  <a:cubicBezTo>
                    <a:pt x="581025" y="459248"/>
                    <a:pt x="459248" y="581025"/>
                    <a:pt x="309563" y="58102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 dirty="0"/>
            </a:p>
          </p:txBody>
        </p:sp>
        <p:sp>
          <p:nvSpPr>
            <p:cNvPr id="21" name="Freeform: Shape 20"/>
            <p:cNvSpPr/>
            <p:nvPr/>
          </p:nvSpPr>
          <p:spPr>
            <a:xfrm>
              <a:off x="5195751" y="3473729"/>
              <a:ext cx="57150" cy="57150"/>
            </a:xfrm>
            <a:custGeom>
              <a:avLst/>
              <a:gdLst>
                <a:gd name="connsiteX0" fmla="*/ 63722 w 57150"/>
                <a:gd name="connsiteY0" fmla="*/ 31861 h 57150"/>
                <a:gd name="connsiteX1" fmla="*/ 31861 w 57150"/>
                <a:gd name="connsiteY1" fmla="*/ 63722 h 57150"/>
                <a:gd name="connsiteX2" fmla="*/ 0 w 57150"/>
                <a:gd name="connsiteY2" fmla="*/ 31861 h 57150"/>
                <a:gd name="connsiteX3" fmla="*/ 31861 w 57150"/>
                <a:gd name="connsiteY3" fmla="*/ 0 h 57150"/>
                <a:gd name="connsiteX4" fmla="*/ 63722 w 57150"/>
                <a:gd name="connsiteY4" fmla="*/ 31861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63722" y="31861"/>
                  </a:moveTo>
                  <a:cubicBezTo>
                    <a:pt x="63722" y="49458"/>
                    <a:pt x="49458" y="63722"/>
                    <a:pt x="31861" y="63722"/>
                  </a:cubicBezTo>
                  <a:cubicBezTo>
                    <a:pt x="14265" y="63722"/>
                    <a:pt x="0" y="49458"/>
                    <a:pt x="0" y="31861"/>
                  </a:cubicBezTo>
                  <a:cubicBezTo>
                    <a:pt x="0" y="14265"/>
                    <a:pt x="14265" y="0"/>
                    <a:pt x="31861" y="0"/>
                  </a:cubicBezTo>
                  <a:cubicBezTo>
                    <a:pt x="49458" y="0"/>
                    <a:pt x="63722" y="14265"/>
                    <a:pt x="63722" y="3186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 dirty="0"/>
            </a:p>
          </p:txBody>
        </p:sp>
        <p:sp>
          <p:nvSpPr>
            <p:cNvPr id="22" name="Freeform: Shape 21"/>
            <p:cNvSpPr/>
            <p:nvPr/>
          </p:nvSpPr>
          <p:spPr>
            <a:xfrm>
              <a:off x="5205276" y="3589420"/>
              <a:ext cx="38100" cy="200025"/>
            </a:xfrm>
            <a:custGeom>
              <a:avLst/>
              <a:gdLst>
                <a:gd name="connsiteX0" fmla="*/ 19050 w 38100"/>
                <a:gd name="connsiteY0" fmla="*/ 0 h 200025"/>
                <a:gd name="connsiteX1" fmla="*/ 0 w 38100"/>
                <a:gd name="connsiteY1" fmla="*/ 19050 h 200025"/>
                <a:gd name="connsiteX2" fmla="*/ 0 w 38100"/>
                <a:gd name="connsiteY2" fmla="*/ 180975 h 200025"/>
                <a:gd name="connsiteX3" fmla="*/ 19050 w 38100"/>
                <a:gd name="connsiteY3" fmla="*/ 200025 h 200025"/>
                <a:gd name="connsiteX4" fmla="*/ 38100 w 38100"/>
                <a:gd name="connsiteY4" fmla="*/ 180975 h 200025"/>
                <a:gd name="connsiteX5" fmla="*/ 38100 w 38100"/>
                <a:gd name="connsiteY5" fmla="*/ 19050 h 200025"/>
                <a:gd name="connsiteX6" fmla="*/ 19050 w 38100"/>
                <a:gd name="connsiteY6" fmla="*/ 0 h 20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100" h="200025">
                  <a:moveTo>
                    <a:pt x="19050" y="0"/>
                  </a:moveTo>
                  <a:cubicBezTo>
                    <a:pt x="8534" y="0"/>
                    <a:pt x="0" y="8534"/>
                    <a:pt x="0" y="19050"/>
                  </a:cubicBezTo>
                  <a:lnTo>
                    <a:pt x="0" y="180975"/>
                  </a:lnTo>
                  <a:cubicBezTo>
                    <a:pt x="0" y="191491"/>
                    <a:pt x="8534" y="200025"/>
                    <a:pt x="19050" y="200025"/>
                  </a:cubicBezTo>
                  <a:cubicBezTo>
                    <a:pt x="29566" y="200025"/>
                    <a:pt x="38100" y="191491"/>
                    <a:pt x="38100" y="180975"/>
                  </a:cubicBezTo>
                  <a:lnTo>
                    <a:pt x="38100" y="19050"/>
                  </a:lnTo>
                  <a:cubicBezTo>
                    <a:pt x="38100" y="8525"/>
                    <a:pt x="29566" y="0"/>
                    <a:pt x="1905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 dirty="0"/>
            </a:p>
          </p:txBody>
        </p:sp>
      </p:grpSp>
      <p:sp>
        <p:nvSpPr>
          <p:cNvPr id="16" name="Title 1"/>
          <p:cNvSpPr txBox="1"/>
          <p:nvPr userDrawn="1"/>
        </p:nvSpPr>
        <p:spPr>
          <a:xfrm>
            <a:off x="474130" y="2639243"/>
            <a:ext cx="3334512" cy="108011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spc="-38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z="6000" b="1" dirty="0">
                <a:solidFill>
                  <a:schemeClr val="bg1"/>
                </a:solidFill>
                <a:latin typeface="YESHUAH" panose="020005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Objectives</a:t>
            </a:r>
            <a:endParaRPr lang="en-US" sz="3200" b="1" dirty="0">
              <a:solidFill>
                <a:schemeClr val="bg1"/>
              </a:solidFill>
              <a:latin typeface="YESHUAH" panose="020005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908431" y="1603717"/>
            <a:ext cx="5524060" cy="31511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defRPr sz="3200">
                <a:solidFill>
                  <a:srgbClr val="002060"/>
                </a:solidFill>
              </a:defRPr>
            </a:lvl1pPr>
          </a:lstStyle>
          <a:p>
            <a:pPr lvl="0"/>
            <a:r>
              <a:rPr lang="en-US" dirty="0"/>
              <a:t> { write your objectives}</a:t>
            </a:r>
          </a:p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3EF92EB-1689-2416-7533-E53DBC8933F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1400" y="2348890"/>
            <a:ext cx="2160220" cy="21602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156921" y="618977"/>
            <a:ext cx="9393848" cy="712765"/>
          </a:xfrm>
          <a:prstGeom prst="rect">
            <a:avLst/>
          </a:prstGeom>
        </p:spPr>
        <p:txBody>
          <a:bodyPr/>
          <a:lstStyle>
            <a:lvl1pPr>
              <a:defRPr lang="en-US" sz="3600" b="1" kern="1200" spc="-38" baseline="0" dirty="0">
                <a:solidFill>
                  <a:srgbClr val="002060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dirty="0"/>
              <a:t>{ Title }</a:t>
            </a:r>
          </a:p>
        </p:txBody>
      </p:sp>
      <p:sp>
        <p:nvSpPr>
          <p:cNvPr id="6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1156921" y="1603717"/>
            <a:ext cx="10275570" cy="470535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defRPr sz="2400">
                <a:solidFill>
                  <a:srgbClr val="002060"/>
                </a:solidFill>
              </a:defRPr>
            </a:lvl1pPr>
          </a:lstStyle>
          <a:p>
            <a:pPr lvl="0"/>
            <a:r>
              <a:rPr lang="en-US" dirty="0"/>
              <a:t>{write your bullet point }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 txBox="1"/>
          <p:nvPr userDrawn="1"/>
        </p:nvSpPr>
        <p:spPr>
          <a:xfrm>
            <a:off x="1325880" y="638175"/>
            <a:ext cx="9942195" cy="66675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spc="-38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002060"/>
                </a:solidFill>
                <a:latin typeface="+mn-lt"/>
                <a:ea typeface="Cambria" panose="02040503050406030204" pitchFamily="18" charset="0"/>
              </a:rPr>
              <a:t>References</a:t>
            </a:r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1325880" y="1524000"/>
            <a:ext cx="9681949" cy="3958659"/>
          </a:xfrm>
          <a:prstGeom prst="rect">
            <a:avLst/>
          </a:prstGeom>
        </p:spPr>
        <p:txBody>
          <a:bodyPr>
            <a:normAutofit/>
          </a:bodyPr>
          <a:lstStyle>
            <a:lvl1pPr marL="91440">
              <a:spcBef>
                <a:spcPts val="0"/>
              </a:spcBef>
              <a:defRPr sz="2400">
                <a:solidFill>
                  <a:srgbClr val="002060"/>
                </a:solidFill>
              </a:defRPr>
            </a:lvl1pPr>
          </a:lstStyle>
          <a:p>
            <a:pPr lvl="0"/>
            <a:r>
              <a:rPr lang="en-US" dirty="0"/>
              <a:t>{ link to reference1, example: http://app.icraftsoft.net }</a:t>
            </a:r>
          </a:p>
          <a:p>
            <a:pPr lvl="0"/>
            <a:r>
              <a:rPr lang="en-US" dirty="0"/>
              <a:t>{ link to reference1, example: http://app.icraftsoft.net }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384E36F-A443-7521-D49B-753C50A8A88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25952" y="973836"/>
            <a:ext cx="5116068" cy="5116068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-8621" y="625480"/>
            <a:ext cx="1036320" cy="685800"/>
          </a:xfrm>
          <a:prstGeom prst="rect">
            <a:avLst/>
          </a:prstGeom>
          <a:solidFill>
            <a:srgbClr val="2567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610600" y="6181726"/>
            <a:ext cx="2743200" cy="5397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36B06-9FB6-4AA1-A097-666DD28834F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073852" y="205990"/>
            <a:ext cx="944645" cy="94464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600" b="1" kern="1200" spc="-38" baseline="0">
          <a:solidFill>
            <a:schemeClr val="tx1">
              <a:lumMod val="75000"/>
              <a:lumOff val="25000"/>
            </a:schemeClr>
          </a:solidFill>
          <a:latin typeface="+mn-lt"/>
          <a:ea typeface="+mj-ea"/>
          <a:cs typeface="+mj-cs"/>
        </a:defRPr>
      </a:lvl1pPr>
    </p:titleStyle>
    <p:bodyStyle>
      <a:lvl1pPr marL="200025" indent="-200025" algn="l" defTabSz="685800" rtl="0" eaLnBrk="1" latinLnBrk="0" hangingPunct="1">
        <a:lnSpc>
          <a:spcPct val="10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Wingdings" panose="05000000000000000000" pitchFamily="2" charset="2"/>
        <a:buChar char="§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290" indent="-137160" algn="l" defTabSz="685800" rtl="0" eaLnBrk="1" latinLnBrk="0" hangingPunct="1">
        <a:lnSpc>
          <a:spcPct val="10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" panose="05000000000000000000" pitchFamily="2" charset="2"/>
        <a:buChar char="§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450" indent="-137160" algn="l" defTabSz="685800" rtl="0" eaLnBrk="1" latinLnBrk="0" hangingPunct="1">
        <a:lnSpc>
          <a:spcPct val="10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" panose="05000000000000000000" pitchFamily="2" charset="2"/>
        <a:buChar char="§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610" indent="-137160" algn="l" defTabSz="685800" rtl="0" eaLnBrk="1" latinLnBrk="0" hangingPunct="1">
        <a:lnSpc>
          <a:spcPct val="10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" panose="05000000000000000000" pitchFamily="2" charset="2"/>
        <a:buChar char="§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770" indent="-137160" algn="l" defTabSz="685800" rtl="0" eaLnBrk="1" latinLnBrk="0" hangingPunct="1">
        <a:lnSpc>
          <a:spcPct val="10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" panose="05000000000000000000" pitchFamily="2" charset="2"/>
        <a:buChar char="§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4865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anose="020F0502020204030204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4725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anose="020F0502020204030204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22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anose="020F0502020204030204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8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anose="020F0502020204030204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python.org/" TargetMode="Externa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ECDAC-6AB4-4A7B-90D7-87428ABE7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03621"/>
            <a:ext cx="4764025" cy="1450757"/>
          </a:xfrm>
        </p:spPr>
        <p:txBody>
          <a:bodyPr>
            <a:noAutofit/>
          </a:bodyPr>
          <a:lstStyle/>
          <a:p>
            <a:r>
              <a:rPr lang="en-US" sz="4000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Python</a:t>
            </a:r>
            <a:r>
              <a:rPr lang="en-US" sz="4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br>
              <a:rPr lang="en-US" sz="4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lang="en-US" sz="4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For Data Engineers</a:t>
            </a:r>
            <a:endParaRPr lang="en-US" sz="4800" dirty="0">
              <a:solidFill>
                <a:srgbClr val="FFC00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0905C-A1AA-3986-D28A-042DCEF7892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mintesnot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CEBC9E-4311-34A9-0C78-FA3EC39303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10912" y="1523757"/>
            <a:ext cx="6934200" cy="407993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2A47D76-DCDC-BA68-E61D-E120C82FC6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50546" y="3749040"/>
            <a:ext cx="2387225" cy="2387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9133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DA5F557-19C5-3E57-5E7C-602DF20CAEE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81287" y="555932"/>
            <a:ext cx="6810713" cy="6667828"/>
          </a:xfrm>
        </p:spPr>
        <p:txBody>
          <a:bodyPr>
            <a:normAutofit/>
          </a:bodyPr>
          <a:lstStyle/>
          <a:p>
            <a:pPr>
              <a:buBlip>
                <a:blip r:embed="rId2"/>
              </a:buBlip>
            </a:pP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What is </a:t>
            </a:r>
            <a:r>
              <a:rPr lang="en-US" b="1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Python</a:t>
            </a: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?</a:t>
            </a:r>
          </a:p>
          <a:p>
            <a:pPr>
              <a:buBlip>
                <a:blip r:embed="rId2"/>
              </a:buBlip>
            </a:pP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Responsibilities of A Data Engineer</a:t>
            </a:r>
          </a:p>
          <a:p>
            <a:pPr>
              <a:buBlip>
                <a:blip r:embed="rId2"/>
              </a:buBlip>
            </a:pP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Data Engineer Vs. Data Analyst Vs. Data Scientist</a:t>
            </a:r>
          </a:p>
          <a:p>
            <a:pPr>
              <a:buBlip>
                <a:blip r:embed="rId2"/>
              </a:buBlip>
            </a:pP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Modern Data Platform</a:t>
            </a:r>
          </a:p>
          <a:p>
            <a:pPr>
              <a:buBlip>
                <a:blip r:embed="rId2"/>
              </a:buBlip>
            </a:pP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Data Sources</a:t>
            </a:r>
          </a:p>
          <a:p>
            <a:pPr>
              <a:buBlip>
                <a:blip r:embed="rId2"/>
              </a:buBlip>
            </a:pP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Data Lake</a:t>
            </a:r>
          </a:p>
          <a:p>
            <a:pPr>
              <a:buBlip>
                <a:blip r:embed="rId2"/>
              </a:buBlip>
            </a:pP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Data Warehouse</a:t>
            </a:r>
          </a:p>
          <a:p>
            <a:pPr>
              <a:buBlip>
                <a:blip r:embed="rId2"/>
              </a:buBlip>
            </a:pP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Data Engineering Skills</a:t>
            </a:r>
          </a:p>
          <a:p>
            <a:pPr>
              <a:buBlip>
                <a:blip r:embed="rId2"/>
              </a:buBlip>
            </a:pP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Cloud Data Engineering</a:t>
            </a:r>
          </a:p>
        </p:txBody>
      </p:sp>
    </p:spTree>
    <p:extLst>
      <p:ext uri="{BB962C8B-B14F-4D97-AF65-F5344CB8AC3E}">
        <p14:creationId xmlns:p14="http://schemas.microsoft.com/office/powerpoint/2010/main" val="1664880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9F17C-4686-579A-ADCE-818576D43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920" y="715229"/>
            <a:ext cx="9393848" cy="712765"/>
          </a:xfrm>
        </p:spPr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What is </a:t>
            </a:r>
            <a:r>
              <a:rPr lang="en-US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Python</a:t>
            </a: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DD0B1B-B130-8E70-136A-D0F6E5E125D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56920" y="1520963"/>
            <a:ext cx="10794447" cy="5633815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sz="3200" dirty="0"/>
              <a:t> </a:t>
            </a:r>
            <a:r>
              <a:rPr lang="en-US" sz="3200" b="1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Python </a:t>
            </a:r>
            <a:r>
              <a:rPr lang="en-US" sz="3200" dirty="0"/>
              <a:t>is a high-level, interpreted, and general-purpose programming language by Guido van Rossum in 1991.</a:t>
            </a:r>
          </a:p>
          <a:p>
            <a:pPr marL="0" indent="0" algn="just">
              <a:buNone/>
            </a:pPr>
            <a:r>
              <a:rPr lang="en-US" sz="3200" b="1" dirty="0"/>
              <a:t>Why Python?</a:t>
            </a:r>
          </a:p>
          <a:p>
            <a:pPr marL="0" indent="0">
              <a:buNone/>
            </a:pPr>
            <a:r>
              <a:rPr lang="en-US" sz="1900" dirty="0"/>
              <a:t>✅ Easy to learn</a:t>
            </a:r>
            <a:br>
              <a:rPr lang="en-US" sz="1900" dirty="0"/>
            </a:br>
            <a:r>
              <a:rPr lang="en-US" sz="1900" dirty="0"/>
              <a:t>✅ Easy to read</a:t>
            </a:r>
            <a:br>
              <a:rPr lang="en-US" sz="1900" dirty="0"/>
            </a:br>
            <a:r>
              <a:rPr lang="en-US" sz="1900" dirty="0"/>
              <a:t>✅ Large community support</a:t>
            </a:r>
            <a:br>
              <a:rPr lang="en-US" sz="1900" dirty="0"/>
            </a:br>
            <a:r>
              <a:rPr lang="en-US" sz="1900" dirty="0"/>
              <a:t>✅ Thousands of libraries available</a:t>
            </a:r>
            <a:br>
              <a:rPr lang="en-US" sz="1900" dirty="0"/>
            </a:br>
            <a:r>
              <a:rPr lang="en-US" sz="1900" dirty="0"/>
              <a:t>✅ Cross-platform (Windows, Linux, macOS)</a:t>
            </a:r>
          </a:p>
          <a:p>
            <a:pPr marL="0" indent="0">
              <a:buNone/>
            </a:pPr>
            <a:r>
              <a:rPr lang="en-US" sz="19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Popular Uses</a:t>
            </a:r>
          </a:p>
          <a:p>
            <a:r>
              <a:rPr lang="en-US" sz="1900" dirty="0"/>
              <a:t>Web Development </a:t>
            </a:r>
          </a:p>
          <a:p>
            <a:r>
              <a:rPr lang="en-US" sz="1900" dirty="0"/>
              <a:t>Data Analysis, Data Engineering &amp; Data Scientist</a:t>
            </a:r>
          </a:p>
          <a:p>
            <a:r>
              <a:rPr lang="en-US" sz="1900" dirty="0"/>
              <a:t>Machine Learning </a:t>
            </a:r>
          </a:p>
          <a:p>
            <a:r>
              <a:rPr lang="en-US" sz="1900" dirty="0"/>
              <a:t>Artificial Intelligence </a:t>
            </a:r>
          </a:p>
          <a:p>
            <a:r>
              <a:rPr lang="en-US" sz="1900" dirty="0"/>
              <a:t>Automation </a:t>
            </a:r>
          </a:p>
          <a:p>
            <a:r>
              <a:rPr lang="en-US" sz="1900" dirty="0"/>
              <a:t>Cybersecurity </a:t>
            </a:r>
          </a:p>
          <a:p>
            <a:r>
              <a:rPr lang="en-US" sz="1900" dirty="0"/>
              <a:t>Game Development</a:t>
            </a:r>
          </a:p>
          <a:p>
            <a:pPr marL="0" indent="0"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037428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8FEAC-0FCC-7155-60A5-5AB5606AA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Why Python for Data Engineering?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92B3BF-1A8E-70E8-ECCE-82448699BDA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56921" y="1491916"/>
            <a:ext cx="10275570" cy="555056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 </a:t>
            </a:r>
            <a:r>
              <a:rPr lang="en-US" b="1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Python</a:t>
            </a:r>
            <a:r>
              <a:rPr lang="en-US" dirty="0"/>
              <a:t> is one of the most popular languages for Data Engineering because:</a:t>
            </a:r>
          </a:p>
          <a:p>
            <a:pPr marL="0" indent="0">
              <a:buNone/>
            </a:pPr>
            <a:r>
              <a:rPr lang="en-US" dirty="0"/>
              <a:t>✅ Easy to learn</a:t>
            </a:r>
          </a:p>
          <a:p>
            <a:pPr marL="0" indent="0">
              <a:buNone/>
            </a:pPr>
            <a:r>
              <a:rPr lang="en-US" dirty="0"/>
              <a:t>✅ Large ecosystem</a:t>
            </a:r>
          </a:p>
          <a:p>
            <a:pPr marL="0" indent="0">
              <a:buNone/>
            </a:pPr>
            <a:r>
              <a:rPr lang="en-US" dirty="0"/>
              <a:t>✅ Powerful libraries</a:t>
            </a:r>
          </a:p>
          <a:p>
            <a:pPr marL="0" indent="0">
              <a:buNone/>
            </a:pPr>
            <a:r>
              <a:rPr lang="en-US" dirty="0"/>
              <a:t>✅ Excellent community support</a:t>
            </a:r>
          </a:p>
          <a:p>
            <a:pPr marL="0" indent="0">
              <a:buNone/>
            </a:pPr>
            <a:r>
              <a:rPr lang="en-US" dirty="0"/>
              <a:t>✅ Works with databases, APIs, cloud platforms, and big data tools</a:t>
            </a:r>
          </a:p>
          <a:p>
            <a:pPr marL="0" indent="0">
              <a:buNone/>
            </a:pPr>
            <a:r>
              <a:rPr lang="en-US" b="1" dirty="0"/>
              <a:t>Common Uses</a:t>
            </a:r>
          </a:p>
          <a:p>
            <a:r>
              <a:rPr lang="en-US" dirty="0"/>
              <a:t>Data extraction </a:t>
            </a:r>
          </a:p>
          <a:p>
            <a:r>
              <a:rPr lang="en-US" dirty="0"/>
              <a:t>Data cleaning </a:t>
            </a:r>
          </a:p>
          <a:p>
            <a:r>
              <a:rPr lang="en-US" dirty="0"/>
              <a:t>Automation </a:t>
            </a:r>
          </a:p>
          <a:p>
            <a:r>
              <a:rPr lang="en-US" dirty="0"/>
              <a:t>ETL pipelines </a:t>
            </a:r>
          </a:p>
          <a:p>
            <a:r>
              <a:rPr lang="en-US" dirty="0"/>
              <a:t>Data validation </a:t>
            </a:r>
          </a:p>
          <a:p>
            <a:r>
              <a:rPr lang="en-US" dirty="0"/>
              <a:t>Data integration 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36641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675A7-15C5-911F-E3B1-4E3D0168A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920" y="618977"/>
            <a:ext cx="9393848" cy="712765"/>
          </a:xfrm>
        </p:spPr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Popular Python Libraries for Data Engineers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9319A61-03B4-FE14-32D0-C1B745BE9D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0918489"/>
              </p:ext>
            </p:extLst>
          </p:nvPr>
        </p:nvGraphicFramePr>
        <p:xfrm>
          <a:off x="1156920" y="1505729"/>
          <a:ext cx="10393396" cy="50292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5196698">
                  <a:extLst>
                    <a:ext uri="{9D8B030D-6E8A-4147-A177-3AD203B41FA5}">
                      <a16:colId xmlns:a16="http://schemas.microsoft.com/office/drawing/2014/main" val="230855788"/>
                    </a:ext>
                  </a:extLst>
                </a:gridCol>
                <a:gridCol w="5196698">
                  <a:extLst>
                    <a:ext uri="{9D8B030D-6E8A-4147-A177-3AD203B41FA5}">
                      <a16:colId xmlns:a16="http://schemas.microsoft.com/office/drawing/2014/main" val="29245621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FFC000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Library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FFC000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Purpose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03069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/>
                        <a:t>Pandas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Data analysis and manipulation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78634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/>
                        <a:t>NumPy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Numerical computing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0698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/>
                        <a:t>Requests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API communication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0689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/>
                        <a:t>Requests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API communication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69045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/>
                        <a:t>JSON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Handle JSON data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06451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/>
                        <a:t>CSV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Handle CSV files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03312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/>
                        <a:t>SQLAlchemy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Database connections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15279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/>
                        <a:t>PySpark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Big Data processing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55925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/>
                        <a:t>OpenPyXL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Excel automation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88363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/>
                        <a:t>Matplotlib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Visualization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40371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76835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5EF8E-8C73-A634-4273-B0F21FD15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Setting Up </a:t>
            </a:r>
            <a:r>
              <a:rPr lang="en-US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Python</a:t>
            </a: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Environment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603AC9-5FDF-A354-6303-8B4EC550893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65433" y="1327483"/>
            <a:ext cx="4259498" cy="556661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Install Python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Download Python 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Install Python 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Verify installation </a:t>
            </a:r>
          </a:p>
          <a:p>
            <a:pPr marL="0" indent="0">
              <a:buNone/>
            </a:pPr>
            <a:r>
              <a:rPr lang="en-US" dirty="0">
                <a:highlight>
                  <a:srgbClr val="E7F7FE"/>
                </a:highlight>
              </a:rPr>
              <a:t>python --version</a:t>
            </a:r>
          </a:p>
          <a:p>
            <a:pPr marL="0" indent="0">
              <a:buNone/>
            </a:pPr>
            <a:r>
              <a:rPr lang="en-US" b="1" dirty="0"/>
              <a:t>Install Jupyter Notebook</a:t>
            </a:r>
          </a:p>
          <a:p>
            <a:pPr marL="0" indent="0">
              <a:buNone/>
            </a:pPr>
            <a:r>
              <a:rPr lang="en-US" dirty="0"/>
              <a:t>pip install notebook</a:t>
            </a:r>
          </a:p>
          <a:p>
            <a:pPr marL="0" indent="0">
              <a:buNone/>
            </a:pPr>
            <a:r>
              <a:rPr lang="en-US" b="1" dirty="0"/>
              <a:t>Start Notebook</a:t>
            </a:r>
          </a:p>
          <a:p>
            <a:pPr marL="0" indent="0">
              <a:buNone/>
            </a:pPr>
            <a:r>
              <a:rPr lang="en-US" dirty="0" err="1">
                <a:highlight>
                  <a:srgbClr val="E7F7FE"/>
                </a:highlight>
              </a:rPr>
              <a:t>jupyter</a:t>
            </a:r>
            <a:r>
              <a:rPr lang="en-US" dirty="0">
                <a:highlight>
                  <a:srgbClr val="E7F7FE"/>
                </a:highlight>
              </a:rPr>
              <a:t> notebook</a:t>
            </a:r>
          </a:p>
          <a:p>
            <a:pPr marL="0" indent="0">
              <a:buNone/>
            </a:pPr>
            <a:r>
              <a:rPr lang="en-US" b="1" dirty="0"/>
              <a:t>Install Useful Packages</a:t>
            </a:r>
          </a:p>
          <a:p>
            <a:pPr marL="0" indent="0">
              <a:buNone/>
            </a:pPr>
            <a:r>
              <a:rPr lang="en-US" dirty="0">
                <a:highlight>
                  <a:srgbClr val="E7F7FE"/>
                </a:highlight>
              </a:rPr>
              <a:t>pip install pandas</a:t>
            </a:r>
            <a:br>
              <a:rPr lang="en-US" dirty="0">
                <a:highlight>
                  <a:srgbClr val="E7F7FE"/>
                </a:highlight>
              </a:rPr>
            </a:br>
            <a:r>
              <a:rPr lang="en-US" dirty="0">
                <a:highlight>
                  <a:srgbClr val="E7F7FE"/>
                </a:highlight>
              </a:rPr>
              <a:t>pip install requests</a:t>
            </a:r>
            <a:br>
              <a:rPr lang="en-US" dirty="0">
                <a:highlight>
                  <a:srgbClr val="E7F7FE"/>
                </a:highlight>
              </a:rPr>
            </a:br>
            <a:r>
              <a:rPr lang="en-US" dirty="0">
                <a:highlight>
                  <a:srgbClr val="E7F7FE"/>
                </a:highlight>
              </a:rPr>
              <a:t>pip install </a:t>
            </a:r>
            <a:r>
              <a:rPr lang="en-US" dirty="0" err="1">
                <a:highlight>
                  <a:srgbClr val="E7F7FE"/>
                </a:highlight>
              </a:rPr>
              <a:t>sqlalchemy</a:t>
            </a:r>
            <a:br>
              <a:rPr lang="en-US" dirty="0">
                <a:highlight>
                  <a:srgbClr val="E7F7FE"/>
                </a:highlight>
              </a:rPr>
            </a:br>
            <a:r>
              <a:rPr lang="en-US" dirty="0">
                <a:highlight>
                  <a:srgbClr val="E7F7FE"/>
                </a:highlight>
              </a:rPr>
              <a:t>pip install psycopg2-binary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8FC0A8-C120-2D29-FAD0-56DFA68D70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353" y="1475873"/>
            <a:ext cx="7904748" cy="5269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9379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CD7C0-CAEA-7E63-2493-2FD1D1F33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What is </a:t>
            </a:r>
            <a:r>
              <a:rPr lang="en-US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Jupyter Notebook</a:t>
            </a: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088A19-7EEA-673D-FB5D-99351FF55BB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56921" y="1603716"/>
            <a:ext cx="10275570" cy="505616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Jupyter Notebook is an interactive environment where you can:</a:t>
            </a:r>
          </a:p>
          <a:p>
            <a:pPr>
              <a:buBlip>
                <a:blip r:embed="rId2"/>
              </a:buBlip>
            </a:pPr>
            <a:r>
              <a:rPr lang="en-US" dirty="0"/>
              <a:t> Write code</a:t>
            </a:r>
          </a:p>
          <a:p>
            <a:pPr>
              <a:buBlip>
                <a:blip r:embed="rId2"/>
              </a:buBlip>
            </a:pPr>
            <a:r>
              <a:rPr lang="en-US" dirty="0"/>
              <a:t> Run code step-by-step</a:t>
            </a:r>
          </a:p>
          <a:p>
            <a:pPr>
              <a:buBlip>
                <a:blip r:embed="rId2"/>
              </a:buBlip>
            </a:pPr>
            <a:r>
              <a:rPr lang="en-US" dirty="0"/>
              <a:t> Visualize results</a:t>
            </a:r>
          </a:p>
          <a:p>
            <a:pPr>
              <a:buBlip>
                <a:blip r:embed="rId2"/>
              </a:buBlip>
            </a:pPr>
            <a:r>
              <a:rPr lang="en-US" dirty="0"/>
              <a:t> Document your work</a:t>
            </a:r>
          </a:p>
          <a:p>
            <a:pPr>
              <a:buBlip>
                <a:blip r:embed="rId2"/>
              </a:buBlip>
            </a:pPr>
            <a:r>
              <a:rPr lang="en-US" dirty="0"/>
              <a:t> Share notebooks</a:t>
            </a:r>
          </a:p>
          <a:p>
            <a:pPr marL="0" indent="0">
              <a:buNone/>
            </a:pPr>
            <a:r>
              <a:rPr lang="en-US" b="1" dirty="0"/>
              <a:t>Benefits</a:t>
            </a:r>
          </a:p>
          <a:p>
            <a:pPr marL="0" indent="0">
              <a:buNone/>
            </a:pPr>
            <a:r>
              <a:rPr lang="en-US" dirty="0"/>
              <a:t>✅ Beginner friendly </a:t>
            </a:r>
          </a:p>
          <a:p>
            <a:pPr marL="0" indent="0">
              <a:buNone/>
            </a:pPr>
            <a:r>
              <a:rPr lang="en-US" dirty="0"/>
              <a:t>✅ Interactive learning </a:t>
            </a:r>
          </a:p>
          <a:p>
            <a:pPr marL="0" indent="0">
              <a:buNone/>
            </a:pPr>
            <a:r>
              <a:rPr lang="en-US" dirty="0"/>
              <a:t>✅ Great for experimentation </a:t>
            </a:r>
          </a:p>
          <a:p>
            <a:pPr marL="0" indent="0">
              <a:buNone/>
            </a:pPr>
            <a:r>
              <a:rPr lang="en-US" dirty="0"/>
              <a:t>✅ Widely used by Data Engineers and Data Scientists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37345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2AC3B-8C1E-A5DB-8840-829D125CE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14A06-5DD8-9EB4-DC5C-0D82E4374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Installing Jupyter Notebook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1E7488-A41E-ED2C-721B-8165EFFAE08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65433" y="1327483"/>
            <a:ext cx="4259498" cy="556661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b="1" dirty="0">
              <a:solidFill>
                <a:srgbClr val="FFC00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Step 1</a:t>
            </a:r>
            <a:r>
              <a:rPr lang="en-US" b="1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- Install Python</a:t>
            </a:r>
          </a:p>
          <a:p>
            <a:pPr marL="0" indent="0">
              <a:buNone/>
            </a:pPr>
            <a:r>
              <a:rPr lang="en-US" b="1" dirty="0"/>
              <a:t>Download from:</a:t>
            </a:r>
          </a:p>
          <a:p>
            <a:pPr marL="0" indent="0">
              <a:buNone/>
            </a:pPr>
            <a:r>
              <a:rPr lang="en-US" b="1" dirty="0">
                <a:hlinkClick r:id="rId2"/>
              </a:rPr>
              <a:t>https://python.org</a:t>
            </a:r>
            <a:endParaRPr lang="en-US" b="1" dirty="0"/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Step 2</a:t>
            </a:r>
            <a:r>
              <a:rPr lang="en-US" b="1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- Install Jupyter</a:t>
            </a:r>
          </a:p>
          <a:p>
            <a:pPr marL="0" indent="0">
              <a:buNone/>
            </a:pPr>
            <a:r>
              <a:rPr lang="en-US" b="1" dirty="0">
                <a:highlight>
                  <a:srgbClr val="E7F7FE"/>
                </a:highlight>
              </a:rPr>
              <a:t>pip install notebook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Step 3</a:t>
            </a:r>
            <a:r>
              <a:rPr lang="en-US" b="1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- Launch Jupyter</a:t>
            </a:r>
          </a:p>
          <a:p>
            <a:pPr marL="0" indent="0">
              <a:buNone/>
            </a:pPr>
            <a:r>
              <a:rPr lang="en-US" b="1" dirty="0" err="1">
                <a:highlight>
                  <a:srgbClr val="E7F7FE"/>
                </a:highlight>
              </a:rPr>
              <a:t>jupyter</a:t>
            </a:r>
            <a:r>
              <a:rPr lang="en-US" b="1" dirty="0">
                <a:highlight>
                  <a:srgbClr val="E7F7FE"/>
                </a:highlight>
              </a:rPr>
              <a:t> notebook</a:t>
            </a:r>
          </a:p>
          <a:p>
            <a:pPr marL="0" indent="0">
              <a:buNone/>
            </a:pPr>
            <a:r>
              <a:rPr lang="en-US" b="1" dirty="0"/>
              <a:t>Browser opens automatically.</a:t>
            </a:r>
          </a:p>
          <a:p>
            <a:pPr marL="0" indent="0">
              <a:buNone/>
            </a:pPr>
            <a:endParaRPr 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7917AD-7029-FE18-8A38-1B9366731C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4353" y="1942003"/>
            <a:ext cx="7904748" cy="4337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2391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F55A1-6285-A597-C615-6A385C3B4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Python Basics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3CC76E-B11B-7B0A-BE8B-77F15A30866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046259" y="1468120"/>
            <a:ext cx="3977640" cy="5773225"/>
          </a:xfrm>
        </p:spPr>
        <p:txBody>
          <a:bodyPr>
            <a:normAutofit/>
          </a:bodyPr>
          <a:lstStyle/>
          <a:p>
            <a:pPr>
              <a:buBlip>
                <a:blip r:embed="rId2"/>
              </a:buBlip>
            </a:pPr>
            <a:r>
              <a:rPr lang="en-US" sz="28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US" sz="2800" b="1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Variables</a:t>
            </a:r>
          </a:p>
          <a:p>
            <a:pPr marL="0" indent="0">
              <a:buNone/>
            </a:pPr>
            <a:r>
              <a:rPr lang="en-US" sz="2800" dirty="0"/>
              <a:t>name = "John"</a:t>
            </a:r>
            <a:br>
              <a:rPr lang="en-US" sz="2800" dirty="0"/>
            </a:br>
            <a:r>
              <a:rPr lang="en-US" sz="2800" dirty="0"/>
              <a:t>age = 25</a:t>
            </a:r>
            <a:br>
              <a:rPr lang="en-US" sz="2800" dirty="0"/>
            </a:br>
            <a:r>
              <a:rPr lang="en-US" sz="2800" dirty="0"/>
              <a:t>salary = 5000</a:t>
            </a:r>
          </a:p>
          <a:p>
            <a:pPr>
              <a:buBlip>
                <a:blip r:embed="rId2"/>
              </a:buBlip>
            </a:pPr>
            <a:r>
              <a:rPr lang="en-US" sz="28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US" sz="2800" b="1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Data Types</a:t>
            </a:r>
          </a:p>
          <a:p>
            <a:pPr marL="0" indent="0">
              <a:buNone/>
            </a:pPr>
            <a:r>
              <a:rPr lang="en-US" sz="2800" dirty="0"/>
              <a:t>str</a:t>
            </a:r>
            <a:br>
              <a:rPr lang="en-US" sz="2800" dirty="0"/>
            </a:br>
            <a:r>
              <a:rPr lang="en-US" sz="2800" dirty="0"/>
              <a:t>int</a:t>
            </a:r>
            <a:br>
              <a:rPr lang="en-US" sz="2800" dirty="0"/>
            </a:br>
            <a:r>
              <a:rPr lang="en-US" sz="2800" dirty="0"/>
              <a:t>float</a:t>
            </a:r>
            <a:br>
              <a:rPr lang="en-US" sz="2800" dirty="0"/>
            </a:br>
            <a:r>
              <a:rPr lang="en-US" sz="2800" dirty="0"/>
              <a:t>bool</a:t>
            </a:r>
            <a:br>
              <a:rPr lang="en-US" sz="2800" dirty="0"/>
            </a:br>
            <a:r>
              <a:rPr lang="en-US" sz="2800" dirty="0"/>
              <a:t>list</a:t>
            </a:r>
            <a:br>
              <a:rPr lang="en-US" sz="2800" dirty="0"/>
            </a:br>
            <a:r>
              <a:rPr lang="en-US" sz="2800" dirty="0" err="1"/>
              <a:t>dict</a:t>
            </a:r>
            <a:endParaRPr lang="en-US" sz="2800" dirty="0"/>
          </a:p>
          <a:p>
            <a:pPr marL="0" indent="0">
              <a:buNone/>
            </a:pPr>
            <a:endParaRPr lang="en-US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BDDB6C-0D86-5941-1257-CE2B8AAEAC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6921" y="1468120"/>
            <a:ext cx="7815189" cy="5210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6381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87A98-2A68-AE20-561D-3F911DC0F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Lists &amp; Dictionaries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A570BA-DE93-ABF2-A786-239D71C086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21039" y="1368084"/>
            <a:ext cx="3977641" cy="5526258"/>
          </a:xfrm>
        </p:spPr>
        <p:txBody>
          <a:bodyPr>
            <a:normAutofit fontScale="92500" lnSpcReduction="20000"/>
          </a:bodyPr>
          <a:lstStyle/>
          <a:p>
            <a:pPr>
              <a:buBlip>
                <a:blip r:embed="rId2"/>
              </a:buBlip>
            </a:pPr>
            <a:r>
              <a:rPr lang="en-US" b="1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Lists</a:t>
            </a:r>
          </a:p>
          <a:p>
            <a:r>
              <a:rPr lang="en-US" dirty="0"/>
              <a:t> Useful when working with multiple records.</a:t>
            </a:r>
          </a:p>
          <a:p>
            <a:pPr marL="0" indent="0">
              <a:buNone/>
            </a:pPr>
            <a:r>
              <a:rPr lang="en-US" dirty="0"/>
              <a:t>cities = ["Addis Ababa", "Nairobi", "Cairo"]</a:t>
            </a:r>
            <a:br>
              <a:rPr lang="en-US" dirty="0"/>
            </a:br>
            <a:r>
              <a:rPr lang="en-US" dirty="0"/>
              <a:t>print(cities[0])</a:t>
            </a:r>
          </a:p>
          <a:p>
            <a:r>
              <a:rPr lang="en-US" dirty="0"/>
              <a:t>Output: Addis Ababa</a:t>
            </a:r>
          </a:p>
          <a:p>
            <a:pPr>
              <a:buBlip>
                <a:blip r:embed="rId2"/>
              </a:buBlip>
            </a:pPr>
            <a:r>
              <a:rPr lang="en-US" b="1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Dictionaries</a:t>
            </a:r>
          </a:p>
          <a:p>
            <a:r>
              <a:rPr lang="en-US" dirty="0"/>
              <a:t> JSON data often becomes Python dictionaries.</a:t>
            </a:r>
          </a:p>
          <a:p>
            <a:r>
              <a:rPr lang="en-US" dirty="0"/>
              <a:t>employee = {</a:t>
            </a:r>
            <a:br>
              <a:rPr lang="en-US" dirty="0"/>
            </a:br>
            <a:r>
              <a:rPr lang="en-US" dirty="0"/>
              <a:t>    "name": "John",</a:t>
            </a:r>
            <a:br>
              <a:rPr lang="en-US" dirty="0"/>
            </a:br>
            <a:r>
              <a:rPr lang="en-US" dirty="0"/>
              <a:t>    "department": "IT",</a:t>
            </a:r>
            <a:br>
              <a:rPr lang="en-US" dirty="0"/>
            </a:br>
            <a:r>
              <a:rPr lang="en-US" dirty="0"/>
              <a:t>    "salary": 5000</a:t>
            </a:r>
            <a:br>
              <a:rPr lang="en-US" dirty="0"/>
            </a:br>
            <a:r>
              <a:rPr lang="en-US" dirty="0"/>
              <a:t>}</a:t>
            </a:r>
          </a:p>
          <a:p>
            <a:r>
              <a:rPr lang="en-US" dirty="0"/>
              <a:t>Output: employee["name"] - John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1BEA86-BCB6-F281-18E5-BF2E3C3ADC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092" y="1331742"/>
            <a:ext cx="8197947" cy="5465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804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2D991-D083-ACD0-A9CC-6EC2F4F26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89D3F-9916-95DB-EA47-583C9658A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Loops &amp; Functions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370945-88D2-849C-88D3-435A9D9F51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503919" y="993531"/>
            <a:ext cx="3870961" cy="6141721"/>
          </a:xfrm>
        </p:spPr>
        <p:txBody>
          <a:bodyPr>
            <a:normAutofit fontScale="85000" lnSpcReduction="20000"/>
          </a:bodyPr>
          <a:lstStyle/>
          <a:p>
            <a:pPr>
              <a:buBlip>
                <a:blip r:embed="rId2"/>
              </a:buBlip>
            </a:pPr>
            <a:r>
              <a:rPr lang="en-US" b="1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Loops</a:t>
            </a:r>
          </a:p>
          <a:p>
            <a:r>
              <a:rPr lang="en-US" dirty="0"/>
              <a:t> Useful for  processing records.</a:t>
            </a:r>
          </a:p>
          <a:p>
            <a:r>
              <a:rPr lang="en-US" b="1" dirty="0"/>
              <a:t>For Loop</a:t>
            </a:r>
          </a:p>
          <a:p>
            <a:r>
              <a:rPr lang="en-US" dirty="0"/>
              <a:t>for </a:t>
            </a:r>
            <a:r>
              <a:rPr lang="en-US" dirty="0" err="1"/>
              <a:t>i</a:t>
            </a:r>
            <a:r>
              <a:rPr lang="en-US" dirty="0"/>
              <a:t> in range(5):</a:t>
            </a:r>
            <a:br>
              <a:rPr lang="en-US" dirty="0"/>
            </a:br>
            <a:r>
              <a:rPr lang="en-US" dirty="0"/>
              <a:t>    print(</a:t>
            </a:r>
            <a:r>
              <a:rPr lang="en-US" dirty="0" err="1"/>
              <a:t>i</a:t>
            </a:r>
            <a:r>
              <a:rPr lang="en-US" dirty="0"/>
              <a:t>)</a:t>
            </a:r>
          </a:p>
          <a:p>
            <a:r>
              <a:rPr lang="en-US" dirty="0"/>
              <a:t>Output:</a:t>
            </a:r>
          </a:p>
          <a:p>
            <a:r>
              <a:rPr lang="en-US" dirty="0"/>
              <a:t>0</a:t>
            </a:r>
            <a:br>
              <a:rPr lang="en-US" dirty="0"/>
            </a:br>
            <a:r>
              <a:rPr lang="en-US" dirty="0"/>
              <a:t>1</a:t>
            </a:r>
            <a:br>
              <a:rPr lang="en-US" dirty="0"/>
            </a:br>
            <a:r>
              <a:rPr lang="en-US" dirty="0"/>
              <a:t>2</a:t>
            </a:r>
            <a:br>
              <a:rPr lang="en-US" dirty="0"/>
            </a:br>
            <a:r>
              <a:rPr lang="en-US" dirty="0"/>
              <a:t>3</a:t>
            </a:r>
            <a:br>
              <a:rPr lang="en-US" dirty="0"/>
            </a:br>
            <a:r>
              <a:rPr lang="en-US" dirty="0"/>
              <a:t>4</a:t>
            </a:r>
          </a:p>
          <a:p>
            <a:pPr>
              <a:buBlip>
                <a:blip r:embed="rId2"/>
              </a:buBlip>
            </a:pPr>
            <a:r>
              <a:rPr lang="en-US" b="1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Functions</a:t>
            </a:r>
          </a:p>
          <a:p>
            <a:r>
              <a:rPr lang="en-US" dirty="0"/>
              <a:t>Functions help create reusable ETL logic.</a:t>
            </a:r>
          </a:p>
          <a:p>
            <a:pPr marL="0" indent="0">
              <a:buNone/>
            </a:pPr>
            <a:r>
              <a:rPr lang="en-US" dirty="0"/>
              <a:t>def greet(name):</a:t>
            </a:r>
            <a:br>
              <a:rPr lang="en-US" dirty="0"/>
            </a:br>
            <a:r>
              <a:rPr lang="en-US" dirty="0"/>
              <a:t>    return </a:t>
            </a:r>
            <a:r>
              <a:rPr lang="en-US" dirty="0" err="1"/>
              <a:t>f"Hello</a:t>
            </a:r>
            <a:r>
              <a:rPr lang="en-US" dirty="0"/>
              <a:t> {name}"</a:t>
            </a:r>
            <a:br>
              <a:rPr lang="en-US" dirty="0"/>
            </a:br>
            <a:br>
              <a:rPr lang="en-US" dirty="0"/>
            </a:br>
            <a:r>
              <a:rPr lang="en-US" dirty="0"/>
              <a:t>greet("Data Engineer")</a:t>
            </a:r>
          </a:p>
          <a:p>
            <a:r>
              <a:rPr lang="en-US" dirty="0"/>
              <a:t>Output:</a:t>
            </a:r>
          </a:p>
          <a:p>
            <a:r>
              <a:rPr lang="en-US" dirty="0"/>
              <a:t>Hello Data Engineer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A05ABE-6695-74E3-72FD-93AF348482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3092" y="1392702"/>
            <a:ext cx="8197947" cy="5465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2047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5632A-94A3-D6D7-E954-5C52DBF35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Working With Files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5559DD-F884-06D9-0BCE-5FD04662AE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696200" y="1331742"/>
            <a:ext cx="3141930" cy="55133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Data Engineers constantly work with files:</a:t>
            </a:r>
          </a:p>
          <a:p>
            <a:pPr marL="0" indent="0">
              <a:buNone/>
            </a:pPr>
            <a:r>
              <a:rPr lang="en-US" dirty="0"/>
              <a:t>📄 CSV</a:t>
            </a:r>
          </a:p>
          <a:p>
            <a:pPr marL="0" indent="0">
              <a:buNone/>
            </a:pPr>
            <a:r>
              <a:rPr lang="en-US" dirty="0"/>
              <a:t>📄 JSON</a:t>
            </a:r>
          </a:p>
          <a:p>
            <a:pPr marL="0" indent="0">
              <a:buNone/>
            </a:pPr>
            <a:r>
              <a:rPr lang="en-US" dirty="0"/>
              <a:t>📄 Excel</a:t>
            </a:r>
          </a:p>
          <a:p>
            <a:pPr marL="0" indent="0">
              <a:buNone/>
            </a:pPr>
            <a:r>
              <a:rPr lang="en-US" dirty="0"/>
              <a:t>📄 Text Files</a:t>
            </a:r>
          </a:p>
          <a:p>
            <a:pPr marL="0" indent="0">
              <a:buNone/>
            </a:pPr>
            <a:r>
              <a:rPr lang="en-US" dirty="0"/>
              <a:t>📄 Log Files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42355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233DF7-2FA1-35FF-C3D7-C9F3C676F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12F6B-B418-B756-81F8-83608381F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Key Takeaways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EB4FE4-7429-4A2B-EA78-5CCCF265152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pPr>
              <a:buBlip>
                <a:blip r:embed="rId2"/>
              </a:buBlip>
            </a:pPr>
            <a:r>
              <a:rPr lang="en-US" sz="3200" dirty="0"/>
              <a:t> Python is the most important language for Data Engineers.</a:t>
            </a:r>
          </a:p>
          <a:p>
            <a:pPr>
              <a:buBlip>
                <a:blip r:embed="rId2"/>
              </a:buBlip>
            </a:pPr>
            <a:r>
              <a:rPr lang="en-US" sz="3200" dirty="0"/>
              <a:t> Jupyter Notebook is ideal for learning and prototyping.</a:t>
            </a:r>
          </a:p>
          <a:p>
            <a:pPr>
              <a:buBlip>
                <a:blip r:embed="rId2"/>
              </a:buBlip>
            </a:pPr>
            <a:r>
              <a:rPr lang="en-US" sz="3200" dirty="0"/>
              <a:t> CSV and JSON are essential data formats.</a:t>
            </a:r>
          </a:p>
          <a:p>
            <a:pPr>
              <a:buBlip>
                <a:blip r:embed="rId2"/>
              </a:buBlip>
            </a:pPr>
            <a:r>
              <a:rPr lang="en-US" sz="3200" dirty="0"/>
              <a:t> APIs are major data sources.</a:t>
            </a:r>
          </a:p>
          <a:p>
            <a:pPr>
              <a:buBlip>
                <a:blip r:embed="rId2"/>
              </a:buBlip>
            </a:pPr>
            <a:r>
              <a:rPr lang="en-US" sz="3200" dirty="0"/>
              <a:t> ETL is the foundation of Data Engineering.</a:t>
            </a:r>
          </a:p>
          <a:p>
            <a:pPr>
              <a:buBlip>
                <a:blip r:embed="rId2"/>
              </a:buBlip>
            </a:pPr>
            <a:r>
              <a:rPr lang="en-US" sz="3200" dirty="0"/>
              <a:t> Automation increases efficiency.</a:t>
            </a:r>
          </a:p>
        </p:txBody>
      </p:sp>
    </p:spTree>
    <p:extLst>
      <p:ext uri="{BB962C8B-B14F-4D97-AF65-F5344CB8AC3E}">
        <p14:creationId xmlns:p14="http://schemas.microsoft.com/office/powerpoint/2010/main" val="27157035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1340</TotalTime>
  <Words>618</Words>
  <Application>Microsoft Office PowerPoint</Application>
  <PresentationFormat>Widescreen</PresentationFormat>
  <Paragraphs>134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ADLaM Display</vt:lpstr>
      <vt:lpstr>Calibri</vt:lpstr>
      <vt:lpstr>Wingdings</vt:lpstr>
      <vt:lpstr>YESHUAH</vt:lpstr>
      <vt:lpstr>RetrospectVTI</vt:lpstr>
      <vt:lpstr>Python  For Data Engineers</vt:lpstr>
      <vt:lpstr>PowerPoint Presentation</vt:lpstr>
      <vt:lpstr>What is Python?</vt:lpstr>
      <vt:lpstr>Why Python for Data Engineering?</vt:lpstr>
      <vt:lpstr>Popular Python Libraries for Data Engineers</vt:lpstr>
      <vt:lpstr>Setting Up Python Environment</vt:lpstr>
      <vt:lpstr>What is Jupyter Notebook?</vt:lpstr>
      <vt:lpstr>Installing Jupyter Notebook</vt:lpstr>
      <vt:lpstr>Python Basics</vt:lpstr>
      <vt:lpstr>Lists &amp; Dictionaries</vt:lpstr>
      <vt:lpstr>Loops &amp; Functions</vt:lpstr>
      <vt:lpstr>Working With Files</vt:lpstr>
      <vt:lpstr>Key Takeaways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Mintesnot Iwunete</cp:lastModifiedBy>
  <cp:revision>170</cp:revision>
  <dcterms:created xsi:type="dcterms:W3CDTF">2020-02-06T00:04:00Z</dcterms:created>
  <dcterms:modified xsi:type="dcterms:W3CDTF">2026-06-19T09:36:59Z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1033-11.2.0.9937</vt:lpwstr>
  </property>
</Properties>
</file>