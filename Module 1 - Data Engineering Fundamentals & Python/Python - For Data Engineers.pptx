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411" r:id="rId2"/>
    <p:sldId id="410" r:id="rId3"/>
    <p:sldId id="394" r:id="rId4"/>
    <p:sldId id="413" r:id="rId5"/>
    <p:sldId id="438" r:id="rId6"/>
    <p:sldId id="412" r:id="rId7"/>
    <p:sldId id="414" r:id="rId8"/>
    <p:sldId id="415" r:id="rId9"/>
    <p:sldId id="416" r:id="rId10"/>
    <p:sldId id="417" r:id="rId11"/>
    <p:sldId id="418" r:id="rId12"/>
    <p:sldId id="420" r:id="rId13"/>
    <p:sldId id="419" r:id="rId14"/>
    <p:sldId id="439" r:id="rId15"/>
    <p:sldId id="437" r:id="rId16"/>
    <p:sldId id="26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7FE"/>
    <a:srgbClr val="0072C6"/>
    <a:srgbClr val="00A4EF"/>
    <a:srgbClr val="3333FF"/>
    <a:srgbClr val="FFDF00"/>
    <a:srgbClr val="75CDEA"/>
    <a:srgbClr val="ABE2F5"/>
    <a:srgbClr val="002060"/>
    <a:srgbClr val="5A56A1"/>
    <a:srgbClr val="5656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79" autoAdjust="0"/>
    <p:restoredTop sz="94639" autoAdjust="0"/>
  </p:normalViewPr>
  <p:slideViewPr>
    <p:cSldViewPr snapToGrid="0">
      <p:cViewPr varScale="1">
        <p:scale>
          <a:sx n="63" d="100"/>
          <a:sy n="63" d="100"/>
        </p:scale>
        <p:origin x="552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-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6/22/2026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6/22/2026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5116068" cy="51160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python.org/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03621"/>
            <a:ext cx="4764025" cy="1450757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Python</a:t>
            </a:r>
            <a:r>
              <a:rPr lang="en-US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br>
              <a:rPr lang="en-US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 Data Engineers</a:t>
            </a:r>
            <a:endParaRPr lang="en-US" sz="4800" dirty="0">
              <a:solidFill>
                <a:srgbClr val="FFC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0912" y="1523757"/>
            <a:ext cx="6934200" cy="40799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47D76-DCDC-BA68-E61D-E120C82FC6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50546" y="3749040"/>
            <a:ext cx="2387225" cy="238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81287" y="555932"/>
            <a:ext cx="6810713" cy="6667828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Python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Responsibilities of A Data Engineer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Data Engineer Vs. Data Analyst Vs. Data Scientist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Modern Data Platform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Data Sources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Data Lake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Data Warehouse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Data Engineering Skills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Cloud Data Engineering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9F17C-4686-579A-ADCE-818576D43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0" y="715229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Python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DD0B1B-B130-8E70-136A-D0F6E5E125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0" y="1520963"/>
            <a:ext cx="10794447" cy="5633815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sz="3200" dirty="0"/>
              <a:t> </a:t>
            </a:r>
            <a:r>
              <a:rPr lang="en-US" sz="32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Python </a:t>
            </a:r>
            <a:r>
              <a:rPr lang="en-US" sz="3200" dirty="0"/>
              <a:t>is a high-level, interpreted, and general-purpose programming language by Guido van Rossum in 1991.</a:t>
            </a:r>
          </a:p>
          <a:p>
            <a:pPr marL="0" indent="0" algn="just">
              <a:buNone/>
            </a:pPr>
            <a:r>
              <a:rPr lang="en-US" sz="3200" b="1" dirty="0"/>
              <a:t>Why Python?</a:t>
            </a:r>
          </a:p>
          <a:p>
            <a:pPr marL="0" indent="0">
              <a:buNone/>
            </a:pPr>
            <a:r>
              <a:rPr lang="en-US" sz="1900" dirty="0"/>
              <a:t>✅ Easy to learn</a:t>
            </a:r>
            <a:br>
              <a:rPr lang="en-US" sz="1900" dirty="0"/>
            </a:br>
            <a:r>
              <a:rPr lang="en-US" sz="1900" dirty="0"/>
              <a:t>✅ Easy to read</a:t>
            </a:r>
            <a:br>
              <a:rPr lang="en-US" sz="1900" dirty="0"/>
            </a:br>
            <a:r>
              <a:rPr lang="en-US" sz="1900" dirty="0"/>
              <a:t>✅ Large community support</a:t>
            </a:r>
            <a:br>
              <a:rPr lang="en-US" sz="1900" dirty="0"/>
            </a:br>
            <a:r>
              <a:rPr lang="en-US" sz="1900" dirty="0"/>
              <a:t>✅ Thousands of libraries available</a:t>
            </a:r>
            <a:br>
              <a:rPr lang="en-US" sz="1900" dirty="0"/>
            </a:br>
            <a:r>
              <a:rPr lang="en-US" sz="1900" dirty="0"/>
              <a:t>✅ Cross-platform (Windows, Linux, macOS)</a:t>
            </a:r>
          </a:p>
          <a:p>
            <a:pPr marL="0" indent="0">
              <a:buNone/>
            </a:pPr>
            <a:r>
              <a:rPr lang="en-US" sz="19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Popular Uses</a:t>
            </a:r>
          </a:p>
          <a:p>
            <a:r>
              <a:rPr lang="en-US" sz="1900" dirty="0"/>
              <a:t>Web Development </a:t>
            </a:r>
          </a:p>
          <a:p>
            <a:r>
              <a:rPr lang="en-US" sz="1900" dirty="0"/>
              <a:t>Data Analysis, Data Engineering &amp; Data Scientist</a:t>
            </a:r>
          </a:p>
          <a:p>
            <a:r>
              <a:rPr lang="en-US" sz="1900" dirty="0"/>
              <a:t>Machine Learning </a:t>
            </a:r>
          </a:p>
          <a:p>
            <a:r>
              <a:rPr lang="en-US" sz="1900" dirty="0"/>
              <a:t>Artificial Intelligence </a:t>
            </a:r>
          </a:p>
          <a:p>
            <a:r>
              <a:rPr lang="en-US" sz="1900" dirty="0"/>
              <a:t>Automation </a:t>
            </a:r>
          </a:p>
          <a:p>
            <a:r>
              <a:rPr lang="en-US" sz="1900" dirty="0"/>
              <a:t>Cybersecurity </a:t>
            </a:r>
          </a:p>
          <a:p>
            <a:r>
              <a:rPr lang="en-US" sz="1900" dirty="0"/>
              <a:t>Game Development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37428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8FEAC-0FCC-7155-60A5-5AB5606A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Why Python for Data Engineering?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2B3BF-1A8E-70E8-ECCE-82448699BD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491916"/>
            <a:ext cx="10275570" cy="555056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Python</a:t>
            </a:r>
            <a:r>
              <a:rPr lang="en-US" dirty="0"/>
              <a:t> is one of the most popular languages for Data Engineering because:</a:t>
            </a:r>
          </a:p>
          <a:p>
            <a:pPr marL="0" indent="0">
              <a:buNone/>
            </a:pPr>
            <a:r>
              <a:rPr lang="en-US" dirty="0"/>
              <a:t>✅ Easy to learn</a:t>
            </a:r>
          </a:p>
          <a:p>
            <a:pPr marL="0" indent="0">
              <a:buNone/>
            </a:pPr>
            <a:r>
              <a:rPr lang="en-US" dirty="0"/>
              <a:t>✅ Large ecosystem</a:t>
            </a:r>
          </a:p>
          <a:p>
            <a:pPr marL="0" indent="0">
              <a:buNone/>
            </a:pPr>
            <a:r>
              <a:rPr lang="en-US" dirty="0"/>
              <a:t>✅ Powerful libraries</a:t>
            </a:r>
          </a:p>
          <a:p>
            <a:pPr marL="0" indent="0">
              <a:buNone/>
            </a:pPr>
            <a:r>
              <a:rPr lang="en-US" dirty="0"/>
              <a:t>✅ Excellent community support</a:t>
            </a:r>
          </a:p>
          <a:p>
            <a:pPr marL="0" indent="0">
              <a:buNone/>
            </a:pPr>
            <a:r>
              <a:rPr lang="en-US" dirty="0"/>
              <a:t>✅ Works with databases, APIs, cloud platforms, and big data tools</a:t>
            </a:r>
          </a:p>
          <a:p>
            <a:pPr marL="0" indent="0">
              <a:buNone/>
            </a:pPr>
            <a:r>
              <a:rPr lang="en-US" b="1" dirty="0"/>
              <a:t>Common Uses</a:t>
            </a:r>
          </a:p>
          <a:p>
            <a:r>
              <a:rPr lang="en-US" dirty="0"/>
              <a:t>Data extraction </a:t>
            </a:r>
          </a:p>
          <a:p>
            <a:r>
              <a:rPr lang="en-US" dirty="0"/>
              <a:t>Data cleaning </a:t>
            </a:r>
          </a:p>
          <a:p>
            <a:r>
              <a:rPr lang="en-US" dirty="0"/>
              <a:t>Automation </a:t>
            </a:r>
          </a:p>
          <a:p>
            <a:r>
              <a:rPr lang="en-US" dirty="0"/>
              <a:t>ETL pipelines </a:t>
            </a:r>
          </a:p>
          <a:p>
            <a:r>
              <a:rPr lang="en-US" dirty="0"/>
              <a:t>Data validation </a:t>
            </a:r>
          </a:p>
          <a:p>
            <a:r>
              <a:rPr lang="en-US" dirty="0"/>
              <a:t>Data integration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3664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862F3-F38B-8C2B-4967-703FDB89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Advantages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03A0E-67B1-8DF4-D181-C0A195D353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03262" y="1735878"/>
            <a:ext cx="3893818" cy="503068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🐍 Easy to Learn</a:t>
            </a:r>
          </a:p>
          <a:p>
            <a:pPr marL="0" indent="0">
              <a:buNone/>
            </a:pPr>
            <a:r>
              <a:rPr lang="en-US" dirty="0"/>
              <a:t>⚡ Fast Development</a:t>
            </a:r>
          </a:p>
          <a:p>
            <a:pPr marL="0" indent="0">
              <a:buNone/>
            </a:pPr>
            <a:r>
              <a:rPr lang="en-US" dirty="0"/>
              <a:t>🔌 Rich Ecosystem</a:t>
            </a:r>
          </a:p>
          <a:p>
            <a:pPr marL="0" indent="0">
              <a:buNone/>
            </a:pPr>
            <a:r>
              <a:rPr lang="en-US" dirty="0"/>
              <a:t>☁️ Cloud Support</a:t>
            </a:r>
          </a:p>
          <a:p>
            <a:pPr marL="0" indent="0">
              <a:buNone/>
            </a:pPr>
            <a:r>
              <a:rPr lang="en-US" dirty="0"/>
              <a:t>📊 Excellent Data Libraries</a:t>
            </a:r>
          </a:p>
          <a:p>
            <a:pPr marL="0" indent="0">
              <a:buNone/>
            </a:pPr>
            <a:r>
              <a:rPr lang="en-US" dirty="0"/>
              <a:t>🤖 Automation Friendly</a:t>
            </a:r>
          </a:p>
          <a:p>
            <a:pPr marL="0" indent="0">
              <a:buNone/>
            </a:pPr>
            <a:r>
              <a:rPr lang="en-US" b="1" dirty="0"/>
              <a:t>Used By</a:t>
            </a:r>
          </a:p>
          <a:p>
            <a:r>
              <a:rPr lang="en-US" dirty="0"/>
              <a:t>Google </a:t>
            </a:r>
          </a:p>
          <a:p>
            <a:r>
              <a:rPr lang="en-US" dirty="0"/>
              <a:t>Netflix </a:t>
            </a:r>
          </a:p>
          <a:p>
            <a:r>
              <a:rPr lang="en-US" dirty="0"/>
              <a:t>Uber </a:t>
            </a:r>
          </a:p>
          <a:p>
            <a:r>
              <a:rPr lang="en-US" dirty="0"/>
              <a:t>Airbnb </a:t>
            </a:r>
          </a:p>
          <a:p>
            <a:r>
              <a:rPr lang="en-US" dirty="0"/>
              <a:t>Spotify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3D5E1-099E-5766-2686-5E7E5054EA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875" y="1331742"/>
            <a:ext cx="8289387" cy="5526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85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675A7-15C5-911F-E3B1-4E3D0168A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0" y="618977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Popular Python Libraries for Data Engineers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319A61-03B4-FE14-32D0-C1B745BE9D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918489"/>
              </p:ext>
            </p:extLst>
          </p:nvPr>
        </p:nvGraphicFramePr>
        <p:xfrm>
          <a:off x="1156920" y="1505729"/>
          <a:ext cx="10393396" cy="50292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196698">
                  <a:extLst>
                    <a:ext uri="{9D8B030D-6E8A-4147-A177-3AD203B41FA5}">
                      <a16:colId xmlns:a16="http://schemas.microsoft.com/office/drawing/2014/main" val="230855788"/>
                    </a:ext>
                  </a:extLst>
                </a:gridCol>
                <a:gridCol w="5196698">
                  <a:extLst>
                    <a:ext uri="{9D8B030D-6E8A-4147-A177-3AD203B41FA5}">
                      <a16:colId xmlns:a16="http://schemas.microsoft.com/office/drawing/2014/main" val="29245621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Library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Purpose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306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Pandas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Data analysis and manipulation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863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NumPy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Numerical computing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69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Requests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API communication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06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Requests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API communication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904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JSON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Handle JSON data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645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CSV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Handle CSV files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31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SQLAlchemy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Database connections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52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PySpark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Big Data processing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559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OpenPyXL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Excel automation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83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/>
                        <a:t>Matplotlib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Visualization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4037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683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5EF8E-8C73-A634-4273-B0F21FD15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Setting Up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Python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Environment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603AC9-5FDF-A354-6303-8B4EC55089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5433" y="1327483"/>
            <a:ext cx="4259498" cy="556661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Install Python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Download Python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Install Python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Verify installation </a:t>
            </a:r>
          </a:p>
          <a:p>
            <a:pPr marL="0" indent="0">
              <a:buNone/>
            </a:pPr>
            <a:r>
              <a:rPr lang="en-US" dirty="0">
                <a:highlight>
                  <a:srgbClr val="E7F7FE"/>
                </a:highlight>
              </a:rPr>
              <a:t>python --version</a:t>
            </a:r>
          </a:p>
          <a:p>
            <a:pPr marL="0" indent="0">
              <a:buNone/>
            </a:pPr>
            <a:r>
              <a:rPr lang="en-US" b="1" dirty="0"/>
              <a:t>Install Jupyter Notebook</a:t>
            </a:r>
          </a:p>
          <a:p>
            <a:pPr marL="0" indent="0">
              <a:buNone/>
            </a:pPr>
            <a:r>
              <a:rPr lang="en-US" dirty="0"/>
              <a:t>pip install notebook</a:t>
            </a:r>
          </a:p>
          <a:p>
            <a:pPr marL="0" indent="0">
              <a:buNone/>
            </a:pPr>
            <a:r>
              <a:rPr lang="en-US" b="1" dirty="0"/>
              <a:t>Start Notebook</a:t>
            </a:r>
          </a:p>
          <a:p>
            <a:pPr marL="0" indent="0">
              <a:buNone/>
            </a:pPr>
            <a:r>
              <a:rPr lang="en-US" dirty="0" err="1">
                <a:highlight>
                  <a:srgbClr val="E7F7FE"/>
                </a:highlight>
              </a:rPr>
              <a:t>jupyter</a:t>
            </a:r>
            <a:r>
              <a:rPr lang="en-US" dirty="0">
                <a:highlight>
                  <a:srgbClr val="E7F7FE"/>
                </a:highlight>
              </a:rPr>
              <a:t> notebook</a:t>
            </a:r>
          </a:p>
          <a:p>
            <a:pPr marL="0" indent="0">
              <a:buNone/>
            </a:pPr>
            <a:r>
              <a:rPr lang="en-US" b="1" dirty="0"/>
              <a:t>Install Useful Packages</a:t>
            </a:r>
          </a:p>
          <a:p>
            <a:pPr marL="0" indent="0">
              <a:buNone/>
            </a:pPr>
            <a:r>
              <a:rPr lang="en-US" dirty="0">
                <a:highlight>
                  <a:srgbClr val="E7F7FE"/>
                </a:highlight>
              </a:rPr>
              <a:t>pip install pandas</a:t>
            </a:r>
            <a:br>
              <a:rPr lang="en-US" dirty="0">
                <a:highlight>
                  <a:srgbClr val="E7F7FE"/>
                </a:highlight>
              </a:rPr>
            </a:br>
            <a:r>
              <a:rPr lang="en-US" dirty="0">
                <a:highlight>
                  <a:srgbClr val="E7F7FE"/>
                </a:highlight>
              </a:rPr>
              <a:t>pip install requests</a:t>
            </a:r>
            <a:br>
              <a:rPr lang="en-US" dirty="0">
                <a:highlight>
                  <a:srgbClr val="E7F7FE"/>
                </a:highlight>
              </a:rPr>
            </a:br>
            <a:r>
              <a:rPr lang="en-US" dirty="0">
                <a:highlight>
                  <a:srgbClr val="E7F7FE"/>
                </a:highlight>
              </a:rPr>
              <a:t>pip install </a:t>
            </a:r>
            <a:r>
              <a:rPr lang="en-US" dirty="0" err="1">
                <a:highlight>
                  <a:srgbClr val="E7F7FE"/>
                </a:highlight>
              </a:rPr>
              <a:t>sqlalchemy</a:t>
            </a:r>
            <a:br>
              <a:rPr lang="en-US" dirty="0">
                <a:highlight>
                  <a:srgbClr val="E7F7FE"/>
                </a:highlight>
              </a:rPr>
            </a:br>
            <a:r>
              <a:rPr lang="en-US" dirty="0">
                <a:highlight>
                  <a:srgbClr val="E7F7FE"/>
                </a:highlight>
              </a:rPr>
              <a:t>pip install psycopg2-binary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8FC0A8-C120-2D29-FAD0-56DFA68D7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53" y="1475873"/>
            <a:ext cx="7904748" cy="526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37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D7C0-CAEA-7E63-2493-2FD1D1F33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Jupyter Notebook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088A19-7EEA-673D-FB5D-99351FF55B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603716"/>
            <a:ext cx="10275570" cy="505616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 Jupyter Notebook is an interactive environment where you can:</a:t>
            </a:r>
          </a:p>
          <a:p>
            <a:pPr>
              <a:buBlip>
                <a:blip r:embed="rId2"/>
              </a:buBlip>
            </a:pPr>
            <a:r>
              <a:rPr lang="en-US" dirty="0"/>
              <a:t> Write code</a:t>
            </a:r>
          </a:p>
          <a:p>
            <a:pPr>
              <a:buBlip>
                <a:blip r:embed="rId2"/>
              </a:buBlip>
            </a:pPr>
            <a:r>
              <a:rPr lang="en-US" dirty="0"/>
              <a:t> Run code step-by-step</a:t>
            </a:r>
          </a:p>
          <a:p>
            <a:pPr>
              <a:buBlip>
                <a:blip r:embed="rId2"/>
              </a:buBlip>
            </a:pPr>
            <a:r>
              <a:rPr lang="en-US" dirty="0"/>
              <a:t> Visualize results</a:t>
            </a:r>
          </a:p>
          <a:p>
            <a:pPr>
              <a:buBlip>
                <a:blip r:embed="rId2"/>
              </a:buBlip>
            </a:pPr>
            <a:r>
              <a:rPr lang="en-US" dirty="0"/>
              <a:t> Document your work</a:t>
            </a:r>
          </a:p>
          <a:p>
            <a:pPr>
              <a:buBlip>
                <a:blip r:embed="rId2"/>
              </a:buBlip>
            </a:pPr>
            <a:r>
              <a:rPr lang="en-US" dirty="0"/>
              <a:t> Share notebooks</a:t>
            </a:r>
          </a:p>
          <a:p>
            <a:pPr marL="0" indent="0">
              <a:buNone/>
            </a:pPr>
            <a:r>
              <a:rPr lang="en-US" b="1" dirty="0"/>
              <a:t>Benefits</a:t>
            </a:r>
          </a:p>
          <a:p>
            <a:pPr marL="0" indent="0">
              <a:buNone/>
            </a:pPr>
            <a:r>
              <a:rPr lang="en-US" dirty="0"/>
              <a:t>✅ Beginner friendly </a:t>
            </a:r>
          </a:p>
          <a:p>
            <a:pPr marL="0" indent="0">
              <a:buNone/>
            </a:pPr>
            <a:r>
              <a:rPr lang="en-US" dirty="0"/>
              <a:t>✅ Interactive learning </a:t>
            </a:r>
          </a:p>
          <a:p>
            <a:pPr marL="0" indent="0">
              <a:buNone/>
            </a:pPr>
            <a:r>
              <a:rPr lang="en-US" dirty="0"/>
              <a:t>✅ Great for experimentation </a:t>
            </a:r>
          </a:p>
          <a:p>
            <a:pPr marL="0" indent="0">
              <a:buNone/>
            </a:pPr>
            <a:r>
              <a:rPr lang="en-US" dirty="0"/>
              <a:t>✅ Widely used by Data Engineers and Data Scientists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3734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AC3B-8C1E-A5DB-8840-829D125CE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14A06-5DD8-9EB4-DC5C-0D82E4374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Installing Jupyter Notebook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1E7488-A41E-ED2C-721B-8165EFFAE0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5433" y="1327483"/>
            <a:ext cx="4259498" cy="556661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solidFill>
                <a:srgbClr val="FFC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Step 1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- Install Python</a:t>
            </a:r>
          </a:p>
          <a:p>
            <a:pPr marL="0" indent="0">
              <a:buNone/>
            </a:pPr>
            <a:r>
              <a:rPr lang="en-US" b="1" dirty="0"/>
              <a:t>Download from:</a:t>
            </a:r>
          </a:p>
          <a:p>
            <a:pPr marL="0" indent="0">
              <a:buNone/>
            </a:pPr>
            <a:r>
              <a:rPr lang="en-US" b="1" dirty="0">
                <a:hlinkClick r:id="rId2"/>
              </a:rPr>
              <a:t>https://python.org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Step 2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- Install Jupyter</a:t>
            </a:r>
          </a:p>
          <a:p>
            <a:pPr marL="0" indent="0">
              <a:buNone/>
            </a:pPr>
            <a:r>
              <a:rPr lang="en-US" b="1" dirty="0">
                <a:highlight>
                  <a:srgbClr val="E7F7FE"/>
                </a:highlight>
              </a:rPr>
              <a:t>pip install notebook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Step 3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- Launch Jupyter</a:t>
            </a:r>
          </a:p>
          <a:p>
            <a:pPr marL="0" indent="0">
              <a:buNone/>
            </a:pPr>
            <a:r>
              <a:rPr lang="en-US" b="1" dirty="0" err="1">
                <a:highlight>
                  <a:srgbClr val="E7F7FE"/>
                </a:highlight>
              </a:rPr>
              <a:t>jupyter</a:t>
            </a:r>
            <a:r>
              <a:rPr lang="en-US" b="1" dirty="0">
                <a:highlight>
                  <a:srgbClr val="E7F7FE"/>
                </a:highlight>
              </a:rPr>
              <a:t> notebook</a:t>
            </a:r>
          </a:p>
          <a:p>
            <a:pPr marL="0" indent="0">
              <a:buNone/>
            </a:pPr>
            <a:r>
              <a:rPr lang="en-US" b="1" dirty="0"/>
              <a:t>Browser opens automatically.</a:t>
            </a:r>
          </a:p>
          <a:p>
            <a:pPr marL="0" indent="0">
              <a:buNone/>
            </a:pP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917AD-7029-FE18-8A38-1B9366731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353" y="1942003"/>
            <a:ext cx="7904748" cy="4337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239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55A1-6285-A597-C615-6A385C3B4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Python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CC76E-B11B-7B0A-BE8B-77F15A3086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46259" y="1468120"/>
            <a:ext cx="3977640" cy="5773225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sz="2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Variables</a:t>
            </a:r>
          </a:p>
          <a:p>
            <a:pPr marL="0" indent="0">
              <a:buNone/>
            </a:pPr>
            <a:r>
              <a:rPr lang="en-US" sz="2800" dirty="0"/>
              <a:t>name = "John"</a:t>
            </a:r>
            <a:br>
              <a:rPr lang="en-US" sz="2800" dirty="0"/>
            </a:br>
            <a:r>
              <a:rPr lang="en-US" sz="2800" dirty="0"/>
              <a:t>age = 25</a:t>
            </a:r>
            <a:br>
              <a:rPr lang="en-US" sz="2800" dirty="0"/>
            </a:br>
            <a:r>
              <a:rPr lang="en-US" sz="2800" dirty="0"/>
              <a:t>salary = 5000</a:t>
            </a:r>
          </a:p>
          <a:p>
            <a:pPr>
              <a:buBlip>
                <a:blip r:embed="rId2"/>
              </a:buBlip>
            </a:pPr>
            <a:r>
              <a:rPr lang="en-US" sz="2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 Types</a:t>
            </a:r>
          </a:p>
          <a:p>
            <a:pPr marL="0" indent="0">
              <a:buNone/>
            </a:pPr>
            <a:r>
              <a:rPr lang="en-US" sz="2800" dirty="0"/>
              <a:t>str</a:t>
            </a:r>
            <a:br>
              <a:rPr lang="en-US" sz="2800" dirty="0"/>
            </a:br>
            <a:r>
              <a:rPr lang="en-US" sz="2800" dirty="0"/>
              <a:t>int</a:t>
            </a:r>
            <a:br>
              <a:rPr lang="en-US" sz="2800" dirty="0"/>
            </a:br>
            <a:r>
              <a:rPr lang="en-US" sz="2800" dirty="0"/>
              <a:t>float</a:t>
            </a:r>
            <a:br>
              <a:rPr lang="en-US" sz="2800" dirty="0"/>
            </a:br>
            <a:r>
              <a:rPr lang="en-US" sz="2800" dirty="0"/>
              <a:t>bool</a:t>
            </a:r>
            <a:br>
              <a:rPr lang="en-US" sz="2800" dirty="0"/>
            </a:br>
            <a:r>
              <a:rPr lang="en-US" sz="2800" dirty="0"/>
              <a:t>list</a:t>
            </a:r>
            <a:br>
              <a:rPr lang="en-US" sz="2800" dirty="0"/>
            </a:br>
            <a:r>
              <a:rPr lang="en-US" sz="2800" dirty="0" err="1"/>
              <a:t>dict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BDDB6C-0D86-5941-1257-CE2B8AAEA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921" y="1468120"/>
            <a:ext cx="7815189" cy="5210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638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87A98-2A68-AE20-561D-3F911DC0F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Lists &amp; Dictionaries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570BA-DE93-ABF2-A786-239D71C086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21039" y="1368084"/>
            <a:ext cx="3977641" cy="5526258"/>
          </a:xfrm>
        </p:spPr>
        <p:txBody>
          <a:bodyPr>
            <a:normAutofit fontScale="92500" lnSpcReduction="20000"/>
          </a:bodyPr>
          <a:lstStyle/>
          <a:p>
            <a:pPr>
              <a:buBlip>
                <a:blip r:embed="rId2"/>
              </a:buBlip>
            </a:pP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Lists</a:t>
            </a:r>
          </a:p>
          <a:p>
            <a:r>
              <a:rPr lang="en-US" dirty="0"/>
              <a:t> Useful when working with multiple records.</a:t>
            </a:r>
          </a:p>
          <a:p>
            <a:pPr marL="0" indent="0">
              <a:buNone/>
            </a:pPr>
            <a:r>
              <a:rPr lang="en-US" dirty="0"/>
              <a:t>cities = ["Addis Ababa", "Nairobi", "Cairo"]</a:t>
            </a:r>
            <a:br>
              <a:rPr lang="en-US" dirty="0"/>
            </a:br>
            <a:r>
              <a:rPr lang="en-US" dirty="0"/>
              <a:t>print(cities[0])</a:t>
            </a:r>
          </a:p>
          <a:p>
            <a:r>
              <a:rPr lang="en-US" dirty="0"/>
              <a:t>Output: Addis Ababa</a:t>
            </a:r>
          </a:p>
          <a:p>
            <a:pPr>
              <a:buBlip>
                <a:blip r:embed="rId2"/>
              </a:buBlip>
            </a:pP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Dictionaries</a:t>
            </a:r>
          </a:p>
          <a:p>
            <a:r>
              <a:rPr lang="en-US" dirty="0"/>
              <a:t> JSON data often becomes Python dictionaries.</a:t>
            </a:r>
          </a:p>
          <a:p>
            <a:r>
              <a:rPr lang="en-US" dirty="0"/>
              <a:t>employee = {</a:t>
            </a:r>
            <a:br>
              <a:rPr lang="en-US" dirty="0"/>
            </a:br>
            <a:r>
              <a:rPr lang="en-US" dirty="0"/>
              <a:t>    "name": "John",</a:t>
            </a:r>
            <a:br>
              <a:rPr lang="en-US" dirty="0"/>
            </a:br>
            <a:r>
              <a:rPr lang="en-US" dirty="0"/>
              <a:t>    "department": "IT",</a:t>
            </a:r>
            <a:br>
              <a:rPr lang="en-US" dirty="0"/>
            </a:br>
            <a:r>
              <a:rPr lang="en-US" dirty="0"/>
              <a:t>    "salary": 5000</a:t>
            </a:r>
            <a:br>
              <a:rPr lang="en-US" dirty="0"/>
            </a:br>
            <a:r>
              <a:rPr lang="en-US" dirty="0"/>
              <a:t>}</a:t>
            </a:r>
          </a:p>
          <a:p>
            <a:r>
              <a:rPr lang="en-US" dirty="0"/>
              <a:t>Output: employee["name"] - John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1BEA86-BCB6-F281-18E5-BF2E3C3AD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2" y="1331742"/>
            <a:ext cx="8197947" cy="546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80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2D991-D083-ACD0-A9CC-6EC2F4F26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89D3F-9916-95DB-EA47-583C9658A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Loops &amp; Functions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70945-88D2-849C-88D3-435A9D9F51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03919" y="993531"/>
            <a:ext cx="3870961" cy="6141721"/>
          </a:xfrm>
        </p:spPr>
        <p:txBody>
          <a:bodyPr>
            <a:normAutofit fontScale="85000" lnSpcReduction="20000"/>
          </a:bodyPr>
          <a:lstStyle/>
          <a:p>
            <a:pPr>
              <a:buBlip>
                <a:blip r:embed="rId2"/>
              </a:buBlip>
            </a:pP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Loops</a:t>
            </a:r>
          </a:p>
          <a:p>
            <a:r>
              <a:rPr lang="en-US" dirty="0"/>
              <a:t> Useful for  processing records.</a:t>
            </a:r>
          </a:p>
          <a:p>
            <a:r>
              <a:rPr lang="en-US" b="1" dirty="0"/>
              <a:t>For Loop</a:t>
            </a:r>
          </a:p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 in range(5):</a:t>
            </a:r>
            <a:br>
              <a:rPr lang="en-US" dirty="0"/>
            </a:br>
            <a:r>
              <a:rPr lang="en-US" dirty="0"/>
              <a:t>    print(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  <a:p>
            <a:r>
              <a:rPr lang="en-US" dirty="0"/>
              <a:t>Output:</a:t>
            </a:r>
          </a:p>
          <a:p>
            <a:r>
              <a:rPr lang="en-US" dirty="0"/>
              <a:t>0</a:t>
            </a:r>
            <a:br>
              <a:rPr lang="en-US" dirty="0"/>
            </a:br>
            <a:r>
              <a:rPr lang="en-US" dirty="0"/>
              <a:t>1</a:t>
            </a:r>
            <a:br>
              <a:rPr lang="en-US" dirty="0"/>
            </a:br>
            <a:r>
              <a:rPr lang="en-US" dirty="0"/>
              <a:t>2</a:t>
            </a:r>
            <a:br>
              <a:rPr lang="en-US" dirty="0"/>
            </a:br>
            <a:r>
              <a:rPr lang="en-US" dirty="0"/>
              <a:t>3</a:t>
            </a:r>
            <a:br>
              <a:rPr lang="en-US" dirty="0"/>
            </a:br>
            <a:r>
              <a:rPr lang="en-US" dirty="0"/>
              <a:t>4</a:t>
            </a:r>
          </a:p>
          <a:p>
            <a:pPr>
              <a:buBlip>
                <a:blip r:embed="rId2"/>
              </a:buBlip>
            </a:pP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Functions</a:t>
            </a:r>
          </a:p>
          <a:p>
            <a:r>
              <a:rPr lang="en-US" dirty="0"/>
              <a:t>Functions help create reusable ETL logic.</a:t>
            </a:r>
          </a:p>
          <a:p>
            <a:pPr marL="0" indent="0">
              <a:buNone/>
            </a:pPr>
            <a:r>
              <a:rPr lang="en-US" dirty="0"/>
              <a:t>def greet(name):</a:t>
            </a:r>
            <a:br>
              <a:rPr lang="en-US" dirty="0"/>
            </a:br>
            <a:r>
              <a:rPr lang="en-US" dirty="0"/>
              <a:t>    return </a:t>
            </a:r>
            <a:r>
              <a:rPr lang="en-US" dirty="0" err="1"/>
              <a:t>f"Hello</a:t>
            </a:r>
            <a:r>
              <a:rPr lang="en-US" dirty="0"/>
              <a:t> {name}"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greet("Data Engineer")</a:t>
            </a:r>
          </a:p>
          <a:p>
            <a:r>
              <a:rPr lang="en-US" dirty="0"/>
              <a:t>Output:</a:t>
            </a:r>
          </a:p>
          <a:p>
            <a:r>
              <a:rPr lang="en-US" dirty="0"/>
              <a:t>Hello Data Engineer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A05ABE-6695-74E3-72FD-93AF3484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092" y="1392702"/>
            <a:ext cx="8197947" cy="546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04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5632A-94A3-D6D7-E954-5C52DBF3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Working With Files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5559DD-F884-06D9-0BCE-5FD04662AE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51286" y="1416539"/>
            <a:ext cx="3141930" cy="5513363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 Data Engineers constantly work with files:</a:t>
            </a:r>
          </a:p>
          <a:p>
            <a:pPr marL="0" indent="0">
              <a:buNone/>
            </a:pPr>
            <a:r>
              <a:rPr lang="en-US" b="1" dirty="0"/>
              <a:t>📄 CSV</a:t>
            </a:r>
          </a:p>
          <a:p>
            <a:pPr marL="0" indent="0">
              <a:buNone/>
            </a:pPr>
            <a:r>
              <a:rPr lang="en-US" b="1" dirty="0"/>
              <a:t>📄 JSON</a:t>
            </a:r>
          </a:p>
          <a:p>
            <a:pPr marL="0" indent="0">
              <a:buNone/>
            </a:pPr>
            <a:r>
              <a:rPr lang="en-US" b="1" dirty="0"/>
              <a:t>📄 Excel</a:t>
            </a:r>
          </a:p>
          <a:p>
            <a:pPr marL="0" indent="0">
              <a:buNone/>
            </a:pPr>
            <a:r>
              <a:rPr lang="en-US" b="1" dirty="0"/>
              <a:t>📄 Text Files</a:t>
            </a:r>
          </a:p>
          <a:p>
            <a:pPr marL="0" indent="0">
              <a:buNone/>
            </a:pPr>
            <a:r>
              <a:rPr lang="en-US" b="1" dirty="0"/>
              <a:t>📄 Log Files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D7A743-D499-252C-ADB2-410849CDA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1331742"/>
            <a:ext cx="8078566" cy="5385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235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9E50A1-0345-2BFB-58F5-750E2977E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730" y="396239"/>
            <a:ext cx="10162060" cy="567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653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33DF7-2FA1-35FF-C3D7-C9F3C676F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12F6B-B418-B756-81F8-83608381F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EB4FE4-7429-4A2B-EA78-5CCCF26515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sz="3200" dirty="0"/>
              <a:t> Python is the most important language for Data Engineers.</a:t>
            </a:r>
          </a:p>
          <a:p>
            <a:pPr>
              <a:buBlip>
                <a:blip r:embed="rId2"/>
              </a:buBlip>
            </a:pPr>
            <a:r>
              <a:rPr lang="en-US" sz="3200" dirty="0"/>
              <a:t> Jupyter Notebook is ideal for learning and prototyping.</a:t>
            </a:r>
          </a:p>
          <a:p>
            <a:pPr>
              <a:buBlip>
                <a:blip r:embed="rId2"/>
              </a:buBlip>
            </a:pPr>
            <a:r>
              <a:rPr lang="en-US" sz="3200" dirty="0"/>
              <a:t> CSV and JSON are essential data formats.</a:t>
            </a:r>
          </a:p>
          <a:p>
            <a:pPr>
              <a:buBlip>
                <a:blip r:embed="rId2"/>
              </a:buBlip>
            </a:pPr>
            <a:r>
              <a:rPr lang="en-US" sz="3200" dirty="0"/>
              <a:t> APIs are major data sources.</a:t>
            </a:r>
          </a:p>
          <a:p>
            <a:pPr>
              <a:buBlip>
                <a:blip r:embed="rId2"/>
              </a:buBlip>
            </a:pPr>
            <a:r>
              <a:rPr lang="en-US" sz="3200" dirty="0"/>
              <a:t> ETL is the foundation of Data Engineering.</a:t>
            </a:r>
          </a:p>
          <a:p>
            <a:pPr>
              <a:buBlip>
                <a:blip r:embed="rId2"/>
              </a:buBlip>
            </a:pPr>
            <a:r>
              <a:rPr lang="en-US" sz="3200" dirty="0"/>
              <a:t> Automation increases efficiency.</a:t>
            </a:r>
          </a:p>
        </p:txBody>
      </p:sp>
    </p:spTree>
    <p:extLst>
      <p:ext uri="{BB962C8B-B14F-4D97-AF65-F5344CB8AC3E}">
        <p14:creationId xmlns:p14="http://schemas.microsoft.com/office/powerpoint/2010/main" val="2715703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1392</TotalTime>
  <Words>647</Words>
  <Application>Microsoft Office PowerPoint</Application>
  <PresentationFormat>Widescreen</PresentationFormat>
  <Paragraphs>147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ADLaM Display</vt:lpstr>
      <vt:lpstr>Calibri</vt:lpstr>
      <vt:lpstr>Wingdings</vt:lpstr>
      <vt:lpstr>YESHUAH</vt:lpstr>
      <vt:lpstr>RetrospectVTI</vt:lpstr>
      <vt:lpstr>Python  For Data Engineers</vt:lpstr>
      <vt:lpstr>PowerPoint Presentation</vt:lpstr>
      <vt:lpstr>What is Python?</vt:lpstr>
      <vt:lpstr>Why Python for Data Engineering?</vt:lpstr>
      <vt:lpstr>Advantages</vt:lpstr>
      <vt:lpstr>Popular Python Libraries for Data Engineers</vt:lpstr>
      <vt:lpstr>Setting Up Python Environment</vt:lpstr>
      <vt:lpstr>What is Jupyter Notebook?</vt:lpstr>
      <vt:lpstr>Installing Jupyter Notebook</vt:lpstr>
      <vt:lpstr>Python Basics</vt:lpstr>
      <vt:lpstr>Lists &amp; Dictionaries</vt:lpstr>
      <vt:lpstr>Loops &amp; Functions</vt:lpstr>
      <vt:lpstr>Working With Files</vt:lpstr>
      <vt:lpstr>PowerPoint Presentation</vt:lpstr>
      <vt:lpstr>Key Takeaways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175</cp:revision>
  <dcterms:created xsi:type="dcterms:W3CDTF">2020-02-06T00:04:00Z</dcterms:created>
  <dcterms:modified xsi:type="dcterms:W3CDTF">2026-06-21T23:31:14Z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