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411" r:id="rId2"/>
    <p:sldId id="410" r:id="rId3"/>
    <p:sldId id="394" r:id="rId4"/>
    <p:sldId id="413" r:id="rId5"/>
    <p:sldId id="412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BE2F5"/>
    <a:srgbClr val="E7F7FE"/>
    <a:srgbClr val="0072C6"/>
    <a:srgbClr val="00A4EF"/>
    <a:srgbClr val="3333FF"/>
    <a:srgbClr val="FFDF00"/>
    <a:srgbClr val="75CDEA"/>
    <a:srgbClr val="002060"/>
    <a:srgbClr val="5A56A1"/>
    <a:srgbClr val="5656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736F72C-57AD-4C0C-B413-44A67FA7CD9B}" v="95" dt="2024-03-18T15:51:55.6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579" autoAdjust="0"/>
    <p:restoredTop sz="94639" autoAdjust="0"/>
  </p:normalViewPr>
  <p:slideViewPr>
    <p:cSldViewPr snapToGrid="0">
      <p:cViewPr varScale="1">
        <p:scale>
          <a:sx n="36" d="100"/>
          <a:sy n="36" d="100"/>
        </p:scale>
        <p:origin x="80" y="63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51" d="100"/>
          <a:sy n="51" d="100"/>
        </p:scale>
        <p:origin x="2692" y="-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Relationship Id="rId14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8E1AF-6343-46AA-8AEF-4C12F4118850}" type="datetimeFigureOut">
              <a:rPr lang="en-US" smtClean="0"/>
              <a:t>6/22/2026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858E0-3D38-47B7-97D4-4FE08D90D35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9D2517-63AA-420A-887D-BE60360A8F4D}" type="datetimeFigureOut">
              <a:rPr lang="en-US" noProof="0" smtClean="0"/>
              <a:t>6/22/2026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4ECAD9-32EE-4091-BDA5-6BD15ACC5E58}" type="slidenum">
              <a:rPr lang="en-US" noProof="0" smtClean="0"/>
              <a:t>‹#›</a:t>
            </a:fld>
            <a:endParaRPr lang="en-US" noProof="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ECC495-5FEF-4C9C-502D-7281AA9BC4CE}"/>
              </a:ext>
            </a:extLst>
          </p:cNvPr>
          <p:cNvSpPr/>
          <p:nvPr userDrawn="1"/>
        </p:nvSpPr>
        <p:spPr>
          <a:xfrm>
            <a:off x="-64008" y="0"/>
            <a:ext cx="4723782" cy="6858000"/>
          </a:xfrm>
          <a:prstGeom prst="rect">
            <a:avLst/>
          </a:prstGeom>
          <a:solidFill>
            <a:srgbClr val="25677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Title 1"/>
          <p:cNvSpPr txBox="1"/>
          <p:nvPr userDrawn="1"/>
        </p:nvSpPr>
        <p:spPr>
          <a:xfrm>
            <a:off x="-1707114" y="2422578"/>
            <a:ext cx="6145764" cy="110975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spc="-38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endParaRPr lang="en-US" sz="2400" dirty="0"/>
          </a:p>
        </p:txBody>
      </p:sp>
      <p:sp>
        <p:nvSpPr>
          <p:cNvPr id="18" name="Title 1"/>
          <p:cNvSpPr>
            <a:spLocks noGrp="1"/>
          </p:cNvSpPr>
          <p:nvPr>
            <p:ph type="title" hasCustomPrompt="1"/>
          </p:nvPr>
        </p:nvSpPr>
        <p:spPr>
          <a:xfrm>
            <a:off x="509750" y="2338493"/>
            <a:ext cx="3531146" cy="145075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400" b="1" baseline="0">
                <a:solidFill>
                  <a:schemeClr val="bg1"/>
                </a:solidFill>
                <a:latin typeface="YESHUAH" panose="02000500000000000000" pitchFamily="2" charset="0"/>
              </a:defRPr>
            </a:lvl1pPr>
          </a:lstStyle>
          <a:p>
            <a:r>
              <a:rPr lang="en-US" dirty="0"/>
              <a:t>{ subject }</a:t>
            </a:r>
          </a:p>
        </p:txBody>
      </p:sp>
      <p:sp>
        <p:nvSpPr>
          <p:cNvPr id="19" name="Content Placeholder 8"/>
          <p:cNvSpPr>
            <a:spLocks noGrp="1"/>
          </p:cNvSpPr>
          <p:nvPr>
            <p:ph sz="quarter" idx="13" hasCustomPrompt="1"/>
          </p:nvPr>
        </p:nvSpPr>
        <p:spPr>
          <a:xfrm>
            <a:off x="7647842" y="6136265"/>
            <a:ext cx="4090199" cy="45313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2400" baseline="0">
                <a:solidFill>
                  <a:srgbClr val="25677D"/>
                </a:solidFill>
                <a:latin typeface="YESHUAH" panose="02000500000000000000" pitchFamily="2" charset="0"/>
              </a:defRPr>
            </a:lvl1pPr>
          </a:lstStyle>
          <a:p>
            <a:pPr lvl="0"/>
            <a:r>
              <a:rPr lang="en-US" dirty="0"/>
              <a:t> { write presenter name }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/>
          <p:cNvSpPr/>
          <p:nvPr userDrawn="1"/>
        </p:nvSpPr>
        <p:spPr>
          <a:xfrm>
            <a:off x="-64008" y="0"/>
            <a:ext cx="4723782" cy="6858000"/>
          </a:xfrm>
          <a:prstGeom prst="rect">
            <a:avLst/>
          </a:prstGeom>
          <a:solidFill>
            <a:srgbClr val="25677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19" name="Group 18" descr="Info"/>
          <p:cNvGrpSpPr/>
          <p:nvPr userDrawn="1"/>
        </p:nvGrpSpPr>
        <p:grpSpPr>
          <a:xfrm>
            <a:off x="4642801" y="3133724"/>
            <a:ext cx="567374" cy="550865"/>
            <a:chOff x="4914764" y="3319462"/>
            <a:chExt cx="619125" cy="619125"/>
          </a:xfrm>
          <a:solidFill>
            <a:schemeClr val="bg1"/>
          </a:solidFill>
        </p:grpSpPr>
        <p:sp>
          <p:nvSpPr>
            <p:cNvPr id="20" name="Freeform: Shape 19"/>
            <p:cNvSpPr/>
            <p:nvPr/>
          </p:nvSpPr>
          <p:spPr>
            <a:xfrm>
              <a:off x="4914764" y="3319462"/>
              <a:ext cx="619125" cy="619125"/>
            </a:xfrm>
            <a:custGeom>
              <a:avLst/>
              <a:gdLst>
                <a:gd name="connsiteX0" fmla="*/ 309563 w 619125"/>
                <a:gd name="connsiteY0" fmla="*/ 0 h 619125"/>
                <a:gd name="connsiteX1" fmla="*/ 0 w 619125"/>
                <a:gd name="connsiteY1" fmla="*/ 309563 h 619125"/>
                <a:gd name="connsiteX2" fmla="*/ 309563 w 619125"/>
                <a:gd name="connsiteY2" fmla="*/ 619125 h 619125"/>
                <a:gd name="connsiteX3" fmla="*/ 619125 w 619125"/>
                <a:gd name="connsiteY3" fmla="*/ 309563 h 619125"/>
                <a:gd name="connsiteX4" fmla="*/ 309563 w 619125"/>
                <a:gd name="connsiteY4" fmla="*/ 0 h 619125"/>
                <a:gd name="connsiteX5" fmla="*/ 309563 w 619125"/>
                <a:gd name="connsiteY5" fmla="*/ 581025 h 619125"/>
                <a:gd name="connsiteX6" fmla="*/ 38100 w 619125"/>
                <a:gd name="connsiteY6" fmla="*/ 309563 h 619125"/>
                <a:gd name="connsiteX7" fmla="*/ 309563 w 619125"/>
                <a:gd name="connsiteY7" fmla="*/ 38100 h 619125"/>
                <a:gd name="connsiteX8" fmla="*/ 581025 w 619125"/>
                <a:gd name="connsiteY8" fmla="*/ 309563 h 619125"/>
                <a:gd name="connsiteX9" fmla="*/ 309563 w 619125"/>
                <a:gd name="connsiteY9" fmla="*/ 581025 h 619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19125" h="619125">
                  <a:moveTo>
                    <a:pt x="309563" y="0"/>
                  </a:moveTo>
                  <a:cubicBezTo>
                    <a:pt x="138875" y="0"/>
                    <a:pt x="0" y="138865"/>
                    <a:pt x="0" y="309563"/>
                  </a:cubicBezTo>
                  <a:cubicBezTo>
                    <a:pt x="0" y="480260"/>
                    <a:pt x="138875" y="619125"/>
                    <a:pt x="309563" y="619125"/>
                  </a:cubicBezTo>
                  <a:cubicBezTo>
                    <a:pt x="480250" y="619125"/>
                    <a:pt x="619125" y="480260"/>
                    <a:pt x="619125" y="309563"/>
                  </a:cubicBezTo>
                  <a:cubicBezTo>
                    <a:pt x="619125" y="138865"/>
                    <a:pt x="480250" y="0"/>
                    <a:pt x="309563" y="0"/>
                  </a:cubicBezTo>
                  <a:close/>
                  <a:moveTo>
                    <a:pt x="309563" y="581025"/>
                  </a:moveTo>
                  <a:cubicBezTo>
                    <a:pt x="159877" y="581025"/>
                    <a:pt x="38100" y="459248"/>
                    <a:pt x="38100" y="309563"/>
                  </a:cubicBezTo>
                  <a:cubicBezTo>
                    <a:pt x="38100" y="159877"/>
                    <a:pt x="159877" y="38100"/>
                    <a:pt x="309563" y="38100"/>
                  </a:cubicBezTo>
                  <a:cubicBezTo>
                    <a:pt x="459248" y="38100"/>
                    <a:pt x="581025" y="159877"/>
                    <a:pt x="581025" y="309563"/>
                  </a:cubicBezTo>
                  <a:cubicBezTo>
                    <a:pt x="581025" y="459248"/>
                    <a:pt x="459248" y="581025"/>
                    <a:pt x="309563" y="58102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 dirty="0"/>
            </a:p>
          </p:txBody>
        </p:sp>
        <p:sp>
          <p:nvSpPr>
            <p:cNvPr id="21" name="Freeform: Shape 20"/>
            <p:cNvSpPr/>
            <p:nvPr/>
          </p:nvSpPr>
          <p:spPr>
            <a:xfrm>
              <a:off x="5195751" y="3473729"/>
              <a:ext cx="57150" cy="57150"/>
            </a:xfrm>
            <a:custGeom>
              <a:avLst/>
              <a:gdLst>
                <a:gd name="connsiteX0" fmla="*/ 63722 w 57150"/>
                <a:gd name="connsiteY0" fmla="*/ 31861 h 57150"/>
                <a:gd name="connsiteX1" fmla="*/ 31861 w 57150"/>
                <a:gd name="connsiteY1" fmla="*/ 63722 h 57150"/>
                <a:gd name="connsiteX2" fmla="*/ 0 w 57150"/>
                <a:gd name="connsiteY2" fmla="*/ 31861 h 57150"/>
                <a:gd name="connsiteX3" fmla="*/ 31861 w 57150"/>
                <a:gd name="connsiteY3" fmla="*/ 0 h 57150"/>
                <a:gd name="connsiteX4" fmla="*/ 63722 w 57150"/>
                <a:gd name="connsiteY4" fmla="*/ 31861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0" h="57150">
                  <a:moveTo>
                    <a:pt x="63722" y="31861"/>
                  </a:moveTo>
                  <a:cubicBezTo>
                    <a:pt x="63722" y="49458"/>
                    <a:pt x="49458" y="63722"/>
                    <a:pt x="31861" y="63722"/>
                  </a:cubicBezTo>
                  <a:cubicBezTo>
                    <a:pt x="14265" y="63722"/>
                    <a:pt x="0" y="49458"/>
                    <a:pt x="0" y="31861"/>
                  </a:cubicBezTo>
                  <a:cubicBezTo>
                    <a:pt x="0" y="14265"/>
                    <a:pt x="14265" y="0"/>
                    <a:pt x="31861" y="0"/>
                  </a:cubicBezTo>
                  <a:cubicBezTo>
                    <a:pt x="49458" y="0"/>
                    <a:pt x="63722" y="14265"/>
                    <a:pt x="63722" y="3186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 dirty="0"/>
            </a:p>
          </p:txBody>
        </p:sp>
        <p:sp>
          <p:nvSpPr>
            <p:cNvPr id="22" name="Freeform: Shape 21"/>
            <p:cNvSpPr/>
            <p:nvPr/>
          </p:nvSpPr>
          <p:spPr>
            <a:xfrm>
              <a:off x="5205276" y="3589420"/>
              <a:ext cx="38100" cy="200025"/>
            </a:xfrm>
            <a:custGeom>
              <a:avLst/>
              <a:gdLst>
                <a:gd name="connsiteX0" fmla="*/ 19050 w 38100"/>
                <a:gd name="connsiteY0" fmla="*/ 0 h 200025"/>
                <a:gd name="connsiteX1" fmla="*/ 0 w 38100"/>
                <a:gd name="connsiteY1" fmla="*/ 19050 h 200025"/>
                <a:gd name="connsiteX2" fmla="*/ 0 w 38100"/>
                <a:gd name="connsiteY2" fmla="*/ 180975 h 200025"/>
                <a:gd name="connsiteX3" fmla="*/ 19050 w 38100"/>
                <a:gd name="connsiteY3" fmla="*/ 200025 h 200025"/>
                <a:gd name="connsiteX4" fmla="*/ 38100 w 38100"/>
                <a:gd name="connsiteY4" fmla="*/ 180975 h 200025"/>
                <a:gd name="connsiteX5" fmla="*/ 38100 w 38100"/>
                <a:gd name="connsiteY5" fmla="*/ 19050 h 200025"/>
                <a:gd name="connsiteX6" fmla="*/ 19050 w 38100"/>
                <a:gd name="connsiteY6" fmla="*/ 0 h 200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100" h="200025">
                  <a:moveTo>
                    <a:pt x="19050" y="0"/>
                  </a:moveTo>
                  <a:cubicBezTo>
                    <a:pt x="8534" y="0"/>
                    <a:pt x="0" y="8534"/>
                    <a:pt x="0" y="19050"/>
                  </a:cubicBezTo>
                  <a:lnTo>
                    <a:pt x="0" y="180975"/>
                  </a:lnTo>
                  <a:cubicBezTo>
                    <a:pt x="0" y="191491"/>
                    <a:pt x="8534" y="200025"/>
                    <a:pt x="19050" y="200025"/>
                  </a:cubicBezTo>
                  <a:cubicBezTo>
                    <a:pt x="29566" y="200025"/>
                    <a:pt x="38100" y="191491"/>
                    <a:pt x="38100" y="180975"/>
                  </a:cubicBezTo>
                  <a:lnTo>
                    <a:pt x="38100" y="19050"/>
                  </a:lnTo>
                  <a:cubicBezTo>
                    <a:pt x="38100" y="8525"/>
                    <a:pt x="29566" y="0"/>
                    <a:pt x="1905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 dirty="0"/>
            </a:p>
          </p:txBody>
        </p:sp>
      </p:grpSp>
      <p:sp>
        <p:nvSpPr>
          <p:cNvPr id="16" name="Title 1"/>
          <p:cNvSpPr txBox="1"/>
          <p:nvPr userDrawn="1"/>
        </p:nvSpPr>
        <p:spPr>
          <a:xfrm>
            <a:off x="474130" y="2639243"/>
            <a:ext cx="3334512" cy="108011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spc="-38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sz="6000" b="1" dirty="0">
                <a:solidFill>
                  <a:schemeClr val="bg1"/>
                </a:solidFill>
                <a:latin typeface="YESHUAH" panose="020005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Objectives</a:t>
            </a:r>
            <a:endParaRPr lang="en-US" sz="3200" b="1" dirty="0">
              <a:solidFill>
                <a:schemeClr val="bg1"/>
              </a:solidFill>
              <a:latin typeface="YESHUAH" panose="020005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5908431" y="1603717"/>
            <a:ext cx="5524060" cy="31511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600"/>
              </a:spcAft>
              <a:defRPr sz="3200">
                <a:solidFill>
                  <a:srgbClr val="002060"/>
                </a:solidFill>
              </a:defRPr>
            </a:lvl1pPr>
          </a:lstStyle>
          <a:p>
            <a:pPr lvl="0"/>
            <a:r>
              <a:rPr lang="en-US" dirty="0"/>
              <a:t> { write your objectives}</a:t>
            </a:r>
          </a:p>
          <a:p>
            <a:pPr lvl="0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3EF92EB-1689-2416-7533-E53DBC8933F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0" y="2348890"/>
            <a:ext cx="2160220" cy="21602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156921" y="618977"/>
            <a:ext cx="9393848" cy="712765"/>
          </a:xfrm>
          <a:prstGeom prst="rect">
            <a:avLst/>
          </a:prstGeom>
        </p:spPr>
        <p:txBody>
          <a:bodyPr/>
          <a:lstStyle>
            <a:lvl1pPr>
              <a:defRPr lang="en-US" sz="3600" b="1" kern="1200" spc="-38" baseline="0" dirty="0">
                <a:solidFill>
                  <a:srgbClr val="002060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{ Title }</a:t>
            </a:r>
          </a:p>
        </p:txBody>
      </p:sp>
      <p:sp>
        <p:nvSpPr>
          <p:cNvPr id="6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1156921" y="1603717"/>
            <a:ext cx="10275570" cy="470535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600"/>
              </a:spcAft>
              <a:defRPr sz="2400">
                <a:solidFill>
                  <a:srgbClr val="002060"/>
                </a:solidFill>
              </a:defRPr>
            </a:lvl1pPr>
          </a:lstStyle>
          <a:p>
            <a:pPr lvl="0"/>
            <a:r>
              <a:rPr lang="en-US" dirty="0"/>
              <a:t>{write your bullet point }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 txBox="1"/>
          <p:nvPr userDrawn="1"/>
        </p:nvSpPr>
        <p:spPr>
          <a:xfrm>
            <a:off x="1325880" y="638175"/>
            <a:ext cx="9942195" cy="66675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spc="-38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sz="3200" b="1" dirty="0">
                <a:solidFill>
                  <a:srgbClr val="002060"/>
                </a:solidFill>
                <a:latin typeface="+mn-lt"/>
                <a:ea typeface="Cambria" panose="02040503050406030204" pitchFamily="18" charset="0"/>
              </a:rPr>
              <a:t>References</a:t>
            </a:r>
          </a:p>
        </p:txBody>
      </p:sp>
      <p:sp>
        <p:nvSpPr>
          <p:cNvPr id="15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1325880" y="1524000"/>
            <a:ext cx="9681949" cy="3958659"/>
          </a:xfrm>
          <a:prstGeom prst="rect">
            <a:avLst/>
          </a:prstGeom>
        </p:spPr>
        <p:txBody>
          <a:bodyPr>
            <a:normAutofit/>
          </a:bodyPr>
          <a:lstStyle>
            <a:lvl1pPr marL="91440">
              <a:spcBef>
                <a:spcPts val="0"/>
              </a:spcBef>
              <a:defRPr sz="2400">
                <a:solidFill>
                  <a:srgbClr val="002060"/>
                </a:solidFill>
              </a:defRPr>
            </a:lvl1pPr>
          </a:lstStyle>
          <a:p>
            <a:pPr lvl="0"/>
            <a:r>
              <a:rPr lang="en-US" dirty="0"/>
              <a:t>{ link to reference1, example: http://app.icraftsoft.net }</a:t>
            </a:r>
          </a:p>
          <a:p>
            <a:pPr lvl="0"/>
            <a:r>
              <a:rPr lang="en-US" dirty="0"/>
              <a:t>{ link to reference1, example: http://app.icraftsoft.net }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84E36F-A443-7521-D49B-753C50A8A88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25952" y="973836"/>
            <a:ext cx="5116068" cy="511606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-8621" y="625480"/>
            <a:ext cx="1036320" cy="685800"/>
          </a:xfrm>
          <a:prstGeom prst="rect">
            <a:avLst/>
          </a:prstGeom>
          <a:solidFill>
            <a:srgbClr val="25677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noProof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8610600" y="6181726"/>
            <a:ext cx="2743200" cy="5397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836B06-9FB6-4AA1-A097-666DD28834F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073852" y="205990"/>
            <a:ext cx="944645" cy="94464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600" b="1" kern="1200" spc="-38" baseline="0">
          <a:solidFill>
            <a:schemeClr val="tx1">
              <a:lumMod val="75000"/>
              <a:lumOff val="25000"/>
            </a:schemeClr>
          </a:solidFill>
          <a:latin typeface="+mn-lt"/>
          <a:ea typeface="+mj-ea"/>
          <a:cs typeface="+mj-cs"/>
        </a:defRPr>
      </a:lvl1pPr>
    </p:titleStyle>
    <p:bodyStyle>
      <a:lvl1pPr marL="200025" indent="-200025" algn="l" defTabSz="685800" rtl="0" eaLnBrk="1" latinLnBrk="0" hangingPunct="1">
        <a:lnSpc>
          <a:spcPct val="100000"/>
        </a:lnSpc>
        <a:spcBef>
          <a:spcPts val="900"/>
        </a:spcBef>
        <a:spcAft>
          <a:spcPts val="150"/>
        </a:spcAft>
        <a:buClr>
          <a:schemeClr val="accent1"/>
        </a:buClr>
        <a:buSzPct val="100000"/>
        <a:buFont typeface="Wingdings" panose="05000000000000000000" pitchFamily="2" charset="2"/>
        <a:buChar char="§"/>
        <a:defRPr sz="15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288290" indent="-137160" algn="l" defTabSz="685800" rtl="0" eaLnBrk="1" latinLnBrk="0" hangingPunct="1">
        <a:lnSpc>
          <a:spcPct val="10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§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425450" indent="-137160" algn="l" defTabSz="685800" rtl="0" eaLnBrk="1" latinLnBrk="0" hangingPunct="1">
        <a:lnSpc>
          <a:spcPct val="10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§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562610" indent="-137160" algn="l" defTabSz="685800" rtl="0" eaLnBrk="1" latinLnBrk="0" hangingPunct="1">
        <a:lnSpc>
          <a:spcPct val="10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§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699770" indent="-137160" algn="l" defTabSz="685800" rtl="0" eaLnBrk="1" latinLnBrk="0" hangingPunct="1">
        <a:lnSpc>
          <a:spcPct val="10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§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824865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anose="020F0502020204030204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974725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anose="020F0502020204030204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12522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anose="020F0502020204030204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27508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anose="020F0502020204030204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ECDAC-6AB4-4A7B-90D7-87428ABE7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03621"/>
            <a:ext cx="5378824" cy="1814591"/>
          </a:xfrm>
        </p:spPr>
        <p:txBody>
          <a:bodyPr>
            <a:noAutofit/>
          </a:bodyPr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Data Platforms</a:t>
            </a:r>
            <a:b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 </a:t>
            </a:r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Cloud</a:t>
            </a:r>
            <a:endParaRPr lang="en-US" sz="5400" dirty="0">
              <a:solidFill>
                <a:srgbClr val="FFC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0905C-A1AA-3986-D28A-042DCEF7892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mintesnot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CEBC9E-4311-34A9-0C78-FA3EC39303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10912" y="1523757"/>
            <a:ext cx="6934200" cy="40799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2A47D76-DCDC-BA68-E61D-E120C82FC6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55732" y="3254886"/>
            <a:ext cx="3213548" cy="3213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9133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DA5F557-19C5-3E57-5E7C-602DF20CAEE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381287" y="498163"/>
            <a:ext cx="6810713" cy="6667828"/>
          </a:xfrm>
        </p:spPr>
        <p:txBody>
          <a:bodyPr>
            <a:normAutofit/>
          </a:bodyPr>
          <a:lstStyle/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What is </a:t>
            </a:r>
            <a:r>
              <a:rPr lang="en-US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RDBMS</a:t>
            </a: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SQL Databases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SQL DDL Statements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SQL DML Statements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SQL DQL Statements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SQL Constraints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SQL Primary Keys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SQL Foreign Keys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SQL Composite Keys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SQL Alternative Keys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Data Integrity</a:t>
            </a:r>
          </a:p>
        </p:txBody>
      </p:sp>
    </p:spTree>
    <p:extLst>
      <p:ext uri="{BB962C8B-B14F-4D97-AF65-F5344CB8AC3E}">
        <p14:creationId xmlns:p14="http://schemas.microsoft.com/office/powerpoint/2010/main" val="1664880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9F17C-4686-579A-ADCE-818576D43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920" y="715229"/>
            <a:ext cx="9393848" cy="712765"/>
          </a:xfrm>
        </p:spPr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What is </a:t>
            </a:r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RDBMS</a:t>
            </a: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DD0B1B-B130-8E70-136A-D0F6E5E125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56920" y="1643147"/>
            <a:ext cx="10794447" cy="5602941"/>
          </a:xfrm>
        </p:spPr>
        <p:txBody>
          <a:bodyPr>
            <a:normAutofit/>
          </a:bodyPr>
          <a:lstStyle/>
          <a:p>
            <a:pPr algn="just"/>
            <a:r>
              <a:rPr lang="en-US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RDBMS </a:t>
            </a:r>
            <a:r>
              <a:rPr lang="en-US" dirty="0"/>
              <a:t>stands for Relational Database Management System. RDBMS is the basis for SQL, and for all modern database systems like MS SQL Server, IBM DB2, Oracle, MySQL, and Microsoft Access.</a:t>
            </a:r>
          </a:p>
          <a:p>
            <a:pPr algn="just"/>
            <a:r>
              <a:rPr lang="en-US" dirty="0"/>
              <a:t> A Relational Database stores data in tables that are related to one another.</a:t>
            </a:r>
          </a:p>
          <a:p>
            <a:pPr algn="just"/>
            <a:r>
              <a:rPr lang="en-US" dirty="0"/>
              <a:t> Instead of storing student information multiple times, we store it once and reference it when needed.</a:t>
            </a:r>
          </a:p>
          <a:p>
            <a:pPr marL="0" indent="0">
              <a:buNone/>
            </a:pPr>
            <a:r>
              <a:rPr lang="en-US" sz="2800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Key Characteristics</a:t>
            </a:r>
          </a:p>
          <a:p>
            <a:pPr>
              <a:buBlip>
                <a:blip r:embed="rId2"/>
              </a:buBlip>
            </a:pPr>
            <a:r>
              <a:rPr lang="en-US" dirty="0"/>
              <a:t> Data stored in rows and columns </a:t>
            </a:r>
          </a:p>
          <a:p>
            <a:pPr>
              <a:buBlip>
                <a:blip r:embed="rId2"/>
              </a:buBlip>
            </a:pPr>
            <a:r>
              <a:rPr lang="en-US" dirty="0"/>
              <a:t> Tables can be connected through relationships </a:t>
            </a:r>
          </a:p>
          <a:p>
            <a:pPr>
              <a:buBlip>
                <a:blip r:embed="rId2"/>
              </a:buBlip>
            </a:pPr>
            <a:r>
              <a:rPr lang="en-US" dirty="0"/>
              <a:t> Uses SQL (Structured Query Language) </a:t>
            </a:r>
          </a:p>
          <a:p>
            <a:pPr>
              <a:buBlip>
                <a:blip r:embed="rId2"/>
              </a:buBlip>
            </a:pPr>
            <a:r>
              <a:rPr lang="en-US" dirty="0"/>
              <a:t> Reduces duplicate data</a:t>
            </a:r>
          </a:p>
          <a:p>
            <a:pPr algn="just"/>
            <a:endParaRPr lang="en-US" dirty="0"/>
          </a:p>
          <a:p>
            <a:pPr marL="0" indent="0" algn="just">
              <a:buNone/>
            </a:pPr>
            <a:r>
              <a:rPr lang="en-US" sz="1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37428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0C445-9122-907D-E52D-6FEEE2039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659CB-244E-F399-AD37-418DA84EB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Traditional Vs. Cloud Data Platforms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91A4E02-5B64-ED1F-A3A9-5FA58C457F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063174"/>
              </p:ext>
            </p:extLst>
          </p:nvPr>
        </p:nvGraphicFramePr>
        <p:xfrm>
          <a:off x="537882" y="1583264"/>
          <a:ext cx="11044518" cy="408243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522259">
                  <a:extLst>
                    <a:ext uri="{9D8B030D-6E8A-4147-A177-3AD203B41FA5}">
                      <a16:colId xmlns:a16="http://schemas.microsoft.com/office/drawing/2014/main" val="2854841709"/>
                    </a:ext>
                  </a:extLst>
                </a:gridCol>
                <a:gridCol w="5522259">
                  <a:extLst>
                    <a:ext uri="{9D8B030D-6E8A-4147-A177-3AD203B41FA5}">
                      <a16:colId xmlns:a16="http://schemas.microsoft.com/office/drawing/2014/main" val="1375696020"/>
                    </a:ext>
                  </a:extLst>
                </a:gridCol>
              </a:tblGrid>
              <a:tr h="680405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FFC00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Traditional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FFC00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Cloud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4656888"/>
                  </a:ext>
                </a:extLst>
              </a:tr>
              <a:tr h="680405">
                <a:tc>
                  <a:txBody>
                    <a:bodyPr/>
                    <a:lstStyle/>
                    <a:p>
                      <a:r>
                        <a:rPr lang="en-US" sz="2800" b="1" dirty="0"/>
                        <a:t>On-premise servers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Cloud infrastructure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004032"/>
                  </a:ext>
                </a:extLst>
              </a:tr>
              <a:tr h="680405">
                <a:tc>
                  <a:txBody>
                    <a:bodyPr/>
                    <a:lstStyle/>
                    <a:p>
                      <a:r>
                        <a:rPr lang="en-US" sz="2800" b="1" dirty="0"/>
                        <a:t>High upfront cost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Pay-as-you-use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748659"/>
                  </a:ext>
                </a:extLst>
              </a:tr>
              <a:tr h="680405">
                <a:tc>
                  <a:txBody>
                    <a:bodyPr/>
                    <a:lstStyle/>
                    <a:p>
                      <a:r>
                        <a:rPr lang="en-US" sz="2800" b="1" dirty="0"/>
                        <a:t>Limited scalability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Near unlimited scalability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243793"/>
                  </a:ext>
                </a:extLst>
              </a:tr>
              <a:tr h="680405">
                <a:tc>
                  <a:txBody>
                    <a:bodyPr/>
                    <a:lstStyle/>
                    <a:p>
                      <a:r>
                        <a:rPr lang="en-US" sz="2800" b="1" dirty="0"/>
                        <a:t>Manual maintenance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Managed services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7751145"/>
                  </a:ext>
                </a:extLst>
              </a:tr>
              <a:tr h="680405">
                <a:tc>
                  <a:txBody>
                    <a:bodyPr/>
                    <a:lstStyle/>
                    <a:p>
                      <a:r>
                        <a:rPr lang="en-US" sz="2800" b="1" dirty="0"/>
                        <a:t>Slow provisioning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Rapid deployment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623430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DAADF55-2965-8CC7-B1C5-22BB0D5D4B90}"/>
              </a:ext>
            </a:extLst>
          </p:cNvPr>
          <p:cNvSpPr txBox="1"/>
          <p:nvPr/>
        </p:nvSpPr>
        <p:spPr>
          <a:xfrm>
            <a:off x="331586" y="5823524"/>
            <a:ext cx="1104451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Blip>
                <a:blip r:embed="rId2"/>
              </a:buBlip>
            </a:pPr>
            <a:r>
              <a:rPr lang="en-US" sz="2400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Benefits of Cloud</a:t>
            </a:r>
            <a:r>
              <a:rPr lang="en-US" sz="2400" b="1" dirty="0"/>
              <a:t>: </a:t>
            </a:r>
            <a:r>
              <a:rPr lang="en-US" sz="2400" dirty="0"/>
              <a:t>Faster innovation , Reduced infrastructure management ,Better </a:t>
            </a:r>
            <a:r>
              <a:rPr lang="en-US" sz="2400"/>
              <a:t>performance  &amp; Global </a:t>
            </a:r>
            <a:r>
              <a:rPr lang="en-US" sz="2400" dirty="0"/>
              <a:t>accessibility</a:t>
            </a:r>
          </a:p>
        </p:txBody>
      </p:sp>
    </p:spTree>
    <p:extLst>
      <p:ext uri="{BB962C8B-B14F-4D97-AF65-F5344CB8AC3E}">
        <p14:creationId xmlns:p14="http://schemas.microsoft.com/office/powerpoint/2010/main" val="27055068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B3FAD-A65E-10FF-37B1-9619CDEDD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ETL Vs. ELT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E6D40BC-076C-CF2C-EE31-084122B129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6920319"/>
              </p:ext>
            </p:extLst>
          </p:nvPr>
        </p:nvGraphicFramePr>
        <p:xfrm>
          <a:off x="1046480" y="1583265"/>
          <a:ext cx="10500060" cy="465575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500020">
                  <a:extLst>
                    <a:ext uri="{9D8B030D-6E8A-4147-A177-3AD203B41FA5}">
                      <a16:colId xmlns:a16="http://schemas.microsoft.com/office/drawing/2014/main" val="2854841709"/>
                    </a:ext>
                  </a:extLst>
                </a:gridCol>
                <a:gridCol w="3500020">
                  <a:extLst>
                    <a:ext uri="{9D8B030D-6E8A-4147-A177-3AD203B41FA5}">
                      <a16:colId xmlns:a16="http://schemas.microsoft.com/office/drawing/2014/main" val="1375696020"/>
                    </a:ext>
                  </a:extLst>
                </a:gridCol>
                <a:gridCol w="3500020">
                  <a:extLst>
                    <a:ext uri="{9D8B030D-6E8A-4147-A177-3AD203B41FA5}">
                      <a16:colId xmlns:a16="http://schemas.microsoft.com/office/drawing/2014/main" val="1879988549"/>
                    </a:ext>
                  </a:extLst>
                </a:gridCol>
              </a:tblGrid>
              <a:tr h="665108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FFC00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Feature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FFC00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ETL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FFC00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ELT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4656888"/>
                  </a:ext>
                </a:extLst>
              </a:tr>
              <a:tr h="665108">
                <a:tc>
                  <a:txBody>
                    <a:bodyPr/>
                    <a:lstStyle/>
                    <a:p>
                      <a:r>
                        <a:rPr lang="en-US" sz="2800" b="1" dirty="0"/>
                        <a:t>Transformation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Before loading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After loading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004032"/>
                  </a:ext>
                </a:extLst>
              </a:tr>
              <a:tr h="665108">
                <a:tc>
                  <a:txBody>
                    <a:bodyPr/>
                    <a:lstStyle/>
                    <a:p>
                      <a:r>
                        <a:rPr lang="en-US" sz="2800" b="1" dirty="0"/>
                        <a:t>Storage of raw data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Usually No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Yes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748659"/>
                  </a:ext>
                </a:extLst>
              </a:tr>
              <a:tr h="665108">
                <a:tc>
                  <a:txBody>
                    <a:bodyPr/>
                    <a:lstStyle/>
                    <a:p>
                      <a:r>
                        <a:rPr lang="en-US" sz="2800" b="1" dirty="0"/>
                        <a:t>Speed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Slower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Faster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243793"/>
                  </a:ext>
                </a:extLst>
              </a:tr>
              <a:tr h="665108">
                <a:tc>
                  <a:txBody>
                    <a:bodyPr/>
                    <a:lstStyle/>
                    <a:p>
                      <a:r>
                        <a:rPr lang="en-US" sz="2800" b="1" dirty="0"/>
                        <a:t>Scalability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Limited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High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7751145"/>
                  </a:ext>
                </a:extLst>
              </a:tr>
              <a:tr h="665108">
                <a:tc>
                  <a:txBody>
                    <a:bodyPr/>
                    <a:lstStyle/>
                    <a:p>
                      <a:r>
                        <a:rPr lang="en-US" sz="2800" b="1" dirty="0"/>
                        <a:t>Cloud-friendly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Moderate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Excellent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6234306"/>
                  </a:ext>
                </a:extLst>
              </a:tr>
              <a:tr h="665108">
                <a:tc>
                  <a:txBody>
                    <a:bodyPr/>
                    <a:lstStyle/>
                    <a:p>
                      <a:r>
                        <a:rPr lang="en-US" sz="2800" b="1" dirty="0"/>
                        <a:t>Big Data Support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Moderate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Excellent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57256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78193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RetrospectVTI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2514</TotalTime>
  <Words>230</Words>
  <Application>Microsoft Office PowerPoint</Application>
  <PresentationFormat>Widescreen</PresentationFormat>
  <Paragraphs>60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ADLaM Display</vt:lpstr>
      <vt:lpstr>Calibri</vt:lpstr>
      <vt:lpstr>Wingdings</vt:lpstr>
      <vt:lpstr>YESHUAH</vt:lpstr>
      <vt:lpstr>RetrospectVTI</vt:lpstr>
      <vt:lpstr>Data Platforms - Cloud</vt:lpstr>
      <vt:lpstr>PowerPoint Presentation</vt:lpstr>
      <vt:lpstr>What is RDBMS?</vt:lpstr>
      <vt:lpstr>Traditional Vs. Cloud Data Platforms</vt:lpstr>
      <vt:lpstr>ETL Vs. ELT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Mintesnot Iwunete</cp:lastModifiedBy>
  <cp:revision>291</cp:revision>
  <dcterms:created xsi:type="dcterms:W3CDTF">2020-02-06T00:04:00Z</dcterms:created>
  <dcterms:modified xsi:type="dcterms:W3CDTF">2026-06-22T00:01:42Z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1033-11.2.0.9937</vt:lpwstr>
  </property>
</Properties>
</file>