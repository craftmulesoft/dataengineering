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11" r:id="rId2"/>
    <p:sldId id="410" r:id="rId3"/>
    <p:sldId id="394" r:id="rId4"/>
    <p:sldId id="413" r:id="rId5"/>
    <p:sldId id="414" r:id="rId6"/>
    <p:sldId id="415" r:id="rId7"/>
    <p:sldId id="421" r:id="rId8"/>
    <p:sldId id="422" r:id="rId9"/>
    <p:sldId id="416" r:id="rId10"/>
    <p:sldId id="417" r:id="rId11"/>
    <p:sldId id="418" r:id="rId12"/>
    <p:sldId id="419" r:id="rId13"/>
    <p:sldId id="412" r:id="rId14"/>
    <p:sldId id="420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9" autoAdjust="0"/>
    <p:restoredTop sz="94639" autoAdjust="0"/>
  </p:normalViewPr>
  <p:slideViewPr>
    <p:cSldViewPr snapToGrid="0">
      <p:cViewPr>
        <p:scale>
          <a:sx n="35" d="100"/>
          <a:sy n="35" d="100"/>
        </p:scale>
        <p:origin x="10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5378824" cy="1814591"/>
          </a:xfrm>
        </p:spPr>
        <p:txBody>
          <a:bodyPr>
            <a:no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Platforms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</a:t>
            </a:r>
            <a:endParaRPr lang="en-US" sz="54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47D76-DCDC-BA68-E61D-E120C82F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5732" y="3254886"/>
            <a:ext cx="3213548" cy="3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498163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RDBMS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Databases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DDL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DML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DQL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Constraints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Primary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Foreign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Composite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Alternative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F17C-4686-579A-ADCE-818576D4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Data Platform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0B1B-B130-8E70-136A-D0F6E5E12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92886" y="1176991"/>
            <a:ext cx="3799114" cy="66632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Data Platform </a:t>
            </a:r>
            <a:r>
              <a:rPr lang="en-US" dirty="0"/>
              <a:t>is a system that stores, processes, and analyzes data using cloud infrastructure.</a:t>
            </a:r>
          </a:p>
          <a:p>
            <a:pPr marL="0" indent="0">
              <a:buNone/>
            </a:pP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Characteristics</a:t>
            </a:r>
          </a:p>
          <a:p>
            <a:pPr>
              <a:buBlip>
                <a:blip r:embed="rId2"/>
              </a:buBlip>
            </a:pPr>
            <a:r>
              <a:rPr lang="en-US" dirty="0"/>
              <a:t> Scalable storage</a:t>
            </a:r>
          </a:p>
          <a:p>
            <a:pPr>
              <a:buBlip>
                <a:blip r:embed="rId2"/>
              </a:buBlip>
            </a:pPr>
            <a:r>
              <a:rPr lang="en-US" dirty="0"/>
              <a:t> Elastic computing</a:t>
            </a:r>
          </a:p>
          <a:p>
            <a:pPr>
              <a:buBlip>
                <a:blip r:embed="rId2"/>
              </a:buBlip>
            </a:pPr>
            <a:r>
              <a:rPr lang="en-US" dirty="0"/>
              <a:t> High availability</a:t>
            </a:r>
          </a:p>
          <a:p>
            <a:pPr>
              <a:buBlip>
                <a:blip r:embed="rId2"/>
              </a:buBlip>
            </a:pPr>
            <a:r>
              <a:rPr lang="en-US" dirty="0"/>
              <a:t> Pay-as-you-go pricing</a:t>
            </a:r>
          </a:p>
          <a:p>
            <a:pPr>
              <a:buBlip>
                <a:blip r:embed="rId2"/>
              </a:buBlip>
            </a:pPr>
            <a:r>
              <a:rPr lang="en-US" dirty="0"/>
              <a:t> Managed services</a:t>
            </a:r>
          </a:p>
          <a:p>
            <a:pPr marL="0" indent="0">
              <a:buNone/>
            </a:pP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Examples</a:t>
            </a:r>
          </a:p>
          <a:p>
            <a:pPr>
              <a:buBlip>
                <a:blip r:embed="rId3"/>
              </a:buBlip>
            </a:pPr>
            <a:r>
              <a:rPr lang="en-US" dirty="0"/>
              <a:t> Snowflake</a:t>
            </a:r>
          </a:p>
          <a:p>
            <a:pPr>
              <a:buBlip>
                <a:blip r:embed="rId3"/>
              </a:buBlip>
            </a:pPr>
            <a:r>
              <a:rPr lang="en-US" dirty="0"/>
              <a:t> Google Cloud BigQuery</a:t>
            </a:r>
          </a:p>
          <a:p>
            <a:pPr>
              <a:buBlip>
                <a:blip r:embed="rId3"/>
              </a:buBlip>
            </a:pPr>
            <a:r>
              <a:rPr lang="en-US" dirty="0"/>
              <a:t> Amazon  Web Services Redshift</a:t>
            </a:r>
          </a:p>
          <a:p>
            <a:pPr>
              <a:buBlip>
                <a:blip r:embed="rId3"/>
              </a:buBlip>
            </a:pPr>
            <a:r>
              <a:rPr lang="en-US" dirty="0"/>
              <a:t> Microsoft Synapse Analytics</a:t>
            </a:r>
          </a:p>
          <a:p>
            <a:pPr>
              <a:buBlip>
                <a:blip r:embed="rId3"/>
              </a:buBlip>
            </a:pPr>
            <a:r>
              <a:rPr lang="en-US" dirty="0"/>
              <a:t> Databricks</a:t>
            </a:r>
          </a:p>
          <a:p>
            <a:pPr marL="0" indent="0">
              <a:buNone/>
            </a:pPr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sz="1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45590-4C3D-1DE9-1082-EDDC3AEF1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1" y="1427994"/>
            <a:ext cx="8049985" cy="53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C445-9122-907D-E52D-6FEEE203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59CB-244E-F399-AD37-418DA84E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Traditional Vs. Cloud Data Platforms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1A4E02-5B64-ED1F-A3A9-5FA58C457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063174"/>
              </p:ext>
            </p:extLst>
          </p:nvPr>
        </p:nvGraphicFramePr>
        <p:xfrm>
          <a:off x="537882" y="1583264"/>
          <a:ext cx="11044518" cy="40824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522259">
                  <a:extLst>
                    <a:ext uri="{9D8B030D-6E8A-4147-A177-3AD203B41FA5}">
                      <a16:colId xmlns:a16="http://schemas.microsoft.com/office/drawing/2014/main" val="2854841709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1375696020"/>
                    </a:ext>
                  </a:extLst>
                </a:gridCol>
              </a:tblGrid>
              <a:tr h="68040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Traditional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Cloud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88"/>
                  </a:ext>
                </a:extLst>
              </a:tr>
              <a:tr h="680405">
                <a:tc>
                  <a:txBody>
                    <a:bodyPr/>
                    <a:lstStyle/>
                    <a:p>
                      <a:r>
                        <a:rPr lang="en-US" sz="2800" b="1" dirty="0"/>
                        <a:t>On-premise servers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Cloud infrastructure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04032"/>
                  </a:ext>
                </a:extLst>
              </a:tr>
              <a:tr h="680405">
                <a:tc>
                  <a:txBody>
                    <a:bodyPr/>
                    <a:lstStyle/>
                    <a:p>
                      <a:r>
                        <a:rPr lang="en-US" sz="2800" b="1" dirty="0"/>
                        <a:t>High upfront cost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Pay-as-you-use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48659"/>
                  </a:ext>
                </a:extLst>
              </a:tr>
              <a:tr h="680405">
                <a:tc>
                  <a:txBody>
                    <a:bodyPr/>
                    <a:lstStyle/>
                    <a:p>
                      <a:r>
                        <a:rPr lang="en-US" sz="2800" b="1" dirty="0"/>
                        <a:t>Limited scalability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Near unlimited scalability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43793"/>
                  </a:ext>
                </a:extLst>
              </a:tr>
              <a:tr h="680405">
                <a:tc>
                  <a:txBody>
                    <a:bodyPr/>
                    <a:lstStyle/>
                    <a:p>
                      <a:r>
                        <a:rPr lang="en-US" sz="2800" b="1" dirty="0"/>
                        <a:t>Manual maintenance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Managed services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51145"/>
                  </a:ext>
                </a:extLst>
              </a:tr>
              <a:tr h="680405">
                <a:tc>
                  <a:txBody>
                    <a:bodyPr/>
                    <a:lstStyle/>
                    <a:p>
                      <a:r>
                        <a:rPr lang="en-US" sz="2800" b="1" dirty="0"/>
                        <a:t>Slow provisioning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Rapid deployment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2343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AADF55-2965-8CC7-B1C5-22BB0D5D4B90}"/>
              </a:ext>
            </a:extLst>
          </p:cNvPr>
          <p:cNvSpPr txBox="1"/>
          <p:nvPr/>
        </p:nvSpPr>
        <p:spPr>
          <a:xfrm>
            <a:off x="331586" y="5823524"/>
            <a:ext cx="11044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24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 of Cloud</a:t>
            </a:r>
            <a:r>
              <a:rPr lang="en-US" sz="2400" b="1" dirty="0"/>
              <a:t>: </a:t>
            </a:r>
            <a:r>
              <a:rPr lang="en-US" sz="2400" dirty="0"/>
              <a:t>Faster innovation , Reduced infrastructure management ,Better </a:t>
            </a:r>
            <a:r>
              <a:rPr lang="en-US" sz="2400"/>
              <a:t>performance  &amp; Global </a:t>
            </a:r>
            <a:r>
              <a:rPr lang="en-US" sz="2400" dirty="0"/>
              <a:t>accessibility</a:t>
            </a:r>
          </a:p>
        </p:txBody>
      </p:sp>
    </p:spTree>
    <p:extLst>
      <p:ext uri="{BB962C8B-B14F-4D97-AF65-F5344CB8AC3E}">
        <p14:creationId xmlns:p14="http://schemas.microsoft.com/office/powerpoint/2010/main" val="270550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B739-686D-66DE-EFC4-29379C043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Components of a Cloud Data Platform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9CDE28-4741-3356-131F-ABF9C1EEF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3" y="1331742"/>
            <a:ext cx="10675852" cy="533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7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8E9F-2795-77EB-31E7-1FAE1F3E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Data Warehouse?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C70AC-E28C-09DF-1476-E6C8EDA80D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275570" cy="5526257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 A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warehouse </a:t>
            </a:r>
            <a:r>
              <a:rPr lang="en-US" sz="2800" dirty="0"/>
              <a:t>is a centralized repository designed to store integrated and historical business data.</a:t>
            </a:r>
          </a:p>
          <a:p>
            <a:pPr algn="just"/>
            <a:r>
              <a:rPr lang="en-US" sz="2800" dirty="0"/>
              <a:t> It is optimized for reporting, analytics, and decision-making rather than daily transactions.</a:t>
            </a:r>
          </a:p>
          <a:p>
            <a:pPr algn="just"/>
            <a:r>
              <a:rPr lang="en-US" sz="2800" dirty="0"/>
              <a:t> It combines data form multiple source systems into a single source of truth.</a:t>
            </a:r>
          </a:p>
          <a:p>
            <a:pPr marL="0" indent="0">
              <a:buNone/>
            </a:pPr>
            <a:r>
              <a:rPr lang="en-US" sz="2800" b="1" dirty="0"/>
              <a:t>Purpose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 Support business intelligence.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 Enable historical analysis.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 Improve reporting accuracy.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 Facilitate strategic decision-making.</a:t>
            </a:r>
          </a:p>
          <a:p>
            <a:pPr marL="0" indent="0" algn="just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84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2236-A828-2DC2-DA6A-393A0001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Characteristics of a Data Warehouse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1AC44-BCB4-3B72-4FBE-122612A2CA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603716"/>
            <a:ext cx="10675415" cy="5254284"/>
          </a:xfrm>
        </p:spPr>
        <p:txBody>
          <a:bodyPr>
            <a:normAutofit fontScale="92500" lnSpcReduction="10000"/>
          </a:bodyPr>
          <a:lstStyle/>
          <a:p>
            <a:pPr>
              <a:buBlip>
                <a:blip r:embed="rId2"/>
              </a:buBlip>
            </a:pPr>
            <a:r>
              <a:rPr lang="en-US" sz="3200" b="1" dirty="0"/>
              <a:t> Subject-Oriented</a:t>
            </a:r>
          </a:p>
          <a:p>
            <a:r>
              <a:rPr lang="en-US" sz="3200" dirty="0"/>
              <a:t>Data is organized around business subjects such as sales, customers, and products. </a:t>
            </a:r>
          </a:p>
          <a:p>
            <a:pPr>
              <a:buBlip>
                <a:blip r:embed="rId2"/>
              </a:buBlip>
            </a:pPr>
            <a:r>
              <a:rPr lang="en-US" sz="3200" b="1" dirty="0"/>
              <a:t> Integrated</a:t>
            </a:r>
          </a:p>
          <a:p>
            <a:r>
              <a:rPr lang="en-US" sz="3200" dirty="0"/>
              <a:t>Data from multiple systems is standardized and consolidated. </a:t>
            </a:r>
          </a:p>
          <a:p>
            <a:pPr>
              <a:buBlip>
                <a:blip r:embed="rId2"/>
              </a:buBlip>
            </a:pPr>
            <a:r>
              <a:rPr lang="en-US" sz="3200" b="1" dirty="0"/>
              <a:t> Time-Variant</a:t>
            </a:r>
          </a:p>
          <a:p>
            <a:r>
              <a:rPr lang="en-US" sz="3200" dirty="0"/>
              <a:t>Historical data is retained for trend analysis and forecasting. </a:t>
            </a:r>
          </a:p>
          <a:p>
            <a:pPr>
              <a:buBlip>
                <a:blip r:embed="rId2"/>
              </a:buBlip>
            </a:pPr>
            <a:r>
              <a:rPr lang="en-US" sz="3200" b="1" dirty="0"/>
              <a:t> Non-Volatile</a:t>
            </a:r>
          </a:p>
          <a:p>
            <a:r>
              <a:rPr lang="en-US" sz="3200" dirty="0"/>
              <a:t>Data is primarily read-only and is not frequently updated after loading. 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884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81A8-E88C-0687-32CA-66C82522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OLTP Vs. OLAP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1D172D-74C3-84F1-D38A-17D86C9AA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453521"/>
              </p:ext>
            </p:extLst>
          </p:nvPr>
        </p:nvGraphicFramePr>
        <p:xfrm>
          <a:off x="1013822" y="1497278"/>
          <a:ext cx="10507618" cy="33255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53809">
                  <a:extLst>
                    <a:ext uri="{9D8B030D-6E8A-4147-A177-3AD203B41FA5}">
                      <a16:colId xmlns:a16="http://schemas.microsoft.com/office/drawing/2014/main" val="2854841709"/>
                    </a:ext>
                  </a:extLst>
                </a:gridCol>
                <a:gridCol w="5253809">
                  <a:extLst>
                    <a:ext uri="{9D8B030D-6E8A-4147-A177-3AD203B41FA5}">
                      <a16:colId xmlns:a16="http://schemas.microsoft.com/office/drawing/2014/main" val="1375696020"/>
                    </a:ext>
                  </a:extLst>
                </a:gridCol>
              </a:tblGrid>
              <a:tr h="6651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OLTP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OLAP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88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0" dirty="0"/>
                        <a:t>Supports daily transactions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Supports business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04032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0" dirty="0"/>
                        <a:t>Optimized for inserts &amp; updates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Optimized for complex queries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48659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0" dirty="0"/>
                        <a:t>Current operational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Historical analytical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43793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0" dirty="0"/>
                        <a:t>Used by operational users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Used by analysts and managers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511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3985B2-DE8A-284F-FC26-631ED450E8D8}"/>
              </a:ext>
            </a:extLst>
          </p:cNvPr>
          <p:cNvSpPr txBox="1"/>
          <p:nvPr/>
        </p:nvSpPr>
        <p:spPr>
          <a:xfrm>
            <a:off x="1013822" y="4988354"/>
            <a:ext cx="10507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Examples</a:t>
            </a:r>
          </a:p>
          <a:p>
            <a:pPr marL="457200" indent="-457200">
              <a:buBlip>
                <a:blip r:embed="rId2"/>
              </a:buBlip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OLTP</a:t>
            </a:r>
            <a:r>
              <a:rPr lang="en-US" sz="3200" dirty="0"/>
              <a:t>: Online banking, e-commerce orders. </a:t>
            </a:r>
          </a:p>
          <a:p>
            <a:pPr marL="457200" indent="-457200">
              <a:buBlip>
                <a:blip r:embed="rId2"/>
              </a:buBlip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OLAP</a:t>
            </a:r>
            <a:r>
              <a:rPr lang="en-US" sz="3200" dirty="0"/>
              <a:t>: Sales dashboards, executive reports.</a:t>
            </a:r>
          </a:p>
        </p:txBody>
      </p:sp>
    </p:spTree>
    <p:extLst>
      <p:ext uri="{BB962C8B-B14F-4D97-AF65-F5344CB8AC3E}">
        <p14:creationId xmlns:p14="http://schemas.microsoft.com/office/powerpoint/2010/main" val="38586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DD1E-D7F9-E25A-AE7A-3334B7C4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ETL?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73A48-6FC2-A7E1-C9F3-7F6D5E547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254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ETL</a:t>
            </a:r>
            <a:r>
              <a:rPr lang="en-US" sz="2800" b="1" dirty="0"/>
              <a:t> = Extract → Transform → Load</a:t>
            </a:r>
          </a:p>
          <a:p>
            <a:pPr marL="0" indent="0">
              <a:buNone/>
            </a:pPr>
            <a:r>
              <a:rPr lang="en-US" sz="2800" b="1" dirty="0"/>
              <a:t>Process</a:t>
            </a:r>
          </a:p>
          <a:p>
            <a:r>
              <a:rPr lang="en-US" sz="2800" dirty="0"/>
              <a:t>Extract data from source systems. </a:t>
            </a:r>
          </a:p>
          <a:p>
            <a:r>
              <a:rPr lang="en-US" sz="2800" dirty="0"/>
              <a:t>Transform the data before loading. </a:t>
            </a:r>
          </a:p>
          <a:p>
            <a:r>
              <a:rPr lang="en-US" sz="2800" dirty="0"/>
              <a:t>Load the transformed data into the warehouse. </a:t>
            </a:r>
          </a:p>
          <a:p>
            <a:pPr marL="0" indent="0">
              <a:buNone/>
            </a:pPr>
            <a:r>
              <a:rPr lang="en-US" sz="2800" b="1" dirty="0"/>
              <a:t>Characteristics</a:t>
            </a:r>
          </a:p>
          <a:p>
            <a:r>
              <a:rPr lang="en-US" sz="2800" dirty="0"/>
              <a:t>Data quality checks occur before loading. </a:t>
            </a:r>
          </a:p>
          <a:p>
            <a:r>
              <a:rPr lang="en-US" sz="2800" dirty="0"/>
              <a:t>Common in traditional data warehouse environments. </a:t>
            </a:r>
          </a:p>
          <a:p>
            <a:r>
              <a:rPr lang="en-US" sz="2800" dirty="0"/>
              <a:t>Requires separate transformation infrastructure.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0896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5AD8-F327-F619-4C8C-B210EDEE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DD2B-1E05-394F-2F83-A9EC4D74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ETL Workflow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2EFA4-78EF-5413-25A9-1740065597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06850" y="1146516"/>
            <a:ext cx="3413750" cy="57114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/>
              <a:t>Extract</a:t>
            </a:r>
          </a:p>
          <a:p>
            <a:r>
              <a:rPr lang="en-US" sz="2800" dirty="0"/>
              <a:t>Retrieve sales data from CRM and ERP systems. </a:t>
            </a:r>
          </a:p>
          <a:p>
            <a:pPr marL="0" indent="0">
              <a:buNone/>
            </a:pPr>
            <a:r>
              <a:rPr lang="en-US" sz="2800" b="1" dirty="0"/>
              <a:t>Transform</a:t>
            </a:r>
          </a:p>
          <a:p>
            <a:r>
              <a:rPr lang="en-US" sz="2800" dirty="0"/>
              <a:t>Remove duplicates. </a:t>
            </a:r>
          </a:p>
          <a:p>
            <a:r>
              <a:rPr lang="en-US" sz="2800" dirty="0"/>
              <a:t>Standardize formats. </a:t>
            </a:r>
          </a:p>
          <a:p>
            <a:r>
              <a:rPr lang="en-US" sz="2800" dirty="0"/>
              <a:t>Apply business rules. </a:t>
            </a:r>
          </a:p>
          <a:p>
            <a:r>
              <a:rPr lang="en-US" sz="2800" dirty="0"/>
              <a:t>Calculate metrics. </a:t>
            </a:r>
          </a:p>
          <a:p>
            <a:pPr marL="0" indent="0">
              <a:buNone/>
            </a:pPr>
            <a:r>
              <a:rPr lang="en-US" sz="2800" b="1" dirty="0"/>
              <a:t>Load</a:t>
            </a:r>
          </a:p>
          <a:p>
            <a:r>
              <a:rPr lang="en-US" sz="2800" dirty="0"/>
              <a:t>Store the cleaned and transformed data in the warehouse. 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High-quality data enters the warehouse. </a:t>
            </a:r>
          </a:p>
          <a:p>
            <a:r>
              <a:rPr lang="en-US" sz="2800" dirty="0"/>
              <a:t>Better control over transformations.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5707F-17F5-C190-0118-E54FB2D5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9932"/>
            <a:ext cx="9006850" cy="472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65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9037-B449-832A-9549-306E5992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77E5-5108-513F-09AF-1D20A24A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ELT?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199AA-47B0-44B3-E7EB-DA09B4B0AE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254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ELT</a:t>
            </a:r>
            <a:r>
              <a:rPr lang="en-US" sz="2800" b="1" dirty="0"/>
              <a:t> = Extract → Load → Transform</a:t>
            </a:r>
          </a:p>
          <a:p>
            <a:pPr marL="0" indent="0">
              <a:buNone/>
            </a:pPr>
            <a:r>
              <a:rPr lang="en-US" sz="2800" b="1" dirty="0"/>
              <a:t>Process</a:t>
            </a:r>
          </a:p>
          <a:p>
            <a:r>
              <a:rPr lang="en-US" sz="2800" dirty="0"/>
              <a:t> Extract data from source systems. </a:t>
            </a:r>
          </a:p>
          <a:p>
            <a:r>
              <a:rPr lang="en-US" sz="2800" dirty="0"/>
              <a:t> Load raw data directly into the warehouse. </a:t>
            </a:r>
          </a:p>
          <a:p>
            <a:r>
              <a:rPr lang="en-US" sz="2800" dirty="0"/>
              <a:t> Transform data inside the warehouse. </a:t>
            </a:r>
          </a:p>
          <a:p>
            <a:pPr marL="0" indent="0">
              <a:buNone/>
            </a:pPr>
            <a:r>
              <a:rPr lang="en-US" sz="2800" b="1" dirty="0"/>
              <a:t>Characteristics</a:t>
            </a:r>
          </a:p>
          <a:p>
            <a:r>
              <a:rPr lang="en-US" sz="2800" dirty="0"/>
              <a:t> Takes advantage of cloud computing power. </a:t>
            </a:r>
          </a:p>
          <a:p>
            <a:r>
              <a:rPr lang="en-US" sz="2800" dirty="0"/>
              <a:t> Stores raw and historical data. </a:t>
            </a:r>
          </a:p>
          <a:p>
            <a:r>
              <a:rPr lang="en-US" sz="2800" dirty="0"/>
              <a:t> Supports flexible analytics.</a:t>
            </a:r>
          </a:p>
        </p:txBody>
      </p:sp>
    </p:spTree>
    <p:extLst>
      <p:ext uri="{BB962C8B-B14F-4D97-AF65-F5344CB8AC3E}">
        <p14:creationId xmlns:p14="http://schemas.microsoft.com/office/powerpoint/2010/main" val="392679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299F-0487-E7C1-5205-1D2A50AC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7D2A-C095-6A67-C0E4-2F025239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ETL Workflow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46BD3-F0E7-0875-5E2C-28E88FB6C7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06850" y="1146516"/>
            <a:ext cx="3413750" cy="57114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/>
              <a:t>Extract</a:t>
            </a:r>
          </a:p>
          <a:p>
            <a:r>
              <a:rPr lang="en-US" sz="2800" dirty="0"/>
              <a:t>Retrieve sales data from CRM and ERP systems. </a:t>
            </a:r>
          </a:p>
          <a:p>
            <a:pPr marL="0" indent="0">
              <a:buNone/>
            </a:pPr>
            <a:r>
              <a:rPr lang="en-US" sz="2800" b="1" dirty="0"/>
              <a:t>Transform</a:t>
            </a:r>
          </a:p>
          <a:p>
            <a:r>
              <a:rPr lang="en-US" sz="2800" dirty="0"/>
              <a:t>Remove duplicates. </a:t>
            </a:r>
          </a:p>
          <a:p>
            <a:r>
              <a:rPr lang="en-US" sz="2800" dirty="0"/>
              <a:t>Standardize formats. </a:t>
            </a:r>
          </a:p>
          <a:p>
            <a:r>
              <a:rPr lang="en-US" sz="2800" dirty="0"/>
              <a:t>Apply business rules. </a:t>
            </a:r>
          </a:p>
          <a:p>
            <a:r>
              <a:rPr lang="en-US" sz="2800" dirty="0"/>
              <a:t>Calculate metrics. </a:t>
            </a:r>
          </a:p>
          <a:p>
            <a:pPr marL="0" indent="0">
              <a:buNone/>
            </a:pPr>
            <a:r>
              <a:rPr lang="en-US" sz="2800" b="1" dirty="0"/>
              <a:t>Load</a:t>
            </a:r>
          </a:p>
          <a:p>
            <a:r>
              <a:rPr lang="en-US" sz="2800" dirty="0"/>
              <a:t>Store the cleaned and transformed data in the warehouse. 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High-quality data enters the warehouse. </a:t>
            </a:r>
          </a:p>
          <a:p>
            <a:r>
              <a:rPr lang="en-US" sz="2800" dirty="0"/>
              <a:t>Better control over transformations.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913D3-4D99-B2E3-EE5D-75AF146EE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536192"/>
            <a:ext cx="9031849" cy="49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88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3FAD-A65E-10FF-37B1-9619CDED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ETL Vs. ELT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D40BC-076C-CF2C-EE31-084122B12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3944"/>
              </p:ext>
            </p:extLst>
          </p:nvPr>
        </p:nvGraphicFramePr>
        <p:xfrm>
          <a:off x="1013823" y="1497278"/>
          <a:ext cx="10500060" cy="532086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00020">
                  <a:extLst>
                    <a:ext uri="{9D8B030D-6E8A-4147-A177-3AD203B41FA5}">
                      <a16:colId xmlns:a16="http://schemas.microsoft.com/office/drawing/2014/main" val="2854841709"/>
                    </a:ext>
                  </a:extLst>
                </a:gridCol>
                <a:gridCol w="3500020">
                  <a:extLst>
                    <a:ext uri="{9D8B030D-6E8A-4147-A177-3AD203B41FA5}">
                      <a16:colId xmlns:a16="http://schemas.microsoft.com/office/drawing/2014/main" val="1375696020"/>
                    </a:ext>
                  </a:extLst>
                </a:gridCol>
                <a:gridCol w="3500020">
                  <a:extLst>
                    <a:ext uri="{9D8B030D-6E8A-4147-A177-3AD203B41FA5}">
                      <a16:colId xmlns:a16="http://schemas.microsoft.com/office/drawing/2014/main" val="1879988549"/>
                    </a:ext>
                  </a:extLst>
                </a:gridCol>
              </a:tblGrid>
              <a:tr h="6651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ETL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ELT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88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Transformation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Before loading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After loading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04032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Processing Location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External server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Data warehouse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48659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Raw Data Storage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Usually not stored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Stored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43793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51145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Cloud-friendly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Moderate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Excellent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234306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Big Data Support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Moderate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Excellent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725638"/>
                  </a:ext>
                </a:extLst>
              </a:tr>
              <a:tr h="665108">
                <a:tc>
                  <a:txBody>
                    <a:bodyPr/>
                    <a:lstStyle/>
                    <a:p>
                      <a:r>
                        <a:rPr lang="en-US" sz="2800" b="1" dirty="0"/>
                        <a:t>Flexibility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Lower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30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81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C0D1-500C-F3E6-2634-22B642A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8564C-090C-113D-6FB7-455D43214D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489416"/>
            <a:ext cx="10762936" cy="5254283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Data Platforms</a:t>
            </a:r>
          </a:p>
          <a:p>
            <a:r>
              <a:rPr lang="en-US" sz="2800" dirty="0"/>
              <a:t>Provide scalable and cost-effective data infrastructure. </a:t>
            </a:r>
          </a:p>
          <a:p>
            <a:r>
              <a:rPr lang="en-US" sz="2800" dirty="0"/>
              <a:t>Support modern analytics, BI, and machine learning workloads. 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Warehousing</a:t>
            </a:r>
          </a:p>
          <a:p>
            <a:r>
              <a:rPr lang="en-US" sz="2800" dirty="0"/>
              <a:t>Centralizes business data for analysis. </a:t>
            </a:r>
          </a:p>
          <a:p>
            <a:r>
              <a:rPr lang="en-US" sz="2800" dirty="0"/>
              <a:t>Uses fact and dimension tables for reporting. 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ETL Vs. ELT</a:t>
            </a:r>
          </a:p>
          <a:p>
            <a:r>
              <a:rPr lang="en-US" sz="2800" dirty="0"/>
              <a:t>ETL transforms data before loading. </a:t>
            </a:r>
          </a:p>
          <a:p>
            <a:r>
              <a:rPr lang="en-US" sz="2800" dirty="0"/>
              <a:t>ELT transforms data after loading. </a:t>
            </a:r>
          </a:p>
          <a:p>
            <a:r>
              <a:rPr lang="en-US" sz="2800" dirty="0"/>
              <a:t>ELT is the preferred approach for modern cloud-based architectures.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0690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2647</TotalTime>
  <Words>664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ADLaM Display</vt:lpstr>
      <vt:lpstr>Calibri</vt:lpstr>
      <vt:lpstr>Wingdings</vt:lpstr>
      <vt:lpstr>YESHUAH</vt:lpstr>
      <vt:lpstr>RetrospectVTI</vt:lpstr>
      <vt:lpstr>Data Platforms - Cloud</vt:lpstr>
      <vt:lpstr>PowerPoint Presentation</vt:lpstr>
      <vt:lpstr>What is a Cloud Data Platform?</vt:lpstr>
      <vt:lpstr>Traditional Vs. Cloud Data Platforms</vt:lpstr>
      <vt:lpstr>Components of a Cloud Data Platform</vt:lpstr>
      <vt:lpstr>What is a Data Warehouse?</vt:lpstr>
      <vt:lpstr>Characteristics of a Data Warehouse</vt:lpstr>
      <vt:lpstr>OLTP Vs. OLAP</vt:lpstr>
      <vt:lpstr>What is ETL?</vt:lpstr>
      <vt:lpstr>ETL Workflow Example</vt:lpstr>
      <vt:lpstr>What is ELT?</vt:lpstr>
      <vt:lpstr>ETL Workflow Example</vt:lpstr>
      <vt:lpstr>ETL Vs. ELT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309</cp:revision>
  <dcterms:created xsi:type="dcterms:W3CDTF">2020-02-06T00:04:00Z</dcterms:created>
  <dcterms:modified xsi:type="dcterms:W3CDTF">2026-06-22T11:09:35Z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