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411" r:id="rId2"/>
    <p:sldId id="410" r:id="rId3"/>
    <p:sldId id="412" r:id="rId4"/>
    <p:sldId id="413" r:id="rId5"/>
    <p:sldId id="414" r:id="rId6"/>
    <p:sldId id="415" r:id="rId7"/>
    <p:sldId id="422" r:id="rId8"/>
    <p:sldId id="421" r:id="rId9"/>
    <p:sldId id="416" r:id="rId10"/>
    <p:sldId id="417" r:id="rId11"/>
    <p:sldId id="418" r:id="rId12"/>
    <p:sldId id="419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E2F5"/>
    <a:srgbClr val="E7F7FE"/>
    <a:srgbClr val="0072C6"/>
    <a:srgbClr val="00A4EF"/>
    <a:srgbClr val="3333FF"/>
    <a:srgbClr val="FFDF00"/>
    <a:srgbClr val="75CDEA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36" d="100"/>
          <a:sy n="36" d="100"/>
        </p:scale>
        <p:origin x="80" y="6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6/27/2026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5378824" cy="1814591"/>
          </a:xfrm>
        </p:spPr>
        <p:txBody>
          <a:bodyPr>
            <a:no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b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</a:t>
            </a:r>
            <a:endParaRPr lang="en-US" sz="54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5276" y="3149282"/>
            <a:ext cx="3213548" cy="3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1233269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Components of Cloud Data Platform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The Cloud Data Landscape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a Data Warehouse?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ELT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 Vs. ELT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578F-CBAD-808A-25C1-530BED34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❄️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A79AF-4BB5-9209-E9FA-9521D5AB69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483177"/>
            <a:ext cx="10275570" cy="5374823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r>
              <a:rPr lang="en-US" dirty="0"/>
              <a:t> is a cloud-native data platform that enables organizations to store, process, and analyze large volumes of data.</a:t>
            </a:r>
          </a:p>
          <a:p>
            <a:pPr algn="just"/>
            <a:r>
              <a:rPr lang="en-US" dirty="0"/>
              <a:t> Unlike traditional data warehouses, Snowflake was built specifically for the cloud and provides virtually unlimited scalability, high performance, and simplified management.</a:t>
            </a:r>
          </a:p>
          <a:p>
            <a:pPr marL="0" indent="0">
              <a:buNone/>
            </a:pPr>
            <a:r>
              <a:rPr lang="en-US" b="1" dirty="0"/>
              <a:t>Common Use Cases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Warehousing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Business Intelligence (BI)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Engineering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Lakes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Science &amp; Machine Learning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Sharing</a:t>
            </a:r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35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AAE5-F6ED-A0FC-0CAD-F6971382C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Why Snowflake?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10D23-1774-E86A-8194-CEDD3083BDD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086165" y="849853"/>
            <a:ext cx="4105835" cy="6221505"/>
          </a:xfrm>
        </p:spPr>
        <p:txBody>
          <a:bodyPr>
            <a:normAutofit fontScale="92500"/>
          </a:bodyPr>
          <a:lstStyle/>
          <a:p>
            <a:pPr>
              <a:buBlip>
                <a:blip r:embed="rId2"/>
              </a:buBlip>
            </a:pPr>
            <a:r>
              <a:rPr lang="en-US" b="1" dirty="0"/>
              <a:t>Scalability</a:t>
            </a:r>
          </a:p>
          <a:p>
            <a:r>
              <a:rPr lang="en-US" dirty="0"/>
              <a:t>Scale storage and compute independently </a:t>
            </a:r>
          </a:p>
          <a:p>
            <a:r>
              <a:rPr lang="en-US" dirty="0"/>
              <a:t>Handle growing data volumes easily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Performance</a:t>
            </a:r>
          </a:p>
          <a:p>
            <a:r>
              <a:rPr lang="en-US" dirty="0"/>
              <a:t>Fast query processing </a:t>
            </a:r>
          </a:p>
          <a:p>
            <a:r>
              <a:rPr lang="en-US" dirty="0"/>
              <a:t>Parallel execution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Simplicity</a:t>
            </a:r>
          </a:p>
          <a:p>
            <a:r>
              <a:rPr lang="en-US" dirty="0"/>
              <a:t>No infrastructure management </a:t>
            </a:r>
          </a:p>
          <a:p>
            <a:r>
              <a:rPr lang="en-US" dirty="0"/>
              <a:t>Automatic optimization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Cost Efficiency</a:t>
            </a:r>
          </a:p>
          <a:p>
            <a:r>
              <a:rPr lang="en-US" dirty="0"/>
              <a:t>Pay only for resources used </a:t>
            </a:r>
          </a:p>
          <a:p>
            <a:r>
              <a:rPr lang="en-US" dirty="0"/>
              <a:t>Separate storage and compute costs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120DCF-BC74-669D-B570-7CE0F2491D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21" y="1359346"/>
            <a:ext cx="7911804" cy="527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6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1FFDB2-CF4A-9670-FCD5-89C665CE9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3" y="1739153"/>
            <a:ext cx="8718117" cy="47838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2389DC-5C4B-7008-BD7E-3D59A4E1A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 Architecture 🏗️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ABE34-4810-01DB-04C6-4CD3C0B6FD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21271" y="1331742"/>
            <a:ext cx="3370729" cy="5952564"/>
          </a:xfrm>
        </p:spPr>
        <p:txBody>
          <a:bodyPr>
            <a:normAutofit/>
          </a:bodyPr>
          <a:lstStyle/>
          <a:p>
            <a:r>
              <a:rPr lang="en-US" dirty="0"/>
              <a:t> Snowflake follows a unique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three-layer</a:t>
            </a:r>
            <a:r>
              <a:rPr lang="en-US" dirty="0"/>
              <a:t> architecture: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Database Storage Layer </a:t>
            </a:r>
            <a:r>
              <a:rPr lang="en-US" dirty="0"/>
              <a:t>– Stores data in compressed format.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Compute Layer (Virtual Warehouses) </a:t>
            </a:r>
            <a:r>
              <a:rPr lang="en-US" dirty="0"/>
              <a:t>– Executes SQL queries.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Services Layer </a:t>
            </a:r>
            <a:r>
              <a:rPr lang="en-US" dirty="0"/>
              <a:t>- Authentication</a:t>
            </a:r>
          </a:p>
        </p:txBody>
      </p:sp>
    </p:spTree>
    <p:extLst>
      <p:ext uri="{BB962C8B-B14F-4D97-AF65-F5344CB8AC3E}">
        <p14:creationId xmlns:p14="http://schemas.microsoft.com/office/powerpoint/2010/main" val="312015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4A895-D5BD-54D8-89CD-A955C202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4AC4F1-9C52-A01F-2ED5-35B26919F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776" y="160503"/>
            <a:ext cx="8715993" cy="653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36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E71F1-870A-922E-8969-FB6B61E2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 Editions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76A6C3B-BB6C-41F9-705E-57F23D586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474519"/>
              </p:ext>
            </p:extLst>
          </p:nvPr>
        </p:nvGraphicFramePr>
        <p:xfrm>
          <a:off x="1280159" y="1695025"/>
          <a:ext cx="10266382" cy="454399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133191">
                  <a:extLst>
                    <a:ext uri="{9D8B030D-6E8A-4147-A177-3AD203B41FA5}">
                      <a16:colId xmlns:a16="http://schemas.microsoft.com/office/drawing/2014/main" val="809685056"/>
                    </a:ext>
                  </a:extLst>
                </a:gridCol>
                <a:gridCol w="5133191">
                  <a:extLst>
                    <a:ext uri="{9D8B030D-6E8A-4147-A177-3AD203B41FA5}">
                      <a16:colId xmlns:a16="http://schemas.microsoft.com/office/drawing/2014/main" val="2613485589"/>
                    </a:ext>
                  </a:extLst>
                </a:gridCol>
              </a:tblGrid>
              <a:tr h="908799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Edition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760531"/>
                  </a:ext>
                </a:extLst>
              </a:tr>
              <a:tr h="908799">
                <a:tc>
                  <a:txBody>
                    <a:bodyPr/>
                    <a:lstStyle/>
                    <a:p>
                      <a:r>
                        <a:rPr lang="en-US" sz="2800" b="1" dirty="0"/>
                        <a:t>Standard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Basic analytics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989659"/>
                  </a:ext>
                </a:extLst>
              </a:tr>
              <a:tr h="908799">
                <a:tc>
                  <a:txBody>
                    <a:bodyPr/>
                    <a:lstStyle/>
                    <a:p>
                      <a:r>
                        <a:rPr lang="en-US" sz="2800" b="1" dirty="0"/>
                        <a:t>Enterprise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Security &amp; governance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497362"/>
                  </a:ext>
                </a:extLst>
              </a:tr>
              <a:tr h="908799">
                <a:tc>
                  <a:txBody>
                    <a:bodyPr/>
                    <a:lstStyle/>
                    <a:p>
                      <a:r>
                        <a:rPr lang="en-US" sz="2800" b="1" dirty="0"/>
                        <a:t>Business Critical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Sensitive data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223843"/>
                  </a:ext>
                </a:extLst>
              </a:tr>
              <a:tr h="908799">
                <a:tc>
                  <a:txBody>
                    <a:bodyPr/>
                    <a:lstStyle/>
                    <a:p>
                      <a:r>
                        <a:rPr lang="en-US" sz="2800" b="1" dirty="0"/>
                        <a:t>Virtual Private Snowflake (VPS)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Highest isolation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3240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6310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1B8D9-D5D7-0A0B-FD78-59F6DF3AC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9D26563-233D-D5CA-F412-DB9F34CAD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86304" y="396240"/>
            <a:ext cx="9689695" cy="64617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B5FDCC-A43F-A8E3-6E98-ECD1B3A1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094184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F0048-DCDC-022A-A0FC-55E9EBB3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Virtual Warehouses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42B11-3856-FE70-FFD0-36136279E4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9388" y="1847557"/>
            <a:ext cx="3902612" cy="5010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Virtual Warehouse = Compute Cluster</a:t>
            </a:r>
          </a:p>
          <a:p>
            <a:pPr marL="0" indent="0">
              <a:buNone/>
            </a:pPr>
            <a:r>
              <a:rPr lang="en-US" dirty="0"/>
              <a:t>Responsibilities:</a:t>
            </a:r>
          </a:p>
          <a:p>
            <a:r>
              <a:rPr lang="en-US" dirty="0"/>
              <a:t>Run queries </a:t>
            </a:r>
          </a:p>
          <a:p>
            <a:r>
              <a:rPr lang="en-US" dirty="0"/>
              <a:t>Load data </a:t>
            </a:r>
          </a:p>
          <a:p>
            <a:r>
              <a:rPr lang="en-US" dirty="0"/>
              <a:t>Execute ELT </a:t>
            </a:r>
          </a:p>
          <a:p>
            <a:r>
              <a:rPr lang="en-US" dirty="0"/>
              <a:t>Machine learning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 Warehouse Sizes</a:t>
            </a:r>
          </a:p>
          <a:p>
            <a:pPr marL="0" indent="0">
              <a:buNone/>
            </a:pPr>
            <a:r>
              <a:rPr lang="en-US" dirty="0"/>
              <a:t>X-Small, Small, Medium, Large, X-Large, 2x-Large…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8E614B-B116-D9C4-8233-CEADF727A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1742"/>
            <a:ext cx="8289388" cy="5526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25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B7D17-8D85-FD94-24EB-525BC0DC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Loading Data into Snowflake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1B020E-2235-FC05-0BF5-7672A5D502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24240" y="1603717"/>
            <a:ext cx="3667760" cy="47053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Common sources:</a:t>
            </a:r>
          </a:p>
          <a:p>
            <a:pPr>
              <a:buBlip>
                <a:blip r:embed="rId2"/>
              </a:buBlip>
            </a:pPr>
            <a:r>
              <a:rPr lang="en-US" dirty="0"/>
              <a:t> CSV</a:t>
            </a:r>
          </a:p>
          <a:p>
            <a:pPr>
              <a:buBlip>
                <a:blip r:embed="rId2"/>
              </a:buBlip>
            </a:pPr>
            <a:r>
              <a:rPr lang="en-US" dirty="0"/>
              <a:t> JSON</a:t>
            </a:r>
          </a:p>
          <a:p>
            <a:pPr>
              <a:buBlip>
                <a:blip r:embed="rId2"/>
              </a:buBlip>
            </a:pPr>
            <a:r>
              <a:rPr lang="en-US" dirty="0"/>
              <a:t> Parquet</a:t>
            </a:r>
          </a:p>
          <a:p>
            <a:pPr>
              <a:buBlip>
                <a:blip r:embed="rId2"/>
              </a:buBlip>
            </a:pPr>
            <a:r>
              <a:rPr lang="en-US" dirty="0"/>
              <a:t> Excel</a:t>
            </a:r>
          </a:p>
          <a:p>
            <a:pPr>
              <a:buBlip>
                <a:blip r:embed="rId2"/>
              </a:buBlip>
            </a:pPr>
            <a:r>
              <a:rPr lang="en-US" dirty="0"/>
              <a:t> Kafka</a:t>
            </a:r>
          </a:p>
          <a:p>
            <a:pPr>
              <a:buBlip>
                <a:blip r:embed="rId2"/>
              </a:buBlip>
            </a:pPr>
            <a:r>
              <a:rPr lang="en-US" dirty="0"/>
              <a:t> S3</a:t>
            </a:r>
          </a:p>
          <a:p>
            <a:pPr>
              <a:buBlip>
                <a:blip r:embed="rId2"/>
              </a:buBlip>
            </a:pPr>
            <a:r>
              <a:rPr lang="en-US" dirty="0"/>
              <a:t> Azure Blob</a:t>
            </a:r>
          </a:p>
          <a:p>
            <a:pPr>
              <a:buBlip>
                <a:blip r:embed="rId2"/>
              </a:buBlip>
            </a:pPr>
            <a:r>
              <a:rPr lang="en-US" dirty="0"/>
              <a:t> Google Cloud Storage</a:t>
            </a:r>
          </a:p>
          <a:p>
            <a:pPr>
              <a:buBlip>
                <a:blip r:embed="rId2"/>
              </a:buBlip>
            </a:pPr>
            <a:r>
              <a:rPr lang="en-US" dirty="0"/>
              <a:t> APIs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B574D8-4F77-82DD-3FC7-5E38F21B9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780" y="1331742"/>
            <a:ext cx="8252460" cy="550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4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23D-5012-478B-A7C6-B6BBD06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D538C-3051-D8D6-46E2-568BD9B8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 Marketplace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1C68-B85E-C3B6-1512-65B5D6C253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24240" y="1603717"/>
            <a:ext cx="3667760" cy="4705350"/>
          </a:xfrm>
        </p:spPr>
        <p:txBody>
          <a:bodyPr>
            <a:normAutofit/>
          </a:bodyPr>
          <a:lstStyle/>
          <a:p>
            <a:r>
              <a:rPr lang="en-US" dirty="0"/>
              <a:t>Organizations can access third-party datasets.</a:t>
            </a:r>
          </a:p>
          <a:p>
            <a:pPr marL="0" indent="0">
              <a:buNone/>
            </a:pPr>
            <a:r>
              <a:rPr lang="en-US" dirty="0"/>
              <a:t>Examples</a:t>
            </a:r>
          </a:p>
          <a:p>
            <a:r>
              <a:rPr lang="en-US" dirty="0"/>
              <a:t>Weather</a:t>
            </a:r>
          </a:p>
          <a:p>
            <a:r>
              <a:rPr lang="en-US" dirty="0"/>
              <a:t>Finance</a:t>
            </a:r>
          </a:p>
          <a:p>
            <a:r>
              <a:rPr lang="en-US" dirty="0"/>
              <a:t>Healthcare</a:t>
            </a:r>
          </a:p>
          <a:p>
            <a:r>
              <a:rPr lang="en-US" dirty="0"/>
              <a:t>Retail</a:t>
            </a:r>
          </a:p>
          <a:p>
            <a:r>
              <a:rPr lang="en-US" dirty="0"/>
              <a:t>Geospatial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9804E-C013-85DF-C370-77C8625AA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780" y="1331742"/>
            <a:ext cx="8252460" cy="550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513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86D94-D8C0-2C2E-D26D-E8716FD1F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6578-D6EF-F5F4-EAD1-9C09AE558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 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BF470-6381-3CD8-5361-B8CA88849B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24240" y="1603717"/>
            <a:ext cx="3667760" cy="4705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Common integrations:</a:t>
            </a:r>
          </a:p>
          <a:p>
            <a:pPr>
              <a:buBlip>
                <a:blip r:embed="rId2"/>
              </a:buBlip>
            </a:pPr>
            <a:r>
              <a:rPr lang="en-US" dirty="0"/>
              <a:t> Apache Airflow </a:t>
            </a:r>
          </a:p>
          <a:p>
            <a:pPr>
              <a:buBlip>
                <a:blip r:embed="rId2"/>
              </a:buBlip>
            </a:pPr>
            <a:r>
              <a:rPr lang="en-US" dirty="0"/>
              <a:t> </a:t>
            </a:r>
            <a:r>
              <a:rPr lang="en-US" dirty="0" err="1"/>
              <a:t>dbt</a:t>
            </a:r>
            <a:r>
              <a:rPr lang="en-US" dirty="0"/>
              <a:t> Labs (</a:t>
            </a:r>
            <a:r>
              <a:rPr lang="en-US" dirty="0" err="1"/>
              <a:t>dbt</a:t>
            </a:r>
            <a:r>
              <a:rPr lang="en-US" dirty="0"/>
              <a:t>) </a:t>
            </a:r>
          </a:p>
          <a:p>
            <a:pPr>
              <a:buBlip>
                <a:blip r:embed="rId2"/>
              </a:buBlip>
            </a:pPr>
            <a:r>
              <a:rPr lang="en-US" dirty="0"/>
              <a:t> </a:t>
            </a:r>
            <a:r>
              <a:rPr lang="en-US" dirty="0" err="1"/>
              <a:t>Fivetran</a:t>
            </a:r>
            <a:r>
              <a:rPr lang="en-US" dirty="0"/>
              <a:t> </a:t>
            </a:r>
          </a:p>
          <a:p>
            <a:pPr>
              <a:buBlip>
                <a:blip r:embed="rId2"/>
              </a:buBlip>
            </a:pPr>
            <a:r>
              <a:rPr lang="en-US" dirty="0"/>
              <a:t> </a:t>
            </a:r>
            <a:r>
              <a:rPr lang="en-US" dirty="0" err="1"/>
              <a:t>Matillion</a:t>
            </a:r>
            <a:r>
              <a:rPr lang="en-US" dirty="0"/>
              <a:t> </a:t>
            </a:r>
          </a:p>
          <a:p>
            <a:pPr>
              <a:buBlip>
                <a:blip r:embed="rId2"/>
              </a:buBlip>
            </a:pPr>
            <a:r>
              <a:rPr lang="en-US" dirty="0"/>
              <a:t> Tableau </a:t>
            </a:r>
          </a:p>
          <a:p>
            <a:pPr>
              <a:buBlip>
                <a:blip r:embed="rId2"/>
              </a:buBlip>
            </a:pPr>
            <a:r>
              <a:rPr lang="en-US" dirty="0"/>
              <a:t> Microsoft Power BI </a:t>
            </a:r>
          </a:p>
          <a:p>
            <a:pPr>
              <a:buBlip>
                <a:blip r:embed="rId2"/>
              </a:buBlip>
            </a:pPr>
            <a:r>
              <a:rPr lang="en-US" dirty="0"/>
              <a:t> Microsoft Azure </a:t>
            </a:r>
          </a:p>
          <a:p>
            <a:pPr>
              <a:buBlip>
                <a:blip r:embed="rId2"/>
              </a:buBlip>
            </a:pPr>
            <a:r>
              <a:rPr lang="en-US" dirty="0"/>
              <a:t> Amazon Web Services </a:t>
            </a:r>
          </a:p>
          <a:p>
            <a:pPr>
              <a:buBlip>
                <a:blip r:embed="rId2"/>
              </a:buBlip>
            </a:pPr>
            <a:r>
              <a:rPr lang="en-US" dirty="0"/>
              <a:t> Google Cloud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FEB1D-4107-D2BF-11C6-3EC2B88780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780" y="1331742"/>
            <a:ext cx="8252460" cy="550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12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2784</TotalTime>
  <Words>326</Words>
  <Application>Microsoft Office PowerPoint</Application>
  <PresentationFormat>Widescreen</PresentationFormat>
  <Paragraphs>89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ADLaM Display</vt:lpstr>
      <vt:lpstr>Calibri</vt:lpstr>
      <vt:lpstr>Wingdings</vt:lpstr>
      <vt:lpstr>YESHUAH</vt:lpstr>
      <vt:lpstr>RetrospectVTI</vt:lpstr>
      <vt:lpstr>Snowflake - Cloud</vt:lpstr>
      <vt:lpstr>PowerPoint Presentation</vt:lpstr>
      <vt:lpstr>What is Snowflake? ❄️</vt:lpstr>
      <vt:lpstr>Why Snowflake?</vt:lpstr>
      <vt:lpstr>Snowflake Architecture 🏗️</vt:lpstr>
      <vt:lpstr>…</vt:lpstr>
      <vt:lpstr>Snowflake Editions</vt:lpstr>
      <vt:lpstr>…</vt:lpstr>
      <vt:lpstr>Virtual Warehouses</vt:lpstr>
      <vt:lpstr>Loading Data into Snowflake</vt:lpstr>
      <vt:lpstr>Snowflake Marketplace</vt:lpstr>
      <vt:lpstr>Snowflake Ecosystem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337</cp:revision>
  <dcterms:created xsi:type="dcterms:W3CDTF">2020-02-06T00:04:00Z</dcterms:created>
  <dcterms:modified xsi:type="dcterms:W3CDTF">2026-06-27T20:48:54Z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