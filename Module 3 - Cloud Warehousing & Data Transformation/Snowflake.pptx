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411" r:id="rId2"/>
    <p:sldId id="410" r:id="rId3"/>
    <p:sldId id="412" r:id="rId4"/>
    <p:sldId id="413" r:id="rId5"/>
    <p:sldId id="414" r:id="rId6"/>
    <p:sldId id="415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E2F5"/>
    <a:srgbClr val="E7F7FE"/>
    <a:srgbClr val="0072C6"/>
    <a:srgbClr val="00A4EF"/>
    <a:srgbClr val="3333FF"/>
    <a:srgbClr val="FFDF00"/>
    <a:srgbClr val="75CDEA"/>
    <a:srgbClr val="002060"/>
    <a:srgbClr val="5A56A1"/>
    <a:srgbClr val="5656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36F72C-57AD-4C0C-B413-44A67FA7CD9B}" v="95" dt="2024-03-18T15:51:55.6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579" autoAdjust="0"/>
    <p:restoredTop sz="94639" autoAdjust="0"/>
  </p:normalViewPr>
  <p:slideViewPr>
    <p:cSldViewPr snapToGrid="0">
      <p:cViewPr varScale="1">
        <p:scale>
          <a:sx n="36" d="100"/>
          <a:sy n="36" d="100"/>
        </p:scale>
        <p:origin x="140" y="5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1" d="100"/>
          <a:sy n="51" d="100"/>
        </p:scale>
        <p:origin x="2692" y="-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6/22/2026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6/22/2026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ECC495-5FEF-4C9C-502D-7281AA9BC4CE}"/>
              </a:ext>
            </a:extLst>
          </p:cNvPr>
          <p:cNvSpPr/>
          <p:nvPr userDrawn="1"/>
        </p:nvSpPr>
        <p:spPr>
          <a:xfrm>
            <a:off x="-64008" y="0"/>
            <a:ext cx="4723782" cy="68580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Title 1"/>
          <p:cNvSpPr txBox="1"/>
          <p:nvPr userDrawn="1"/>
        </p:nvSpPr>
        <p:spPr>
          <a:xfrm>
            <a:off x="-1707114" y="2422578"/>
            <a:ext cx="6145764" cy="110975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n-US" sz="2400" dirty="0"/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509750" y="2338493"/>
            <a:ext cx="3531146" cy="14507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400" b="1" baseline="0">
                <a:solidFill>
                  <a:schemeClr val="bg1"/>
                </a:solidFill>
                <a:latin typeface="YESHUAH" panose="02000500000000000000" pitchFamily="2" charset="0"/>
              </a:defRPr>
            </a:lvl1pPr>
          </a:lstStyle>
          <a:p>
            <a:r>
              <a:rPr lang="en-US" dirty="0"/>
              <a:t>{ subject }</a:t>
            </a:r>
          </a:p>
        </p:txBody>
      </p:sp>
      <p:sp>
        <p:nvSpPr>
          <p:cNvPr id="19" name="Content Placeholder 8"/>
          <p:cNvSpPr>
            <a:spLocks noGrp="1"/>
          </p:cNvSpPr>
          <p:nvPr>
            <p:ph sz="quarter" idx="13" hasCustomPrompt="1"/>
          </p:nvPr>
        </p:nvSpPr>
        <p:spPr>
          <a:xfrm>
            <a:off x="7647842" y="6136265"/>
            <a:ext cx="4090199" cy="45313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2400" baseline="0">
                <a:solidFill>
                  <a:srgbClr val="25677D"/>
                </a:solidFill>
                <a:latin typeface="YESHUAH" panose="02000500000000000000" pitchFamily="2" charset="0"/>
              </a:defRPr>
            </a:lvl1pPr>
          </a:lstStyle>
          <a:p>
            <a:pPr lvl="0"/>
            <a:r>
              <a:rPr lang="en-US" dirty="0"/>
              <a:t> { write presenter name }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 userDrawn="1"/>
        </p:nvSpPr>
        <p:spPr>
          <a:xfrm>
            <a:off x="-64008" y="0"/>
            <a:ext cx="4723782" cy="68580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9" name="Group 18" descr="Info"/>
          <p:cNvGrpSpPr/>
          <p:nvPr userDrawn="1"/>
        </p:nvGrpSpPr>
        <p:grpSpPr>
          <a:xfrm>
            <a:off x="4642801" y="3133724"/>
            <a:ext cx="567374" cy="550865"/>
            <a:chOff x="4914764" y="3319462"/>
            <a:chExt cx="619125" cy="619125"/>
          </a:xfrm>
          <a:solidFill>
            <a:schemeClr val="bg1"/>
          </a:solidFill>
        </p:grpSpPr>
        <p:sp>
          <p:nvSpPr>
            <p:cNvPr id="20" name="Freeform: Shape 19"/>
            <p:cNvSpPr/>
            <p:nvPr/>
          </p:nvSpPr>
          <p:spPr>
            <a:xfrm>
              <a:off x="4914764" y="3319462"/>
              <a:ext cx="619125" cy="619125"/>
            </a:xfrm>
            <a:custGeom>
              <a:avLst/>
              <a:gdLst>
                <a:gd name="connsiteX0" fmla="*/ 309563 w 619125"/>
                <a:gd name="connsiteY0" fmla="*/ 0 h 619125"/>
                <a:gd name="connsiteX1" fmla="*/ 0 w 619125"/>
                <a:gd name="connsiteY1" fmla="*/ 309563 h 619125"/>
                <a:gd name="connsiteX2" fmla="*/ 309563 w 619125"/>
                <a:gd name="connsiteY2" fmla="*/ 619125 h 619125"/>
                <a:gd name="connsiteX3" fmla="*/ 619125 w 619125"/>
                <a:gd name="connsiteY3" fmla="*/ 309563 h 619125"/>
                <a:gd name="connsiteX4" fmla="*/ 309563 w 619125"/>
                <a:gd name="connsiteY4" fmla="*/ 0 h 619125"/>
                <a:gd name="connsiteX5" fmla="*/ 309563 w 619125"/>
                <a:gd name="connsiteY5" fmla="*/ 581025 h 619125"/>
                <a:gd name="connsiteX6" fmla="*/ 38100 w 619125"/>
                <a:gd name="connsiteY6" fmla="*/ 309563 h 619125"/>
                <a:gd name="connsiteX7" fmla="*/ 309563 w 619125"/>
                <a:gd name="connsiteY7" fmla="*/ 38100 h 619125"/>
                <a:gd name="connsiteX8" fmla="*/ 581025 w 619125"/>
                <a:gd name="connsiteY8" fmla="*/ 309563 h 619125"/>
                <a:gd name="connsiteX9" fmla="*/ 309563 w 619125"/>
                <a:gd name="connsiteY9" fmla="*/ 581025 h 619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125" h="619125">
                  <a:moveTo>
                    <a:pt x="309563" y="0"/>
                  </a:moveTo>
                  <a:cubicBezTo>
                    <a:pt x="138875" y="0"/>
                    <a:pt x="0" y="138865"/>
                    <a:pt x="0" y="309563"/>
                  </a:cubicBezTo>
                  <a:cubicBezTo>
                    <a:pt x="0" y="480260"/>
                    <a:pt x="138875" y="619125"/>
                    <a:pt x="309563" y="619125"/>
                  </a:cubicBezTo>
                  <a:cubicBezTo>
                    <a:pt x="480250" y="619125"/>
                    <a:pt x="619125" y="480260"/>
                    <a:pt x="619125" y="309563"/>
                  </a:cubicBezTo>
                  <a:cubicBezTo>
                    <a:pt x="619125" y="138865"/>
                    <a:pt x="480250" y="0"/>
                    <a:pt x="309563" y="0"/>
                  </a:cubicBezTo>
                  <a:close/>
                  <a:moveTo>
                    <a:pt x="309563" y="581025"/>
                  </a:moveTo>
                  <a:cubicBezTo>
                    <a:pt x="159877" y="581025"/>
                    <a:pt x="38100" y="459248"/>
                    <a:pt x="38100" y="309563"/>
                  </a:cubicBezTo>
                  <a:cubicBezTo>
                    <a:pt x="38100" y="159877"/>
                    <a:pt x="159877" y="38100"/>
                    <a:pt x="309563" y="38100"/>
                  </a:cubicBezTo>
                  <a:cubicBezTo>
                    <a:pt x="459248" y="38100"/>
                    <a:pt x="581025" y="159877"/>
                    <a:pt x="581025" y="309563"/>
                  </a:cubicBezTo>
                  <a:cubicBezTo>
                    <a:pt x="581025" y="459248"/>
                    <a:pt x="459248" y="581025"/>
                    <a:pt x="309563" y="58102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  <p:sp>
          <p:nvSpPr>
            <p:cNvPr id="21" name="Freeform: Shape 20"/>
            <p:cNvSpPr/>
            <p:nvPr/>
          </p:nvSpPr>
          <p:spPr>
            <a:xfrm>
              <a:off x="5195751" y="3473729"/>
              <a:ext cx="57150" cy="57150"/>
            </a:xfrm>
            <a:custGeom>
              <a:avLst/>
              <a:gdLst>
                <a:gd name="connsiteX0" fmla="*/ 63722 w 57150"/>
                <a:gd name="connsiteY0" fmla="*/ 31861 h 57150"/>
                <a:gd name="connsiteX1" fmla="*/ 31861 w 57150"/>
                <a:gd name="connsiteY1" fmla="*/ 63722 h 57150"/>
                <a:gd name="connsiteX2" fmla="*/ 0 w 57150"/>
                <a:gd name="connsiteY2" fmla="*/ 31861 h 57150"/>
                <a:gd name="connsiteX3" fmla="*/ 31861 w 57150"/>
                <a:gd name="connsiteY3" fmla="*/ 0 h 57150"/>
                <a:gd name="connsiteX4" fmla="*/ 63722 w 57150"/>
                <a:gd name="connsiteY4" fmla="*/ 31861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3722" y="31861"/>
                  </a:moveTo>
                  <a:cubicBezTo>
                    <a:pt x="63722" y="49458"/>
                    <a:pt x="49458" y="63722"/>
                    <a:pt x="31861" y="63722"/>
                  </a:cubicBezTo>
                  <a:cubicBezTo>
                    <a:pt x="14265" y="63722"/>
                    <a:pt x="0" y="49458"/>
                    <a:pt x="0" y="31861"/>
                  </a:cubicBezTo>
                  <a:cubicBezTo>
                    <a:pt x="0" y="14265"/>
                    <a:pt x="14265" y="0"/>
                    <a:pt x="31861" y="0"/>
                  </a:cubicBezTo>
                  <a:cubicBezTo>
                    <a:pt x="49458" y="0"/>
                    <a:pt x="63722" y="14265"/>
                    <a:pt x="63722" y="3186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  <p:sp>
          <p:nvSpPr>
            <p:cNvPr id="22" name="Freeform: Shape 21"/>
            <p:cNvSpPr/>
            <p:nvPr/>
          </p:nvSpPr>
          <p:spPr>
            <a:xfrm>
              <a:off x="5205276" y="3589420"/>
              <a:ext cx="38100" cy="200025"/>
            </a:xfrm>
            <a:custGeom>
              <a:avLst/>
              <a:gdLst>
                <a:gd name="connsiteX0" fmla="*/ 19050 w 38100"/>
                <a:gd name="connsiteY0" fmla="*/ 0 h 200025"/>
                <a:gd name="connsiteX1" fmla="*/ 0 w 38100"/>
                <a:gd name="connsiteY1" fmla="*/ 19050 h 200025"/>
                <a:gd name="connsiteX2" fmla="*/ 0 w 38100"/>
                <a:gd name="connsiteY2" fmla="*/ 180975 h 200025"/>
                <a:gd name="connsiteX3" fmla="*/ 19050 w 38100"/>
                <a:gd name="connsiteY3" fmla="*/ 200025 h 200025"/>
                <a:gd name="connsiteX4" fmla="*/ 38100 w 38100"/>
                <a:gd name="connsiteY4" fmla="*/ 180975 h 200025"/>
                <a:gd name="connsiteX5" fmla="*/ 38100 w 38100"/>
                <a:gd name="connsiteY5" fmla="*/ 19050 h 200025"/>
                <a:gd name="connsiteX6" fmla="*/ 19050 w 38100"/>
                <a:gd name="connsiteY6" fmla="*/ 0 h 20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100" h="200025">
                  <a:moveTo>
                    <a:pt x="19050" y="0"/>
                  </a:moveTo>
                  <a:cubicBezTo>
                    <a:pt x="8534" y="0"/>
                    <a:pt x="0" y="8534"/>
                    <a:pt x="0" y="19050"/>
                  </a:cubicBezTo>
                  <a:lnTo>
                    <a:pt x="0" y="180975"/>
                  </a:lnTo>
                  <a:cubicBezTo>
                    <a:pt x="0" y="191491"/>
                    <a:pt x="8534" y="200025"/>
                    <a:pt x="19050" y="200025"/>
                  </a:cubicBezTo>
                  <a:cubicBezTo>
                    <a:pt x="29566" y="200025"/>
                    <a:pt x="38100" y="191491"/>
                    <a:pt x="38100" y="180975"/>
                  </a:cubicBezTo>
                  <a:lnTo>
                    <a:pt x="38100" y="19050"/>
                  </a:lnTo>
                  <a:cubicBezTo>
                    <a:pt x="38100" y="8525"/>
                    <a:pt x="29566" y="0"/>
                    <a:pt x="1905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</p:grpSp>
      <p:sp>
        <p:nvSpPr>
          <p:cNvPr id="16" name="Title 1"/>
          <p:cNvSpPr txBox="1"/>
          <p:nvPr userDrawn="1"/>
        </p:nvSpPr>
        <p:spPr>
          <a:xfrm>
            <a:off x="474130" y="2639243"/>
            <a:ext cx="3334512" cy="108011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6000" b="1" dirty="0">
                <a:solidFill>
                  <a:schemeClr val="bg1"/>
                </a:solidFill>
                <a:latin typeface="YESHUAH" panose="020005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Objectives</a:t>
            </a:r>
            <a:endParaRPr lang="en-US" sz="3200" b="1" dirty="0">
              <a:solidFill>
                <a:schemeClr val="bg1"/>
              </a:solidFill>
              <a:latin typeface="YESHUAH" panose="020005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5908431" y="1603717"/>
            <a:ext cx="5524060" cy="31511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defRPr sz="32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 { write your objectives}</a:t>
            </a:r>
          </a:p>
          <a:p>
            <a:pPr lvl="0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EF92EB-1689-2416-7533-E53DBC8933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2348890"/>
            <a:ext cx="2160220" cy="21602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156921" y="618977"/>
            <a:ext cx="9393848" cy="712765"/>
          </a:xfrm>
          <a:prstGeom prst="rect">
            <a:avLst/>
          </a:prstGeom>
        </p:spPr>
        <p:txBody>
          <a:bodyPr/>
          <a:lstStyle>
            <a:lvl1pPr>
              <a:defRPr lang="en-US" sz="3600" b="1" kern="1200" spc="-38" baseline="0" dirty="0">
                <a:solidFill>
                  <a:srgbClr val="002060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{ Title }</a:t>
            </a:r>
          </a:p>
        </p:txBody>
      </p:sp>
      <p:sp>
        <p:nvSpPr>
          <p:cNvPr id="6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1156921" y="1603717"/>
            <a:ext cx="10275570" cy="47053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defRPr sz="24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{write your bullet point }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 txBox="1"/>
          <p:nvPr userDrawn="1"/>
        </p:nvSpPr>
        <p:spPr>
          <a:xfrm>
            <a:off x="1325880" y="638175"/>
            <a:ext cx="9942195" cy="66675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solidFill>
                  <a:srgbClr val="002060"/>
                </a:solidFill>
                <a:latin typeface="+mn-lt"/>
                <a:ea typeface="Cambria" panose="02040503050406030204" pitchFamily="18" charset="0"/>
              </a:rPr>
              <a:t>References</a:t>
            </a:r>
          </a:p>
        </p:txBody>
      </p:sp>
      <p:sp>
        <p:nvSpPr>
          <p:cNvPr id="15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1325880" y="1524000"/>
            <a:ext cx="9681949" cy="3958659"/>
          </a:xfrm>
          <a:prstGeom prst="rect">
            <a:avLst/>
          </a:prstGeom>
        </p:spPr>
        <p:txBody>
          <a:bodyPr>
            <a:normAutofit/>
          </a:bodyPr>
          <a:lstStyle>
            <a:lvl1pPr marL="91440">
              <a:spcBef>
                <a:spcPts val="0"/>
              </a:spcBef>
              <a:defRPr sz="24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{ link to reference1, example: http://app.icraftsoft.net }</a:t>
            </a:r>
          </a:p>
          <a:p>
            <a:pPr lvl="0"/>
            <a:r>
              <a:rPr lang="en-US" dirty="0"/>
              <a:t>{ link to reference1, example: http://app.icraftsoft.net }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84E36F-A443-7521-D49B-753C50A8A8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25952" y="973836"/>
            <a:ext cx="5116068" cy="511606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-8621" y="625480"/>
            <a:ext cx="1036320" cy="6858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610600" y="6181726"/>
            <a:ext cx="2743200" cy="5397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836B06-9FB6-4AA1-A097-666DD28834F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073852" y="205990"/>
            <a:ext cx="944645" cy="94464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b="1" kern="1200" spc="-38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00025" indent="-200025" algn="l" defTabSz="685800" rtl="0" eaLnBrk="1" latinLnBrk="0" hangingPunct="1">
        <a:lnSpc>
          <a:spcPct val="10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29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45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61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77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4865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4725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22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8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ECDAC-6AB4-4A7B-90D7-87428ABE7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03621"/>
            <a:ext cx="5378824" cy="1814591"/>
          </a:xfrm>
        </p:spPr>
        <p:txBody>
          <a:bodyPr>
            <a:noAutofit/>
          </a:bodyPr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Snowflake</a:t>
            </a:r>
            <a:b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</a:t>
            </a:r>
            <a:endParaRPr lang="en-US" sz="5400" dirty="0">
              <a:solidFill>
                <a:srgbClr val="FFC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0905C-A1AA-3986-D28A-042DCEF7892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mintesnot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CEBC9E-4311-34A9-0C78-FA3EC39303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0912" y="1523757"/>
            <a:ext cx="6934200" cy="40799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A47D76-DCDC-BA68-E61D-E120C82FC6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65276" y="3149282"/>
            <a:ext cx="3213548" cy="3213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13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DA5F557-19C5-3E57-5E7C-602DF20CA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81287" y="1233269"/>
            <a:ext cx="6810713" cy="6667828"/>
          </a:xfrm>
        </p:spPr>
        <p:txBody>
          <a:bodyPr>
            <a:normAutofit/>
          </a:bodyPr>
          <a:lstStyle/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What is </a:t>
            </a: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Data Platform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Components of Cloud Data Platform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The Cloud Data Landscape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What is a Data Warehouse?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ETL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ELT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ETL Vs. ELT</a:t>
            </a:r>
          </a:p>
        </p:txBody>
      </p:sp>
    </p:spTree>
    <p:extLst>
      <p:ext uri="{BB962C8B-B14F-4D97-AF65-F5344CB8AC3E}">
        <p14:creationId xmlns:p14="http://schemas.microsoft.com/office/powerpoint/2010/main" val="1664880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C578F-CBAD-808A-25C1-530BED340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Snowflake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 ❄️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5A79AF-4BB5-9209-E9FA-9521D5AB69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56921" y="1483177"/>
            <a:ext cx="10275570" cy="5374823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 </a:t>
            </a: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Snowflake</a:t>
            </a:r>
            <a:r>
              <a:rPr lang="en-US" dirty="0"/>
              <a:t> is a cloud-native data platform that enables organizations to store, process, and analyze large volumes of data.</a:t>
            </a:r>
          </a:p>
          <a:p>
            <a:pPr algn="just"/>
            <a:r>
              <a:rPr lang="en-US" dirty="0"/>
              <a:t> Unlike traditional data warehouses, Snowflake was built specifically for the cloud and provides virtually unlimited scalability, high performance, and simplified management.</a:t>
            </a:r>
          </a:p>
          <a:p>
            <a:pPr marL="0" indent="0">
              <a:buNone/>
            </a:pPr>
            <a:r>
              <a:rPr lang="en-US" b="1" dirty="0"/>
              <a:t>Common Use Cases</a:t>
            </a:r>
          </a:p>
          <a:p>
            <a:pPr>
              <a:buBlip>
                <a:blip r:embed="rId2"/>
              </a:buBlip>
            </a:pPr>
            <a:r>
              <a:rPr lang="en-US" dirty="0"/>
              <a:t> Data Warehousing </a:t>
            </a:r>
          </a:p>
          <a:p>
            <a:pPr>
              <a:buBlip>
                <a:blip r:embed="rId2"/>
              </a:buBlip>
            </a:pPr>
            <a:r>
              <a:rPr lang="en-US" dirty="0"/>
              <a:t> Business Intelligence (BI) </a:t>
            </a:r>
          </a:p>
          <a:p>
            <a:pPr>
              <a:buBlip>
                <a:blip r:embed="rId2"/>
              </a:buBlip>
            </a:pPr>
            <a:r>
              <a:rPr lang="en-US" dirty="0"/>
              <a:t> Data Engineering </a:t>
            </a:r>
          </a:p>
          <a:p>
            <a:pPr>
              <a:buBlip>
                <a:blip r:embed="rId2"/>
              </a:buBlip>
            </a:pPr>
            <a:r>
              <a:rPr lang="en-US" dirty="0"/>
              <a:t> Data Lakes </a:t>
            </a:r>
          </a:p>
          <a:p>
            <a:pPr>
              <a:buBlip>
                <a:blip r:embed="rId2"/>
              </a:buBlip>
            </a:pPr>
            <a:r>
              <a:rPr lang="en-US" dirty="0"/>
              <a:t> Data Science &amp; Machine Learning </a:t>
            </a:r>
          </a:p>
          <a:p>
            <a:pPr>
              <a:buBlip>
                <a:blip r:embed="rId2"/>
              </a:buBlip>
            </a:pPr>
            <a:r>
              <a:rPr lang="en-US" dirty="0"/>
              <a:t> Data Sharing</a:t>
            </a:r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0352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AAAE5-F6ED-A0FC-0CAD-F6971382C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Why Snowflake?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410D23-1774-E86A-8194-CEDD3083BDD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086165" y="849853"/>
            <a:ext cx="4105835" cy="6221505"/>
          </a:xfrm>
        </p:spPr>
        <p:txBody>
          <a:bodyPr>
            <a:normAutofit fontScale="92500"/>
          </a:bodyPr>
          <a:lstStyle/>
          <a:p>
            <a:pPr>
              <a:buBlip>
                <a:blip r:embed="rId2"/>
              </a:buBlip>
            </a:pPr>
            <a:r>
              <a:rPr lang="en-US" b="1" dirty="0"/>
              <a:t>Scalability</a:t>
            </a:r>
          </a:p>
          <a:p>
            <a:r>
              <a:rPr lang="en-US" dirty="0"/>
              <a:t>Scale storage and compute independently </a:t>
            </a:r>
          </a:p>
          <a:p>
            <a:r>
              <a:rPr lang="en-US" dirty="0"/>
              <a:t>Handle growing data volumes easily </a:t>
            </a:r>
          </a:p>
          <a:p>
            <a:pPr>
              <a:buBlip>
                <a:blip r:embed="rId2"/>
              </a:buBlip>
            </a:pPr>
            <a:r>
              <a:rPr lang="en-US" b="1" dirty="0"/>
              <a:t>Performance</a:t>
            </a:r>
          </a:p>
          <a:p>
            <a:r>
              <a:rPr lang="en-US" dirty="0"/>
              <a:t>Fast query processing </a:t>
            </a:r>
          </a:p>
          <a:p>
            <a:r>
              <a:rPr lang="en-US" dirty="0"/>
              <a:t>Parallel execution </a:t>
            </a:r>
          </a:p>
          <a:p>
            <a:pPr>
              <a:buBlip>
                <a:blip r:embed="rId2"/>
              </a:buBlip>
            </a:pPr>
            <a:r>
              <a:rPr lang="en-US" b="1" dirty="0"/>
              <a:t>Simplicity</a:t>
            </a:r>
          </a:p>
          <a:p>
            <a:r>
              <a:rPr lang="en-US" dirty="0"/>
              <a:t>No infrastructure management </a:t>
            </a:r>
          </a:p>
          <a:p>
            <a:r>
              <a:rPr lang="en-US" dirty="0"/>
              <a:t>Automatic optimization </a:t>
            </a:r>
          </a:p>
          <a:p>
            <a:pPr>
              <a:buBlip>
                <a:blip r:embed="rId2"/>
              </a:buBlip>
            </a:pPr>
            <a:r>
              <a:rPr lang="en-US" b="1" dirty="0"/>
              <a:t>Cost Efficiency</a:t>
            </a:r>
          </a:p>
          <a:p>
            <a:r>
              <a:rPr lang="en-US" dirty="0"/>
              <a:t>Pay only for resources used </a:t>
            </a:r>
          </a:p>
          <a:p>
            <a:r>
              <a:rPr lang="en-US" dirty="0"/>
              <a:t>Separate storage and compute costs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120DCF-BC74-669D-B570-7CE0F2491D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921" y="1359346"/>
            <a:ext cx="7911804" cy="527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6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61FFDB2-CF4A-9670-FCD5-89C665CE9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3" y="1739153"/>
            <a:ext cx="8718117" cy="47838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2389DC-5C4B-7008-BD7E-3D59A4E1A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Snowflake Architecture 🏗️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EABE34-4810-01DB-04C6-4CD3C0B6FD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21271" y="1331742"/>
            <a:ext cx="3370729" cy="5952564"/>
          </a:xfrm>
        </p:spPr>
        <p:txBody>
          <a:bodyPr>
            <a:normAutofit/>
          </a:bodyPr>
          <a:lstStyle/>
          <a:p>
            <a:r>
              <a:rPr lang="en-US" dirty="0"/>
              <a:t> Snowflake follows a unique 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three-layer</a:t>
            </a:r>
            <a:r>
              <a:rPr lang="en-US" dirty="0"/>
              <a:t> architecture: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Database Storage Layer </a:t>
            </a:r>
            <a:r>
              <a:rPr lang="en-US" dirty="0"/>
              <a:t>– Stores data in compressed format.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Compute Layer (Virtual Warehouses) </a:t>
            </a:r>
            <a:r>
              <a:rPr lang="en-US" dirty="0"/>
              <a:t>– Executes SQL queries.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Services Layer </a:t>
            </a:r>
            <a:r>
              <a:rPr lang="en-US" dirty="0"/>
              <a:t>- Authentication</a:t>
            </a:r>
          </a:p>
        </p:txBody>
      </p:sp>
    </p:spTree>
    <p:extLst>
      <p:ext uri="{BB962C8B-B14F-4D97-AF65-F5344CB8AC3E}">
        <p14:creationId xmlns:p14="http://schemas.microsoft.com/office/powerpoint/2010/main" val="3120152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4A895-D5BD-54D8-89CD-A955C2025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4AC4F1-9C52-A01F-2ED5-35B26919F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776" y="160503"/>
            <a:ext cx="8715993" cy="6536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360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2753</TotalTime>
  <Words>195</Words>
  <Application>Microsoft Office PowerPoint</Application>
  <PresentationFormat>Widescreen</PresentationFormat>
  <Paragraphs>38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ADLaM Display</vt:lpstr>
      <vt:lpstr>Calibri</vt:lpstr>
      <vt:lpstr>Wingdings</vt:lpstr>
      <vt:lpstr>YESHUAH</vt:lpstr>
      <vt:lpstr>RetrospectVTI</vt:lpstr>
      <vt:lpstr>Snowflake - Cloud</vt:lpstr>
      <vt:lpstr>PowerPoint Presentation</vt:lpstr>
      <vt:lpstr>What is Snowflake? ❄️</vt:lpstr>
      <vt:lpstr>Why Snowflake?</vt:lpstr>
      <vt:lpstr>Snowflake Architecture 🏗️</vt:lpstr>
      <vt:lpstr>…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Mintesnot Iwunete</cp:lastModifiedBy>
  <cp:revision>326</cp:revision>
  <dcterms:created xsi:type="dcterms:W3CDTF">2020-02-06T00:04:00Z</dcterms:created>
  <dcterms:modified xsi:type="dcterms:W3CDTF">2026-06-22T18:33:23Z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1033-11.2.0.9937</vt:lpwstr>
  </property>
</Properties>
</file>