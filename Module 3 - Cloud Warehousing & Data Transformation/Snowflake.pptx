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11" r:id="rId2"/>
    <p:sldId id="410" r:id="rId3"/>
    <p:sldId id="412" r:id="rId4"/>
    <p:sldId id="413" r:id="rId5"/>
    <p:sldId id="414" r:id="rId6"/>
    <p:sldId id="415" r:id="rId7"/>
    <p:sldId id="416" r:id="rId8"/>
    <p:sldId id="417" r:id="rId9"/>
    <p:sldId id="418" r:id="rId10"/>
    <p:sldId id="41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E2F5"/>
    <a:srgbClr val="E7F7FE"/>
    <a:srgbClr val="0072C6"/>
    <a:srgbClr val="00A4EF"/>
    <a:srgbClr val="3333FF"/>
    <a:srgbClr val="FFDF00"/>
    <a:srgbClr val="75CDEA"/>
    <a:srgbClr val="002060"/>
    <a:srgbClr val="5A56A1"/>
    <a:srgbClr val="565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79" autoAdjust="0"/>
    <p:restoredTop sz="94639" autoAdjust="0"/>
  </p:normalViewPr>
  <p:slideViewPr>
    <p:cSldViewPr snapToGrid="0">
      <p:cViewPr varScale="1">
        <p:scale>
          <a:sx n="63" d="100"/>
          <a:sy n="63" d="100"/>
        </p:scale>
        <p:origin x="55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-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6/27/2026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5116068" cy="51160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03621"/>
            <a:ext cx="5378824" cy="1814591"/>
          </a:xfrm>
        </p:spPr>
        <p:txBody>
          <a:bodyPr>
            <a:no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</a:t>
            </a:r>
            <a:b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</a:t>
            </a:r>
            <a:endParaRPr lang="en-US" sz="5400" dirty="0">
              <a:solidFill>
                <a:srgbClr val="FFC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0912" y="1523757"/>
            <a:ext cx="6934200" cy="4079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A47D76-DCDC-BA68-E61D-E120C82FC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5276" y="3149282"/>
            <a:ext cx="3213548" cy="3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1287" y="1233269"/>
            <a:ext cx="6810713" cy="6667828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Components of Cloud Data Platform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The Cloud Data Landscape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a Data Warehouse?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ETL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ELT</a:t>
            </a:r>
          </a:p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ETL Vs. ELT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578F-CBAD-808A-25C1-530BED3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❄️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A79AF-4BB5-9209-E9FA-9521D5AB69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56921" y="1483177"/>
            <a:ext cx="10275570" cy="53748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</a:t>
            </a:r>
            <a:r>
              <a:rPr lang="en-US" dirty="0"/>
              <a:t> is a cloud-native data platform that enables organizations to store, process, and analyze large volumes of data.</a:t>
            </a:r>
          </a:p>
          <a:p>
            <a:pPr algn="just"/>
            <a:r>
              <a:rPr lang="en-US" dirty="0"/>
              <a:t> Unlike traditional data warehouses, Snowflake was built specifically for the cloud and provides virtually unlimited scalability, high performance, and simplified management.</a:t>
            </a:r>
          </a:p>
          <a:p>
            <a:pPr marL="0" indent="0">
              <a:buNone/>
            </a:pPr>
            <a:r>
              <a:rPr lang="en-US" b="1" dirty="0"/>
              <a:t>Common Use Cases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Warehousing </a:t>
            </a:r>
          </a:p>
          <a:p>
            <a:pPr>
              <a:buBlip>
                <a:blip r:embed="rId2"/>
              </a:buBlip>
            </a:pPr>
            <a:r>
              <a:rPr lang="en-US" dirty="0"/>
              <a:t> Business Intelligence (BI) 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Engineering 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Lakes 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Science &amp; Machine Learning </a:t>
            </a:r>
          </a:p>
          <a:p>
            <a:pPr>
              <a:buBlip>
                <a:blip r:embed="rId2"/>
              </a:buBlip>
            </a:pPr>
            <a:r>
              <a:rPr lang="en-US" dirty="0"/>
              <a:t> Data Sharing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3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AAE5-F6ED-A0FC-0CAD-F6971382C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Snowflake?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10D23-1774-E86A-8194-CEDD3083BD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86165" y="849853"/>
            <a:ext cx="4105835" cy="6221505"/>
          </a:xfrm>
        </p:spPr>
        <p:txBody>
          <a:bodyPr>
            <a:normAutofit fontScale="92500"/>
          </a:bodyPr>
          <a:lstStyle/>
          <a:p>
            <a:pPr>
              <a:buBlip>
                <a:blip r:embed="rId2"/>
              </a:buBlip>
            </a:pPr>
            <a:r>
              <a:rPr lang="en-US" b="1" dirty="0"/>
              <a:t>Scalability</a:t>
            </a:r>
          </a:p>
          <a:p>
            <a:r>
              <a:rPr lang="en-US" dirty="0"/>
              <a:t>Scale storage and compute independently </a:t>
            </a:r>
          </a:p>
          <a:p>
            <a:r>
              <a:rPr lang="en-US" dirty="0"/>
              <a:t>Handle growing data volumes easily 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Performance</a:t>
            </a:r>
          </a:p>
          <a:p>
            <a:r>
              <a:rPr lang="en-US" dirty="0"/>
              <a:t>Fast query processing </a:t>
            </a:r>
          </a:p>
          <a:p>
            <a:r>
              <a:rPr lang="en-US" dirty="0"/>
              <a:t>Parallel execution 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Simplicity</a:t>
            </a:r>
          </a:p>
          <a:p>
            <a:r>
              <a:rPr lang="en-US" dirty="0"/>
              <a:t>No infrastructure management </a:t>
            </a:r>
          </a:p>
          <a:p>
            <a:r>
              <a:rPr lang="en-US" dirty="0"/>
              <a:t>Automatic optimization </a:t>
            </a:r>
          </a:p>
          <a:p>
            <a:pPr>
              <a:buBlip>
                <a:blip r:embed="rId2"/>
              </a:buBlip>
            </a:pPr>
            <a:r>
              <a:rPr lang="en-US" b="1" dirty="0"/>
              <a:t>Cost Efficiency</a:t>
            </a:r>
          </a:p>
          <a:p>
            <a:r>
              <a:rPr lang="en-US" dirty="0"/>
              <a:t>Pay only for resources used </a:t>
            </a:r>
          </a:p>
          <a:p>
            <a:r>
              <a:rPr lang="en-US" dirty="0"/>
              <a:t>Separate storage and compute costs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20DCF-BC74-669D-B570-7CE0F2491D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21" y="1359346"/>
            <a:ext cx="7911804" cy="527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6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1FFDB2-CF4A-9670-FCD5-89C665CE9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3" y="1739153"/>
            <a:ext cx="8718117" cy="4783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2389DC-5C4B-7008-BD7E-3D59A4E1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 Architecture 🏗️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ABE34-4810-01DB-04C6-4CD3C0B6FD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21271" y="1331742"/>
            <a:ext cx="3370729" cy="5952564"/>
          </a:xfrm>
        </p:spPr>
        <p:txBody>
          <a:bodyPr>
            <a:normAutofit/>
          </a:bodyPr>
          <a:lstStyle/>
          <a:p>
            <a:r>
              <a:rPr lang="en-US" dirty="0"/>
              <a:t> Snowflake follows a unique </a:t>
            </a:r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three-layer</a:t>
            </a:r>
            <a:r>
              <a:rPr lang="en-US" dirty="0"/>
              <a:t> architecture: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Database Storage Layer </a:t>
            </a:r>
            <a:r>
              <a:rPr lang="en-US" dirty="0"/>
              <a:t>– Stores data in compressed format.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Compute Layer (Virtual Warehouses) </a:t>
            </a:r>
            <a:r>
              <a:rPr lang="en-US" dirty="0"/>
              <a:t>– Executes SQL queries.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Services Layer </a:t>
            </a:r>
            <a:r>
              <a:rPr lang="en-US" dirty="0"/>
              <a:t>-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12015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A895-D5BD-54D8-89CD-A955C202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AC4F1-9C52-A01F-2ED5-35B26919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76" y="160503"/>
            <a:ext cx="8715993" cy="65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6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0048-DCDC-022A-A0FC-55E9EBB3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Virtual Warehouses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42B11-3856-FE70-FFD0-36136279E4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9388" y="1847557"/>
            <a:ext cx="3902612" cy="5010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Virtual Warehouse = Compute Cluster</a:t>
            </a:r>
          </a:p>
          <a:p>
            <a:pPr marL="0" indent="0">
              <a:buNone/>
            </a:pPr>
            <a:r>
              <a:rPr lang="en-US" dirty="0"/>
              <a:t>Responsibilities:</a:t>
            </a:r>
          </a:p>
          <a:p>
            <a:r>
              <a:rPr lang="en-US" dirty="0"/>
              <a:t>Run queries </a:t>
            </a:r>
          </a:p>
          <a:p>
            <a:r>
              <a:rPr lang="en-US" dirty="0"/>
              <a:t>Load data </a:t>
            </a:r>
          </a:p>
          <a:p>
            <a:r>
              <a:rPr lang="en-US" dirty="0"/>
              <a:t>Execute ELT </a:t>
            </a:r>
          </a:p>
          <a:p>
            <a:r>
              <a:rPr lang="en-US" dirty="0"/>
              <a:t>Machine learning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Warehouse Sizes</a:t>
            </a:r>
          </a:p>
          <a:p>
            <a:pPr marL="0" indent="0">
              <a:buNone/>
            </a:pPr>
            <a:r>
              <a:rPr lang="en-US" dirty="0"/>
              <a:t>X-Small, Small, Medium, Large, X-Large, 2x-Large…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E614B-B116-D9C4-8233-CEADF727A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742"/>
            <a:ext cx="8289388" cy="552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5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7D17-8D85-FD94-24EB-525BC0DC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Loading Data into Snowflake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B020E-2235-FC05-0BF5-7672A5D502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24240" y="1603717"/>
            <a:ext cx="3667760" cy="47053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Common sources:</a:t>
            </a:r>
          </a:p>
          <a:p>
            <a:pPr>
              <a:buBlip>
                <a:blip r:embed="rId2"/>
              </a:buBlip>
            </a:pPr>
            <a:r>
              <a:rPr lang="en-US" dirty="0"/>
              <a:t> CSV</a:t>
            </a:r>
          </a:p>
          <a:p>
            <a:pPr>
              <a:buBlip>
                <a:blip r:embed="rId2"/>
              </a:buBlip>
            </a:pPr>
            <a:r>
              <a:rPr lang="en-US" dirty="0"/>
              <a:t> JSON</a:t>
            </a:r>
          </a:p>
          <a:p>
            <a:pPr>
              <a:buBlip>
                <a:blip r:embed="rId2"/>
              </a:buBlip>
            </a:pPr>
            <a:r>
              <a:rPr lang="en-US" dirty="0"/>
              <a:t> Parquet</a:t>
            </a:r>
          </a:p>
          <a:p>
            <a:pPr>
              <a:buBlip>
                <a:blip r:embed="rId2"/>
              </a:buBlip>
            </a:pPr>
            <a:r>
              <a:rPr lang="en-US" dirty="0"/>
              <a:t> Excel</a:t>
            </a:r>
          </a:p>
          <a:p>
            <a:pPr>
              <a:buBlip>
                <a:blip r:embed="rId2"/>
              </a:buBlip>
            </a:pPr>
            <a:r>
              <a:rPr lang="en-US" dirty="0"/>
              <a:t> Kafka</a:t>
            </a:r>
          </a:p>
          <a:p>
            <a:pPr>
              <a:buBlip>
                <a:blip r:embed="rId2"/>
              </a:buBlip>
            </a:pPr>
            <a:r>
              <a:rPr lang="en-US" dirty="0"/>
              <a:t> S3</a:t>
            </a:r>
          </a:p>
          <a:p>
            <a:pPr>
              <a:buBlip>
                <a:blip r:embed="rId2"/>
              </a:buBlip>
            </a:pPr>
            <a:r>
              <a:rPr lang="en-US" dirty="0"/>
              <a:t> Azure Blob</a:t>
            </a:r>
          </a:p>
          <a:p>
            <a:pPr>
              <a:buBlip>
                <a:blip r:embed="rId2"/>
              </a:buBlip>
            </a:pPr>
            <a:r>
              <a:rPr lang="en-US" dirty="0"/>
              <a:t> Google Cloud Storage</a:t>
            </a:r>
          </a:p>
          <a:p>
            <a:pPr>
              <a:buBlip>
                <a:blip r:embed="rId2"/>
              </a:buBlip>
            </a:pPr>
            <a:r>
              <a:rPr lang="en-US" dirty="0"/>
              <a:t> APIs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574D8-4F77-82DD-3FC7-5E38F21B9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80" y="1331742"/>
            <a:ext cx="8252460" cy="55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123D-5012-478B-A7C6-B6BBD068C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D538C-3051-D8D6-46E2-568BD9B8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 Marketplace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1C68-B85E-C3B6-1512-65B5D6C253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24240" y="1603717"/>
            <a:ext cx="3667760" cy="4705350"/>
          </a:xfrm>
        </p:spPr>
        <p:txBody>
          <a:bodyPr>
            <a:normAutofit/>
          </a:bodyPr>
          <a:lstStyle/>
          <a:p>
            <a:r>
              <a:rPr lang="en-US" dirty="0"/>
              <a:t>Organizations can access third-party datasets.</a:t>
            </a:r>
          </a:p>
          <a:p>
            <a:pPr marL="0" indent="0">
              <a:buNone/>
            </a:pPr>
            <a:r>
              <a:rPr lang="en-US" dirty="0"/>
              <a:t>Examples</a:t>
            </a:r>
          </a:p>
          <a:p>
            <a:r>
              <a:rPr lang="en-US" dirty="0"/>
              <a:t>Weather</a:t>
            </a:r>
          </a:p>
          <a:p>
            <a:r>
              <a:rPr lang="en-US" dirty="0"/>
              <a:t>Finance</a:t>
            </a:r>
          </a:p>
          <a:p>
            <a:r>
              <a:rPr lang="en-US" dirty="0"/>
              <a:t>Healthcare</a:t>
            </a:r>
          </a:p>
          <a:p>
            <a:r>
              <a:rPr lang="en-US" dirty="0"/>
              <a:t>Retail</a:t>
            </a:r>
          </a:p>
          <a:p>
            <a:r>
              <a:rPr lang="en-US" dirty="0"/>
              <a:t>Geospatial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9804E-C013-85DF-C370-77C8625AA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780" y="1331742"/>
            <a:ext cx="8252460" cy="55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1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6D94-D8C0-2C2E-D26D-E8716FD1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6578-D6EF-F5F4-EAD1-9C09AE55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Snowflake Ecosystem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BF470-6381-3CD8-5361-B8CA88849B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24240" y="1603717"/>
            <a:ext cx="3667760" cy="4705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Common integrations:</a:t>
            </a:r>
          </a:p>
          <a:p>
            <a:pPr>
              <a:buBlip>
                <a:blip r:embed="rId2"/>
              </a:buBlip>
            </a:pPr>
            <a:r>
              <a:rPr lang="en-US" dirty="0"/>
              <a:t> Apache Airflow </a:t>
            </a:r>
          </a:p>
          <a:p>
            <a:pPr>
              <a:buBlip>
                <a:blip r:embed="rId2"/>
              </a:buBlip>
            </a:pPr>
            <a:r>
              <a:rPr lang="en-US" dirty="0"/>
              <a:t> </a:t>
            </a:r>
            <a:r>
              <a:rPr lang="en-US" dirty="0" err="1"/>
              <a:t>dbt</a:t>
            </a:r>
            <a:r>
              <a:rPr lang="en-US" dirty="0"/>
              <a:t> Labs (</a:t>
            </a:r>
            <a:r>
              <a:rPr lang="en-US" dirty="0" err="1"/>
              <a:t>dbt</a:t>
            </a:r>
            <a:r>
              <a:rPr lang="en-US" dirty="0"/>
              <a:t>) </a:t>
            </a:r>
          </a:p>
          <a:p>
            <a:pPr>
              <a:buBlip>
                <a:blip r:embed="rId2"/>
              </a:buBlip>
            </a:pPr>
            <a:r>
              <a:rPr lang="en-US" dirty="0"/>
              <a:t> </a:t>
            </a:r>
            <a:r>
              <a:rPr lang="en-US" dirty="0" err="1"/>
              <a:t>Fivetran</a:t>
            </a:r>
            <a:r>
              <a:rPr lang="en-US" dirty="0"/>
              <a:t> </a:t>
            </a:r>
          </a:p>
          <a:p>
            <a:pPr>
              <a:buBlip>
                <a:blip r:embed="rId2"/>
              </a:buBlip>
            </a:pPr>
            <a:r>
              <a:rPr lang="en-US" dirty="0"/>
              <a:t> </a:t>
            </a:r>
            <a:r>
              <a:rPr lang="en-US" dirty="0" err="1"/>
              <a:t>Matillion</a:t>
            </a:r>
            <a:r>
              <a:rPr lang="en-US" dirty="0"/>
              <a:t> </a:t>
            </a:r>
          </a:p>
          <a:p>
            <a:pPr>
              <a:buBlip>
                <a:blip r:embed="rId2"/>
              </a:buBlip>
            </a:pPr>
            <a:r>
              <a:rPr lang="en-US" dirty="0"/>
              <a:t> Tableau </a:t>
            </a:r>
          </a:p>
          <a:p>
            <a:pPr>
              <a:buBlip>
                <a:blip r:embed="rId2"/>
              </a:buBlip>
            </a:pPr>
            <a:r>
              <a:rPr lang="en-US" dirty="0"/>
              <a:t> Microsoft Power BI </a:t>
            </a:r>
          </a:p>
          <a:p>
            <a:pPr>
              <a:buBlip>
                <a:blip r:embed="rId2"/>
              </a:buBlip>
            </a:pPr>
            <a:r>
              <a:rPr lang="en-US" dirty="0"/>
              <a:t> Microsoft Azure </a:t>
            </a:r>
          </a:p>
          <a:p>
            <a:pPr>
              <a:buBlip>
                <a:blip r:embed="rId2"/>
              </a:buBlip>
            </a:pPr>
            <a:r>
              <a:rPr lang="en-US" dirty="0"/>
              <a:t> Amazon Web Services </a:t>
            </a:r>
          </a:p>
          <a:p>
            <a:pPr>
              <a:buBlip>
                <a:blip r:embed="rId2"/>
              </a:buBlip>
            </a:pPr>
            <a:r>
              <a:rPr lang="en-US" dirty="0"/>
              <a:t> Google Cloud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FEB1D-4107-D2BF-11C6-3EC2B8878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780" y="1331742"/>
            <a:ext cx="8252460" cy="55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2776</TotalTime>
  <Words>302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ADLaM Display</vt:lpstr>
      <vt:lpstr>Calibri</vt:lpstr>
      <vt:lpstr>Wingdings</vt:lpstr>
      <vt:lpstr>YESHUAH</vt:lpstr>
      <vt:lpstr>RetrospectVTI</vt:lpstr>
      <vt:lpstr>Snowflake - Cloud</vt:lpstr>
      <vt:lpstr>PowerPoint Presentation</vt:lpstr>
      <vt:lpstr>What is Snowflake? ❄️</vt:lpstr>
      <vt:lpstr>Why Snowflake?</vt:lpstr>
      <vt:lpstr>Snowflake Architecture 🏗️</vt:lpstr>
      <vt:lpstr>…</vt:lpstr>
      <vt:lpstr>Virtual Warehouses</vt:lpstr>
      <vt:lpstr>Loading Data into Snowflake</vt:lpstr>
      <vt:lpstr>Snowflake Marketplace</vt:lpstr>
      <vt:lpstr>Snowflake Ecosystem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335</cp:revision>
  <dcterms:created xsi:type="dcterms:W3CDTF">2020-02-06T00:04:00Z</dcterms:created>
  <dcterms:modified xsi:type="dcterms:W3CDTF">2026-06-27T20:32:07Z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